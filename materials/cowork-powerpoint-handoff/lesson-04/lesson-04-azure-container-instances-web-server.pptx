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4895b9e734df5" /><Relationship Type="http://schemas.openxmlformats.org/officeDocument/2006/relationships/extended-properties" Target="/docProps/app.xml" Id="Ra78aa6063731438a" /><Relationship Type="http://schemas.openxmlformats.org/officeDocument/2006/relationships/officeDocument" Target="/ppt/presentation.xml" Id="R9d6ce3dde774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ba8ba03b240a3"/>
  </p:sldMasterIdLst>
  <p:notesMasterIdLst>
    <p:notesMasterId xmlns:r="http://schemas.openxmlformats.org/officeDocument/2006/relationships" r:id="R8c0f4f17dad44ff0"/>
  </p:notesMasterIdLst>
  <p:sldIdLst>
    <p:sldId xmlns:r="http://schemas.openxmlformats.org/officeDocument/2006/relationships" id="256" r:id="R70439c48da22467d"/>
    <p:sldId xmlns:r="http://schemas.openxmlformats.org/officeDocument/2006/relationships" id="257" r:id="Rf3aafa6d060744ee"/>
    <p:sldId xmlns:r="http://schemas.openxmlformats.org/officeDocument/2006/relationships" id="258" r:id="Rdd75e6c53d23486f"/>
    <p:sldId xmlns:r="http://schemas.openxmlformats.org/officeDocument/2006/relationships" id="259" r:id="Rfbe0c61eb09044ab"/>
    <p:sldId xmlns:r="http://schemas.openxmlformats.org/officeDocument/2006/relationships" id="260" r:id="R0ba2a4f811594bbe"/>
    <p:sldId xmlns:r="http://schemas.openxmlformats.org/officeDocument/2006/relationships" id="261" r:id="R55efb4c4add84cd7"/>
    <p:sldId xmlns:r="http://schemas.openxmlformats.org/officeDocument/2006/relationships" id="262" r:id="R2421e92e6f5f45e5"/>
    <p:sldId xmlns:r="http://schemas.openxmlformats.org/officeDocument/2006/relationships" id="263" r:id="Rb892a8b5b1784cf4"/>
    <p:sldId xmlns:r="http://schemas.openxmlformats.org/officeDocument/2006/relationships" id="264" r:id="Rea277c5cf74f4d04"/>
    <p:sldId xmlns:r="http://schemas.openxmlformats.org/officeDocument/2006/relationships" id="265" r:id="R8f0936cd2f1e440d"/>
    <p:sldId xmlns:r="http://schemas.openxmlformats.org/officeDocument/2006/relationships" id="266" r:id="R90e4eb92a4a44da5"/>
    <p:sldId xmlns:r="http://schemas.openxmlformats.org/officeDocument/2006/relationships" id="267" r:id="Rc6e9bb527c384f58"/>
    <p:sldId xmlns:r="http://schemas.openxmlformats.org/officeDocument/2006/relationships" id="268" r:id="R18514515c74740bb"/>
    <p:sldId xmlns:r="http://schemas.openxmlformats.org/officeDocument/2006/relationships" id="269" r:id="Rbc65479cb7684392"/>
    <p:sldId xmlns:r="http://schemas.openxmlformats.org/officeDocument/2006/relationships" id="270" r:id="R7a44717aa1274fba"/>
    <p:sldId xmlns:r="http://schemas.openxmlformats.org/officeDocument/2006/relationships" id="271" r:id="Rabb80a1159364840"/>
    <p:sldId xmlns:r="http://schemas.openxmlformats.org/officeDocument/2006/relationships" id="272" r:id="R14537fd95bdd4bd0"/>
    <p:sldId xmlns:r="http://schemas.openxmlformats.org/officeDocument/2006/relationships" id="273" r:id="R361613f6f3154616"/>
    <p:sldId xmlns:r="http://schemas.openxmlformats.org/officeDocument/2006/relationships" id="274" r:id="R85b3013753304d33"/>
    <p:sldId xmlns:r="http://schemas.openxmlformats.org/officeDocument/2006/relationships" id="275" r:id="R1559447474df473e"/>
    <p:sldId xmlns:r="http://schemas.openxmlformats.org/officeDocument/2006/relationships" id="276" r:id="R50b2cc3b826244b2"/>
    <p:sldId xmlns:r="http://schemas.openxmlformats.org/officeDocument/2006/relationships" id="277" r:id="Rbcb88365bdf84b80"/>
    <p:sldId xmlns:r="http://schemas.openxmlformats.org/officeDocument/2006/relationships" id="278" r:id="Rb1474a32f0da425b"/>
    <p:sldId xmlns:r="http://schemas.openxmlformats.org/officeDocument/2006/relationships" id="279" r:id="Rf9c9fba2186a4ae2"/>
    <p:sldId xmlns:r="http://schemas.openxmlformats.org/officeDocument/2006/relationships" id="280" r:id="R69f02ec21f2f475b"/>
    <p:sldId xmlns:r="http://schemas.openxmlformats.org/officeDocument/2006/relationships" id="281" r:id="R62409f3eb5b541c2"/>
    <p:sldId xmlns:r="http://schemas.openxmlformats.org/officeDocument/2006/relationships" id="282" r:id="R00c87871788345fc"/>
    <p:sldId xmlns:r="http://schemas.openxmlformats.org/officeDocument/2006/relationships" id="283" r:id="R1a351657f4b343af"/>
    <p:sldId xmlns:r="http://schemas.openxmlformats.org/officeDocument/2006/relationships" id="284" r:id="R139892cf9a0d4215"/>
    <p:sldId xmlns:r="http://schemas.openxmlformats.org/officeDocument/2006/relationships" id="285" r:id="R1a4c4754179042cf"/>
    <p:sldId xmlns:r="http://schemas.openxmlformats.org/officeDocument/2006/relationships" id="286" r:id="R8423404b52104394"/>
    <p:sldId xmlns:r="http://schemas.openxmlformats.org/officeDocument/2006/relationships" id="287" r:id="R633ee35da949439d"/>
    <p:sldId xmlns:r="http://schemas.openxmlformats.org/officeDocument/2006/relationships" id="288" r:id="R29cac9b41a9b42af"/>
    <p:sldId xmlns:r="http://schemas.openxmlformats.org/officeDocument/2006/relationships" id="289" r:id="R95cdd3510cd842a1"/>
    <p:sldId xmlns:r="http://schemas.openxmlformats.org/officeDocument/2006/relationships" id="290" r:id="R71cbb6fa7b60478b"/>
    <p:sldId xmlns:r="http://schemas.openxmlformats.org/officeDocument/2006/relationships" id="291" r:id="Ra4740ce1c28543c2"/>
    <p:sldId xmlns:r="http://schemas.openxmlformats.org/officeDocument/2006/relationships" id="292" r:id="R1e0159b96772486b"/>
    <p:sldId xmlns:r="http://schemas.openxmlformats.org/officeDocument/2006/relationships" id="293" r:id="R2fa39b7624e9455a"/>
    <p:sldId xmlns:r="http://schemas.openxmlformats.org/officeDocument/2006/relationships" id="294" r:id="R5b142610e6a94a89"/>
    <p:sldId xmlns:r="http://schemas.openxmlformats.org/officeDocument/2006/relationships" id="295" r:id="R4b75ece6abc44f25"/>
    <p:sldId xmlns:r="http://schemas.openxmlformats.org/officeDocument/2006/relationships" id="296" r:id="R1d4d5014974c4ad4"/>
    <p:sldId xmlns:r="http://schemas.openxmlformats.org/officeDocument/2006/relationships" id="297" r:id="R364399ace37f4fc1"/>
    <p:sldId xmlns:r="http://schemas.openxmlformats.org/officeDocument/2006/relationships" id="298" r:id="R04062979125248c8"/>
    <p:sldId xmlns:r="http://schemas.openxmlformats.org/officeDocument/2006/relationships" id="299" r:id="R12e5ab03bccc4176"/>
    <p:sldId xmlns:r="http://schemas.openxmlformats.org/officeDocument/2006/relationships" id="300" r:id="R08e4d54daae8438b"/>
    <p:sldId xmlns:r="http://schemas.openxmlformats.org/officeDocument/2006/relationships" id="301" r:id="R8a234186066d4d8c"/>
    <p:sldId xmlns:r="http://schemas.openxmlformats.org/officeDocument/2006/relationships" id="302" r:id="Rc5b20b5a610a41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ba8ba03b240a3" /><Relationship Type="http://schemas.openxmlformats.org/officeDocument/2006/relationships/theme" Target="/ppt/theme/theme1.xml" Id="Re2e7888d11624dbd" /><Relationship Type="http://schemas.openxmlformats.org/officeDocument/2006/relationships/notesMaster" Target="/ppt/notesMasters/notesMaster1.xml" Id="R8c0f4f17dad44ff0" /><Relationship Type="http://schemas.openxmlformats.org/officeDocument/2006/relationships/presProps" Target="/ppt/presProps.xml" Id="Rba484648c9144703" /><Relationship Type="http://schemas.openxmlformats.org/officeDocument/2006/relationships/viewProps" Target="/ppt/viewProps.xml" Id="Rb935110b5dc54ace" /><Relationship Type="http://schemas.openxmlformats.org/officeDocument/2006/relationships/tableStyles" Target="/ppt/tableStyles.xml" Id="R7aab61423b1e4179" /><Relationship Type="http://schemas.openxmlformats.org/officeDocument/2006/relationships/slide" Target="/ppt/slides/slide1.xml" Id="R70439c48da22467d" /><Relationship Type="http://schemas.openxmlformats.org/officeDocument/2006/relationships/slide" Target="/ppt/slides/slide2.xml" Id="Rf3aafa6d060744ee" /><Relationship Type="http://schemas.openxmlformats.org/officeDocument/2006/relationships/slide" Target="/ppt/slides/slide3.xml" Id="Rdd75e6c53d23486f" /><Relationship Type="http://schemas.openxmlformats.org/officeDocument/2006/relationships/slide" Target="/ppt/slides/slide4.xml" Id="Rfbe0c61eb09044ab" /><Relationship Type="http://schemas.openxmlformats.org/officeDocument/2006/relationships/slide" Target="/ppt/slides/slide5.xml" Id="R0ba2a4f811594bbe" /><Relationship Type="http://schemas.openxmlformats.org/officeDocument/2006/relationships/slide" Target="/ppt/slides/slide6.xml" Id="R55efb4c4add84cd7" /><Relationship Type="http://schemas.openxmlformats.org/officeDocument/2006/relationships/slide" Target="/ppt/slides/slide7.xml" Id="R2421e92e6f5f45e5" /><Relationship Type="http://schemas.openxmlformats.org/officeDocument/2006/relationships/slide" Target="/ppt/slides/slide8.xml" Id="Rb892a8b5b1784cf4" /><Relationship Type="http://schemas.openxmlformats.org/officeDocument/2006/relationships/slide" Target="/ppt/slides/slide9.xml" Id="Rea277c5cf74f4d04" /><Relationship Type="http://schemas.openxmlformats.org/officeDocument/2006/relationships/slide" Target="/ppt/slides/slide10.xml" Id="R8f0936cd2f1e440d" /><Relationship Type="http://schemas.openxmlformats.org/officeDocument/2006/relationships/slide" Target="/ppt/slides/slide11.xml" Id="R90e4eb92a4a44da5" /><Relationship Type="http://schemas.openxmlformats.org/officeDocument/2006/relationships/slide" Target="/ppt/slides/slide12.xml" Id="Rc6e9bb527c384f58" /><Relationship Type="http://schemas.openxmlformats.org/officeDocument/2006/relationships/slide" Target="/ppt/slides/slide13.xml" Id="R18514515c74740bb" /><Relationship Type="http://schemas.openxmlformats.org/officeDocument/2006/relationships/slide" Target="/ppt/slides/slide14.xml" Id="Rbc65479cb7684392" /><Relationship Type="http://schemas.openxmlformats.org/officeDocument/2006/relationships/slide" Target="/ppt/slides/slide15.xml" Id="R7a44717aa1274fba" /><Relationship Type="http://schemas.openxmlformats.org/officeDocument/2006/relationships/slide" Target="/ppt/slides/slide16.xml" Id="Rabb80a1159364840" /><Relationship Type="http://schemas.openxmlformats.org/officeDocument/2006/relationships/slide" Target="/ppt/slides/slide17.xml" Id="R14537fd95bdd4bd0" /><Relationship Type="http://schemas.openxmlformats.org/officeDocument/2006/relationships/slide" Target="/ppt/slides/slide18.xml" Id="R361613f6f3154616" /><Relationship Type="http://schemas.openxmlformats.org/officeDocument/2006/relationships/slide" Target="/ppt/slides/slide19.xml" Id="R85b3013753304d33" /><Relationship Type="http://schemas.openxmlformats.org/officeDocument/2006/relationships/slide" Target="/ppt/slides/slide20.xml" Id="R1559447474df473e" /><Relationship Type="http://schemas.openxmlformats.org/officeDocument/2006/relationships/slide" Target="/ppt/slides/slide21.xml" Id="R50b2cc3b826244b2" /><Relationship Type="http://schemas.openxmlformats.org/officeDocument/2006/relationships/slide" Target="/ppt/slides/slide22.xml" Id="Rbcb88365bdf84b80" /><Relationship Type="http://schemas.openxmlformats.org/officeDocument/2006/relationships/slide" Target="/ppt/slides/slide23.xml" Id="Rb1474a32f0da425b" /><Relationship Type="http://schemas.openxmlformats.org/officeDocument/2006/relationships/slide" Target="/ppt/slides/slide24.xml" Id="Rf9c9fba2186a4ae2" /><Relationship Type="http://schemas.openxmlformats.org/officeDocument/2006/relationships/slide" Target="/ppt/slides/slide25.xml" Id="R69f02ec21f2f475b" /><Relationship Type="http://schemas.openxmlformats.org/officeDocument/2006/relationships/slide" Target="/ppt/slides/slide26.xml" Id="R62409f3eb5b541c2" /><Relationship Type="http://schemas.openxmlformats.org/officeDocument/2006/relationships/slide" Target="/ppt/slides/slide27.xml" Id="R00c87871788345fc" /><Relationship Type="http://schemas.openxmlformats.org/officeDocument/2006/relationships/slide" Target="/ppt/slides/slide28.xml" Id="R1a351657f4b343af" /><Relationship Type="http://schemas.openxmlformats.org/officeDocument/2006/relationships/slide" Target="/ppt/slides/slide29.xml" Id="R139892cf9a0d4215" /><Relationship Type="http://schemas.openxmlformats.org/officeDocument/2006/relationships/slide" Target="/ppt/slides/slide30.xml" Id="R1a4c4754179042cf" /><Relationship Type="http://schemas.openxmlformats.org/officeDocument/2006/relationships/slide" Target="/ppt/slides/slide31.xml" Id="R8423404b52104394" /><Relationship Type="http://schemas.openxmlformats.org/officeDocument/2006/relationships/slide" Target="/ppt/slides/slide32.xml" Id="R633ee35da949439d" /><Relationship Type="http://schemas.openxmlformats.org/officeDocument/2006/relationships/slide" Target="/ppt/slides/slide33.xml" Id="R29cac9b41a9b42af" /><Relationship Type="http://schemas.openxmlformats.org/officeDocument/2006/relationships/slide" Target="/ppt/slides/slide34.xml" Id="R95cdd3510cd842a1" /><Relationship Type="http://schemas.openxmlformats.org/officeDocument/2006/relationships/slide" Target="/ppt/slides/slide35.xml" Id="R71cbb6fa7b60478b" /><Relationship Type="http://schemas.openxmlformats.org/officeDocument/2006/relationships/slide" Target="/ppt/slides/slide36.xml" Id="Ra4740ce1c28543c2" /><Relationship Type="http://schemas.openxmlformats.org/officeDocument/2006/relationships/slide" Target="/ppt/slides/slide37.xml" Id="R1e0159b96772486b" /><Relationship Type="http://schemas.openxmlformats.org/officeDocument/2006/relationships/slide" Target="/ppt/slides/slide38.xml" Id="R2fa39b7624e9455a" /><Relationship Type="http://schemas.openxmlformats.org/officeDocument/2006/relationships/slide" Target="/ppt/slides/slide39.xml" Id="R5b142610e6a94a89" /><Relationship Type="http://schemas.openxmlformats.org/officeDocument/2006/relationships/slide" Target="/ppt/slides/slide40.xml" Id="R4b75ece6abc44f25" /><Relationship Type="http://schemas.openxmlformats.org/officeDocument/2006/relationships/slide" Target="/ppt/slides/slide41.xml" Id="R1d4d5014974c4ad4" /><Relationship Type="http://schemas.openxmlformats.org/officeDocument/2006/relationships/slide" Target="/ppt/slides/slide42.xml" Id="R364399ace37f4fc1" /><Relationship Type="http://schemas.openxmlformats.org/officeDocument/2006/relationships/slide" Target="/ppt/slides/slide43.xml" Id="R04062979125248c8" /><Relationship Type="http://schemas.openxmlformats.org/officeDocument/2006/relationships/slide" Target="/ppt/slides/slide44.xml" Id="R12e5ab03bccc4176" /><Relationship Type="http://schemas.openxmlformats.org/officeDocument/2006/relationships/slide" Target="/ppt/slides/slide45.xml" Id="R08e4d54daae8438b" /><Relationship Type="http://schemas.openxmlformats.org/officeDocument/2006/relationships/slide" Target="/ppt/slides/slide46.xml" Id="R8a234186066d4d8c" /><Relationship Type="http://schemas.openxmlformats.org/officeDocument/2006/relationships/slide" Target="/ppt/slides/slide47.xml" Id="Rc5b20b5a610a41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c0e4e3c87f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a14f5811a0404e" /><Relationship Type="http://schemas.openxmlformats.org/officeDocument/2006/relationships/notesMaster" Target="/ppt/notesMasters/notesMaster1.xml" Id="Rd5340795e002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45d8666274049" /><Relationship Type="http://schemas.openxmlformats.org/officeDocument/2006/relationships/notesMaster" Target="/ppt/notesMasters/notesMaster1.xml" Id="Rd53af244e59a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9ed5587184f5a" /><Relationship Type="http://schemas.openxmlformats.org/officeDocument/2006/relationships/notesMaster" Target="/ppt/notesMasters/notesMaster1.xml" Id="Ra6229aa5201948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6fa88d1f6d41a8" /><Relationship Type="http://schemas.openxmlformats.org/officeDocument/2006/relationships/notesMaster" Target="/ppt/notesMasters/notesMaster1.xml" Id="R8bf747258100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da1684b4940b4" /><Relationship Type="http://schemas.openxmlformats.org/officeDocument/2006/relationships/notesMaster" Target="/ppt/notesMasters/notesMaster1.xml" Id="Rdbdafcaba81c49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d9da40a1a4d06" /><Relationship Type="http://schemas.openxmlformats.org/officeDocument/2006/relationships/notesMaster" Target="/ppt/notesMasters/notesMaster1.xml" Id="R33b497f64b8149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29eaa81234ac7" /><Relationship Type="http://schemas.openxmlformats.org/officeDocument/2006/relationships/notesMaster" Target="/ppt/notesMasters/notesMaster1.xml" Id="R9cacca8b446a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d9c9551c2441e" /><Relationship Type="http://schemas.openxmlformats.org/officeDocument/2006/relationships/notesMaster" Target="/ppt/notesMasters/notesMaster1.xml" Id="R0645a2c5983b4a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e55062e9ca4ca9" /><Relationship Type="http://schemas.openxmlformats.org/officeDocument/2006/relationships/notesMaster" Target="/ppt/notesMasters/notesMaster1.xml" Id="R825e64ea594246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ae7e9b2f44662" /><Relationship Type="http://schemas.openxmlformats.org/officeDocument/2006/relationships/notesMaster" Target="/ppt/notesMasters/notesMaster1.xml" Id="R40cd236cfb3d47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bc4be58a414c04" /><Relationship Type="http://schemas.openxmlformats.org/officeDocument/2006/relationships/notesMaster" Target="/ppt/notesMasters/notesMaster1.xml" Id="R04cb1e6d78d04b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8644b911b74c19" /><Relationship Type="http://schemas.openxmlformats.org/officeDocument/2006/relationships/notesMaster" Target="/ppt/notesMasters/notesMaster1.xml" Id="Rc47db1b30d004a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107f291c0943ca" /><Relationship Type="http://schemas.openxmlformats.org/officeDocument/2006/relationships/notesMaster" Target="/ppt/notesMasters/notesMaster1.xml" Id="R2e4284ec242449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d39808b7bf424e" /><Relationship Type="http://schemas.openxmlformats.org/officeDocument/2006/relationships/notesMaster" Target="/ppt/notesMasters/notesMaster1.xml" Id="Rdcd7e6894bec4a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70b4ba8d444be0" /><Relationship Type="http://schemas.openxmlformats.org/officeDocument/2006/relationships/notesMaster" Target="/ppt/notesMasters/notesMaster1.xml" Id="R0a580ecf630846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6b262900a94e76" /><Relationship Type="http://schemas.openxmlformats.org/officeDocument/2006/relationships/notesMaster" Target="/ppt/notesMasters/notesMaster1.xml" Id="R824c06c965b242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066aeff2954016" /><Relationship Type="http://schemas.openxmlformats.org/officeDocument/2006/relationships/notesMaster" Target="/ppt/notesMasters/notesMaster1.xml" Id="R12f034dbdd7145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946cf016284a78" /><Relationship Type="http://schemas.openxmlformats.org/officeDocument/2006/relationships/notesMaster" Target="/ppt/notesMasters/notesMaster1.xml" Id="Rc55ad3f9baf146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3aea8601994b9d" /><Relationship Type="http://schemas.openxmlformats.org/officeDocument/2006/relationships/notesMaster" Target="/ppt/notesMasters/notesMaster1.xml" Id="R6189e7199bbb4d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1aef75a0aa4474" /><Relationship Type="http://schemas.openxmlformats.org/officeDocument/2006/relationships/notesMaster" Target="/ppt/notesMasters/notesMaster1.xml" Id="R715857da00ef47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7c04d1532e4cc4" /><Relationship Type="http://schemas.openxmlformats.org/officeDocument/2006/relationships/notesMaster" Target="/ppt/notesMasters/notesMaster1.xml" Id="R0e910cdf52ab49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a08754f3574433" /><Relationship Type="http://schemas.openxmlformats.org/officeDocument/2006/relationships/notesMaster" Target="/ppt/notesMasters/notesMaster1.xml" Id="R7fa76ad6b3f246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b52a83f4a645e9" /><Relationship Type="http://schemas.openxmlformats.org/officeDocument/2006/relationships/notesMaster" Target="/ppt/notesMasters/notesMaster1.xml" Id="R1e8f015e572544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fdd8b079a04507" /><Relationship Type="http://schemas.openxmlformats.org/officeDocument/2006/relationships/notesMaster" Target="/ppt/notesMasters/notesMaster1.xml" Id="R1f984ab1fdfa43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ff29b26da5403f" /><Relationship Type="http://schemas.openxmlformats.org/officeDocument/2006/relationships/notesMaster" Target="/ppt/notesMasters/notesMaster1.xml" Id="R259d7ed0ea9f4a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116cff2ce84c42" /><Relationship Type="http://schemas.openxmlformats.org/officeDocument/2006/relationships/notesMaster" Target="/ppt/notesMasters/notesMaster1.xml" Id="R18e9fce9bc6648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41406f9ad04c79" /><Relationship Type="http://schemas.openxmlformats.org/officeDocument/2006/relationships/notesMaster" Target="/ppt/notesMasters/notesMaster1.xml" Id="R8b9d749f214d47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7d3d1f74a44d6d" /><Relationship Type="http://schemas.openxmlformats.org/officeDocument/2006/relationships/notesMaster" Target="/ppt/notesMasters/notesMaster1.xml" Id="R6c968e9b370749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80bd4eda9444db" /><Relationship Type="http://schemas.openxmlformats.org/officeDocument/2006/relationships/notesMaster" Target="/ppt/notesMasters/notesMaster1.xml" Id="R655e937ca1be4c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d9bdf3e95b4e2e" /><Relationship Type="http://schemas.openxmlformats.org/officeDocument/2006/relationships/notesMaster" Target="/ppt/notesMasters/notesMaster1.xml" Id="Rfcf91d8f217c47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6042a78c134973" /><Relationship Type="http://schemas.openxmlformats.org/officeDocument/2006/relationships/notesMaster" Target="/ppt/notesMasters/notesMaster1.xml" Id="R72c8007adbaa41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ee89d10c284b85" /><Relationship Type="http://schemas.openxmlformats.org/officeDocument/2006/relationships/notesMaster" Target="/ppt/notesMasters/notesMaster1.xml" Id="Rb3e108ca575149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5faca16f24e4bf1" /><Relationship Type="http://schemas.openxmlformats.org/officeDocument/2006/relationships/notesMaster" Target="/ppt/notesMasters/notesMaster1.xml" Id="R6347b2fc7c0f423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2d56c26e0314a48" /><Relationship Type="http://schemas.openxmlformats.org/officeDocument/2006/relationships/notesMaster" Target="/ppt/notesMasters/notesMaster1.xml" Id="R7d58a2a04d5449e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227183857448a9" /><Relationship Type="http://schemas.openxmlformats.org/officeDocument/2006/relationships/notesMaster" Target="/ppt/notesMasters/notesMaster1.xml" Id="Rc0a5b38225da434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63ceafeb53642d8" /><Relationship Type="http://schemas.openxmlformats.org/officeDocument/2006/relationships/notesMaster" Target="/ppt/notesMasters/notesMaster1.xml" Id="R54c15eb4533b49a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55d670e7844be1" /><Relationship Type="http://schemas.openxmlformats.org/officeDocument/2006/relationships/notesMaster" Target="/ppt/notesMasters/notesMaster1.xml" Id="R254601c52e504ee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28b08e7b458423c" /><Relationship Type="http://schemas.openxmlformats.org/officeDocument/2006/relationships/notesMaster" Target="/ppt/notesMasters/notesMaster1.xml" Id="R971308cef067452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f6b53cb4aa249ea" /><Relationship Type="http://schemas.openxmlformats.org/officeDocument/2006/relationships/notesMaster" Target="/ppt/notesMasters/notesMaster1.xml" Id="R1bec71e55edd4f2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6ee4fc906af47d2" /><Relationship Type="http://schemas.openxmlformats.org/officeDocument/2006/relationships/notesMaster" Target="/ppt/notesMasters/notesMaster1.xml" Id="R9ef3a6d409c94da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ed61df0fcac4141" /><Relationship Type="http://schemas.openxmlformats.org/officeDocument/2006/relationships/notesMaster" Target="/ppt/notesMasters/notesMaster1.xml" Id="Ree7952c3e3b64a1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219584a0da4959" /><Relationship Type="http://schemas.openxmlformats.org/officeDocument/2006/relationships/notesMaster" Target="/ppt/notesMasters/notesMaster1.xml" Id="R6220c118fa5f433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fc33745a5ea4ef0" /><Relationship Type="http://schemas.openxmlformats.org/officeDocument/2006/relationships/notesMaster" Target="/ppt/notesMasters/notesMaster1.xml" Id="R2ba5b1c180af49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e6c71ec22ae4662" /><Relationship Type="http://schemas.openxmlformats.org/officeDocument/2006/relationships/notesMaster" Target="/ppt/notesMasters/notesMaster1.xml" Id="R2746c0ef438f492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e87738303624939" /><Relationship Type="http://schemas.openxmlformats.org/officeDocument/2006/relationships/notesMaster" Target="/ppt/notesMasters/notesMaster1.xml" Id="R20c08d2261b44b4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7e5e9c8a29c487d" /><Relationship Type="http://schemas.openxmlformats.org/officeDocument/2006/relationships/notesMaster" Target="/ppt/notesMasters/notesMaster1.xml" Id="Rf4457154f5bb464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b2b22d405bc4ce4" /><Relationship Type="http://schemas.openxmlformats.org/officeDocument/2006/relationships/notesMaster" Target="/ppt/notesMasters/notesMaster1.xml" Id="Refce788e17a5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スライド1「Azure Container Instances をつかった Web サーバ構築」。本文の粒度は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スライド2「今日のゴール」。本文の粒度は HTML に合わせる。</a:t>
            </a:r>
          </a:p>
          <a:p xmlns:a="http://schemas.openxmlformats.org/drawingml/2006/main">
            <a:r>
              <a:t>講師メモ: 第3回の VM と第4回のコンテナ/ACI の責任分界と操作体験の違いを強調する。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スライド3「前回の振り返り」。本文の粒度は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スライド4「VM で管理したもの」。本文の粒度は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スライド5「コンテナで考え方を変える」。本文の粒度は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スライド6「コンテナとは何か」。本文の粒度は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スライド7「VM とコンテナの違い」。本文の粒度は HTML に合わせる。</a:t>
            </a:r>
          </a:p>
          <a:p xmlns:a="http://schemas.openxmlformats.org/drawingml/2006/main">
            <a:r>
              <a:t>講師メモ: 第3回の VM と第4回のコンテナ/ACI の責任分界と操作体験の違いを強調する。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スライド8「コンテナのメリット」。本文の粒度は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スライド9「コンテナだけで解決しないこと」。本文の粒度は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スライド10「レジストリの役割」。本文の粒度は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スライド11「ACR とは」。本文の粒度は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スライド12「第4回の共有 ACR」。本文の粒度は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スライド13「コントロールプレーンとデータプレーン」。本文の粒度は HTML に合わせる。</a:t>
            </a:r>
          </a:p>
          <a:p xmlns:a="http://schemas.openxmlformats.org/drawingml/2006/main">
            <a:r>
              <a:t>講師メモ: 第3回の VM と第4回のコンテナ/ACI の責任分界と操作体験の違いを強調する。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スライド14「Azure のコンテナサービス」。本文の粒度は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スライド15「ACI の位置づけ」。本文の粒度は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スライド16「ACA と AKS は今日深掘りしない」。本文の粒度は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スライド17「今日作るアーキテクチャ」。本文の粒度は HTML に合わせる。</a:t>
            </a:r>
          </a:p>
          <a:p xmlns:a="http://schemas.openxmlformats.org/drawingml/2006/main">
            <a:r>
              <a:t>講師メモ: 第3回の VM と第4回のコンテナ/ACI の責任分界と操作体験の違いを強調する。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スライド18「ハンズオンで使う値」。本文の粒度は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スライド19「ハンズオンの流れ」。本文の粒度は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スライド20「Azure Portal にサインイン」。本文の粒度は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スライド21「リソースグループを作成する」。本文の粒度は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スライド22「リソースグループ作成を確認する」。本文の粒度は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スライド23「Container Instances の作成を開始する」。本文の粒度は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スライド24「基本情報を入力する」。本文の粒度は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スライド25「イメージを指定する」。本文の粒度は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スライド26「CPU とメモリを確認する」。本文の粒度は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スライド27「ネットワークを公開する」。本文の粒度は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スライド28「DNS ラベルを入力する」。本文の粒度は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スライド29「タグを設定する」。本文の粒度は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スライド30「内容を確認して作成する」。本文の粒度は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スライド31「デプロイ完了を待つ」。本文の粒度は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スライド32「ACI の Overview を確認する」。本文の粒度は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スライド33「ブラウザーでアクセスする」。本文の粒度は HTML に合わせる。</a:t>
            </a:r>
          </a:p>
          <a:p xmlns:a="http://schemas.openxmlformats.org/drawingml/2006/main">
            <a:r>
              <a:t>操作メモ: Portal 操作は Basic、Image、Networking、Review、Running 確認の順序を保つ。スクリーンショットは加工しない。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スライド34「表示されないときの見方」。本文の粒度は HTML に合わせる。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スライド35「ログとイベントを確認する」。本文の粒度は HTML に合わせる。</a:t>
            </a:r>
          </a:p>
          <a:p xmlns:a="http://schemas.openxmlformats.org/drawingml/2006/main">
            <a:r>
              <a:t>トラブル時: Running、FQDN、HTTP、TCP 80、イメージ名、ACR pull の順に確認する。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スライド36「リソースグループ内を見る」。本文の粒度は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スライド37「VM 構成と ACI 構成を比べる」。本文の粒度は HTML に合わせる。</a:t>
            </a:r>
          </a:p>
          <a:p xmlns:a="http://schemas.openxmlformats.org/drawingml/2006/main">
            <a:r>
              <a:t>講師メモ: 第3回の VM と第4回のコンテナ/ACI の責任分界と操作体験の違いを強調する。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スライド38「省略された管理対象」。本文の粒度は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スライド39「省略されない設計対象」。本文の粒度は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スライド40「コストが発生する場所」。本文の粒度は HTML に合わせる。</a:t>
            </a:r>
          </a:p>
          <a:p xmlns:a="http://schemas.openxmlformats.org/drawingml/2006/main">
            <a:r>
              <a:t>削除確認: 受講者ごとのリソースグループだけを削除し、共有 ACR を削除しないことを明確にする。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スライド41「リソースグループを削除する」。本文の粒度は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  <a:p xmlns:a="http://schemas.openxmlformats.org/drawingml/2006/main">
            <a:r>
              <a:t>削除確認: 受講者ごとのリソースグループだけを削除し、共有 ACR を削除しないことを明確にする。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スライド42「削除完了を確認する」。本文の粒度は HTML に合わせる。</a:t>
            </a:r>
          </a:p>
          <a:p xmlns:a="http://schemas.openxmlformats.org/drawingml/2006/main">
            <a:r>
              <a:t>削除確認: 受講者ごとのリソースグループだけを削除し、共有 ACR を削除しないことを明確にする。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スライド43「早く終えた人向け」。本文の粒度は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スライド44「よくある失敗」。本文の粒度は HTML 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スライド45「復旧できない場合」。本文の粒度は HTML に合わせる。</a:t>
            </a:r>
          </a:p>
          <a:p xmlns:a="http://schemas.openxmlformats.org/drawingml/2006/main">
            <a:r>
              <a:t>削除確認: 受講者ごとのリソースグループだけを削除し、共有 ACR を削除しないことを明確にする。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スライド46「今日のまとめ」。本文の粒度は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  <a:p xmlns:a="http://schemas.openxmlformats.org/drawingml/2006/main">
            <a:r>
              <a:t>削除確認: 受講者ごとのリソースグループだけを削除し、共有 ACR を削除しないことを明確にする。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HTML一次情報: スライド47「確認クイズと QA」。本文の粒度は HTML に合わせる。</a:t>
            </a:r>
          </a:p>
          <a:p xmlns:a="http://schemas.openxmlformats.org/drawingml/2006/main">
            <a:r>
              <a:t>重要: ACR はイメージ保管場所、ACI は実行場所。共有 ACR は講師管理で、受講者の削除対象に含めない。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f2678834741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8b97fa9e94b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29a33a6ca47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84943137541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2af58002e4ba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ad656fe5e4f5f" /></Relationships>
</file>

<file path=ppt/slideLayouts/slideLayout2.xml><?xml version="1.0" encoding="utf-8"?>
<p:sldLayout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162974"/>
            <a:ext cx="10515600" cy="49076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スライド表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/>
            </a:lvl1pPr>
          </a:lstStyle>
          <a:p xmlns:a="http://schemas.openxmlformats.org/drawingml/2006/main"/>
        </p:txBody>
      </p:sp>
      <p:sp>
        <p:nvSpPr>
          <p:cNvPr id="4" name="字幕 2">
            <a:extLst xmlns:a="http://schemas.openxmlformats.org/drawingml/2006/main"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8633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テキスト 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/>
          <p:nvPr>
            <p:ph type="body" idx="10"/>
          </p:nvPr>
        </p:nvSpPr>
        <p:spPr>
          <a:xfrm xmlns:a="http://schemas.openxmlformats.org/drawingml/2006/main">
            <a:off x="577356" y="5155452"/>
            <a:ext cx="5184775" cy="1221390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400"/>
              </a:spcBef>
              <a:buNone/>
              <a:defRPr sz="2400"/>
            </a:lvl1pPr>
          </a:lstStyle>
          <a:p xmlns:a="http://schemas.openxmlformats.org/drawingml/2006/main"/>
        </p:txBody>
      </p:sp>
      <p:sp>
        <p:nvSpPr>
          <p:cNvPr id="12" name="テキスト 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/>
          <p:nvPr>
            <p:ph type="body" idx="11"/>
          </p:nvPr>
        </p:nvSpPr>
        <p:spPr>
          <a:xfrm xmlns:a="http://schemas.openxmlformats.org/drawingml/2006/main">
            <a:off x="9282113" y="5919642"/>
            <a:ext cx="2572430" cy="457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r">
              <a:buNone/>
              <a:defRPr sz="2400"/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162974"/>
            <a:ext cx="10515600" cy="11738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エンドクレジット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テキスト 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838200" y="2716213"/>
            <a:ext cx="10374313" cy="226218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リード文な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5492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610600" y="6356348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38200" y="6356349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ee991d31c94485e" /><Relationship Type="http://schemas.openxmlformats.org/officeDocument/2006/relationships/slideLayout" Target="/ppt/slideLayouts/slideLayout2.xml" Id="R809d33ae2fdf4d16" /><Relationship Type="http://schemas.openxmlformats.org/officeDocument/2006/relationships/slideLayout" Target="/ppt/slideLayouts/slideLayout3.xml" Id="R6fa670e0bb25487b" /><Relationship Type="http://schemas.openxmlformats.org/officeDocument/2006/relationships/slideLayout" Target="/ppt/slideLayouts/slideLayout4.xml" Id="R4512fa83acaa4491" /><Relationship Type="http://schemas.openxmlformats.org/officeDocument/2006/relationships/slideLayout" Target="/ppt/slideLayouts/slideLayout5.xml" Id="R618abd6cfe894542" /><Relationship Type="http://schemas.openxmlformats.org/officeDocument/2006/relationships/slideLayout" Target="/ppt/slideLayouts/slideLayout6.xml" Id="Rf717c0c9720442d8" /><Relationship Type="http://schemas.openxmlformats.org/officeDocument/2006/relationships/slideLayout" Target="/ppt/slideLayouts/slideLayout7.xml" Id="R56115766539c40c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9d33ae2fdf4d16"/>
    <p:sldLayoutId xmlns:r="http://schemas.openxmlformats.org/officeDocument/2006/relationships" id="2147483650" r:id="R6fa670e0bb25487b"/>
    <p:sldLayoutId xmlns:r="http://schemas.openxmlformats.org/officeDocument/2006/relationships" id="2147483651" r:id="R4512fa83acaa4491"/>
    <p:sldLayoutId xmlns:r="http://schemas.openxmlformats.org/officeDocument/2006/relationships" id="2147483652" r:id="R618abd6cfe894542"/>
    <p:sldLayoutId xmlns:r="http://schemas.openxmlformats.org/officeDocument/2006/relationships" id="2147483653" r:id="Rf717c0c9720442d8"/>
    <p:sldLayoutId xmlns:r="http://schemas.openxmlformats.org/officeDocument/2006/relationships" id="2147483654" r:id="R56115766539c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d4618775dd4808" /><Relationship Type="http://schemas.openxmlformats.org/officeDocument/2006/relationships/notesSlide" Target="/ppt/notesSlides/notesSlide1.xml" Id="R18112418d49c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5106a3853c04f6c" /><Relationship Type="http://schemas.openxmlformats.org/officeDocument/2006/relationships/image" Target="/ppt/media/image.bin" Id="R7895354e6a894c73" /><Relationship Type="http://schemas.openxmlformats.org/officeDocument/2006/relationships/notesSlide" Target="/ppt/notesSlides/notesSlide2.xml" Id="R458c636d5f7b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5dc8a13ff74472" /><Relationship Type="http://schemas.openxmlformats.org/officeDocument/2006/relationships/notesSlide" Target="/ppt/notesSlides/notesSlide3.xml" Id="R775c5c47d99d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9bb72fb9cc411a" /><Relationship Type="http://schemas.openxmlformats.org/officeDocument/2006/relationships/notesSlide" Target="/ppt/notesSlides/notesSlide4.xml" Id="Rbcca7f20a798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0586edb18d34f5f" /><Relationship Type="http://schemas.openxmlformats.org/officeDocument/2006/relationships/notesSlide" Target="/ppt/notesSlides/notesSlide5.xml" Id="R9818006a05ed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5279eb58364c1c" /><Relationship Type="http://schemas.openxmlformats.org/officeDocument/2006/relationships/notesSlide" Target="/ppt/notesSlides/notesSlide6.xml" Id="Re2e65b45c83e49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686472f6db44d54" /><Relationship Type="http://schemas.openxmlformats.org/officeDocument/2006/relationships/image" Target="/ppt/media/image2.bin" Id="R0f38a67cfc204dc8" /><Relationship Type="http://schemas.openxmlformats.org/officeDocument/2006/relationships/notesSlide" Target="/ppt/notesSlides/notesSlide7.xml" Id="Rc0a5498368ff4c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0b914cf9f614fc0" /><Relationship Type="http://schemas.openxmlformats.org/officeDocument/2006/relationships/notesSlide" Target="/ppt/notesSlides/notesSlide8.xml" Id="R2b07b284956b4b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70a26d415264713" /><Relationship Type="http://schemas.openxmlformats.org/officeDocument/2006/relationships/notesSlide" Target="/ppt/notesSlides/notesSlide9.xml" Id="R3353446a510a41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17654820c604280" /><Relationship Type="http://schemas.openxmlformats.org/officeDocument/2006/relationships/notesSlide" Target="/ppt/notesSlides/notesSlide10.xml" Id="Ra747fd7dd3af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79e9ba9dee94f36" /><Relationship Type="http://schemas.openxmlformats.org/officeDocument/2006/relationships/notesSlide" Target="/ppt/notesSlides/notesSlide11.xml" Id="R4b0df52c0e744c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a1d5d640b84354" /><Relationship Type="http://schemas.openxmlformats.org/officeDocument/2006/relationships/notesSlide" Target="/ppt/notesSlides/notesSlide12.xml" Id="Re771e7accd4043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622bd27d5a4c8f" /><Relationship Type="http://schemas.openxmlformats.org/officeDocument/2006/relationships/image" Target="/ppt/media/image3.bin" Id="Ra3bdbbc53d9e4c7e" /><Relationship Type="http://schemas.openxmlformats.org/officeDocument/2006/relationships/notesSlide" Target="/ppt/notesSlides/notesSlide13.xml" Id="Re566b36e0bdc4c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0ea092be80d4db2" /><Relationship Type="http://schemas.openxmlformats.org/officeDocument/2006/relationships/notesSlide" Target="/ppt/notesSlides/notesSlide14.xml" Id="Refde88f7549849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b4907a37a514ab2" /><Relationship Type="http://schemas.openxmlformats.org/officeDocument/2006/relationships/notesSlide" Target="/ppt/notesSlides/notesSlide15.xml" Id="Rda78242739a344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30442c39d7460e" /><Relationship Type="http://schemas.openxmlformats.org/officeDocument/2006/relationships/notesSlide" Target="/ppt/notesSlides/notesSlide16.xml" Id="Rc8a9f1b2e2844b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3f751e7f5394a68" /><Relationship Type="http://schemas.openxmlformats.org/officeDocument/2006/relationships/image" Target="/ppt/media/image4.bin" Id="Rce6f8e62b32046f5" /><Relationship Type="http://schemas.openxmlformats.org/officeDocument/2006/relationships/notesSlide" Target="/ppt/notesSlides/notesSlide17.xml" Id="R79180ec2e7194c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19ec68a31a244dd" /><Relationship Type="http://schemas.openxmlformats.org/officeDocument/2006/relationships/notesSlide" Target="/ppt/notesSlides/notesSlide18.xml" Id="R0205a06cd78441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6e73c69823f4f76" /><Relationship Type="http://schemas.openxmlformats.org/officeDocument/2006/relationships/image" Target="/ppt/media/image5.bin" Id="Raeef27f583714acf" /><Relationship Type="http://schemas.openxmlformats.org/officeDocument/2006/relationships/notesSlide" Target="/ppt/notesSlides/notesSlide19.xml" Id="R0388d4f3e7914c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6a1728eade44143" /><Relationship Type="http://schemas.openxmlformats.org/officeDocument/2006/relationships/image" Target="/ppt/media/image.png" Id="Rdf55872dc27642aa" /><Relationship Type="http://schemas.openxmlformats.org/officeDocument/2006/relationships/notesSlide" Target="/ppt/notesSlides/notesSlide20.xml" Id="Rcc825265b8e044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cdb2fb3f82f44b3" /><Relationship Type="http://schemas.openxmlformats.org/officeDocument/2006/relationships/image" Target="/ppt/media/image2.png" Id="Rf50c517bcb5a45e3" /><Relationship Type="http://schemas.openxmlformats.org/officeDocument/2006/relationships/notesSlide" Target="/ppt/notesSlides/notesSlide21.xml" Id="R4925393357b743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1b28fbc4e64adc" /><Relationship Type="http://schemas.openxmlformats.org/officeDocument/2006/relationships/image" Target="/ppt/media/image3.png" Id="Rcd7e52b92cb84f05" /><Relationship Type="http://schemas.openxmlformats.org/officeDocument/2006/relationships/notesSlide" Target="/ppt/notesSlides/notesSlide22.xml" Id="R347c6bd58c554c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6556015836d40f2" /><Relationship Type="http://schemas.openxmlformats.org/officeDocument/2006/relationships/image" Target="/ppt/media/image4.png" Id="R2e564917f2e446ad" /><Relationship Type="http://schemas.openxmlformats.org/officeDocument/2006/relationships/notesSlide" Target="/ppt/notesSlides/notesSlide23.xml" Id="R512aa8116aa94b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b517c8ae674592" /><Relationship Type="http://schemas.openxmlformats.org/officeDocument/2006/relationships/image" Target="/ppt/media/image5.png" Id="Rcd97349967fc484a" /><Relationship Type="http://schemas.openxmlformats.org/officeDocument/2006/relationships/notesSlide" Target="/ppt/notesSlides/notesSlide24.xml" Id="R5fa8c4bf6b494f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b4240065574fff" /><Relationship Type="http://schemas.openxmlformats.org/officeDocument/2006/relationships/image" Target="/ppt/media/image6.png" Id="R8df4599a02b04c9e" /><Relationship Type="http://schemas.openxmlformats.org/officeDocument/2006/relationships/notesSlide" Target="/ppt/notesSlides/notesSlide25.xml" Id="R8f6f65d6e12f46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0bae6fdac8f4c57" /><Relationship Type="http://schemas.openxmlformats.org/officeDocument/2006/relationships/image" Target="/ppt/media/image7.png" Id="Rc1514f56abcb4931" /><Relationship Type="http://schemas.openxmlformats.org/officeDocument/2006/relationships/notesSlide" Target="/ppt/notesSlides/notesSlide26.xml" Id="Rbf1f16cc3df340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cbd193465684a69" /><Relationship Type="http://schemas.openxmlformats.org/officeDocument/2006/relationships/image" Target="/ppt/media/image8.png" Id="R178e7e196c144af8" /><Relationship Type="http://schemas.openxmlformats.org/officeDocument/2006/relationships/notesSlide" Target="/ppt/notesSlides/notesSlide27.xml" Id="R19030eb77bc94e9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3abab2a57214003" /><Relationship Type="http://schemas.openxmlformats.org/officeDocument/2006/relationships/image" Target="/ppt/media/image9.png" Id="R97964ba26a164c8e" /><Relationship Type="http://schemas.openxmlformats.org/officeDocument/2006/relationships/notesSlide" Target="/ppt/notesSlides/notesSlide28.xml" Id="Reb17567d7e3940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a359d75b2f43e2" /><Relationship Type="http://schemas.openxmlformats.org/officeDocument/2006/relationships/image" Target="/ppt/media/image10.png" Id="Ra1085e6cec944c28" /><Relationship Type="http://schemas.openxmlformats.org/officeDocument/2006/relationships/notesSlide" Target="/ppt/notesSlides/notesSlide29.xml" Id="R20fe5ae3109e4d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ee3d7d7f1e4a81" /><Relationship Type="http://schemas.openxmlformats.org/officeDocument/2006/relationships/image" Target="/ppt/media/image11.png" Id="R3ab695cbccd849f8" /><Relationship Type="http://schemas.openxmlformats.org/officeDocument/2006/relationships/notesSlide" Target="/ppt/notesSlides/notesSlide30.xml" Id="R6dd93d4d420d48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577b8b686a647c8" /><Relationship Type="http://schemas.openxmlformats.org/officeDocument/2006/relationships/image" Target="/ppt/media/image12.png" Id="Rab350c6c443545ac" /><Relationship Type="http://schemas.openxmlformats.org/officeDocument/2006/relationships/notesSlide" Target="/ppt/notesSlides/notesSlide31.xml" Id="Rc09b061c5a104a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ee16e416b854611" /><Relationship Type="http://schemas.openxmlformats.org/officeDocument/2006/relationships/image" Target="/ppt/media/image13.png" Id="Rb3697895cc3d4ca8" /><Relationship Type="http://schemas.openxmlformats.org/officeDocument/2006/relationships/notesSlide" Target="/ppt/notesSlides/notesSlide32.xml" Id="R7ef5549365fe4c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379c042129479a" /><Relationship Type="http://schemas.openxmlformats.org/officeDocument/2006/relationships/image" Target="/ppt/media/image14.png" Id="R603be5212b0c4c0f" /><Relationship Type="http://schemas.openxmlformats.org/officeDocument/2006/relationships/notesSlide" Target="/ppt/notesSlides/notesSlide33.xml" Id="R4defedb7cdf14b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be6ddf35a14fc0" /><Relationship Type="http://schemas.openxmlformats.org/officeDocument/2006/relationships/notesSlide" Target="/ppt/notesSlides/notesSlide34.xml" Id="R68d65cd2e3a1482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dabdbbfccf4461" /><Relationship Type="http://schemas.openxmlformats.org/officeDocument/2006/relationships/image" Target="/ppt/media/image15.png" Id="R5bca6ab911de4b0a" /><Relationship Type="http://schemas.openxmlformats.org/officeDocument/2006/relationships/notesSlide" Target="/ppt/notesSlides/notesSlide35.xml" Id="Ra8986ad5a1a246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25b852cae744f56" /><Relationship Type="http://schemas.openxmlformats.org/officeDocument/2006/relationships/image" Target="/ppt/media/image16.png" Id="Rf4bda6a30a9d40fc" /><Relationship Type="http://schemas.openxmlformats.org/officeDocument/2006/relationships/notesSlide" Target="/ppt/notesSlides/notesSlide36.xml" Id="Rd1ff7bd553544f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404108a36c4aa1" /><Relationship Type="http://schemas.openxmlformats.org/officeDocument/2006/relationships/notesSlide" Target="/ppt/notesSlides/notesSlide37.xml" Id="R38c9cec4520548c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f48030a5db449e8" /><Relationship Type="http://schemas.openxmlformats.org/officeDocument/2006/relationships/notesSlide" Target="/ppt/notesSlides/notesSlide38.xml" Id="R76018109a4cb43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b058eb09c1e4d70" /><Relationship Type="http://schemas.openxmlformats.org/officeDocument/2006/relationships/notesSlide" Target="/ppt/notesSlides/notesSlide39.xml" Id="R9c8f8b6845e14f8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7eb672bcca4496" /><Relationship Type="http://schemas.openxmlformats.org/officeDocument/2006/relationships/notesSlide" Target="/ppt/notesSlides/notesSlide40.xml" Id="R786a1ca6582245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bf20da297744cc" /><Relationship Type="http://schemas.openxmlformats.org/officeDocument/2006/relationships/image" Target="/ppt/media/image17.png" Id="R19ab088423434648" /><Relationship Type="http://schemas.openxmlformats.org/officeDocument/2006/relationships/notesSlide" Target="/ppt/notesSlides/notesSlide41.xml" Id="R7407a9eda4344d7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326c40b72644fd" /><Relationship Type="http://schemas.openxmlformats.org/officeDocument/2006/relationships/image" Target="/ppt/media/image18.png" Id="Rd2719b9e193c4ef7" /><Relationship Type="http://schemas.openxmlformats.org/officeDocument/2006/relationships/notesSlide" Target="/ppt/notesSlides/notesSlide42.xml" Id="R9af225740dfe436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3f67858cc2e4b98" /><Relationship Type="http://schemas.openxmlformats.org/officeDocument/2006/relationships/notesSlide" Target="/ppt/notesSlides/notesSlide43.xml" Id="Ree1caa6806d74ac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391195417ce4a5a" /><Relationship Type="http://schemas.openxmlformats.org/officeDocument/2006/relationships/notesSlide" Target="/ppt/notesSlides/notesSlide44.xml" Id="R473d96d90d1f4b0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193121219a49aa" /><Relationship Type="http://schemas.openxmlformats.org/officeDocument/2006/relationships/notesSlide" Target="/ppt/notesSlides/notesSlide45.xml" Id="Rca04fdf2a8d2495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f3d7aebc054c78" /><Relationship Type="http://schemas.openxmlformats.org/officeDocument/2006/relationships/notesSlide" Target="/ppt/notesSlides/notesSlide46.xml" Id="Raa57e2be98224e1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23011f34c2a43aa" /><Relationship Type="http://schemas.openxmlformats.org/officeDocument/2006/relationships/notesSlide" Target="/ppt/notesSlides/notesSlide47.xml" Id="R1dcbab0623184b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2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 xmlns:a="http://schemas.openxmlformats.org/drawingml/2006/main"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00150"/>
            <a:ext cx="581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47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Azure Container Instances をつかった Web サーバ構築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552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21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この回では、コンテナ化された NGINX を Azure Container Instances で実行し、インターネットからアクセスできることを確認します。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57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第4回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オンライン座学 + ハンズオン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50分 + 10分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576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2026年7月9日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6A4C3-0F49-4965-9CED-BBC4493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9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講師共有 ACR の NGINX イメージを ACI で実行し、HTTP で公開します。</a:t>
            </a:r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69ED0-EFFF-4130-92E2-13E6C2F5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161D9-5697-427A-A34A-5CD11A5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で作った Web サーバと同じ到達確認を、コンテナ実行環境で行います。ブラウザーで NGINX が表示できれば、本回の構成は完成です。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775A5-D144-4DF4-B2EC-26D4955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5354e6a894c73"/>
          <a:stretch xmlns:a="http://schemas.openxmlformats.org/drawingml/2006/main"/>
        </p:blipFill>
        <p:spPr>
          <a:xfrm xmlns:a="http://schemas.openxmlformats.org/drawingml/2006/main">
            <a:off x="857250" y="2190750"/>
            <a:ext cx="10477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5FD1-91F9-4242-853B-AE5E239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9A72D-15CA-4938-BB10-547FF30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前回の振り返り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BBADE-DB20-4A49-A046-AFB75CD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11089-2A64-413F-8C96-4AA87A6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92ABA-1662-4045-87A5-A2D1F80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121F4-D44F-45F3-B572-95A1C01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第3回では、VM、ディスク、NIC、Public IP、NSG を組み合わせて、Linux VM 上の NGINX を公開しました。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32907-9CFA-48D3-808D-B788DEE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1D6C5-2A5A-4AAE-AF00-E9AE88AC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ブラウザー HTTP でアクセス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644CD-45BF-4A46-9ADD-BEC2836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EB224-5854-4DFF-95FE-CEDDF81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0A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D4621-8FDC-4CE9-96EE-4C580453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0035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Public IP 外から見える宛先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757D1-229A-4E7F-A191-FD08915C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6F5A3-7EAB-4A75-8700-73D3CC1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D7D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91B16-86F1-41F8-8004-AB94CAA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NSG / NIC 通信と接続口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7D7F0-A77E-42EC-AE32-7CEE79D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95FE9-1645-42AE-9D20-6EBED01C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47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28A5D-9B7A-4A84-965D-65F87B7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Azure VM NGINX を実行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49B56-3EEE-4ED6-B226-949F167A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ADD45-F820-4B87-B344-BB09A90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VM で管理したもの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3EC21-FF66-482B-9042-E25A939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101FB-1EA3-4AD2-91C6-6D6C4DB9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CDB1-6A09-4CE5-91B1-1A95FA1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8098-7518-4A72-8F53-2B96E06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は自由度が高い一方で、OS、ミドルウェア、ネットワーク、ディスクなど、利用者が意識する管理対象も広くなります。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8FD4E-6B07-4583-85A7-63D5D11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90AE5-75B3-4123-842E-F233B02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B99D2-CCC7-4A7D-83CA-4EA79E0C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79F94-8AFB-4BE9-9A3B-4A95671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VM と 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B7875-8586-4F91-A728-7A6B33B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OS イメージ、VM サイズ、起動状態、パッチや管理方法を意識します。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CEC4A-02CA-4066-B36E-8E1D877D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32C07-B931-48AF-B25D-FDBC9E2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9553E-6F5A-4D01-8F3A-394D6D3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ECC95-032A-4A03-BE80-760773F2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NIC と公開入口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672B6-C16E-4A3C-B752-933CF5B7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VNet、サブネット、NIC、Public IP、NSG がアクセス可否に関係します。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B150C-37AB-4610-B510-EF2B1B7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122AD-6D99-4D72-9BCC-961EEDB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397DF-D699-4E25-89FF-5B63CA6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FCCB9-D053-4B54-B83F-17C45828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Managed Disk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1F835-118C-4B25-B491-057BF67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OS ディスクが作られ、VM 停止後も残ると課金対象になる場合があります。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18469-B0FA-4F2E-8CCE-0E563CB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AA986-60CF-4B83-A539-637B0A7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DC02E-2C26-4EE4-9951-5F4F9309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Software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C100C-265C-4DE7-9C16-4240ACC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NGINX の導入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8434F-CFEE-4B4A-9235-1BECFE4B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カスタムデータや手動操作で、Web サーバソフトウェアを用意しました。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D52C6-9123-4B06-AD60-571A791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BF0CB-7674-4080-850B-A5D5378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コンテナで考え方を変える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8C5C9-4B8A-4C17-A50B-641BDED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23DC1-DFFB-499F-AA5B-A088E7AF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ADB6-E9F3-400E-906B-79B70980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D3F0-91C6-420F-840C-07684A6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コンテナでは、アプリケーションと実行に必要な内容をコンテナイメージとしてまとめ、実行環境はそのイメージからコンテナを起動します。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FD125-72BD-4C3F-9BC6-B52CA15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4855F-2029-47CF-B5EE-4B5D79DD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4DF95-E6C8-4049-8D1D-94AB9CAE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9E416-D79D-4E2E-A0CD-ADE8931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配布単位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C20EF-3700-42BD-85CA-0DF3E33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アプリケーション、ライブラリ、設定をまとめた起動元です。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03C2E-0431-4F99-B223-AD695EB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AE97B-67C0-4C58-A1C7-8A77C62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80396-4EE3-4753-A2F0-33ED28B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Container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3F367-53E6-4783-BA97-675E4416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実行単位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4DEB9-5327-483C-A24A-0B0A986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イメージから起動した、実行中のプロセスに近い単位です。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3B80C-8099-46EC-8424-BF4F2161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97709-F74B-4753-B3D8-DB68CE4E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B159B-2810-41CF-A3FF-FDE745E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Registry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A50CE-A128-4482-AC3F-AFB1E22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保管場所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A4AE2-73DF-4955-A6C5-8B8BA9C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イメージを置き、実行環境が取得できるようにします。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BA053-23E2-4765-AE07-A61B3EA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5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1AC3D-A4BC-41B5-9760-76BF277E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コンテナとは何か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A47BF-27B9-4568-BD2E-AC7FD12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B72A5-641A-490B-B166-EC248AC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1E68E-DDDD-4892-9DC1-3BF4BCA0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6183F-7865-4781-84D9-3932CD0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コンテナは、同じイメージから同じように起動できる実行単位です。イメージはテンプレート、コンテナはその実行中の姿として分けて考えます。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9F5B-6F40-402C-AD8E-6DCA764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8C42-A023-4275-A7AD-B8CCD048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コンテナイメージ 起動元のテンプレート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C153-D04F-4804-8B41-73A442E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9A4D9-5954-45CB-A7FA-6110E3A4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0A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B6D5C-093D-4D70-9D92-A1DFD83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コンテナ 実行中のインスタンス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5F9B-A2B9-4575-9F21-838A476C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D6B3B-1BA5-4A3B-AD7F-546E9F5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D7D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00CD2-196E-49C4-8E01-5F1EDCB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ログ / 状態確認 起動後に確認する情報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3A71A-517F-4FDF-AF4F-95956CEE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DC5C8-06D6-4682-B52D-338D741D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VM とコンテナの違い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591D-9BA9-4028-99B3-07831E6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FD7AB-7877-4D6B-B4DF-8D4C4386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4987E-71E2-41A3-8D73-FCBA1DC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8D770-D9D2-44B2-A00C-1BCEC0A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は OS ごと仮想化し、コンテナはホスト OS を共有する前提でアプリケーションを分離して実行します。管理対象の広さが変わります。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18DC1-F0AC-4CD5-AF82-936396FE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8a67cfc204dc8"/>
          <a:stretch xmlns:a="http://schemas.openxmlformats.org/drawingml/2006/main"/>
        </p:blipFill>
        <p:spPr>
          <a:xfrm xmlns:a="http://schemas.openxmlformats.org/drawingml/2006/main">
            <a:off x="857250" y="2190750"/>
            <a:ext cx="10477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E4996-6ECD-4ADE-A73F-FEB8AA1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7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05D4C-2DF9-4426-BAA8-91A372B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コンテナのメリット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73C7-6C22-41CE-8C46-2D0EF0DB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FB827-413B-4547-84D0-5C82BF61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9425-20C6-4D4D-91FE-C791255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9796C-36D3-4ADF-852D-171AC97A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コンテナは、環境差分を小さくし、配布と起動を簡単にしやすい技術です。実行環境をまたいでも、同じイメージを使う考え方が中心です。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BE8BF-6171-4202-86C4-8EE2ADE5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7D63-2F1C-4C92-9179-23C3E67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E080B-92D9-4062-BDC7-775FE87E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Reproducible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6D95F-201C-45BA-8BB4-C7F60425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同じ構成で起動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BD76A-BC44-4446-B966-E091BBF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同じイメージから起動するため、環境差分を小さくしやすくなります。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37589-202D-423C-996A-87CABD8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8D65E-2DCA-4041-8D7B-5A8965B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1B1C7-B36C-4CA3-A4BE-9A6512F1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42C45-4ADD-4EC1-AA95-FF458E27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運びやすい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E6A0B-AD86-4A59-B39F-3DEA430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イメージをレジストリへ置き、実行環境から取得できます。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D83CD-31BC-48D0-B9C1-1582BE48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B9830-9E62-40C5-B199-6841BB7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72421-319D-42EB-8707-497F606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Fast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CC35E-25BE-4841-9F63-E541079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起動が速い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D9B94-FE5A-4E50-BCF9-6FADC6B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OS 起動全体を待つ VM より、プロセス起動に近い感覚で扱えます。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6274D-6D7D-42B8-AAB7-CBCC4F04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19051-D332-41D3-BC61-D59940C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06EDE-91F2-45A6-AF25-2CBBD25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Focused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35489-F49F-4D65-8C2C-DE8AA2B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アプリに集中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EB39E-5AC7-4981-9D8B-A732104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OS や VM の細かな管理より、イメージと実行設定を中心に考えます。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B927E-0885-4A82-9413-3872467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8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45942-0903-481E-8092-322544D4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コンテナだけで解決しないこと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50465-A1E4-468B-B9E9-941F260F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53EF6-16D2-43FA-9110-A62FA1EC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37C82-55ED-4DBD-9008-87152040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11748-F872-4242-82A7-5FA7D312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コンテナを使っても、公開範囲、認証、ログ、監視、データ永続化、コスト管理は設計が必要です。魔法ではなく、配布と実行の単位を変える技術です。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2EDB3-B9EA-48CB-BCED-09CAAA4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1D856-7D5E-461B-B5F6-40D54883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0E8D9-3C9D-4107-8059-06C0503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28A8E-C427-4F13-A5E4-57B5768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公開範囲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31CBE-9C0C-4B57-B033-6F97F03B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Public にするか、どのポートを開けるかを判断します。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B4F40-E6D5-4F53-91C0-3EB6776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BEB71-2F76-4443-B4BB-7327EFF1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0EDD6-6E0A-40B9-8968-E34BE716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268A0-C89D-4FD2-A883-4188E9B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ログと監視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C769D-ACB2-4887-8C62-39BBB293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起動失敗やアプリの状態をどこで見るかを決めます。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0BAD5-E87E-4CC0-9578-A4965070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49498-3DF2-4CD5-9825-6D0B0293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CAB79-DC9C-490B-974C-F6EE2F5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93113-15D3-4D72-9AEE-D602270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永続化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7ABC7-6B8A-45D7-A67B-439A02D5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コンテナを消しても残すデータは、別の仕組みで管理します。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431C8-F2E3-4023-8025-F34B674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9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932604-4428-434C-B2A4-31DCC7C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レジストリの役割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C3A13-9302-4B5C-91EA-FF0001F6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73D8B-544A-468A-AB6E-2E578D93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53A99-367A-4CE6-89C7-5F9421C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53639-A0C5-485E-B802-7C92CF1D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コンテナイメージは、レジストリに置いて実行環境から取得します。開発側が push し、実行環境が pull するという流れで理解します。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D2754-92A5-4201-87A0-9AF49B42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2383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B14E-CB08-42E6-B3E3-8C00BAA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開発 / 講師準備 イメージを用意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A90EB-8FE6-4418-936F-899E53B8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5B7E5-F17C-4EDC-A604-F4ECA88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0A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2E48A-9654-44AB-9F82-C7D413CF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レジストリ イメージを保管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94073-8320-429D-9D42-43013EF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0765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81693-0FCB-4564-A664-E5137D0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628900"/>
            <a:ext cx="330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D7D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B14D7-F904-469E-96A1-B164D07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800350"/>
            <a:ext cx="311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20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実行環境 イメージを取得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71F1E-11F5-4CA5-9E1C-255D5B2D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10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E98FA-47C1-42BA-8A1F-54DA75F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ACR 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1EA08-3594-4A2F-99E5-1CB54379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5E646-E040-4176-8A24-26A5DF7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202A9-77ED-470E-B8B6-138F8E3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ED469-EC5F-47EF-A2F8-0FE5E80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Registry は、Azure 上でコンテナイメージを保管するレジストリです。ログインサーバー名、リポジトリ名、タグでイメージを識別します。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E19EF-7E13-48D1-A344-A2EC5E8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EDE57-C6FE-426F-9863-1462587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要素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01132-208F-497A-B5BF-2D35D668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84AE1-59EF-47A9-BACA-01FCD17D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意味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5888-B72F-4934-931B-A0EE9680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D4FF6-AC04-4733-ABBC-7078C526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本回の見方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6E2A6-7AC1-4CAB-93F1-E8A20763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07743-C1B7-4094-A69D-4F64BD47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ログインサーバー名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E5DB-A095-43E9-A4EB-5B9E896A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384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B32C7-DB28-4400-A398-A32FB5E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どの ACR かを示す名前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C04B4-A81D-4416-AE95-15B3C287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4384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8AEB1-6915-4D36-A5D9-EB49A0BA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860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講師が案内する共有 ACR を使います。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F20C0-E055-43E8-8EC5-D7EBEA28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2BD2D-C607-4253-B817-C2DEB97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リポジトリ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3A198-FD87-47AF-B23B-3427020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44805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E7725-0776-4D23-AADF-1851C4D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49567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イメージのまとまり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9E6C5-D18E-4CF3-95E1-3F01F6F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44805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BB4EA-5849-4B8A-BE87-7995CF87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49567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NGINX 用のリポジトリを指定します。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78F62-AE90-4A08-8C7B-40EB4818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4F2FA-C3F2-41B0-9B5C-4DF6C02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タグ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85D6A-CF04-42F7-AB66-233A3EB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4577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B5C0AD-960B-4CB5-AB57-6132A8B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5053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イメージの版を表すラベル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43D6FD-E2C2-43AB-920F-509E39C3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457700"/>
            <a:ext cx="347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3EF17-18CC-4BF8-A6C3-570E69F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505325"/>
            <a:ext cx="332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講師指定タグを使い、自己判断で変えません。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83D2B-8747-46AE-82E3-F7DB613B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11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3EC0B-FA70-45C5-9BCA-4BC0296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第4回の共有 ACR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0181C-E4E2-4311-918E-7E1311E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91E69-0A5E-4605-8995-A82C939D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33410-D7AA-4F06-AE74-9323B5A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A1EC7-16CD-4CC0-A428-EC000D7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本回では、講師が事前に用意した共有 ACR の NGINX イメージを利用します。受講者ごとの ACR 作成は第5回以降で扱います。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F8C40-7B97-4383-AAA6-D467A1A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66B63-40BB-41E9-B178-791CFED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22789-6CD4-4B3F-BF1F-E914B8D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講師管理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6934-57AD-4D44-AA16-5D773B8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共有 ACR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ED98E-E72E-4389-A2EB-B9C3FF1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NGINX イメージを事前に格納し、受講者が参照できるように準備します。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03A3B-EE3C-4BBB-8487-39711D1A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753EC-522E-47A8-814D-EFD2F838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D8930-792D-4082-B19B-FD84415A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受講者作成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E5ACC-8338-46C1-AE91-6A6238C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ACI とリソースグループ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9E370-F79F-48EE-8EC0-7B16048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本回で作成し、最後に削除する対象です。共有 ACR は削除しません。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EAA6D-5B11-41D0-9881-75D20101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D9926-BD6B-4AD8-B99C-C58E0223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コントロールプレーンとデータプレーン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EBC5E-9D68-4E95-9943-9661C39C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EC021-093E-466F-A4C4-81B928D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AA0C3-995C-442A-B8AE-AFA2036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4850-6200-4D40-89A4-F6E6A0D5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コンテナ環境では、イメージを保管する場所、作成や管理を受け付ける面、実際にコンテナが動く面を分けて見ると理解しやすくなります。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487B4-2774-4054-86C5-66F5F51D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dbbc53d9e4c7e"/>
          <a:stretch xmlns:a="http://schemas.openxmlformats.org/drawingml/2006/main"/>
        </p:blipFill>
        <p:spPr>
          <a:xfrm xmlns:a="http://schemas.openxmlformats.org/drawingml/2006/main">
            <a:off x="857250" y="2190750"/>
            <a:ext cx="10477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EA85-F4B9-49D2-A0BD-DE8BBD75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13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445D6-4F1B-455C-8E4C-5570325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Azure のコンテナサービス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D5800-C798-44BE-936B-74CAF38E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610E6-2D37-4E30-83FA-DF8096E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EA15A-C46E-40F3-8AB3-034BE583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A0AF-A16F-4E88-93E3-1BFEAD7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には、単体コンテナをすばやく動かすものから、本格的なアプリ実行基盤や Kubernetes クラスターまで、複数の選択肢があります。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B3AC6-EFDC-4AED-9372-BBC77E7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BE75A-A155-44E1-915C-06D1214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サービス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BC42D-868C-4AF0-A62B-4B66F3A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9C1B8-CCC1-48FF-82D6-0BF7122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主な役割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B4541-DB29-4311-8F37-F0F13F4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AF107-ADC8-49BB-A6B9-11CDD0D9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本講座での扱い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CE0F8-DBC3-4149-BE62-E1EC412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F5A6D-2DF5-44BC-BFA4-F6FBD75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CBB11-EE05-4FD7-A5A4-F9B9552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D2B72-0717-4AB7-96D8-8A52C533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コンテナイメージを保管する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05D96-3448-4A80-B70C-CD1D50E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27D8A-EB1B-4B0A-9444-3C5E9D33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第4回では共有 ACR、第5回以降は受講者ごとに作成します。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AF52B-2F68-4085-AFDC-25EA6851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ABC17-7F51-4C85-9E0D-A48E59A4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Instances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7D52D-D615-4683-AC7E-726F1170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6D73B-C983-4DCE-942C-5464013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単体コンテナをすばやく実行する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50ABF-3F09-4095-B01B-8DD81381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B933F-80B3-4032-AA58-ACAD0D4D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第4回のハンズオン対象です。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A0355-1C0C-4972-BB19-114C044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2D887-F6FB-4DFD-AFD5-860C8191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Apps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A4618-03A3-4DA1-836A-00D410C6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C9AF3-FC29-4799-962C-CB93A3DA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コンテナ化アプリをマネージド環境で動かす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6BAAF-5CC3-4970-BEBD-A1EA080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A5686-4D1B-4AE2-9A46-B9E8BF1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第5回から第6回の Todo アプリで利用します。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C80F6-ED9A-4653-9900-13562EF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0BE5C-68C6-4977-9519-95B3E58A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Kubernetes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0B442-7AD6-4FB5-9D42-63F0F9D4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EABE8-42AA-479E-B241-7C8C8EBF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Kubernetes クラスターを利用する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BD17BD-6CD9-49C7-A9A7-14B93B8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FE3C3F-C3ED-42E5-B5A4-B501C41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本回では存在紹介に留めます。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A5A3E0-2094-4B24-8AFD-D96B29AC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14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F9728-2439-4461-BE06-AC77703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ACI の位置づけ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92817-DFEC-40F8-8765-3103B18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E9A1-4F57-4D58-95CD-AAF8C39B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C7DF2-B681-49E4-A5AB-6FE9734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3680E-6DC3-4DD2-B76D-F457A06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Instances は、少ない設定でコンテナを直接実行したいときに使いやすいサービスです。今回のような単体 Web サーバの確認に向いています。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71B4-19CA-4122-9E9A-5554504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01ADF-2CDE-4968-96C0-D0374B8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A1C34-B98E-42C6-8EAE-BDF7401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4657B-5E26-44DF-85E6-D6E4CBCC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単体コンテナ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7EB23-B303-4D50-9819-E924A7E6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クラスターを意識せず、コンテナグループとして起動します。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0FA2-35EA-4FF6-8981-D4C2234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EC440-4A6D-4DD0-AF25-9EFFF34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E1E02-F670-451D-AC25-1B4A3EFB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Public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A0D20-6F8D-4158-98E3-EE4B6C9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HTTP 公開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485D1-25A6-42D5-A5C9-FD864C8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Public と TCP 80 を指定し、FQDN でアクセス確認できます。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0E767-8B3C-479F-8A73-5C547F8C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CCE21-1566-41CC-9BED-3466685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7EA05-C9FE-4744-88F6-17B94C3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Short-lived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93BF1-7DF4-4353-AD82-53C0926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検証や短時間処理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F9771-0D6A-490A-9CFF-E8BA3754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小さな検証、バッチ、講座用の体験に向いています。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3EB85-1970-40AE-9582-A1E88DC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3F353-9A23-432A-A576-40D41642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66B7B-207B-4565-95A4-1886A50C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D7739-4AA4-4823-9535-13E4B618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本格運用は別途検討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F7C3D-34B7-4A37-81C7-E8D09544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複数サービスのアプリは Container Apps などへつなげます。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E47F3-F77E-465E-B67D-E0CCEC90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15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8F62C-12A3-4018-A8B8-8FC0BF0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ACA と AKS は今日深掘りしない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D2FA7-84E8-47F4-AD40-EB5043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1F3BD-DB68-42D7-AAA8-D49D00F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CCE1E-71AC-4AA2-9C88-4565DD5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0F6E-6167-47D8-AFA0-5E0C910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Container Apps と AKS は重要ですが、本回では存在と使い分けの入口に留めます。第5回からは Container Apps で Todo アプリ構成へ進みます。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969F-2DA9-4497-BC64-3EF71ECD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2AFBB-C8EE-4DA8-A61E-2C07B5FD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673C7-7A87-455A-AE2F-5D28DA4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ACI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1F865-4322-4C66-AECE-09AA62B5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今日使う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1707A-9E78-4D23-B272-5565BEA9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単体コンテナを直接実行し、NGINX の表示確認をします。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93DB1-5703-436C-B500-B3E2F23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F4C21-57A7-4FF8-BB7B-2CB30A6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C1456-FEC5-4180-8516-C8E616A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83C3C-63A2-4F46-9E26-77EE6BB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次回以降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91AAE-68B7-4174-9991-BE64F8BF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Web/API を持つアプリをマネージドなコンテナ基盤で動かします。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AD8A-E582-4935-86F1-977BBE57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73392-4A6D-4232-BDCB-0946B1C5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D3547-25F3-4218-A68C-FD33A652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AKS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388FD-1876-4323-960E-1D1C318E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概要のみ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F401E-E7D5-448F-B3A8-30B4BF9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Kubernetes を使う本格的な制御が必要な場面で選択肢になります。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774B9-5185-49FF-A363-198701EF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16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A2205-F44F-4504-8D12-61370B04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今日作るアーキテクチャ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B48E-9BA3-4A4B-98D9-59D9322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8106-9A92-4B72-930D-5536BF6F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F3A72-4DF5-46A9-832C-37B179BE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2B67-0673-4A37-B610-CA9FDA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ブラウザーから ACI の FQDN へアクセスし、ACI が共有 ACR から取得した NGINX イメージを実行してページを返します。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C69E-FDB3-492E-8988-14F523C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f8e62b32046f5"/>
          <a:stretch xmlns:a="http://schemas.openxmlformats.org/drawingml/2006/main"/>
        </p:blipFill>
        <p:spPr>
          <a:xfrm xmlns:a="http://schemas.openxmlformats.org/drawingml/2006/main">
            <a:off x="857250" y="2190750"/>
            <a:ext cx="10477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8D2DD-A2BB-46C6-A043-028168EE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17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9D1C-8176-4E5C-9923-D1C0B1C6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ハンズオンで使う値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56E0D-8B52-4D48-B7AD-5D8DF3C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74428-67BC-42DC-BFD5-F78A2D7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67C37-D80D-41B9-9E53-246CA5F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DA489-AAA0-48EB-83A6-847EC44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名前と DNS ラベルをそろえると、50名同時でも衝突を避けやすくなります。受講者番号は自分の番号に置き換えます。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3B70F-4A2F-4BD8-8CA5-87A876B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6F5B4-1290-4330-8F0D-27A0FD7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3E998-20D5-4ABB-B776-5A9B4F6E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B2807-F7AB-432C-B3AD-C6AEFA5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値の例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E98E4-548A-440A-9181-C3F3138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091A3-6E7D-4F07-9EC5-5C48C4AD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注意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1D9EF-6C67-4A94-B433-548234F9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F900-65DF-45B1-BBC0-39FC238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リソースグループ名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F2151-FF7F-494D-AAEC-6002D43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06C85-EE12-484A-84EF-EF42B2D6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rg-azbeg-l04-s01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4F196-7604-4BB4-9B3F-18733A9B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FC536-CFDF-443E-97B8-628102D2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s01 は自分の受講者番号に置き換えます。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C2C21-0670-4B07-BA6B-DE3B435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47C18-DAB8-43C4-AE24-05B08E58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24BCC-5B27-4149-9BDB-E709B52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25E2E-3C7A-467D-A3C7-15121C7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aci-azbeg-l04-s01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5924C-5AFA-4302-8B4E-748A9E2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0609F-148B-4DB7-A66C-918B0C18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第4回のリソースだと分かる名前にします。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D4240-7BF9-418A-B2D4-36F9CFC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BDFC2-7B1E-413F-B132-3347173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DNS name 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C9397-8CEB-43E4-980D-8908C700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1CE3A-7444-455D-8AE2-FF21470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aci-azbeg-l04-s01-&lt;接尾辞&gt;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01EF7-0E16-4C7D-91AD-022CEDF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0F914-B66C-404A-A241-7AA523F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リージョン内で一意にします。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BDC52-ADBE-495F-81E1-E043CF8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9A962-B589-485C-8364-B409F07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70C8C-9AB3-4559-BFBE-D5A17C7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6B711-541F-4969-BDD3-A91D741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&lt;共有ACR&gt;/azbeg/nginx-l04:&lt;タグ&gt;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7A6FF-9337-40A2-9DB7-6514740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D1C60F-9467-48B4-848D-9B3AAFB7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講師指定値を使います。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00EBE8-B974-4758-84D8-B13BD947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9837B7-2626-452F-A933-A8CA769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公開ポート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50EA5C-2D4D-428E-BF8F-BF710C7A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A4332A-2FAB-4E45-8BD7-D333FF9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TCP 80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5EDE05-B279-49E5-9EA6-069CF3B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209862-C496-403F-A8EB-A6ACB69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HTTPS は本回では扱いません。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17D769-39A6-4389-A002-48A919A1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18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6D98F5-897B-471D-A006-4F90F4F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ハンズオンの流れ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E342-F254-4D23-A7B7-5B834D0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47203-44DA-407C-945E-14B78C3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D3D88-FC99-4AFA-8FCC-769EA10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94FCE-F6F5-486D-9EA7-8F4B25D4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リソースグループを作り、ACI に共有 ACR のイメージを指定し、FQDN で確認します。最後に受講者リソースグループを削除します。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81AA4-866C-4D8F-81DB-604F4E7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f27f583714acf"/>
          <a:stretch xmlns:a="http://schemas.openxmlformats.org/drawingml/2006/main"/>
        </p:blipFill>
        <p:spPr>
          <a:xfrm xmlns:a="http://schemas.openxmlformats.org/drawingml/2006/main">
            <a:off x="857250" y="2190750"/>
            <a:ext cx="10477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3E67-C11A-44D7-BD97-5E0764E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19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20C77-B455-4DD2-8E0C-FEA72F27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Azure Portal にサインイン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68BF-7BEC-4B37-A51A-CA12435F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ABA42-F3FB-4193-97AC-1F4B4F5B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2244-D870-4C99-A92E-3263168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52A8E-B7A6-438C-8121-1AFC1054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講師が案内したアカウントで Azure Portal に入り、対象サブスクリプションが見えることを確認します。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D5DE-D8C7-4FE2-9103-2762BA60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AD021-4F10-4298-A00A-9ABE73C4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74C78-15DB-42F8-9806-5857F0C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FB41B-0175-41AF-884B-0F8E4FD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作業するサブスクリプション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13A88-232E-4F2B-A968-0035D6E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個人の別アカウントで入っていないか、対象サブスクリプションが表示されているかを先に確認します。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A6113-73E9-43B5-A0F1-12121D9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5872dc27642aa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AB6C4-3427-4006-B53F-310DB003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Portal で対象サブスクリプションを確認する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FCC36-E521-4318-8027-FFB7869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20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4AE33-B8B5-4D15-B58E-71DD029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リソースグループを作成する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A6103-A121-4D8A-89D0-2FC265D9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BFC52-E126-48F0-B933-540EB5C9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6207B-EE88-4FC7-A0CF-AB1BC23F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1F72D-E5D6-43A4-9DA5-643F269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本回の受講者作成リソースは、受講者ごとのリソースグループにまとめます。最後にこの単位で削除します。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118CE-C87E-4B6C-A8BA-494A55D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名前は第4回と自分の受講者番号を含めます。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リージョンは講師指定の値を選びます。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共有 ACR とは別の、受講者作業用の入れ物です。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92AE-A9AA-4BFE-8443-46ADFA74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c517bcb5a45e3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7A9DC-D43D-47FE-89F7-561CA153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リソースグループを作成する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6CEDC-95A7-4FB1-A10D-7172F024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21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4D841-2C6F-4A1C-B3E5-20830E7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リソースグループ作成を確認する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6C7A-B11C-45CE-80C6-5C600F9E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414D0-3E71-481C-A4F9-A6F4C387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6A9ED-0968-4102-8896-27B979EC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8C8A5-F67C-4D5D-A53D-10790C1D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作成したリソースグループの Overview を開き、場所と名前が講師指定の値になっていることを確認します。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0A2F0-9D81-4227-833E-6EBE74A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7EEB1-7385-4554-BB1A-ECA8944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B749E-9A21-462D-B171-E7553D3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完了条件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1377B-64E1-4D7D-8942-6D39D7F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空の入れ物ができている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28B9F-A45D-4B29-A494-82033E1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この時点ではまだ ACI はありません。ここからコンテナ実行環境を追加します。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CDD16-513B-49FC-99F9-EBA9BEDD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e52b92cb84f05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F0125-1365-4C80-9040-FC275197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作成したリソースグループを確認する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E60FE-97E4-41E1-87AC-D0CDD6E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22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48087-B566-4EBC-9E03-28C12C8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Container Instances の作成を開始する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B07D1-2C60-4765-8B7F-B474A242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80778-BCD1-492A-8F0C-528EA6BF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F6359-FA21-43E0-83F1-2C9FA7B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ED8F3-587B-4DDE-8291-430EBC7E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Portal から Container Instances の作成画面を開きます。似た名前の Container Apps や AKS を選ばないようにします。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999DA-C7DF-4BAF-BA25-1B54118A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検索またはリソース作成から Container Instances を開きます。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作成先のリソースグループを確認します。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サービス名が Container Instances であることを確認します。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A8DB8-69A0-4D5C-A215-D422B0A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64917f2e446ad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69703-6F13-4668-A2AF-F5FFB85D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Container Instances の作成を開始する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A84AC-E68E-4F6E-A4DD-5E6BB81C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23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EED26-C331-4D54-8C9F-A317A0E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基本情報を入力する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46102-463D-4228-B58F-E9188DF6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6F566-1333-4712-9F75-1E13BF8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91D5D-7252-44BB-9B54-1B6187D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FEC1F-663A-4958-950B-D384B18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コンテナグループ名、リージョン、OS 種別、SKU を指定します。名前とリージョンは後続の確認にも関係します。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51F22-EBC0-470C-90FE-8756B1DE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7349967fc484a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3FB0A-5DA6-4948-B7B6-F76B2D3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基本情報を入力する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5C7A4-B774-4472-A9AB-241BE0F3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24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53893-39DF-4018-8457-50D5581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イメージを指定する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27B9C-3DFF-4939-A99F-E121085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A4F87-EF79-41E8-B362-51B37EB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6C0EE-884A-4478-981A-CC249743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603CB-D559-416E-9714-63EA94B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講師共有 ACR のログインサーバー名、イメージ名、タグを指定します。受講者は秘密情報を画面やメモに残しません。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DF899-8B7A-4644-AA8B-4F801ED7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2C799-8C47-462B-8329-D5267EE6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C336E-0F65-46A0-95C4-E2A8639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つまずきやすい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2FBF6-DFEB-43B0-A023-E35DF44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ログインサーバー名、リポジトリ、タグ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C6107-811D-4E56-8068-67A0FE2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どれか 1 つでも違うと image pull で失敗します。講師指定値と照合します。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2F0FA-7318-4871-80F9-CD096D15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4599a02b04c9e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91BD3-C35A-4630-BBA8-CEB6C56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講師共有 ACR のイメージを指定する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AA223-ECA2-4F9E-829C-B49EC71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25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CEB6C-7917-4E20-933A-4AD4211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CPU とメモリを確認する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1550F-D0BC-419D-A56F-37BFCD6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51B09-E064-4BE4-A9AB-E1FD282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72B0E-D07F-40F3-AF38-C05000D6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D57A4-FCD1-4203-BA49-6D2BC3A0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本回の NGINX は小さな構成で十分です。高価な設定や不要な GPU 設定になっていないことを確認します。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E3CDB-BA08-48C1-A40A-427A64D6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E8002-3691-47A5-B202-A1EECC3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DD5E5-2F06-4AC9-AF2C-2A08AFD9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目安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2F81A-63B0-4ABB-82D1-11C2087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低コスト構成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B4CC6-271D-41C8-8CD5-B21D147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例として 1 vCPU / 1.5 GiB 程度の講師指定値を使います。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61F54-4C5E-4A8C-9E07-C2A72184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14f56abcb4931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2C20C-8124-4ED3-85F3-CFF3AFB7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CPU とメモリを確認する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31693-C2BB-4A7B-9E44-F89218AC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26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31EFC-B629-420A-9CF8-E5ED7750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ネットワークを公開する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2B614-DD63-45CE-9992-87A0A46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213A1-C9DD-4624-B2B6-69F8A86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3CE0-00EA-417C-82BA-23FE33E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46F0D-C31D-4127-82EF-7D36C55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ブラウザーからアクセスするため、Public と TCP 80 を設定します。本回では HTTPS や独自ドメインは扱いません。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58F0-4793-442C-881C-547B13E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公開範囲が Public になっていることを確認します。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Protocol は TCP、Port は 80 を使います。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Private を選ぶとインターネットから表示できません。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675B3-D4B3-4601-B0D4-100EA1C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e7e196c144af8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B3C2B-9300-4BE1-B6B5-1A1F02C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Public と HTTP 80 を設定する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E3085-BFAB-4E17-8BBE-BE2BF90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27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147B1-8BC2-4B31-A723-A8979CB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DNS ラベルを入力する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274D5-F68E-4523-BA19-8D67ED3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8D6C6-63B3-4E3F-8F3C-F33F6ADF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8C1D8-22D0-4B05-8FC4-08D8A6B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4D2B4-1B82-45B8-B216-F9763D18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FQDN はブラウザーでアクセスする宛先になります。リージョン内で一意になるように、受講者番号と講師指定の接尾辞を含めます。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42FC3-CD41-4BDA-B682-0BB888B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5649E-D8B5-43CD-BCDD-9CA2A00E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4272D-1F56-4AA0-8FAF-5A43F57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完了条件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7D559-3DE1-425C-B912-1A9B1DF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FQDN が作れる状態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433A6-0ED3-4EE4-A990-563EFCF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DNS ラベルが重複すると検証に失敗します。衝突したら講師の指示に従って接尾辞を追加します。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1ED29-2136-476F-906E-15B20CB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64ba26a164c8e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0AF9F-3ED7-4120-97D0-B855A536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DNS name label を入力する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94944-88A0-4A54-9EBF-5BFFE68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28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34049-2329-4306-8244-B21DBF3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タグを設定する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EDA40-39A9-43CC-9000-9493FBB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67C1-E35C-4257-80AD-DDB9BBD3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F94B7-5F62-49E9-96BD-221FABD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E8E8C-A7C1-4DA6-B722-5F50F7F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タグを付けると、講師が用途や削除対象を確認しやすくなります。受講者番号を自分の値に置き換えます。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DE1F1-BD98-4E0C-904B-01F83758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5e6cec944c28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3991E-2B70-4B16-A6E1-47E5598B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タグを設定する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8F183-AE60-47B1-B248-21488E0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29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16CB9-9D41-4B6E-A59B-9F2833D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内容を確認して作成する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418AB-2A86-43A5-BBB7-CCF50020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F4EB7-F3F0-4869-B260-FB2A1F99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02E6E-94C9-4A84-9F6D-6ACDF7F6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0DB-55B2-41AE-946E-19D8D5E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作成前に、リージョン、イメージ、公開ポート、DNS ラベル、タグを確認します。Validation が通ったら作成します。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72F50-150B-4391-BB74-9EEE80A6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A8C4-7908-4DCD-AF5F-9ECD9F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91B38-3F5F-45AD-A12A-2748B13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作成前チェック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8AFC1-8C42-47B1-8E3C-2ABBBA7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名前、場所、イメージ、公開設定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07D5-3739-4333-ADB7-5491B9D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後から直せるものもありますが、ハンズオンでは作成前確認を習慣にします。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4FC03-AAC2-4010-AC6B-F5C5E25B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695cbccd849f8"/>
          <a:stretch xmlns:a="http://schemas.openxmlformats.org/drawingml/2006/main"/>
        </p:blipFill>
        <p:spPr>
          <a:xfrm xmlns:a="http://schemas.openxmlformats.org/drawingml/2006/main">
            <a:off x="5642610" y="1809750"/>
            <a:ext cx="536448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C7149-07DE-473B-8DB9-036FDBC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内容を確認して作成する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BD40F-DDEA-4E23-B8B2-69CCB24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30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157FE-F9C5-4D23-B054-B595BDBD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デプロイ完了を待つ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24D6-AC39-4B83-9B1C-CC908568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52C4-0C7B-4B94-B11E-C9C7A53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693C-A475-4BBF-9252-C996786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56049-07C0-4B80-8410-77989FDE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の作成とイメージ取得には少し時間がかかります。完了後は作成された Container Instance の Overview へ進みます。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A9EFF-57A3-42A8-AC8B-B8B24A7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作成中に画面を閉じても、Portal の Deployments から確認できます。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失敗した場合はエラーメッセージの先頭を講師と確認します。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image pull の失敗は、イメージ名や権限の確認につながります。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94279-415D-435D-A8BB-93C300F1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50c6c443545ac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4A45D-07F7-474D-93BF-C6ADFE89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デプロイ完了を待つ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13F10-4716-4308-A3C9-BA21DC4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31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EF0B7-34E2-4C51-8322-2D0AA3E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ACI の Overview 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6FD2-13D6-468A-A149-C39C5BBC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0A5FB-01EC-49A8-B26A-B34D263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82DF7-3882-49CA-A096-75786C44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DF546-FA29-4E2D-A048-B21345FF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が Running になり、FQDN または IP アドレスが表示されることを確認します。ブラウザーからアクセスする宛先はここで確認します。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9AA37-9047-43F6-BF67-AB250C9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FE891-7259-414D-ACB2-FDD5400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F201-4A9C-4E3B-A076-8AD68DD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完了条件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6CEA0-44C8-4243-858D-14976084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Status が 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F682F-8AF1-4AA6-A90D-D83041C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Provisioning 中にアクセスすると失敗することがあります。起動状態を確認してから進みます。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A73A-2C6A-4332-BDB4-4CCCA03C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97895cc3d4ca8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B26F0-DA83-437C-A6C0-4A7E1DB6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ACI の状態と FQDN 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006BE-5A66-4F97-87B2-B6BC067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32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3D81B-B78C-4FE9-A9D1-E6D4EE78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ブラウザーでアクセスする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184EA-12A1-4C2D-BFF9-7015B417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17AEE-190C-453A-9FE6-0A7636F2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EC48-CCDB-49D4-BD0F-4D2B5496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5F67A-6678-4D29-9E70-4B0AD5B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Overview で確認した FQDN に HTTP でアクセスし、NGINX のページが表示されることを確認します。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3BC0E-B048-4D51-8DA7-8EBABB5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AE19A-6FAE-4364-8288-CC58F152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75F82-ADF1-4B8C-9892-D501088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完了条件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9D7AE-2099-40F7-886E-C0B5192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NGINX のページが表示される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A6ECB-C817-438C-AA54-93B6A893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表示できれば、ブラウザー、公開ポート、ACI、コンテナイメージの流れがつながっています。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1CB48-C634-4E42-AD2C-41E8AA9A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be5212b0c4c0f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30307-0DE6-44F1-BB35-BFF36E63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ブラウザーで NGINX のページを確認する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DDBF1-D2DE-47E0-9984-2EF5FE7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33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D1FDE-6C45-4626-9006-37592695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表示されないときの見方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EFF68-BF8B-426D-813B-554FAB2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AAF40-B489-42F4-AE64-506B9870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64093-F4C1-497A-93FF-AEDED4E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6CFC4-A232-47A8-AAFF-FB28082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画面が出ない場合は、状態、宛先、アクセス方法、ポート、イメージ取得の順に確認します。焦って設定を増やさず、手前から切り分けます。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A9DBD-49F8-474A-BD98-FA328D6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表示されないときは、手前から順に確認する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62BC0-DE67-478B-93AC-403271B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9B892-63E3-469E-8101-93131DE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ACI 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8A50-9F6C-4F51-ACD9-DDFD6AC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E0E47-4ECF-477B-A6CD-17F7524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956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1. Running 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66469-324F-4F19-8ECE-63BA2A9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8634-9AC4-420A-9540-1D7BB4E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385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2. FQDN 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FF903-0344-4FE7-A23A-725115D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A3AD8-4AE4-44D5-A0E2-CF545AA5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814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3. HTTP 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E6CA4-05E0-4991-AF74-C947708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BA032-D36F-44F6-8F8E-0C85755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243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4. TCP 80 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1E711-4FF1-4F00-8307-AE1055F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623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B2E0B-DF25-4741-9962-319E3A5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3335">
            <a:solidFill>
              <a:srgbClr val="447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A7AFB-0831-485F-828E-9D472E5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ACR / イメージ側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C2860-66EC-402F-B32B-3380546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14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0CF80-09A4-488C-B6B4-95157DD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5. イメージ名とタグ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740CF-798A-433C-8543-64E7BEA9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576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B0249-E0D6-452C-9C40-1EAA4B4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052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6. pull 権限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B573F-3A15-4B20-B6A1-0863AC0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0B85B-B6A6-4430-9AC1-340A484B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3335">
            <a:solidFill>
              <a:srgbClr val="ED7D3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86E35-5AAA-485C-9011-E8EA3A1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時間内に戻れない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D4FA6-8B57-4F37-BD14-A665CB26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DC85B-0EAF-4B12-B04B-89EFDB7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3382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7. 講師デモへ切替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1657D-A323-4D53-858E-3495A829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BF792-D8B7-4C21-A22C-F5395E60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72100"/>
            <a:ext cx="617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直せない場合も、作成途中リソースの削除確認は最後に行う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0431B-1522-4A4D-A883-F8A9A66E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34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9FA4F-C99A-46EA-A489-C8F9C487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ログとイベントを確認する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0B4CA-E18E-492D-A29B-5C03E1CD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2EA86-3155-4919-A34F-F94F23D2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F56F6-D3AA-4126-8635-BC18911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538C7-0145-453F-90A5-D4F31E9C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では、コンテナのログやイベントから起動状態を確認できます。Image pull やコンテナ開始のイベントは切り分けの入口になります。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842F3-F39A-4CBB-83A1-30E0F10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ブラウザー表示だけでなく Portal 側の状態も確認します。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Image pull の失敗は ACR やタグの確認につながります。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ログに秘密情報が含まれる場合は公開資料に残しません。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48040-7EF4-4A10-9D9E-17BFBA59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a6ab911de4b0a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89006-8FAA-44BD-8A6E-D4FF45F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ログまたはイベントを確認する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1ACF2-9D91-4301-8495-BAD69CE5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35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10C89-715D-4C4E-ADC4-D2A6AAD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リソースグループ内を見る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B545D-2C65-4801-BD7E-A082C39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173FC-5B0F-445B-828C-B5277503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74CD8-3E4F-4B79-AEB7-79DE93C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154D7-FF8B-4C9F-8676-0EB79DB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では、VM のように NIC や OS ディスクを個別に作って管理しません。受講者リソースグループ内に何が作られたかを確認します。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84E3E-0C8A-4DAB-9636-AA56979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8D9E9-A023-481B-B249-5A81CB2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AE0B2-00D3-404A-88D8-F4307612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見るポイント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A6E4C-5DB7-4F7E-9F8B-AB3D0B0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共有 ACR は別扱い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02E2F-EEE8-4FA7-AF0F-F403977D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共有 ACR は講師管理のリソースです。受講者の削除対象には含めません。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24A5D-B29B-42AA-955B-76B94E1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da6a30a9d40fc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3A53E-4CF3-4EAC-BCED-FB7B24A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リソースグループ内のリソースを見る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BA7B1-DD15-40E4-A63F-8462B214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36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EDF04-458B-45D7-B2FF-44EB35B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VM 構成と ACI 構成を比べる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F4B7D-F0CE-4A39-B0BA-1DD9D92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E6EDC-2F21-4977-85A8-A70328D2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9EF3E-91FA-4E18-A115-3CB179AC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52101-779A-4CF5-8F09-A83266DD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同じ NGINX 表示でも、利用者が意識する管理対象は変わります。第3回と第4回の体験を、実行単位と作成物で比較します。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BE02B-B9E2-4313-8816-D892E92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0D932-BC47-459F-99AE-F7B16BBC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199A0-5E3C-4ACD-913D-B4F3979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51272-DAA4-4FF7-B47A-0121D2EF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第3回: 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FEB99-4C7E-4D3A-BDF8-1582B92B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28D91-DC12-4EE6-A17C-8802FA71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第4回: ACI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746F3-628C-4FF1-BC4E-A39D9CA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219DE-2E73-4A84-8E4B-1726033D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実行単位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608C9-01C8-4021-AF1F-CA52113B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27874-CC35-43BD-81AD-AD55C1C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上の OS と NGINX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54C60-FD71-45CE-B5C3-6D1D11F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43840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5BA8E-9F79-411B-83C3-060C4653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8602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コンテナイメージから起動した NGINX コンテナ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0D16C-D1F1-4BEB-A121-57AB6FC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1310D-0B1D-40FF-A4D1-6F689C5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作成時に意識したもの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914CF-07C6-4276-8BD6-D30D845C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C8281-CF09-40BD-BC26-A63031F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VM、Disk、NIC、Public IP、NSG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C8DAA-9CC3-4E48-9449-8CE8EE3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04419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AA844-BCDD-4146-AB1A-3F88EEB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09181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ACI、イメージ、公開ポート、FQDN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6EB60-3C6E-433C-9ECE-5DE3DAD2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21DBA-82FF-4C98-869F-6E2379EC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NGINX の準備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8CFFA-C3DA-405F-BBE6-9415A0D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AFDAA-8546-433B-A114-C1CBF98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カスタムデータでインストール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1F55A-EFF6-4F2D-96BB-DD43C98C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64998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63F12-9223-4603-8C06-1AD2461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69760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イメージに含まれるものを実行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B56FE-CF41-4C02-8DFD-CCEFDAC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5F1E1-8B7D-4E31-BD91-6C9C0FA4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OS 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170D29-33C5-4AB0-9A30-4BE5F82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97625-3A62-4666-9D26-16B6A598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利用者が意識する範囲が広い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585AF3-07E6-44A5-B55D-0994EB7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25577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4EC4C4-E0ED-4FA6-9A71-50BB8D8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30339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より意識する範囲が小さい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93599E-3C3A-4BBC-81E0-0480147E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C8F68-59D3-48A6-86A0-A81206D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削除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76CFA-05A9-4D06-8F47-07F67CE2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B2FAB-C338-487C-AB72-870755CC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受講者リソースグループ削除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ECE58-68C8-4318-83EA-53577B07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861560"/>
            <a:ext cx="34798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55CD88-397C-4135-889B-5AEFC6F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909185"/>
            <a:ext cx="33274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受講者リソースグループ削除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3E0A6B-EB5E-4CE8-8202-E8F2E20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37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DD723B-CCA4-4F10-A5F2-EE56F88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省略された管理対象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2C5DE-B096-4953-A0EA-1FB432A2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9CB1C-B857-47A5-B592-65FD02A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A0C2C-265A-4B55-BBE9-55797D95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7C7C1-23C4-4844-B6E8-6DE37DCE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では OS ディスクや NIC を個別に作らず、NGINX のインストール手順も書きません。コンテナ実行に集中しやすくなります。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9E6CA-DDE0-4ABC-932E-E087496C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B3E43-7755-49DF-8B9F-9EA95FE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30CCD-F34D-4E14-9D95-139350C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Disk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58996-A87B-46D9-A5AB-7F2496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OS ディスクを作らない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AA71F-76B5-45BC-8844-8A667FBD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VM のような OS ディスクを個別に確認しません。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22443-B7FC-4503-A387-69A4FF4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03146-79CB-4ACA-B7FD-86C98015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E58F1-FEA9-4323-AC09-15C43F5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NIC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98A67-0848-438B-90CA-2E3427B8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NIC を作らない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57184-0CCF-429B-887D-9A4A3B5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ネットワークの細部より、公開設定と FQDN に注目します。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8F5A9-18E2-43BB-B1A0-175DAA0B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243DF-B4A8-4CCC-8F04-9981BC08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5985F-37B1-4E70-A5A6-A59ADB43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Install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2F615-164D-4BD4-9AD6-02F4F06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NGINX を手で入れない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E3DC1-F6D7-40E5-933E-D1EEDFB0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イメージに含まれている NGINX を実行します。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B7CC3-CDF4-42BD-B01A-BE5F5232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E833C-8970-487A-8144-ACDEC2D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BAE59-524B-424C-91C0-D3D7BACC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333F0-9199-41C8-8020-88EB47D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OS パッチの見え方が違う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474FD-38A7-4102-BABF-33D7B4D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ただしイメージの更新責任は別途残ります。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6DEAA-C005-467E-8856-1B93752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38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FF88D-C04A-45FE-97D6-23BF10A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省略されない設計対象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6C2C6-614C-48B2-9AD8-880A45C9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22831-F45A-4154-9074-DC3DA42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7C222-842E-44E2-A4FC-06B2DE9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FFA6D-E637-4F36-B5A7-3F3F0D1E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でも設計が不要になるわけではありません。どのイメージを使い、どこから取得し、どのポートを公開し、どう削除するかは考えます。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B1E5E-6DD4-4106-A114-AE28557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36E35-8B52-463E-90C4-3B9FF699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796BB-8463-495A-9A7A-CBCB3CF1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5C83E-DE55-4E42-89B2-AF3EB25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どのイメージか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00564-0B1F-4EEC-8903-AC26534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タグ、更新、脆弱性、由来を確認する必要があります。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F0D1-BD0A-4751-BB8F-7A94749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07DC0-0BA4-42B0-AF55-C1824C6A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F7E8D-E4C1-46DF-9259-9F0E8AD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E59EE-F53E-491E-B34D-53C6B49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どこへ公開するか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7DCBD-DBED-440B-905D-320A25C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Public、FQDN、ポート、HTTPS の扱いを判断します。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B5061-C85C-4407-95AE-AE9C746D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D134C-0F78-46F9-B7DC-D58B6B7B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8C5EF-C9B0-4367-98BC-4619A17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A8763-4249-4BB0-895E-7D1EE24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ログと削除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85D8B-E0EB-4C72-A683-2C23066E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状態確認、トラブル時のログ、コストを残さない削除が必要です。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79FF3-7BDF-44D7-AE08-00AF33A6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39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61EDF-8282-4127-A466-3D150FC8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コストが発生する場所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77EB3-081C-42AA-9707-28DB722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69A78-D95B-4368-83B9-E4BDE756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C1143-8B25-402E-A5CC-89A95A3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676B6-792D-4E7B-8631-174F357A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は実行中の CPU/メモリ時間などが課金対象になります。本回では最後に受講者リソースグループを削除し、作成した課金対象を残しません。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441EC-55D9-49EE-AF7A-EBE92FA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3FD11-1687-4CFE-9CEB-E1368BC2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リソース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917DB-DF93-4216-87A3-5671DAF2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2819E-AD15-4D91-A06C-4F522E0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課金注意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EAAA3-0A77-4774-9DE3-28CBE88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038350"/>
            <a:ext cx="347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98B39-7855-4C9C-A47B-745ECAA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85975"/>
            <a:ext cx="332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本回の扱い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CD0A5-E585-4FC9-8F75-3D9CFDB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83806-116E-4818-AC0E-50EC7B80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Azure Container Instances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68C6F-2E74-4A6D-BA27-AF41099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63ADE-6D0A-454F-A1D9-9F71CD1A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実行中の CPU/メモリ時間が課金対象になります。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3AC70-A056-44F0-8B66-B303EE9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438400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307BC-4EBC-422D-A77D-B554BF1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486025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最後に削除します。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31E7F-8D18-48BE-934D-63272F1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074B0-846D-440C-90B8-2F866CC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Log/診断関連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E808F-F52D-4993-8E35-F4EE11D4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A59D8-535E-4828-8E4A-5A22704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有効化した場合に課金が発生することがあります。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EDBF5-DFE5-4239-B3B2-D48D994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195638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85349-B2AA-4B61-8813-30281899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243263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本回では詳細に扱いません。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FAFE7-3CAE-4EE8-8191-DF77797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1BA1E-390D-4A01-A772-DB8E788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共有 ACR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CE7DE-EC02-470E-81E6-3A63655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BE0F6-B196-4AE4-AA51-7A15985E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講師管理の共有リソースです。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1407F-16AF-4174-9F03-D9DE33A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952875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624C6-2C38-41A7-AFAA-549089C8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000500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受講者は削除しません。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E20DC-27E4-4128-9582-A9F65CE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9E9C4-D5A3-4E71-B380-593E5B0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DNS label/FQDN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D987A-F2FD-45EF-B7A2-EAC208AF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A2270-92DB-4726-87F4-B96EA0A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に付随します。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825DF-FE6B-45BF-BDC2-844235E7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4710113"/>
            <a:ext cx="34798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78ED8A-6E33-41C4-A32A-7966A08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757738"/>
            <a:ext cx="3327400" cy="66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ACI 削除で解放されます。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CDC94A-54B6-40E9-9077-314933C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40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9F406-1870-4653-8290-C75F4A1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リソースグループを削除する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7433-772D-4195-9533-760B872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1C11-7F8B-4C76-8298-75E3E5A0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C3001-52AB-488C-A662-31F7D9D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97536-09B2-4B13-A2A6-0821A983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受講者が作成したリソースグループだけを削除します。共有 ACR や講師共有リソースグループは削除対象ではありません。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EF378-78DF-4440-85A6-73ED052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32F42-F2DC-47FF-B86C-403CFFA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46EE9-CBE7-43BF-8F60-011A4F2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C8372-91FD-4216-8FFF-03043F54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停止ではなく削除まで行う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075C0-CFBA-49D4-9C5F-BBD62E7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369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本回では、ACI を停止しただけで終わらせず、受講者リソースグループを削除して完了とします。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81E12-97D7-46C2-BCA8-28983B2B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b088423434648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93592-1093-43E2-A2E1-BA2FF26D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リソースグループを削除する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6F8F4-594B-4719-9723-264E425E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41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F4BE9-3DA0-4092-AC1D-293D27D6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削除完了を確認する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3BA85-DA3C-44C8-9237-E5178161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80F72-16FE-44A2-952A-51360C74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6E34-3702-4DF4-B385-9FE0031B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C6A5C-94BA-4F1E-8F73-C29DCEE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210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09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対象リソースグループが一覧から消えたこと、または削除中になっていることを確認します。ここまでが本回のハンズオン完了です。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803D4-F1FF-4589-B7EE-37AB1F70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92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削除には反映待ちが発生する場合があります。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別のリソースグループを削除しないよう名前を確認します。</a:t>
            </a:r>
          </a:p>
          <a:p xmlns:a="http://schemas.openxmlformats.org/drawingml/2006/main">
            <a:pPr algn="l">
              <a:def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• 講師は最後に全員の削除状況を確認します。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E30FC-DD6C-4A4D-AF8E-3CC3F145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981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19b9e193c4ef7"/>
          <a:stretch xmlns:a="http://schemas.openxmlformats.org/drawingml/2006/main"/>
        </p:blipFill>
        <p:spPr>
          <a:xfrm xmlns:a="http://schemas.openxmlformats.org/drawingml/2006/main">
            <a:off x="5467350" y="187880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B1814-A24A-4107-83CC-4F92146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削除完了または削除中であることを確認する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8B93-97A2-4A44-9847-2B10917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42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4F550-C039-4301-9675-F8934283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早く終えた人向け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8E6C-212A-404F-86EB-155597E1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4FD9B-4874-435E-AFA5-F50D0ECA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7BEEA-3798-4BAE-9954-6DA6DFDC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5B523-EC15-4BC7-B601-2C3DB751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余裕がある人は、共有 ACR の範囲内で別タグの NGINX イメージを試すか、ACI のログやイベントをもう少し観察します。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10DB-155D-4172-888D-F75D8A5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78714-630F-4540-8D53-5E44A741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AAF3B-97B3-49B9-8F25-78F9DFC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5177F-7017-403E-A45D-7826B1F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別タグを試す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4EA11-8587-4E5A-94BA-88AC085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講師が案内した範囲で、別の表示内容を持つ NGINX イメージを試します。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C89CE-5995-408D-8882-596B2B4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5C286-5561-4EA3-968D-990B01F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BDAA7-0EAB-45DC-84B7-7288DE2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14C18-F3D6-49E6-A242-E0CBDBA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ログを見る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621C4-247D-4AD0-A6EF-A51FEEE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起動イベント、コンテナログ、状態変化を確認し、トラブル時の見方に慣れます。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0E9C2-0665-4E40-A56C-50E19E8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43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2B5F9-4F4A-432C-B793-BB03BC2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よくある失敗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539E9-06EE-43A1-BBA8-8CF3EEF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4596-617F-4F08-8CCA-A8F7F02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38E5-A748-4DE2-BCDA-E08614D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31B31-C2FE-4EB9-9F7A-53DA978E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イメージ名、タグ、DNS ラベル、ACR 参照権限、ポート設定は特につまずきやすいポイントです。症状から確認箇所へ短く戻ります。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49D78-ED04-4E48-8396-B6EF859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F3D4E-38ED-46B7-9885-08677B99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2457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失敗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79A87-A6F5-4C8C-8643-DFFAE96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426A8-2DFC-4CAF-AF04-4C1353C1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85975"/>
            <a:ext cx="2457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症状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D2840-C101-4C36-9D63-CDDF96E5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DC829-DE4D-41C8-AC1F-D28EBB4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85975"/>
            <a:ext cx="2457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確認箇所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D6C1F-9CD1-48B4-A1CB-B2A30B32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8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4CB18-86CB-4D17-A1D5-5347CDC0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85975"/>
            <a:ext cx="2457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84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対応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BA9C7-F230-4E11-8F8B-7D4B193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C4CF4-A3F9-4DF1-B71A-1AEC9EC8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サービス選択ミス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27796-206A-4AD6-A2F3-81242F86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4ECDA-281A-4E8E-8E1D-199404EB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8602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Container Apps や AKS の画面にいる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77BFD-0196-4719-BE90-D0C845E2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96758-F253-4172-986A-E9D3158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8602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作成画面のサービス名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0E70E-F37D-4D7E-B43E-4D3D7914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40050-8E20-4668-BD0D-B0BBA55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8602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Container Instances に戻ります。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4DFBE-E972-477A-914F-5DD67D2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419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4C292-DDA0-4F27-A900-46B9D6D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81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イメージ名ミス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91A78-CC93-4436-A445-04A3D25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4419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E162B-7D7E-4B91-9620-0C3274D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181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Image pull で失敗する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74009-71BA-483A-B348-740A3139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419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71BE5-41F0-47FA-800B-1452D10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9181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イメージ名、タグ、ACR ログインサーバー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05B66-E3E2-4B13-AD10-462C2C2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419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78728-24B4-459F-A09A-643D47E6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9181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講師指定値と照合します。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40D2D-2204-4A50-A1FC-C8E57E57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998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C87DB-CEEB-42CF-AAE3-54CE5EF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760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DNS ラベル重複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476B5-170E-47AC-BE8E-2E12414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4998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2D393-95CE-4F55-962E-370775FC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760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DNS label の検証に失敗する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EBE5E7-EB75-4127-B7A5-B35631F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998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45879-4CD2-406B-A3D4-1837C9C6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760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Networking の DNS name label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59B63-8059-4BBC-90CB-111EF65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4998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4E8F1-7D99-4D6F-A35A-946797C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760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接尾辞を追加します。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46A52-34FC-4070-8FEA-66DE57E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577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A29B31-801C-425A-9620-07AB49D9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339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HTTP 表示失敗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B5925F-E072-4EB0-9285-74440D60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5577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8B9625-B1E5-4B97-95E2-82B7BC3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339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ブラウザーで表示できない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370C45-5F73-4FC0-9F73-6018872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577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ADAD7E-7FEE-4568-A9F9-EC035B1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339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Running 状態、FQDN、TCP 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201A81-0F08-4415-A71D-E77AFA5F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5577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E546BC-98D2-4411-BEFF-763B34E1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339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確認順に切り分けます。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493F56-CDBA-404B-BA0C-C7237758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156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BF87C3-CB78-4795-96B4-3C6D604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918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1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削除対象の誤解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1ABC1D-A331-4BBB-A08C-A687B9DD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6156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B4A21B-0CD1-440B-BDC0-97C3D47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0918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共有 ACR を削除しようとする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3CA66F-6F0B-4231-8A68-DFDD85B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156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4340D9-1582-4573-9A33-F5CC5A4C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918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リソースグループ名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168D29-8E3E-4B22-A61F-993E3A8B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61560"/>
            <a:ext cx="260985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4A35DE-43E2-4ACF-B0A9-18512A6D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09185"/>
            <a:ext cx="245745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780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 RG だけ削除します。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79DCBF-0778-4766-A7E6-7DC502B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44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2E511F-346D-482D-BF60-321CF7F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復旧できない場合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9D04E-315E-4C0D-A003-612AAF1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BAAF4-B9A4-497D-BC4F-58E76F4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E0E51-1BA3-42A5-B7A8-EE5F59A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8DA7F-1532-4429-8ABB-8F0BAA7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時間内に直せない場合は、手順の完了よりも VM とコンテナの違いの理解を優先します。講師デモで完成状態を見て比較理解に戻ります。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37C2E-6B63-4566-AF7B-E9AE5CC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339E4-C715-4C0B-8FB5-E950846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E98D4-1279-47DC-B4D6-D8EE838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作成失敗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E95D-AA6F-4312-B5FF-1AFB5D4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原因を切り分ける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EE232-0F0E-4A8A-8D6B-A35E484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名前、リージョン、DNS ラベル、権限、クォータを確認します。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38EFE-D5E5-4745-9F41-5B28AB5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C5AB7-C62C-4427-845D-3A879FBF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CB213-268D-4C5D-87EB-8632E43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Image 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31051-F036-4BEF-8141-333B515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共有 ACR 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0742C-5D07-4A4A-A6B6-8BB3E2D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講師がイメージ名、タグ、参照方式、権限を確認します。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20CE2-57EC-497E-B050-CAA94391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052A1-B3D8-4886-A6A9-D6FA46C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FB8A7-6375-4CCE-BAA3-3226E5F7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最後に必ず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898CB-AD36-4CC5-BDC5-A3E484A3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削除を完了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7E440-EEB8-4604-9505-ED4A6A4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76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63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作成途中リソースがある場合も、削除だけは完了させます。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13C10-3783-4581-8528-349890F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45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1910E-ED6D-4175-85F8-92B8E423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65412-0A07-4048-A99A-7B4C447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D8D43-6104-4750-9DDD-CD8CEF24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11C42-A5C5-4F2E-A942-2154BE8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C4065-7421-4752-BE43-478BDCA6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コンテナは VM を置き換える魔法ではなく、配布と実行の単位を変える技術です。ACR は保管場所、ACI は実行場所として整理します。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EB21F-113A-4A85-BBE0-03694D18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2E81C-86E3-4C91-AB52-95B7553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B9EFB-E5D7-4B9B-81DC-E74E421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B9535-874B-4999-92F6-26AF584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イメージは配布単位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2827-A1C6-49FB-AAA0-56BDA3FD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NGINX の実行に必要な内容を、コンテナイメージとして扱いました。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56354-FB1B-4CA9-8145-C0BD78A7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D8472-D284-4FFE-A4E6-3086101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D44D4-FA7F-4358-804A-9901339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0072-B1C4-4889-9DCB-FCC64F87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ACR は保管場所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4DBDC-B3B1-4D0D-8CF8-B302177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本回では講師共有 ACR のイメージを ACI から取得しました。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ECA55-01DB-49D8-A0B7-D6AA8DE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23858-6EEF-4C31-A5CF-91AA7141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C98E7-A975-4A15-9B88-26DAC21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C1737-752F-4486-88B1-BC917C1F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ACI は実行場所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2D572-ABA9-4C0C-8AAB-9E25EED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Public、TCP 80、FQDN を設定し、ブラウザーから確認しました。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6CE61-0A88-45C2-A4BF-44A317C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2A10E-8597-4130-8EE6-F3DCFF66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62136-AFD5-40B9-A3CB-F2894C2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3EE37-4D5D-45C5-BC6D-E525163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1200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削除までが完了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E0085-07FE-413F-82AD-957B606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55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88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受講者リソースグループだけを削除し、共有 ACR は残します。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6F6B8-E22F-44F0-9578-C71293DA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46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5CEDFE-18E8-4C71-B03E-64052F6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確認クイズと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C578C-10A4-498D-B378-7F841C5A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| 第4回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5F743-38A1-4983-B711-C384374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244A8F"/>
                </a:solidFill>
                <a:latin typeface="Yu Gothic UI"/>
                <a:ea typeface="Yu Gothic UI"/>
                <a:cs typeface="Yu Gothic UI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24549-2447-4D8C-B634-CF55FAD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04AC-CAAC-4335-8B91-8E6A0CF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defRPr>
            </a:pPr>
            <a:r>
              <a:rPr sz="1155" b="0">
                <a:solidFill>
                  <a:srgbClr val="344054"/>
                </a:solidFill>
                <a:latin typeface="Yu Gothic UI"/>
                <a:ea typeface="Yu Gothic UI"/>
                <a:cs typeface="Yu Gothic UI"/>
              </a:rPr>
              <a:t>操作で詰まった点と、VM との違いで分からない点を確認します。最後に、ACR、ACI、公開ポート、削除対象を短く言葉にします。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E5B4A-F997-4C0C-AC0C-532F0A4A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0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775B4-009B-4479-8322-0C7F7983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75EAA-8C1E-4A01-B53A-CDA26FB2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50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問1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3E2AE-3A9C-47F8-A942-04FE34C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イメージを保管する場所は?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09CDA-00AA-4362-9ABE-F61A729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Azure Container 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987A5-99AE-41ED-8B03-A49DA6F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510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0D70-02EA-4F42-9765-5552E562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C8600-3968-480C-A859-B219142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750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問2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DEEC6-0720-4CCA-B85F-A097F4B7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本回で作成した実行サービスは?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52E0A-CEFD-4C50-A2DF-1258DD2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Azure Container Instances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437DD-49C0-4C9D-993A-A41E428B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510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70A13-0633-4C34-9857-FD5D88B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7C44D-B2D1-4A54-BD12-0589C1F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750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問3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35936-1EBE-47E6-9FBA-AD38AA0A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公開した代表的なポートは?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52D05-DA42-40F4-B749-187B602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7D31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ED7D31"/>
                </a:solidFill>
                <a:latin typeface="Yu Gothic UI"/>
                <a:ea typeface="Yu Gothic UI"/>
                <a:cs typeface="Yu Gothic UI"/>
              </a:rPr>
              <a:t>TCP 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38C5B-F2B3-4528-B47B-A51D0F8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510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4765C-1072-4094-B655-EFA67A73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647A5-55AC-441E-971F-8922444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75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問4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AD4BC-60B8-4000-B953-0B44A2EF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defRPr>
            </a:pPr>
            <a:r>
              <a:rPr sz="1088" b="1">
                <a:solidFill>
                  <a:srgbClr val="1F2937"/>
                </a:solidFill>
                <a:latin typeface="Yu Gothic UI"/>
                <a:ea typeface="Yu Gothic UI"/>
                <a:cs typeface="Yu Gothic UI"/>
              </a:rPr>
              <a:t>最後に削除する対象は?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E75EE-4FDB-48B0-AC45-23E85FAE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受講者ごとのリソースグループ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84239-B7A0-4ACF-9CF2-16FD9DDA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627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638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47 / 47</a:t>
            </a: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2026-05-27T01:15:34.3820000Z</dcterms:created>
  <dcterms:modified xsi:type="dcterms:W3CDTF">2026-05-27T01:15:34.3820000Z</dcterms:modified>
</coreProperties>
</file>