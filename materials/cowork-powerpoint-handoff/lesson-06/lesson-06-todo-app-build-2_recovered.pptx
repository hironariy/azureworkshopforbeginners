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16" d="100"/>
          <a:sy n="116" d="100"/>
        </p:scale>
        <p:origin x="86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 Todo アプリの構築 2</a:t>
            </a:r>
          </a:p>
          <a:p>
            <a:r>
              <a:t>この回では、第5回で作成した Azure リソースへ Todo アプリをデプロイし、Web、API、DB が連携して動く完成形を確認します。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 今日のゴール</a:t>
            </a:r>
          </a:p>
          <a:p>
            <a:r>
              <a:t>今日は GitHub Actions で Web/API の実イメージをデプロイし、ブラウザーから Todo アプリにアクセスして基本動作を確認します。</a:t>
            </a:r>
          </a:p>
          <a:p>
            <a:r>
              <a:t>講師メモ: 第5回で作った土台を使い、第6回で実イメージをデプロイして Todo アプリを完成確認する流れを強調する。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 第5回の終了状態</a:t>
            </a:r>
          </a:p>
          <a:p>
            <a:r>
              <a:t>前回は Azure 側の土台を作り、PostgreSQL を停止して引き継ぎました。本回はその状態から再開します。</a:t>
            </a:r>
          </a:p>
          <a:p>
            <a:r>
              <a:t>講師メモ: 第5回で作った土台を使い、第6回で実イメージをデプロイして Todo アプリを完成確認する流れを強調する。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 第6回で完成させる範囲</a:t>
            </a:r>
          </a:p>
          <a:p>
            <a:r>
              <a:t>第5回で作ったリソースに対して、第6回ではリポジトリ、認証情報、variables、workflow、デプロイ、動作確認を進めます。</a:t>
            </a:r>
          </a:p>
          <a:p>
            <a:r>
              <a:t>講師メモ: 第5回で作った土台を使い、第6回で実イメージをデプロイして Todo アプリを完成確認する流れを強調する。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 元ガイドとの対応</a:t>
            </a:r>
          </a:p>
          <a:p>
            <a:r>
              <a:t>本回では、元ガイドのフェーズ2からフェーズ4を扱います。GitHub 側の設定から、デプロイメント検証までを一続きで確認します。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6: GitHub Actions が行うこと</a:t>
            </a:r>
          </a:p>
          <a:p>
            <a:r>
              <a:t>GitHub Actions は、手作業で行うビルド、ACR への push、Container Apps の更新を workflow として実行します。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7: デプロイの通信経路</a:t>
            </a:r>
          </a:p>
          <a:p>
            <a:r>
              <a:t>GitHub Actions は Service Principal を使って Azure にログインし、ACR と Container Apps を更新します。PostgreSQL はデプロイ先ではなく、実行時の接続先です。</a:t>
            </a:r>
          </a:p>
          <a:p>
            <a:r>
              <a:t>確認: GitHub Actions から Azure へのデプロイ時通信と、Web/API/DB の実行時通信を混同しないように説明する。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8: Secret と Variables</a:t>
            </a:r>
          </a:p>
          <a:p>
            <a:r>
              <a:t>GitHub に登録する値は、秘密情報と設定値に分けます。Secret は値を再表示できない前提で慎重に扱います。</a:t>
            </a:r>
          </a:p>
          <a:p>
            <a:r>
              <a:t>注意: Secret、Service Principal JSON、ID、URL は公開資料に残さない。既存スクリーンショットのマスク状態を維持する。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9: Service Principal の役割</a:t>
            </a:r>
          </a:p>
          <a:p>
            <a:r>
              <a:t>GitHub Actions は人の代わりに Azure を操作します。その Azure 側の ID として Service Principal を使い、RBAC で操作範囲を決めます。</a:t>
            </a:r>
          </a:p>
          <a:p>
            <a:r>
              <a:t>注意: Secret、Service Principal JSON、ID、URL は公開資料に残さない。既存スクリーンショットのマスク状態を維持する。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10: 今日使う値を確認する</a:t>
            </a:r>
          </a:p>
          <a:p>
            <a:r>
              <a:t>第5回の接続情報一覧が、GitHub Actions 設定の入力値になります。Web URL と API URL、ACR 名と login server を取り違えないようにします。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11: PostgreSQL を再開する</a:t>
            </a:r>
          </a:p>
          <a:p>
            <a:r>
              <a:t>前回停止した PostgreSQL を、デプロイ後の動作確認に向けて Running に戻します。Start 後の完了を待ってから次へ進みます。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12: テンプレートからリポジトリを作成する</a:t>
            </a:r>
          </a:p>
          <a:p>
            <a:r>
              <a:t>元ガイドに従い、テンプレートリポジトリから受講者用の Todo アプリリポジトリを作成します。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13: リポジトリを作成する</a:t>
            </a:r>
          </a:p>
          <a:p>
            <a:r>
              <a:t>Repository name は受講者番号などで識別しやすくします。元ガイドの初心者向けフローでは Public を想定します。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14: 作成したリポジトリを確認する</a:t>
            </a:r>
          </a:p>
          <a:p>
            <a:r>
              <a:t>作成したリポジトリが、第6回の作業場所になります。Actions と Settings に移動できることを確認します。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15: Cloud Shell を開く</a:t>
            </a:r>
          </a:p>
          <a:p>
            <a:r>
              <a:t>Service Principal 作成と workflow 有効化は、講師指示に従い Azure Cloud Shell で行います。ローカル端末の Azure CLI は使いません。</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16: Service Principal を作成する</a:t>
            </a:r>
          </a:p>
          <a:p>
            <a:r>
              <a:t>GitHub Actions が Azure にログインするための資格情報を作成します。出力 JSON には secret が含まれるため、スクリーンショットや資料に残しません。</a:t>
            </a:r>
          </a:p>
          <a:p>
            <a:r>
              <a:t>注意: Secret、Service Principal JSON、ID、URL は公開資料に残さない。既存スクリーンショットのマスク状態を維持する。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17: Actions 設定画面を開く</a:t>
            </a:r>
          </a:p>
          <a:p>
            <a:r>
              <a:t>GitHub リポジトリの Settings から、Actions 用の Secrets と Variables を設定する画面へ移動します。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18: AZURE_CREDENTIALS を登録する</a:t>
            </a:r>
          </a:p>
          <a:p>
            <a:r>
              <a:t>Service Principal の JSON 全体を GitHub Actions Secret として登録します。名前のスペルと JSON 全体のコピー漏れに注意します。</a:t>
            </a:r>
          </a:p>
          <a:p>
            <a:r>
              <a:t>注意: Secret、Service Principal JSON、ID、URL は公開資料に残さない。既存スクリーンショットのマスク状態を維持する。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19: Repository variables の全体</a:t>
            </a:r>
          </a:p>
          <a:p>
            <a:r>
              <a:t>デプロイ先リソース名やアプリ設定値は variables として登録します。Secret とは違い、設定値として読み取られます。</a:t>
            </a:r>
          </a:p>
          <a:p>
            <a:r>
              <a:t>注意: Secret、Service Principal JSON、ID、URL は公開資料に残さない。既存スクリーンショットのマスク状態を維持する。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20: Azure リソース系の変数</a:t>
            </a:r>
          </a:p>
          <a:p>
            <a:r>
              <a:t>Resource Group、ACR、Container Apps Environment は、workflow がどの Azure リソースを更新するかを示します。</a:t>
            </a:r>
          </a:p>
          <a:p>
            <a:r>
              <a:t>注意: Secret、Service Principal JSON、ID、URL は公開資料に残さない。既存スクリーンショットのマスク状態を維持する。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21: PostgreSQL 系の変数</a:t>
            </a:r>
          </a:p>
          <a:p>
            <a:r>
              <a:t>API が DB に接続するため、PostgreSQL のサーバー、DB 名、ユーザー相当の値を設定します。</a:t>
            </a:r>
          </a:p>
          <a:p>
            <a:r>
              <a:t>注意: Secret、Service Principal JSON、ID、URL は公開資料に残さない。既存スクリーンショットのマスク状態を維持する。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22: Entra ID と URL の変数</a:t>
            </a:r>
          </a:p>
          <a:p>
            <a:r>
              <a:t>Web サインインと Web/API 連携では、Entra ID の Client ID、Tenant ID、Web URL、API URL を正しく対応させます。</a:t>
            </a:r>
          </a:p>
          <a:p>
            <a:r>
              <a:t>注意: Secret、Service Principal JSON、ID、URL は公開資料に残さない。既存スクリーンショットのマスク状態を維持する。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23: ワークフローファイルを確認する</a:t>
            </a:r>
          </a:p>
          <a:p>
            <a:r>
              <a:t>テンプレートでは workflow が実行対象になっていない場合があります。API と Web の workflow ファイルを有効化する準備をします。</a:t>
            </a:r>
          </a:p>
          <a:p>
            <a:r>
              <a:t>確認: デプロイ結果は Actions、ACR、Container Apps revision の順で追う。Portal だけで判断しない。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24: ワークフローを有効化する</a:t>
            </a:r>
          </a:p>
          <a:p>
            <a:r>
              <a:t>Azure Cloud Shell でリポジトリを clone し、テンプレートファイルを実行対象の YAML として配置して commit/push します。</a:t>
            </a:r>
          </a:p>
          <a:p>
            <a:r>
              <a:t>確認: デプロイ結果は Actions、ACR、Container Apps revision の順で追う。Portal だけで判断しない。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25: Actions タブを確認する</a:t>
            </a:r>
          </a:p>
          <a:p>
            <a:r>
              <a:t>push 後に、API と Web の workflow が Actions タブに表示されることを確認します。表示されない場合はファイル名と配置先を見直します。</a:t>
            </a:r>
          </a:p>
          <a:p>
            <a:r>
              <a:t>確認: デプロイ結果は Actions、ACR、Container Apps revision の順で追う。Portal だけで判断しない。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26: ワークフロー実行を監視する</a:t>
            </a:r>
          </a:p>
          <a:p>
            <a:r>
              <a:t>失敗時は Portal だけでなく、まず GitHub Actions の job log を確認します。Secret や variables のミスはここに現れます。</a:t>
            </a:r>
          </a:p>
          <a:p>
            <a:r>
              <a:t>確認: デプロイ結果は Actions、ACR、Container Apps revision の順で追う。Portal だけで判断しない。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27: ワークフロー成功を確認する</a:t>
            </a:r>
          </a:p>
          <a:p>
            <a:r>
              <a:t>API と Web の workflow が成功すると、ACR にイメージが作成され、Container Apps の revision が更新されます。</a:t>
            </a:r>
          </a:p>
          <a:p>
            <a:r>
              <a:t>確認: デプロイ結果は Actions、ACR、Container Apps revision の順で追う。Portal だけで判断しない。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28: ACR の Repositories を確認する</a:t>
            </a:r>
          </a:p>
          <a:p>
            <a:r>
              <a:t>workflow が成功すると、ACR に API/Web のコンテナイメージが作成されます。タグや repository の存在を確認します。</a:t>
            </a:r>
          </a:p>
          <a:p>
            <a:r>
              <a:t>確認: デプロイ結果は Actions、ACR、Container Apps revision の順で追う。Portal だけで判断しない。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29: Environment 内のアプリ一覧</a:t>
            </a:r>
          </a:p>
          <a:p>
            <a:r>
              <a:t>Container Apps Environment 内に、API と Web の Container App が並んでいることを確認します。</a:t>
            </a:r>
          </a:p>
          <a:p>
            <a:r>
              <a:t>確認: デプロイ結果は Actions、ACR、Container Apps revision の順で追う。Portal だけで判断しない。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30: API の revision を確認する</a:t>
            </a:r>
          </a:p>
          <a:p>
            <a:r>
              <a:t>API のプレースホルダーが、実アプリのイメージを使う revision に更新されていることを確認します。</a:t>
            </a:r>
          </a:p>
          <a:p>
            <a:r>
              <a:t>確認: デプロイ結果は Actions、ACR、Container Apps revision の順で追う。Portal だけで判断しない。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31: Web の revision を確認する</a:t>
            </a:r>
          </a:p>
          <a:p>
            <a:r>
              <a:t>Web 側も新しいイメージの revision に更新されます。API と同じく、image と Status を確認します。</a:t>
            </a:r>
          </a:p>
          <a:p>
            <a:r>
              <a:t>確認: デプロイ結果は Actions、ACR、Container Apps revision の順で追う。Portal だけで判断しない。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32: Web URL を確認する</a:t>
            </a:r>
          </a:p>
          <a:p>
            <a:r>
              <a:t>利用者がアクセスする入口は Web Container App の Application URL です。第5回で記録した URL と一致しているか確認します。</a:t>
            </a:r>
          </a:p>
          <a:p>
            <a:r>
              <a:t>確認: Web URL、Entra ID redirect URI、API URL、DB 接続の役割を対応付けて説明する。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33: Entra ID redirect URI を確認する</a:t>
            </a:r>
          </a:p>
          <a:p>
            <a:r>
              <a:t>Web サインインが成功するには、Entra ID の SPA redirect URI と Web Container App URL が一致している必要があります。</a:t>
            </a:r>
          </a:p>
          <a:p>
            <a:r>
              <a:t>確認: Web URL、Entra ID redirect URI、API URL、DB 接続の役割を対応付けて説明する。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34: GitHub variables の URL を確認する</a:t>
            </a:r>
          </a:p>
          <a:p>
            <a:r>
              <a:t>AZURE_REDIRECT_URI と API_PROXY_TARGET が、実際の Web/API URL と一致しているか確認します。</a:t>
            </a:r>
          </a:p>
          <a:p>
            <a:r>
              <a:t>注意: Secret、Service Principal JSON、ID、URL は公開資料に残さない。既存スクリーンショットのマスク状態を維持する。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35: Web アプリにアクセスする</a:t>
            </a:r>
          </a:p>
          <a:p>
            <a:r>
              <a:t>ブラウザーで Web URL を開き、Todo アプリのログイン画面が表示されることを確認します。</a:t>
            </a:r>
          </a:p>
          <a:p>
            <a:r>
              <a:t>確認: Web URL、Entra ID redirect URI、API URL、DB 接続の役割を対応付けて説明する。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36: Entra ID でサインインする</a:t>
            </a:r>
          </a:p>
          <a:p>
            <a:r>
              <a:t>Microsoft Entra ID の認証を通って Todo 画面に入ります。個人情報が画面共有やスクリーンショットに写らないようにします。</a:t>
            </a:r>
          </a:p>
          <a:p>
            <a:r>
              <a:t>確認: Web URL、Entra ID redirect URI、API URL、DB 接続の役割を対応付けて説明する。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37: Todo を作成する</a:t>
            </a:r>
          </a:p>
          <a:p>
            <a:r>
              <a:t>新しい Todo を追加し、Web から API を通って DB に保存されることを確認します。</a:t>
            </a:r>
          </a:p>
          <a:p>
            <a:r>
              <a:t>確認: Web URL、Entra ID redirect URI、API URL、DB 接続の役割を対応付けて説明する。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38: Todo を編集・削除する</a:t>
            </a:r>
          </a:p>
          <a:p>
            <a:r>
              <a:t>更新と削除が成功することで、Web、API、DB の基本動作が一通りつながっていることを確認できます。</a:t>
            </a:r>
          </a:p>
          <a:p>
            <a:r>
              <a:t>確認: Web URL、Entra ID redirect URI、API URL、DB 接続の役割を対応付けて説明する。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39: 更新後も保持されることを確認する</a:t>
            </a:r>
          </a:p>
          <a:p>
            <a:r>
              <a:t>ページを更新しても Todo の状態が残ることで、画面だけでなく DB 保存まで動いていることを確認できます。</a:t>
            </a:r>
          </a:p>
          <a:p>
            <a:r>
              <a:t>確認: Web URL、Entra ID redirect URI、API URL、DB 接続の役割を対応付けて説明する。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40: 完成した通信経路を振り返る</a:t>
            </a:r>
          </a:p>
          <a:p>
            <a:r>
              <a:t>Web、API、PostgreSQL、Entra ID、ACR、GitHub Actions、Managed Identity の役割を、実行時通信とデプロイ時通信に分けて整理します。</a:t>
            </a:r>
          </a:p>
          <a:p>
            <a:r>
              <a:t>講師メモ: 第5回で作った土台を使い、第6回で実イメージをデプロイして Todo アプリを完成確認する流れを強調する。</a:t>
            </a:r>
          </a:p>
          <a:p>
            <a:r>
              <a:t>確認: GitHub Actions から Azure へのデプロイ時通信と、Web/API/DB の実行時通信を混同しないように説明する。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41: よくある失敗: 認証と変数</a:t>
            </a:r>
          </a:p>
          <a:p>
            <a:r>
              <a:t>デプロイ失敗の多くは、認証情報、変数名、値の取り違えから始まります。Portal を見る前に Actions のログを確認します。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42: よくある失敗: DB とサインイン</a:t>
            </a:r>
          </a:p>
          <a:p>
            <a:r>
              <a:t>アプリが表示されても、API と DB、redirect URI、Container Apps revision のどこかで止まることがあります。確認順をそろえます。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43: スキップ判断</a:t>
            </a:r>
          </a:p>
          <a:p>
            <a:r>
              <a:t>時間内に復旧できない場合は、アプリ完成そのものよりも、どのサービスが何を担当したかの理解を優先します。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44: クリーンアップ方針</a:t>
            </a:r>
          </a:p>
          <a:p>
            <a:r>
              <a:t>第6回終了後は、復習のために残す場合でも、不要な課金と資格情報の残置を避けるために停止または削除方針を確認します。</a:t>
            </a:r>
          </a:p>
          <a:p>
            <a:r>
              <a:t>クローズ: PostgreSQL 停止、Resource group 削除、Entra ID/GitHub 側に残る情報の扱いを明確にする。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45: 停止または削除を確認する</a:t>
            </a:r>
          </a:p>
          <a:p>
            <a:r>
              <a:t>少なくとも PostgreSQL の停止を確認します。講師指示がある場合は Resource group 削除と、Entra ID/GitHub 側の残存情報も整理します。</a:t>
            </a:r>
          </a:p>
          <a:p>
            <a:r>
              <a:t>クローズ: PostgreSQL 停止、Resource group 削除、Entra ID/GitHub 側に残る情報の扱いを明確にする。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46: 今日のまとめ</a:t>
            </a:r>
          </a:p>
          <a:p>
            <a:r>
              <a:t>複数サービスをつなぐときは、デプロイ、認証、接続情報、動作確認、コスト管理をまとめて考えます。</a:t>
            </a:r>
          </a:p>
          <a:p>
            <a:r>
              <a:t>講師メモ: 第5回で作った土台を使い、第6回で実イメージをデプロイして Todo アプリを完成確認する流れを強調する。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47: 確認クイズ</a:t>
            </a:r>
          </a:p>
          <a:p>
            <a:r>
              <a:t>GitHub Actions と Azure リソースの関係を、自分の言葉で確認します。</a:t>
            </a:r>
          </a:p>
          <a:p>
            <a:r>
              <a:t>クローズ: PostgreSQL 停止、Resource group 削除、Entra ID/GitHub 側に残る情報の扱いを明確にする。</a:t>
            </a:r>
          </a:p>
          <a:p>
            <a:r>
              <a:t>QA 意図: GitHub Actions の自動化範囲、ACR_NAME の扱い、RG 削除だけでは残る可能性があるものを確認する。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48: QA</a:t>
            </a:r>
          </a:p>
          <a:p>
            <a:r>
              <a:t>第5回から第6回で完成した Todo アプリの構成、GitHub Actions、認証、DB 接続、後片付けについて質問を受けます。</a:t>
            </a:r>
          </a:p>
          <a:p>
            <a:r>
              <a:t>クローズ: PostgreSQL 停止、Resource group 削除、Entra ID/GitHub 側に残る情報の扱いを明確にする。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標準スライドマスター">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3" name="コンテンツ プレースホルダー 2">
            <a:extLst>
              <a:ext uri="{FF2B5EF4-FFF2-40B4-BE49-F238E27FC236}">
                <a16:creationId xmlns:a16="http://schemas.microsoft.com/office/drawing/2014/main" id="{1F03BF41-DF74-4F68-832D-3D1CD1DE9B4A}"/>
              </a:ext>
            </a:extLst>
          </p:cNvPr>
          <p:cNvSpPr>
            <a:spLocks noGrp="1"/>
          </p:cNvSpPr>
          <p:nvPr>
            <p:ph idx="1"/>
          </p:nvPr>
        </p:nvSpPr>
        <p:spPr>
          <a:xfrm>
            <a:off x="838200" y="1162974"/>
            <a:ext cx="10515600" cy="4907625"/>
          </a:xfrm>
        </p:spPr>
        <p:txBody>
          <a:bodyPr>
            <a:normAutofit/>
          </a:bodyPr>
          <a:lstStyle>
            <a:lvl1pPr>
              <a:buNone/>
              <a:defRPr sz="1600">
                <a:latin typeface="Yu Gothic UI"/>
                <a:ea typeface="Yu Gothic UI"/>
                <a:cs typeface="Yu Gothic UI"/>
              </a:defRPr>
            </a:lvl1pPr>
            <a:lvl2pPr>
              <a:buNone/>
              <a:defRPr sz="1600">
                <a:latin typeface="Yu Gothic UI"/>
                <a:ea typeface="Yu Gothic UI"/>
                <a:cs typeface="Yu Gothic UI"/>
              </a:defRPr>
            </a:lvl2pPr>
            <a:lvl3pPr>
              <a:buNone/>
              <a:defRPr sz="1600">
                <a:latin typeface="Yu Gothic UI"/>
                <a:ea typeface="Yu Gothic UI"/>
                <a:cs typeface="Yu Gothic UI"/>
              </a:defRPr>
            </a:lvl3pPr>
            <a:lvl4pPr>
              <a:buNone/>
              <a:defRPr sz="1600">
                <a:latin typeface="Yu Gothic UI"/>
                <a:ea typeface="Yu Gothic UI"/>
                <a:cs typeface="Yu Gothic UI"/>
              </a:defRPr>
            </a:lvl4pPr>
            <a:lvl5pPr>
              <a:buNone/>
              <a:defRPr sz="1600">
                <a:latin typeface="Yu Gothic UI"/>
                <a:ea typeface="Yu Gothic UI"/>
                <a:cs typeface="Yu Gothic UI"/>
              </a:defRPr>
            </a:lvl5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スライド表紙">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AA04A7EC-51A4-2CCD-C19C-6471CA721861}"/>
              </a:ext>
            </a:extLst>
          </p:cNvPr>
          <p:cNvSpPr>
            <a:spLocks noGrp="1"/>
          </p:cNvSpPr>
          <p:nvPr>
            <p:ph type="ctrTitle"/>
          </p:nvPr>
        </p:nvSpPr>
        <p:spPr>
          <a:xfrm>
            <a:off x="1524000" y="1122363"/>
            <a:ext cx="9144000" cy="2387600"/>
          </a:xfrm>
        </p:spPr>
        <p:txBody>
          <a:bodyPr anchor="b">
            <a:normAutofit/>
          </a:bodyPr>
          <a:lstStyle>
            <a:lvl1pPr algn="ctr">
              <a:buNone/>
              <a:defRPr sz="4000"/>
            </a:lvl1pPr>
          </a:lstStyle>
          <a:p>
            <a:endParaRPr/>
          </a:p>
        </p:txBody>
      </p:sp>
      <p:sp>
        <p:nvSpPr>
          <p:cNvPr id="4" name="字幕 2">
            <a:extLst>
              <a:ext uri="{FF2B5EF4-FFF2-40B4-BE49-F238E27FC236}">
                <a16:creationId xmlns:a16="http://schemas.microsoft.com/office/drawing/2014/main" id="{6FAFA8D3-BD7F-63F6-E03A-E4C1097B0C91}"/>
              </a:ext>
            </a:extLst>
          </p:cNvPr>
          <p:cNvSpPr>
            <a:spLocks noGrp="1"/>
          </p:cNvSpPr>
          <p:nvPr>
            <p:ph type="subTitle" idx="1"/>
          </p:nvPr>
        </p:nvSpPr>
        <p:spPr>
          <a:xfrm>
            <a:off x="1524000" y="3602038"/>
            <a:ext cx="9144000" cy="863362"/>
          </a:xfrm>
        </p:spPr>
        <p:txBody>
          <a:bodyPr/>
          <a:lstStyle>
            <a:lvl1pPr marL="0" indent="0" algn="ctr">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a:p>
        </p:txBody>
      </p:sp>
      <p:sp>
        <p:nvSpPr>
          <p:cNvPr id="9" name="テキスト プレースホルダー 8">
            <a:extLst>
              <a:ext uri="{FF2B5EF4-FFF2-40B4-BE49-F238E27FC236}">
                <a16:creationId xmlns:a16="http://schemas.microsoft.com/office/drawing/2014/main" id="{CFB302AD-8C05-763D-CA33-038DD291D42B}"/>
              </a:ext>
            </a:extLst>
          </p:cNvPr>
          <p:cNvSpPr>
            <a:spLocks noGrp="1"/>
          </p:cNvSpPr>
          <p:nvPr>
            <p:ph type="body" idx="10"/>
          </p:nvPr>
        </p:nvSpPr>
        <p:spPr>
          <a:xfrm>
            <a:off x="577356" y="5155452"/>
            <a:ext cx="5184775" cy="1221390"/>
          </a:xfrm>
        </p:spPr>
        <p:txBody>
          <a:bodyPr/>
          <a:lstStyle>
            <a:lvl1pPr>
              <a:spcBef>
                <a:spcPts val="400"/>
              </a:spcBef>
              <a:buNone/>
              <a:defRPr sz="2400"/>
            </a:lvl1pPr>
          </a:lstStyle>
          <a:p>
            <a:endParaRPr/>
          </a:p>
        </p:txBody>
      </p:sp>
      <p:sp>
        <p:nvSpPr>
          <p:cNvPr id="12" name="テキスト プレースホルダー 11">
            <a:extLst>
              <a:ext uri="{FF2B5EF4-FFF2-40B4-BE49-F238E27FC236}">
                <a16:creationId xmlns:a16="http://schemas.microsoft.com/office/drawing/2014/main" id="{C5F34568-844A-6D62-99C6-A28EF2F3CC14}"/>
              </a:ext>
            </a:extLst>
          </p:cNvPr>
          <p:cNvSpPr>
            <a:spLocks noGrp="1"/>
          </p:cNvSpPr>
          <p:nvPr>
            <p:ph type="body" idx="11"/>
          </p:nvPr>
        </p:nvSpPr>
        <p:spPr>
          <a:xfrm>
            <a:off x="9282113" y="5919642"/>
            <a:ext cx="2572430" cy="457200"/>
          </a:xfrm>
        </p:spPr>
        <p:txBody>
          <a:bodyPr>
            <a:noAutofit/>
          </a:bodyPr>
          <a:lstStyle>
            <a:lvl1pPr algn="r">
              <a:buNone/>
              <a:defRPr sz="2400"/>
            </a:lvl1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3" name="コンテンツ プレースホルダー 2">
            <a:extLst>
              <a:ext uri="{FF2B5EF4-FFF2-40B4-BE49-F238E27FC236}">
                <a16:creationId xmlns:a16="http://schemas.microsoft.com/office/drawing/2014/main" id="{1F03BF41-DF74-4F68-832D-3D1CD1DE9B4A}"/>
              </a:ext>
            </a:extLst>
          </p:cNvPr>
          <p:cNvSpPr>
            <a:spLocks noGrp="1"/>
          </p:cNvSpPr>
          <p:nvPr>
            <p:ph idx="1"/>
          </p:nvPr>
        </p:nvSpPr>
        <p:spPr>
          <a:xfrm>
            <a:off x="838200" y="1162974"/>
            <a:ext cx="10515600" cy="1173825"/>
          </a:xfrm>
        </p:spPr>
        <p:txBody>
          <a:bodyPr>
            <a:noAutofit/>
          </a:bodyPr>
          <a:lstStyle>
            <a:lvl1pPr marL="9525" indent="-9525">
              <a:buNone/>
              <a:defRPr sz="1800">
                <a:latin typeface="Yu Gothic UI"/>
                <a:ea typeface="Yu Gothic UI"/>
                <a:cs typeface="Yu Gothic UI"/>
              </a:defRPr>
            </a:lvl1pPr>
            <a:lvl2pPr marL="449263" indent="0">
              <a:buNone/>
              <a:defRPr sz="1800">
                <a:latin typeface="Yu Gothic UI"/>
                <a:ea typeface="Yu Gothic UI"/>
                <a:cs typeface="Yu Gothic UI"/>
              </a:defRPr>
            </a:lvl2pPr>
            <a:lvl3pPr marL="890588" indent="0">
              <a:buNone/>
              <a:defRPr sz="1800">
                <a:latin typeface="Yu Gothic UI"/>
                <a:ea typeface="Yu Gothic UI"/>
                <a:cs typeface="Yu Gothic UI"/>
              </a:defRPr>
            </a:lvl3pPr>
            <a:lvl4pPr marL="1341438" indent="0">
              <a:buNone/>
              <a:defRPr sz="1800">
                <a:latin typeface="Yu Gothic UI"/>
                <a:ea typeface="Yu Gothic UI"/>
                <a:cs typeface="Yu Gothic UI"/>
              </a:defRPr>
            </a:lvl4pPr>
            <a:lvl5pPr marL="1822450" indent="0">
              <a:buNone/>
              <a:defRPr sz="1800">
                <a:latin typeface="Yu Gothic UI"/>
                <a:ea typeface="Yu Gothic UI"/>
                <a:cs typeface="Yu Gothic UI"/>
              </a:defRPr>
            </a:lvl5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エンドクレジット">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セクションタイトル">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D02FB24-493B-4123-A0B6-09180120D3D5}"/>
              </a:ext>
            </a:extLst>
          </p:cNvPr>
          <p:cNvSpPr>
            <a:spLocks noGrp="1"/>
          </p:cNvSpPr>
          <p:nvPr>
            <p:ph type="dt" idx="10"/>
          </p:nvPr>
        </p:nvSpPr>
        <p:spPr/>
        <p:txBody>
          <a:bodyPr/>
          <a:lstStyle/>
          <a:p>
            <a:endParaRPr/>
          </a:p>
        </p:txBody>
      </p:sp>
      <p:sp>
        <p:nvSpPr>
          <p:cNvPr id="3" name="フッター プレースホルダー 2">
            <a:extLst>
              <a:ext uri="{FF2B5EF4-FFF2-40B4-BE49-F238E27FC236}">
                <a16:creationId xmlns:a16="http://schemas.microsoft.com/office/drawing/2014/main" id="{8890D093-FE2F-4604-946C-D15AB7EBF10A}"/>
              </a:ext>
            </a:extLst>
          </p:cNvPr>
          <p:cNvSpPr>
            <a:spLocks noGrp="1"/>
          </p:cNvSpPr>
          <p:nvPr>
            <p:ph type="ftr" idx="11"/>
          </p:nvPr>
        </p:nvSpPr>
        <p:spPr/>
        <p:txBody>
          <a:bodyPr/>
          <a:lstStyle/>
          <a:p>
            <a:endParaRPr/>
          </a:p>
        </p:txBody>
      </p:sp>
      <p:sp>
        <p:nvSpPr>
          <p:cNvPr id="4" name="スライド番号プレースホルダー 3">
            <a:extLst>
              <a:ext uri="{FF2B5EF4-FFF2-40B4-BE49-F238E27FC236}">
                <a16:creationId xmlns:a16="http://schemas.microsoft.com/office/drawing/2014/main" id="{9D7F2009-FCEB-48FE-8C7A-B8C659F513DD}"/>
              </a:ext>
            </a:extLst>
          </p:cNvPr>
          <p:cNvSpPr>
            <a:spLocks noGrp="1"/>
          </p:cNvSpPr>
          <p:nvPr>
            <p:ph type="sldNum" idx="12"/>
          </p:nvPr>
        </p:nvSpPr>
        <p:spPr/>
        <p:txBody>
          <a:bodyPr/>
          <a:lstStyle/>
          <a:p>
            <a:endParaRPr/>
          </a:p>
        </p:txBody>
      </p:sp>
      <p:sp>
        <p:nvSpPr>
          <p:cNvPr id="7" name="テキスト プレースホルダー 6">
            <a:extLst>
              <a:ext uri="{FF2B5EF4-FFF2-40B4-BE49-F238E27FC236}">
                <a16:creationId xmlns:a16="http://schemas.microsoft.com/office/drawing/2014/main" id="{C8DCFE20-2760-245C-6805-9307FDD861B2}"/>
              </a:ext>
            </a:extLst>
          </p:cNvPr>
          <p:cNvSpPr>
            <a:spLocks noGrp="1"/>
          </p:cNvSpPr>
          <p:nvPr>
            <p:ph type="body" idx="13"/>
          </p:nvPr>
        </p:nvSpPr>
        <p:spPr>
          <a:xfrm>
            <a:off x="838200" y="2716213"/>
            <a:ext cx="10374313" cy="2262187"/>
          </a:xfrm>
        </p:spPr>
        <p:txBody>
          <a:bodyPr/>
          <a:lstStyle>
            <a:lvl1pPr>
              <a:buNone/>
              <a:defRPr sz="3600"/>
            </a:lvl1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リード文な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B48D7FF-B78B-44FF-983F-50666A1D5F71}"/>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endParaRPr/>
          </a:p>
        </p:txBody>
      </p:sp>
      <p:sp>
        <p:nvSpPr>
          <p:cNvPr id="3" name="テキスト プレースホルダー 2">
            <a:extLst>
              <a:ext uri="{FF2B5EF4-FFF2-40B4-BE49-F238E27FC236}">
                <a16:creationId xmlns:a16="http://schemas.microsoft.com/office/drawing/2014/main" id="{E698EC68-E480-458A-B36D-265A18218A83}"/>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endParaRPr/>
          </a:p>
        </p:txBody>
      </p:sp>
      <p:sp>
        <p:nvSpPr>
          <p:cNvPr id="4" name="日付プレースホルダー 3">
            <a:extLst>
              <a:ext uri="{FF2B5EF4-FFF2-40B4-BE49-F238E27FC236}">
                <a16:creationId xmlns:a16="http://schemas.microsoft.com/office/drawing/2014/main" id="{F91653D7-C620-4352-A865-1F041D89FB04}"/>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endParaRPr/>
          </a:p>
        </p:txBody>
      </p:sp>
      <p:sp>
        <p:nvSpPr>
          <p:cNvPr id="5" name="フッター プレースホルダー 4">
            <a:extLst>
              <a:ext uri="{FF2B5EF4-FFF2-40B4-BE49-F238E27FC236}">
                <a16:creationId xmlns:a16="http://schemas.microsoft.com/office/drawing/2014/main" id="{56603EA2-4A43-4B89-B70F-998BB42EEB64}"/>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スライド番号プレースホルダー 5">
            <a:extLst>
              <a:ext uri="{FF2B5EF4-FFF2-40B4-BE49-F238E27FC236}">
                <a16:creationId xmlns:a16="http://schemas.microsoft.com/office/drawing/2014/main" id="{D9C29C83-EA4C-4F10-BAC0-CA53A8B36BC8}"/>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Yu Gothic UI"/>
          <a:ea typeface="Yu Gothic UI"/>
          <a:cs typeface="Yu Gothic UI"/>
        </a:defRPr>
      </a:lvl1pPr>
    </p:titleStyle>
    <p:body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5.xml"/><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正方形/長方形 16">
            <a:extLst>
              <a:ext uri="{FF2B5EF4-FFF2-40B4-BE49-F238E27FC236}">
                <a16:creationId xmlns:a16="http://schemas.microsoft.com/office/drawing/2014/main" id="{92CB1C2D-945C-47F0-8A3B-E72C4C2EA9CC}"/>
              </a:ext>
            </a:extLst>
          </p:cNvPr>
          <p:cNvSpPr>
            <a:spLocks noGrp="1"/>
          </p:cNvSpPr>
          <p:nvPr/>
        </p:nvSpPr>
        <p:spPr>
          <a:xfrm>
            <a:off x="0" y="0"/>
            <a:ext cx="12192000" cy="6858000"/>
          </a:xfrm>
          <a:prstGeom prst="rect">
            <a:avLst/>
          </a:prstGeom>
          <a:ln w="0">
            <a:solidFill>
              <a:srgbClr val="FFFFFF"/>
            </a:solidFill>
            <a:prstDash val="solid"/>
          </a:ln>
        </p:spPr>
      </p:sp>
      <p:sp>
        <p:nvSpPr>
          <p:cNvPr id="2" name="正方形/長方形 1">
            <a:extLst>
              <a:ext uri="{FF2B5EF4-FFF2-40B4-BE49-F238E27FC236}">
                <a16:creationId xmlns:a16="http://schemas.microsoft.com/office/drawing/2014/main" id="{D207E296-FDAD-405E-A755-ED3F462644B5}"/>
              </a:ext>
            </a:extLst>
          </p:cNvPr>
          <p:cNvSpPr>
            <a:spLocks noGrp="1"/>
          </p:cNvSpPr>
          <p:nvPr/>
        </p:nvSpPr>
        <p:spPr>
          <a:xfrm>
            <a:off x="0" y="0"/>
            <a:ext cx="1257300" cy="6858000"/>
          </a:xfrm>
          <a:prstGeom prst="rect">
            <a:avLst/>
          </a:prstGeom>
          <a:ln w="0">
            <a:solidFill>
              <a:srgbClr val="2563EB"/>
            </a:solidFill>
            <a:prstDash val="solid"/>
          </a:ln>
        </p:spPr>
      </p:sp>
      <p:sp>
        <p:nvSpPr>
          <p:cNvPr id="3" name="正方形/長方形 2">
            <a:extLst>
              <a:ext uri="{FF2B5EF4-FFF2-40B4-BE49-F238E27FC236}">
                <a16:creationId xmlns:a16="http://schemas.microsoft.com/office/drawing/2014/main" id="{068AD8B9-2E71-44D6-8D43-F49F37B8BC74}"/>
              </a:ext>
            </a:extLst>
          </p:cNvPr>
          <p:cNvSpPr>
            <a:spLocks noGrp="1"/>
          </p:cNvSpPr>
          <p:nvPr/>
        </p:nvSpPr>
        <p:spPr>
          <a:xfrm>
            <a:off x="1257300" y="0"/>
            <a:ext cx="152400" cy="6858000"/>
          </a:xfrm>
          <a:prstGeom prst="rect">
            <a:avLst/>
          </a:prstGeom>
          <a:ln w="0">
            <a:solidFill>
              <a:srgbClr val="0F766E"/>
            </a:solidFill>
            <a:prstDash val="solid"/>
          </a:ln>
        </p:spPr>
      </p:sp>
      <p:sp>
        <p:nvSpPr>
          <p:cNvPr id="4" name="正方形/長方形 3">
            <a:extLst>
              <a:ext uri="{FF2B5EF4-FFF2-40B4-BE49-F238E27FC236}">
                <a16:creationId xmlns:a16="http://schemas.microsoft.com/office/drawing/2014/main" id="{B4CA6F8C-E950-4F01-81D8-E6B63142D3BC}"/>
              </a:ext>
            </a:extLst>
          </p:cNvPr>
          <p:cNvSpPr>
            <a:spLocks noGrp="1"/>
          </p:cNvSpPr>
          <p:nvPr/>
        </p:nvSpPr>
        <p:spPr>
          <a:xfrm>
            <a:off x="1952625" y="914400"/>
            <a:ext cx="7239000" cy="304800"/>
          </a:xfrm>
          <a:prstGeom prst="rect">
            <a:avLst/>
          </a:prstGeom>
          <a:ln w="0">
            <a:solidFill>
              <a:srgbClr val="FFFFFF"/>
            </a:solidFill>
            <a:prstDash val="solid"/>
          </a:ln>
        </p:spPr>
        <p:txBody>
          <a:bodyPr lIns="0" tIns="0" rIns="0" bIns="0" anchor="t"/>
          <a:lstStyle/>
          <a:p>
            <a:pPr algn="l">
              <a:defRPr sz="1350" b="1">
                <a:solidFill>
                  <a:srgbClr val="2563EB"/>
                </a:solidFill>
                <a:latin typeface="Yu Gothic"/>
                <a:ea typeface="Yu Gothic"/>
                <a:cs typeface="Yu Gothic"/>
              </a:defRPr>
            </a:pPr>
            <a:r>
              <a:rPr sz="1350" b="1">
                <a:solidFill>
                  <a:srgbClr val="2563EB"/>
                </a:solidFill>
                <a:latin typeface="Yu Gothic"/>
                <a:ea typeface="Yu Gothic"/>
                <a:cs typeface="Yu Gothic"/>
              </a:rPr>
              <a:t>Azure Workshop for Beginners</a:t>
            </a:r>
          </a:p>
        </p:txBody>
      </p:sp>
      <p:sp>
        <p:nvSpPr>
          <p:cNvPr id="5" name="正方形/長方形 4">
            <a:extLst>
              <a:ext uri="{FF2B5EF4-FFF2-40B4-BE49-F238E27FC236}">
                <a16:creationId xmlns:a16="http://schemas.microsoft.com/office/drawing/2014/main" id="{FC2FFFCB-2E41-4CCE-BBEB-8FED6494E90E}"/>
              </a:ext>
            </a:extLst>
          </p:cNvPr>
          <p:cNvSpPr>
            <a:spLocks noGrp="1"/>
          </p:cNvSpPr>
          <p:nvPr/>
        </p:nvSpPr>
        <p:spPr>
          <a:xfrm>
            <a:off x="1952625" y="1504950"/>
            <a:ext cx="7239000" cy="819150"/>
          </a:xfrm>
          <a:prstGeom prst="rect">
            <a:avLst/>
          </a:prstGeom>
          <a:ln w="0">
            <a:solidFill>
              <a:srgbClr val="FFFFFF"/>
            </a:solidFill>
            <a:prstDash val="solid"/>
          </a:ln>
        </p:spPr>
        <p:txBody>
          <a:bodyPr lIns="0" tIns="0" rIns="0" bIns="0" anchor="t"/>
          <a:lstStyle/>
          <a:p>
            <a:pPr algn="l">
              <a:defRPr sz="3300" b="1">
                <a:solidFill>
                  <a:srgbClr val="1F2937"/>
                </a:solidFill>
                <a:latin typeface="Yu Gothic"/>
                <a:ea typeface="Yu Gothic"/>
                <a:cs typeface="Yu Gothic"/>
              </a:defRPr>
            </a:pPr>
            <a:r>
              <a:rPr sz="3300" b="1">
                <a:solidFill>
                  <a:srgbClr val="1F2937"/>
                </a:solidFill>
                <a:latin typeface="Yu Gothic"/>
                <a:ea typeface="Yu Gothic"/>
                <a:cs typeface="Yu Gothic"/>
              </a:rPr>
              <a:t>Todo アプリの構築 2</a:t>
            </a:r>
          </a:p>
        </p:txBody>
      </p:sp>
      <p:sp>
        <p:nvSpPr>
          <p:cNvPr id="6" name="正方形/長方形 5">
            <a:extLst>
              <a:ext uri="{FF2B5EF4-FFF2-40B4-BE49-F238E27FC236}">
                <a16:creationId xmlns:a16="http://schemas.microsoft.com/office/drawing/2014/main" id="{16A03A23-267A-4F62-9D1B-270945BBCFC7}"/>
              </a:ext>
            </a:extLst>
          </p:cNvPr>
          <p:cNvSpPr>
            <a:spLocks noGrp="1"/>
          </p:cNvSpPr>
          <p:nvPr/>
        </p:nvSpPr>
        <p:spPr>
          <a:xfrm>
            <a:off x="1981200" y="2524125"/>
            <a:ext cx="8191500" cy="685800"/>
          </a:xfrm>
          <a:prstGeom prst="rect">
            <a:avLst/>
          </a:prstGeom>
          <a:ln w="0">
            <a:solidFill>
              <a:srgbClr val="FFFFFF"/>
            </a:solidFill>
            <a:prstDash val="solid"/>
          </a:ln>
        </p:spPr>
        <p:txBody>
          <a:bodyPr lIns="0" tIns="0" rIns="0" bIns="0" anchor="t"/>
          <a:lstStyle/>
          <a:p>
            <a:pPr algn="l">
              <a:defRPr sz="1575" b="0">
                <a:solidFill>
                  <a:srgbClr val="64748B"/>
                </a:solidFill>
                <a:latin typeface="Yu Gothic"/>
                <a:ea typeface="Yu Gothic"/>
                <a:cs typeface="Yu Gothic"/>
              </a:defRPr>
            </a:pPr>
            <a:r>
              <a:rPr sz="1575" b="0">
                <a:solidFill>
                  <a:srgbClr val="64748B"/>
                </a:solidFill>
                <a:latin typeface="Yu Gothic"/>
                <a:ea typeface="Yu Gothic"/>
                <a:cs typeface="Yu Gothic"/>
              </a:rPr>
              <a:t>この回では、第5回で作成した Azure リソースへ Todo アプリをデプロイし、Web、API、DB が連携して動く完成形を確認します。</a:t>
            </a:r>
          </a:p>
        </p:txBody>
      </p:sp>
      <p:sp>
        <p:nvSpPr>
          <p:cNvPr id="7" name="正方形/長方形 6">
            <a:extLst>
              <a:ext uri="{FF2B5EF4-FFF2-40B4-BE49-F238E27FC236}">
                <a16:creationId xmlns:a16="http://schemas.microsoft.com/office/drawing/2014/main" id="{5518CC8F-6DC8-4EA9-9CE7-BEE2B81CB15B}"/>
              </a:ext>
            </a:extLst>
          </p:cNvPr>
          <p:cNvSpPr>
            <a:spLocks noGrp="1"/>
          </p:cNvSpPr>
          <p:nvPr/>
        </p:nvSpPr>
        <p:spPr>
          <a:xfrm>
            <a:off x="1981200" y="3619500"/>
            <a:ext cx="1143000" cy="323850"/>
          </a:xfrm>
          <a:prstGeom prst="rect">
            <a:avLst/>
          </a:prstGeom>
          <a:ln w="9525">
            <a:solidFill>
              <a:srgbClr val="2563EB"/>
            </a:solidFill>
            <a:prstDash val="solid"/>
          </a:ln>
        </p:spPr>
      </p:sp>
      <p:sp>
        <p:nvSpPr>
          <p:cNvPr id="8" name="正方形/長方形 7">
            <a:extLst>
              <a:ext uri="{FF2B5EF4-FFF2-40B4-BE49-F238E27FC236}">
                <a16:creationId xmlns:a16="http://schemas.microsoft.com/office/drawing/2014/main" id="{B44C3EBB-7DEC-4035-A138-4673BC339098}"/>
              </a:ext>
            </a:extLst>
          </p:cNvPr>
          <p:cNvSpPr>
            <a:spLocks noGrp="1"/>
          </p:cNvSpPr>
          <p:nvPr/>
        </p:nvSpPr>
        <p:spPr>
          <a:xfrm>
            <a:off x="2095500" y="3686175"/>
            <a:ext cx="914400" cy="190500"/>
          </a:xfrm>
          <a:prstGeom prst="rect">
            <a:avLst/>
          </a:prstGeom>
          <a:ln w="0">
            <a:solidFill>
              <a:srgbClr val="FFFFFF"/>
            </a:solidFill>
            <a:prstDash val="solid"/>
          </a:ln>
        </p:spPr>
        <p:txBody>
          <a:bodyPr lIns="0" tIns="0" rIns="0" bIns="0" anchor="t"/>
          <a:lstStyle/>
          <a:p>
            <a:pPr algn="ctr">
              <a:defRPr sz="975" b="1">
                <a:solidFill>
                  <a:srgbClr val="2563EB"/>
                </a:solidFill>
                <a:latin typeface="Yu Gothic"/>
                <a:ea typeface="Yu Gothic"/>
                <a:cs typeface="Yu Gothic"/>
              </a:defRPr>
            </a:pPr>
            <a:r>
              <a:rPr sz="975" b="1">
                <a:solidFill>
                  <a:srgbClr val="2563EB"/>
                </a:solidFill>
                <a:latin typeface="Yu Gothic"/>
                <a:ea typeface="Yu Gothic"/>
                <a:cs typeface="Yu Gothic"/>
              </a:rPr>
              <a:t>第6回</a:t>
            </a:r>
          </a:p>
        </p:txBody>
      </p:sp>
      <p:sp>
        <p:nvSpPr>
          <p:cNvPr id="9" name="正方形/長方形 8">
            <a:extLst>
              <a:ext uri="{FF2B5EF4-FFF2-40B4-BE49-F238E27FC236}">
                <a16:creationId xmlns:a16="http://schemas.microsoft.com/office/drawing/2014/main" id="{46817FE5-BECB-4123-87B8-12983C86604F}"/>
              </a:ext>
            </a:extLst>
          </p:cNvPr>
          <p:cNvSpPr>
            <a:spLocks noGrp="1"/>
          </p:cNvSpPr>
          <p:nvPr/>
        </p:nvSpPr>
        <p:spPr>
          <a:xfrm>
            <a:off x="3314700" y="3619500"/>
            <a:ext cx="2381250" cy="323850"/>
          </a:xfrm>
          <a:prstGeom prst="rect">
            <a:avLst/>
          </a:prstGeom>
          <a:ln w="9525">
            <a:solidFill>
              <a:srgbClr val="0F766E"/>
            </a:solidFill>
            <a:prstDash val="solid"/>
          </a:ln>
        </p:spPr>
      </p:sp>
      <p:sp>
        <p:nvSpPr>
          <p:cNvPr id="10" name="正方形/長方形 9">
            <a:extLst>
              <a:ext uri="{FF2B5EF4-FFF2-40B4-BE49-F238E27FC236}">
                <a16:creationId xmlns:a16="http://schemas.microsoft.com/office/drawing/2014/main" id="{C7A507B9-824B-4CCD-9E7E-11F23A9EB51F}"/>
              </a:ext>
            </a:extLst>
          </p:cNvPr>
          <p:cNvSpPr>
            <a:spLocks noGrp="1"/>
          </p:cNvSpPr>
          <p:nvPr/>
        </p:nvSpPr>
        <p:spPr>
          <a:xfrm>
            <a:off x="3429000" y="3686175"/>
            <a:ext cx="2152650" cy="190500"/>
          </a:xfrm>
          <a:prstGeom prst="rect">
            <a:avLst/>
          </a:prstGeom>
          <a:ln w="0">
            <a:solidFill>
              <a:srgbClr val="FFFFFF"/>
            </a:solidFill>
            <a:prstDash val="solid"/>
          </a:ln>
        </p:spPr>
        <p:txBody>
          <a:bodyPr lIns="0" tIns="0" rIns="0" bIns="0" anchor="t"/>
          <a:lstStyle/>
          <a:p>
            <a:pPr algn="ctr">
              <a:defRPr sz="975" b="1">
                <a:solidFill>
                  <a:srgbClr val="0F766E"/>
                </a:solidFill>
                <a:latin typeface="Yu Gothic"/>
                <a:ea typeface="Yu Gothic"/>
                <a:cs typeface="Yu Gothic"/>
              </a:defRPr>
            </a:pPr>
            <a:r>
              <a:rPr sz="975" b="1">
                <a:solidFill>
                  <a:srgbClr val="0F766E"/>
                </a:solidFill>
                <a:latin typeface="Yu Gothic"/>
                <a:ea typeface="Yu Gothic"/>
                <a:cs typeface="Yu Gothic"/>
              </a:rPr>
              <a:t>オンライン座学 + ハンズオン</a:t>
            </a:r>
          </a:p>
        </p:txBody>
      </p:sp>
      <p:sp>
        <p:nvSpPr>
          <p:cNvPr id="11" name="正方形/長方形 10">
            <a:extLst>
              <a:ext uri="{FF2B5EF4-FFF2-40B4-BE49-F238E27FC236}">
                <a16:creationId xmlns:a16="http://schemas.microsoft.com/office/drawing/2014/main" id="{F4512C4A-E586-4EF1-B185-986272CD62F4}"/>
              </a:ext>
            </a:extLst>
          </p:cNvPr>
          <p:cNvSpPr>
            <a:spLocks noGrp="1"/>
          </p:cNvSpPr>
          <p:nvPr/>
        </p:nvSpPr>
        <p:spPr>
          <a:xfrm>
            <a:off x="5886450" y="3619500"/>
            <a:ext cx="1676400" cy="323850"/>
          </a:xfrm>
          <a:prstGeom prst="rect">
            <a:avLst/>
          </a:prstGeom>
          <a:ln w="9525">
            <a:solidFill>
              <a:srgbClr val="EA580C"/>
            </a:solidFill>
            <a:prstDash val="solid"/>
          </a:ln>
        </p:spPr>
      </p:sp>
      <p:sp>
        <p:nvSpPr>
          <p:cNvPr id="12" name="正方形/長方形 11">
            <a:extLst>
              <a:ext uri="{FF2B5EF4-FFF2-40B4-BE49-F238E27FC236}">
                <a16:creationId xmlns:a16="http://schemas.microsoft.com/office/drawing/2014/main" id="{FA0C5679-3EEA-42AC-9205-E304B938EEA9}"/>
              </a:ext>
            </a:extLst>
          </p:cNvPr>
          <p:cNvSpPr>
            <a:spLocks noGrp="1"/>
          </p:cNvSpPr>
          <p:nvPr/>
        </p:nvSpPr>
        <p:spPr>
          <a:xfrm>
            <a:off x="6000750" y="3686175"/>
            <a:ext cx="1447800" cy="190500"/>
          </a:xfrm>
          <a:prstGeom prst="rect">
            <a:avLst/>
          </a:prstGeom>
          <a:ln w="0">
            <a:solidFill>
              <a:srgbClr val="FFFFFF"/>
            </a:solidFill>
            <a:prstDash val="solid"/>
          </a:ln>
        </p:spPr>
        <p:txBody>
          <a:bodyPr lIns="0" tIns="0" rIns="0" bIns="0" anchor="t"/>
          <a:lstStyle/>
          <a:p>
            <a:pPr algn="ctr">
              <a:defRPr sz="975" b="1">
                <a:solidFill>
                  <a:srgbClr val="EA580C"/>
                </a:solidFill>
                <a:latin typeface="Yu Gothic"/>
                <a:ea typeface="Yu Gothic"/>
                <a:cs typeface="Yu Gothic"/>
              </a:defRPr>
            </a:pPr>
            <a:r>
              <a:rPr sz="975" b="1">
                <a:solidFill>
                  <a:srgbClr val="EA580C"/>
                </a:solidFill>
                <a:latin typeface="Yu Gothic"/>
                <a:ea typeface="Yu Gothic"/>
                <a:cs typeface="Yu Gothic"/>
              </a:rPr>
              <a:t>50分 + 10分 QA</a:t>
            </a:r>
          </a:p>
        </p:txBody>
      </p:sp>
      <p:sp>
        <p:nvSpPr>
          <p:cNvPr id="13" name="正方形/長方形 12">
            <a:extLst>
              <a:ext uri="{FF2B5EF4-FFF2-40B4-BE49-F238E27FC236}">
                <a16:creationId xmlns:a16="http://schemas.microsoft.com/office/drawing/2014/main" id="{7CF67220-5335-42C2-9318-6565611D057C}"/>
              </a:ext>
            </a:extLst>
          </p:cNvPr>
          <p:cNvSpPr>
            <a:spLocks noGrp="1"/>
          </p:cNvSpPr>
          <p:nvPr/>
        </p:nvSpPr>
        <p:spPr>
          <a:xfrm>
            <a:off x="7753350" y="3619500"/>
            <a:ext cx="1638300" cy="323850"/>
          </a:xfrm>
          <a:prstGeom prst="rect">
            <a:avLst/>
          </a:prstGeom>
          <a:ln w="9525">
            <a:solidFill>
              <a:srgbClr val="15803D"/>
            </a:solidFill>
            <a:prstDash val="solid"/>
          </a:ln>
        </p:spPr>
      </p:sp>
      <p:sp>
        <p:nvSpPr>
          <p:cNvPr id="14" name="正方形/長方形 13">
            <a:extLst>
              <a:ext uri="{FF2B5EF4-FFF2-40B4-BE49-F238E27FC236}">
                <a16:creationId xmlns:a16="http://schemas.microsoft.com/office/drawing/2014/main" id="{FE817FA5-9EB6-4795-84E1-FBD8335C4BA7}"/>
              </a:ext>
            </a:extLst>
          </p:cNvPr>
          <p:cNvSpPr>
            <a:spLocks noGrp="1"/>
          </p:cNvSpPr>
          <p:nvPr/>
        </p:nvSpPr>
        <p:spPr>
          <a:xfrm>
            <a:off x="7867650" y="3686175"/>
            <a:ext cx="1409700" cy="190500"/>
          </a:xfrm>
          <a:prstGeom prst="rect">
            <a:avLst/>
          </a:prstGeom>
          <a:ln w="0">
            <a:solidFill>
              <a:srgbClr val="FFFFFF"/>
            </a:solidFill>
            <a:prstDash val="solid"/>
          </a:ln>
        </p:spPr>
        <p:txBody>
          <a:bodyPr lIns="0" tIns="0" rIns="0" bIns="0" anchor="t"/>
          <a:lstStyle/>
          <a:p>
            <a:pPr algn="ctr">
              <a:defRPr sz="975" b="1">
                <a:solidFill>
                  <a:srgbClr val="15803D"/>
                </a:solidFill>
                <a:latin typeface="Yu Gothic"/>
                <a:ea typeface="Yu Gothic"/>
                <a:cs typeface="Yu Gothic"/>
              </a:defRPr>
            </a:pPr>
            <a:r>
              <a:rPr sz="975" b="1">
                <a:solidFill>
                  <a:srgbClr val="15803D"/>
                </a:solidFill>
                <a:latin typeface="Yu Gothic"/>
                <a:ea typeface="Yu Gothic"/>
                <a:cs typeface="Yu Gothic"/>
              </a:rPr>
              <a:t>2026年7月23日</a:t>
            </a:r>
          </a:p>
        </p:txBody>
      </p:sp>
      <p:sp>
        <p:nvSpPr>
          <p:cNvPr id="15" name="正方形/長方形 14">
            <a:extLst>
              <a:ext uri="{FF2B5EF4-FFF2-40B4-BE49-F238E27FC236}">
                <a16:creationId xmlns:a16="http://schemas.microsoft.com/office/drawing/2014/main" id="{21AFABF3-1E05-4862-9F3A-46AA61F3BE65}"/>
              </a:ext>
            </a:extLst>
          </p:cNvPr>
          <p:cNvSpPr>
            <a:spLocks noGrp="1"/>
          </p:cNvSpPr>
          <p:nvPr/>
        </p:nvSpPr>
        <p:spPr>
          <a:xfrm>
            <a:off x="1981200" y="5219700"/>
            <a:ext cx="8096250" cy="304800"/>
          </a:xfrm>
          <a:prstGeom prst="rect">
            <a:avLst/>
          </a:prstGeom>
          <a:ln w="0">
            <a:solidFill>
              <a:srgbClr val="FFFFFF"/>
            </a:solidFill>
            <a:prstDash val="solid"/>
          </a:ln>
        </p:spPr>
        <p:txBody>
          <a:bodyPr lIns="0" tIns="0" rIns="0" bIns="0" anchor="t"/>
          <a:lstStyle/>
          <a:p>
            <a:pPr algn="l">
              <a:defRPr sz="1275" b="0">
                <a:solidFill>
                  <a:srgbClr val="1F2937"/>
                </a:solidFill>
                <a:latin typeface="Yu Gothic"/>
                <a:ea typeface="Yu Gothic"/>
                <a:cs typeface="Yu Gothic"/>
              </a:defRPr>
            </a:pPr>
            <a:r>
              <a:rPr sz="1275" b="0">
                <a:solidFill>
                  <a:srgbClr val="1F2937"/>
                </a:solidFill>
                <a:latin typeface="Yu Gothic"/>
                <a:ea typeface="Yu Gothic"/>
                <a:cs typeface="Yu Gothic"/>
              </a:rPr>
              <a:t>GitHub Actions で実イメージをデプロイし、Todo 操作と後片付けまで確認します。</a:t>
            </a:r>
          </a:p>
        </p:txBody>
      </p:sp>
      <p:sp>
        <p:nvSpPr>
          <p:cNvPr id="16" name="正方形/長方形 15">
            <a:extLst>
              <a:ext uri="{FF2B5EF4-FFF2-40B4-BE49-F238E27FC236}">
                <a16:creationId xmlns:a16="http://schemas.microsoft.com/office/drawing/2014/main" id="{098D3BF3-9F62-4657-BF86-B68B898CD99E}"/>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881690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正方形/長方形 25">
            <a:extLst>
              <a:ext uri="{FF2B5EF4-FFF2-40B4-BE49-F238E27FC236}">
                <a16:creationId xmlns:a16="http://schemas.microsoft.com/office/drawing/2014/main" id="{BACE4354-81CE-4D15-9176-C3701CE540B8}"/>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今日のゴール</a:t>
            </a:r>
          </a:p>
        </p:txBody>
      </p:sp>
      <p:sp>
        <p:nvSpPr>
          <p:cNvPr id="2" name="正方形/長方形 1">
            <a:extLst>
              <a:ext uri="{FF2B5EF4-FFF2-40B4-BE49-F238E27FC236}">
                <a16:creationId xmlns:a16="http://schemas.microsoft.com/office/drawing/2014/main" id="{519B180A-2206-40B2-8FA9-C4EC6D51D45A}"/>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02 / 48</a:t>
            </a:r>
          </a:p>
        </p:txBody>
      </p:sp>
      <p:sp>
        <p:nvSpPr>
          <p:cNvPr id="3" name="正方形/長方形 2">
            <a:extLst>
              <a:ext uri="{FF2B5EF4-FFF2-40B4-BE49-F238E27FC236}">
                <a16:creationId xmlns:a16="http://schemas.microsoft.com/office/drawing/2014/main" id="{E5C229CE-36B7-4709-B619-5240E3FDEF42}"/>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62A50849-6540-4F0F-9149-60CAA6D8DBAF}"/>
              </a:ext>
            </a:extLst>
          </p:cNvPr>
          <p:cNvSpPr>
            <a:spLocks noGrp="1"/>
          </p:cNvSpPr>
          <p:nvPr/>
        </p:nvSpPr>
        <p:spPr>
          <a:xfrm>
            <a:off x="666750" y="1162050"/>
            <a:ext cx="10096500" cy="552450"/>
          </a:xfrm>
          <a:prstGeom prst="rect">
            <a:avLst/>
          </a:prstGeom>
          <a:ln w="0">
            <a:solidFill>
              <a:srgbClr val="FFFFFF"/>
            </a:solidFill>
            <a:prstDash val="solid"/>
          </a:ln>
        </p:spPr>
        <p:txBody>
          <a:bodyPr lIns="0" tIns="0" rIns="0" bIns="0" anchor="t"/>
          <a:lstStyle/>
          <a:p>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今日は GitHub Actions で Web/API の実イメージをデプロイし、ブラウザーから Todo アプリにアクセスして基本動作を確認します。</a:t>
            </a:r>
          </a:p>
        </p:txBody>
      </p:sp>
      <p:sp>
        <p:nvSpPr>
          <p:cNvPr id="5" name="正方形/長方形 4">
            <a:extLst>
              <a:ext uri="{FF2B5EF4-FFF2-40B4-BE49-F238E27FC236}">
                <a16:creationId xmlns:a16="http://schemas.microsoft.com/office/drawing/2014/main" id="{A8142642-4FC3-4523-BAD5-28FC236533DC}"/>
              </a:ext>
            </a:extLst>
          </p:cNvPr>
          <p:cNvSpPr>
            <a:spLocks noGrp="1"/>
          </p:cNvSpPr>
          <p:nvPr/>
        </p:nvSpPr>
        <p:spPr>
          <a:xfrm>
            <a:off x="904875" y="1952625"/>
            <a:ext cx="4933950" cy="1762125"/>
          </a:xfrm>
          <a:prstGeom prst="rect">
            <a:avLst/>
          </a:prstGeom>
          <a:ln w="9525">
            <a:solidFill>
              <a:srgbClr val="DBE4EF"/>
            </a:solidFill>
            <a:prstDash val="solid"/>
          </a:ln>
        </p:spPr>
      </p:sp>
      <p:sp>
        <p:nvSpPr>
          <p:cNvPr id="6" name="正方形/長方形 5">
            <a:extLst>
              <a:ext uri="{FF2B5EF4-FFF2-40B4-BE49-F238E27FC236}">
                <a16:creationId xmlns:a16="http://schemas.microsoft.com/office/drawing/2014/main" id="{9DC58D78-2892-4F51-9686-4F4D4EAE2BB0}"/>
              </a:ext>
            </a:extLst>
          </p:cNvPr>
          <p:cNvSpPr>
            <a:spLocks noGrp="1"/>
          </p:cNvSpPr>
          <p:nvPr/>
        </p:nvSpPr>
        <p:spPr>
          <a:xfrm>
            <a:off x="904875" y="1952625"/>
            <a:ext cx="76200" cy="1762125"/>
          </a:xfrm>
          <a:prstGeom prst="rect">
            <a:avLst/>
          </a:prstGeom>
          <a:ln w="0">
            <a:solidFill>
              <a:srgbClr val="2563EB"/>
            </a:solidFill>
            <a:prstDash val="solid"/>
          </a:ln>
        </p:spPr>
      </p:sp>
      <p:sp>
        <p:nvSpPr>
          <p:cNvPr id="7" name="正方形/長方形 6">
            <a:extLst>
              <a:ext uri="{FF2B5EF4-FFF2-40B4-BE49-F238E27FC236}">
                <a16:creationId xmlns:a16="http://schemas.microsoft.com/office/drawing/2014/main" id="{023E0EE7-B06E-442A-862F-9EB8A9B3E487}"/>
              </a:ext>
            </a:extLst>
          </p:cNvPr>
          <p:cNvSpPr>
            <a:spLocks noGrp="1"/>
          </p:cNvSpPr>
          <p:nvPr/>
        </p:nvSpPr>
        <p:spPr>
          <a:xfrm>
            <a:off x="1133475" y="2124075"/>
            <a:ext cx="4552950" cy="171450"/>
          </a:xfrm>
          <a:prstGeom prst="rect">
            <a:avLst/>
          </a:prstGeom>
          <a:ln w="0">
            <a:solidFill>
              <a:srgbClr val="FFFFFF"/>
            </a:solidFill>
            <a:prstDash val="solid"/>
          </a:ln>
        </p:spPr>
        <p:txBody>
          <a:bodyPr lIns="0" tIns="0" rIns="0" bIns="0" anchor="t"/>
          <a:lstStyle/>
          <a:p>
            <a:pPr algn="l">
              <a:defRPr sz="900" b="1">
                <a:solidFill>
                  <a:srgbClr val="2563EB"/>
                </a:solidFill>
                <a:latin typeface="Yu Gothic"/>
                <a:ea typeface="Yu Gothic"/>
                <a:cs typeface="Yu Gothic"/>
              </a:defRPr>
            </a:pPr>
            <a:r>
              <a:rPr sz="900" b="1">
                <a:solidFill>
                  <a:srgbClr val="2563EB"/>
                </a:solidFill>
                <a:latin typeface="Yu Gothic"/>
                <a:ea typeface="Yu Gothic"/>
                <a:cs typeface="Yu Gothic"/>
              </a:rPr>
              <a:t>Goal 1</a:t>
            </a:r>
          </a:p>
        </p:txBody>
      </p:sp>
      <p:sp>
        <p:nvSpPr>
          <p:cNvPr id="8" name="正方形/長方形 7">
            <a:extLst>
              <a:ext uri="{FF2B5EF4-FFF2-40B4-BE49-F238E27FC236}">
                <a16:creationId xmlns:a16="http://schemas.microsoft.com/office/drawing/2014/main" id="{62578762-97A7-4EF3-A20A-5A1B30705C45}"/>
              </a:ext>
            </a:extLst>
          </p:cNvPr>
          <p:cNvSpPr>
            <a:spLocks noGrp="1"/>
          </p:cNvSpPr>
          <p:nvPr/>
        </p:nvSpPr>
        <p:spPr>
          <a:xfrm>
            <a:off x="1133475" y="2352675"/>
            <a:ext cx="453390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DB を再開する</a:t>
            </a:r>
          </a:p>
        </p:txBody>
      </p:sp>
      <p:sp>
        <p:nvSpPr>
          <p:cNvPr id="9" name="正方形/長方形 8">
            <a:extLst>
              <a:ext uri="{FF2B5EF4-FFF2-40B4-BE49-F238E27FC236}">
                <a16:creationId xmlns:a16="http://schemas.microsoft.com/office/drawing/2014/main" id="{A3FCE745-E352-4CB1-B8D3-0F717B64E8D7}"/>
              </a:ext>
            </a:extLst>
          </p:cNvPr>
          <p:cNvSpPr>
            <a:spLocks noGrp="1"/>
          </p:cNvSpPr>
          <p:nvPr/>
        </p:nvSpPr>
        <p:spPr>
          <a:xfrm>
            <a:off x="1133475" y="2790825"/>
            <a:ext cx="4533900" cy="8096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第5回で停止した PostgreSQL を Running に戻します。</a:t>
            </a:r>
          </a:p>
        </p:txBody>
      </p:sp>
      <p:sp>
        <p:nvSpPr>
          <p:cNvPr id="10" name="正方形/長方形 9">
            <a:extLst>
              <a:ext uri="{FF2B5EF4-FFF2-40B4-BE49-F238E27FC236}">
                <a16:creationId xmlns:a16="http://schemas.microsoft.com/office/drawing/2014/main" id="{F279E117-49BD-454D-BE81-6CB0BE0A740E}"/>
              </a:ext>
            </a:extLst>
          </p:cNvPr>
          <p:cNvSpPr>
            <a:spLocks noGrp="1"/>
          </p:cNvSpPr>
          <p:nvPr/>
        </p:nvSpPr>
        <p:spPr>
          <a:xfrm>
            <a:off x="6067425" y="1952625"/>
            <a:ext cx="4933950" cy="1762125"/>
          </a:xfrm>
          <a:prstGeom prst="rect">
            <a:avLst/>
          </a:prstGeom>
          <a:ln w="9525">
            <a:solidFill>
              <a:srgbClr val="DBE4EF"/>
            </a:solidFill>
            <a:prstDash val="solid"/>
          </a:ln>
        </p:spPr>
      </p:sp>
      <p:sp>
        <p:nvSpPr>
          <p:cNvPr id="11" name="正方形/長方形 10">
            <a:extLst>
              <a:ext uri="{FF2B5EF4-FFF2-40B4-BE49-F238E27FC236}">
                <a16:creationId xmlns:a16="http://schemas.microsoft.com/office/drawing/2014/main" id="{7E940594-4842-4EC1-A528-E1AAFA4C398E}"/>
              </a:ext>
            </a:extLst>
          </p:cNvPr>
          <p:cNvSpPr>
            <a:spLocks noGrp="1"/>
          </p:cNvSpPr>
          <p:nvPr/>
        </p:nvSpPr>
        <p:spPr>
          <a:xfrm>
            <a:off x="6067425" y="1952625"/>
            <a:ext cx="76200" cy="1762125"/>
          </a:xfrm>
          <a:prstGeom prst="rect">
            <a:avLst/>
          </a:prstGeom>
          <a:ln w="0">
            <a:solidFill>
              <a:srgbClr val="0F766E"/>
            </a:solidFill>
            <a:prstDash val="solid"/>
          </a:ln>
        </p:spPr>
      </p:sp>
      <p:sp>
        <p:nvSpPr>
          <p:cNvPr id="12" name="正方形/長方形 11">
            <a:extLst>
              <a:ext uri="{FF2B5EF4-FFF2-40B4-BE49-F238E27FC236}">
                <a16:creationId xmlns:a16="http://schemas.microsoft.com/office/drawing/2014/main" id="{81923FDB-D3A1-40F7-9CE6-63CA9572EBA3}"/>
              </a:ext>
            </a:extLst>
          </p:cNvPr>
          <p:cNvSpPr>
            <a:spLocks noGrp="1"/>
          </p:cNvSpPr>
          <p:nvPr/>
        </p:nvSpPr>
        <p:spPr>
          <a:xfrm>
            <a:off x="6296025" y="2124075"/>
            <a:ext cx="4552950" cy="171450"/>
          </a:xfrm>
          <a:prstGeom prst="rect">
            <a:avLst/>
          </a:prstGeom>
          <a:ln w="0">
            <a:solidFill>
              <a:srgbClr val="FFFFFF"/>
            </a:solidFill>
            <a:prstDash val="solid"/>
          </a:ln>
        </p:spPr>
        <p:txBody>
          <a:bodyPr lIns="0" tIns="0" rIns="0" bIns="0" anchor="t"/>
          <a:lstStyle/>
          <a:p>
            <a:pPr algn="l">
              <a:defRPr sz="900" b="1">
                <a:solidFill>
                  <a:srgbClr val="0F766E"/>
                </a:solidFill>
                <a:latin typeface="Yu Gothic"/>
                <a:ea typeface="Yu Gothic"/>
                <a:cs typeface="Yu Gothic"/>
              </a:defRPr>
            </a:pPr>
            <a:r>
              <a:rPr sz="900" b="1">
                <a:solidFill>
                  <a:srgbClr val="0F766E"/>
                </a:solidFill>
                <a:latin typeface="Yu Gothic"/>
                <a:ea typeface="Yu Gothic"/>
                <a:cs typeface="Yu Gothic"/>
              </a:rPr>
              <a:t>Goal 2</a:t>
            </a:r>
          </a:p>
        </p:txBody>
      </p:sp>
      <p:sp>
        <p:nvSpPr>
          <p:cNvPr id="13" name="正方形/長方形 12">
            <a:extLst>
              <a:ext uri="{FF2B5EF4-FFF2-40B4-BE49-F238E27FC236}">
                <a16:creationId xmlns:a16="http://schemas.microsoft.com/office/drawing/2014/main" id="{C3BC7588-8148-48EF-8985-630BD8AE3543}"/>
              </a:ext>
            </a:extLst>
          </p:cNvPr>
          <p:cNvSpPr>
            <a:spLocks noGrp="1"/>
          </p:cNvSpPr>
          <p:nvPr/>
        </p:nvSpPr>
        <p:spPr>
          <a:xfrm>
            <a:off x="6296025" y="2352675"/>
            <a:ext cx="453390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GitHub Actions を設定</a:t>
            </a:r>
          </a:p>
        </p:txBody>
      </p:sp>
      <p:sp>
        <p:nvSpPr>
          <p:cNvPr id="14" name="正方形/長方形 13">
            <a:extLst>
              <a:ext uri="{FF2B5EF4-FFF2-40B4-BE49-F238E27FC236}">
                <a16:creationId xmlns:a16="http://schemas.microsoft.com/office/drawing/2014/main" id="{59661BA1-6B62-45E3-A16A-5BD07AD20BDC}"/>
              </a:ext>
            </a:extLst>
          </p:cNvPr>
          <p:cNvSpPr>
            <a:spLocks noGrp="1"/>
          </p:cNvSpPr>
          <p:nvPr/>
        </p:nvSpPr>
        <p:spPr>
          <a:xfrm>
            <a:off x="6296025" y="2790825"/>
            <a:ext cx="4533900" cy="8096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Secret と variables を登録し、workflow を有効化します。</a:t>
            </a:r>
          </a:p>
        </p:txBody>
      </p:sp>
      <p:sp>
        <p:nvSpPr>
          <p:cNvPr id="15" name="正方形/長方形 14">
            <a:extLst>
              <a:ext uri="{FF2B5EF4-FFF2-40B4-BE49-F238E27FC236}">
                <a16:creationId xmlns:a16="http://schemas.microsoft.com/office/drawing/2014/main" id="{B4610D5F-64F3-46FD-8E2E-7AEAA01010A2}"/>
              </a:ext>
            </a:extLst>
          </p:cNvPr>
          <p:cNvSpPr>
            <a:spLocks noGrp="1"/>
          </p:cNvSpPr>
          <p:nvPr/>
        </p:nvSpPr>
        <p:spPr>
          <a:xfrm>
            <a:off x="904875" y="3924300"/>
            <a:ext cx="4933950" cy="1762125"/>
          </a:xfrm>
          <a:prstGeom prst="rect">
            <a:avLst/>
          </a:prstGeom>
          <a:ln w="9525">
            <a:solidFill>
              <a:srgbClr val="DBE4EF"/>
            </a:solidFill>
            <a:prstDash val="solid"/>
          </a:ln>
        </p:spPr>
      </p:sp>
      <p:sp>
        <p:nvSpPr>
          <p:cNvPr id="16" name="正方形/長方形 15">
            <a:extLst>
              <a:ext uri="{FF2B5EF4-FFF2-40B4-BE49-F238E27FC236}">
                <a16:creationId xmlns:a16="http://schemas.microsoft.com/office/drawing/2014/main" id="{1A029657-4842-4510-A740-0F18C8311E05}"/>
              </a:ext>
            </a:extLst>
          </p:cNvPr>
          <p:cNvSpPr>
            <a:spLocks noGrp="1"/>
          </p:cNvSpPr>
          <p:nvPr/>
        </p:nvSpPr>
        <p:spPr>
          <a:xfrm>
            <a:off x="904875" y="3924300"/>
            <a:ext cx="76200" cy="1762125"/>
          </a:xfrm>
          <a:prstGeom prst="rect">
            <a:avLst/>
          </a:prstGeom>
          <a:ln w="0">
            <a:solidFill>
              <a:srgbClr val="EA580C"/>
            </a:solidFill>
            <a:prstDash val="solid"/>
          </a:ln>
        </p:spPr>
      </p:sp>
      <p:sp>
        <p:nvSpPr>
          <p:cNvPr id="17" name="正方形/長方形 16">
            <a:extLst>
              <a:ext uri="{FF2B5EF4-FFF2-40B4-BE49-F238E27FC236}">
                <a16:creationId xmlns:a16="http://schemas.microsoft.com/office/drawing/2014/main" id="{C9109B3B-8317-4E73-A076-ABD1AF6B5636}"/>
              </a:ext>
            </a:extLst>
          </p:cNvPr>
          <p:cNvSpPr>
            <a:spLocks noGrp="1"/>
          </p:cNvSpPr>
          <p:nvPr/>
        </p:nvSpPr>
        <p:spPr>
          <a:xfrm>
            <a:off x="1133475" y="4095750"/>
            <a:ext cx="4552950" cy="171450"/>
          </a:xfrm>
          <a:prstGeom prst="rect">
            <a:avLst/>
          </a:prstGeom>
          <a:ln w="0">
            <a:solidFill>
              <a:srgbClr val="FFFFFF"/>
            </a:solidFill>
            <a:prstDash val="solid"/>
          </a:ln>
        </p:spPr>
        <p:txBody>
          <a:bodyPr lIns="0" tIns="0" rIns="0" bIns="0" anchor="t"/>
          <a:lstStyle/>
          <a:p>
            <a:pPr algn="l">
              <a:defRPr sz="900" b="1">
                <a:solidFill>
                  <a:srgbClr val="EA580C"/>
                </a:solidFill>
                <a:latin typeface="Yu Gothic"/>
                <a:ea typeface="Yu Gothic"/>
                <a:cs typeface="Yu Gothic"/>
              </a:defRPr>
            </a:pPr>
            <a:r>
              <a:rPr sz="900" b="1">
                <a:solidFill>
                  <a:srgbClr val="EA580C"/>
                </a:solidFill>
                <a:latin typeface="Yu Gothic"/>
                <a:ea typeface="Yu Gothic"/>
                <a:cs typeface="Yu Gothic"/>
              </a:rPr>
              <a:t>Goal 3</a:t>
            </a:r>
          </a:p>
        </p:txBody>
      </p:sp>
      <p:sp>
        <p:nvSpPr>
          <p:cNvPr id="18" name="正方形/長方形 17">
            <a:extLst>
              <a:ext uri="{FF2B5EF4-FFF2-40B4-BE49-F238E27FC236}">
                <a16:creationId xmlns:a16="http://schemas.microsoft.com/office/drawing/2014/main" id="{6212254B-55A2-4DE8-A85A-229AD96A4A17}"/>
              </a:ext>
            </a:extLst>
          </p:cNvPr>
          <p:cNvSpPr>
            <a:spLocks noGrp="1"/>
          </p:cNvSpPr>
          <p:nvPr/>
        </p:nvSpPr>
        <p:spPr>
          <a:xfrm>
            <a:off x="1133475" y="4324350"/>
            <a:ext cx="453390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デプロイを確認</a:t>
            </a:r>
          </a:p>
        </p:txBody>
      </p:sp>
      <p:sp>
        <p:nvSpPr>
          <p:cNvPr id="19" name="正方形/長方形 18">
            <a:extLst>
              <a:ext uri="{FF2B5EF4-FFF2-40B4-BE49-F238E27FC236}">
                <a16:creationId xmlns:a16="http://schemas.microsoft.com/office/drawing/2014/main" id="{5A16F3BE-DC09-4AB5-9E52-921674393370}"/>
              </a:ext>
            </a:extLst>
          </p:cNvPr>
          <p:cNvSpPr>
            <a:spLocks noGrp="1"/>
          </p:cNvSpPr>
          <p:nvPr/>
        </p:nvSpPr>
        <p:spPr>
          <a:xfrm>
            <a:off x="1133475" y="4762500"/>
            <a:ext cx="4533900" cy="8096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ACR のイメージと Container Apps の revision を確認します。</a:t>
            </a:r>
          </a:p>
        </p:txBody>
      </p:sp>
      <p:sp>
        <p:nvSpPr>
          <p:cNvPr id="20" name="正方形/長方形 19">
            <a:extLst>
              <a:ext uri="{FF2B5EF4-FFF2-40B4-BE49-F238E27FC236}">
                <a16:creationId xmlns:a16="http://schemas.microsoft.com/office/drawing/2014/main" id="{10BD4B63-9897-4079-973A-9ADB47458E00}"/>
              </a:ext>
            </a:extLst>
          </p:cNvPr>
          <p:cNvSpPr>
            <a:spLocks noGrp="1"/>
          </p:cNvSpPr>
          <p:nvPr/>
        </p:nvSpPr>
        <p:spPr>
          <a:xfrm>
            <a:off x="6067425" y="3924300"/>
            <a:ext cx="4933950" cy="1762125"/>
          </a:xfrm>
          <a:prstGeom prst="rect">
            <a:avLst/>
          </a:prstGeom>
          <a:ln w="9525">
            <a:solidFill>
              <a:srgbClr val="DBE4EF"/>
            </a:solidFill>
            <a:prstDash val="solid"/>
          </a:ln>
        </p:spPr>
      </p:sp>
      <p:sp>
        <p:nvSpPr>
          <p:cNvPr id="21" name="正方形/長方形 20">
            <a:extLst>
              <a:ext uri="{FF2B5EF4-FFF2-40B4-BE49-F238E27FC236}">
                <a16:creationId xmlns:a16="http://schemas.microsoft.com/office/drawing/2014/main" id="{0D1F41EC-659E-46D2-8B88-D637E5CF2C5F}"/>
              </a:ext>
            </a:extLst>
          </p:cNvPr>
          <p:cNvSpPr>
            <a:spLocks noGrp="1"/>
          </p:cNvSpPr>
          <p:nvPr/>
        </p:nvSpPr>
        <p:spPr>
          <a:xfrm>
            <a:off x="6067425" y="3924300"/>
            <a:ext cx="76200" cy="1762125"/>
          </a:xfrm>
          <a:prstGeom prst="rect">
            <a:avLst/>
          </a:prstGeom>
          <a:ln w="0">
            <a:solidFill>
              <a:srgbClr val="15803D"/>
            </a:solidFill>
            <a:prstDash val="solid"/>
          </a:ln>
        </p:spPr>
      </p:sp>
      <p:sp>
        <p:nvSpPr>
          <p:cNvPr id="22" name="正方形/長方形 21">
            <a:extLst>
              <a:ext uri="{FF2B5EF4-FFF2-40B4-BE49-F238E27FC236}">
                <a16:creationId xmlns:a16="http://schemas.microsoft.com/office/drawing/2014/main" id="{24D2C738-F5A3-4620-A210-45B49B1154F9}"/>
              </a:ext>
            </a:extLst>
          </p:cNvPr>
          <p:cNvSpPr>
            <a:spLocks noGrp="1"/>
          </p:cNvSpPr>
          <p:nvPr/>
        </p:nvSpPr>
        <p:spPr>
          <a:xfrm>
            <a:off x="6296025" y="4095750"/>
            <a:ext cx="4552950" cy="171450"/>
          </a:xfrm>
          <a:prstGeom prst="rect">
            <a:avLst/>
          </a:prstGeom>
          <a:ln w="0">
            <a:solidFill>
              <a:srgbClr val="FFFFFF"/>
            </a:solidFill>
            <a:prstDash val="solid"/>
          </a:ln>
        </p:spPr>
        <p:txBody>
          <a:bodyPr lIns="0" tIns="0" rIns="0" bIns="0" anchor="t"/>
          <a:lstStyle/>
          <a:p>
            <a:pPr algn="l">
              <a:defRPr sz="900" b="1">
                <a:solidFill>
                  <a:srgbClr val="15803D"/>
                </a:solidFill>
                <a:latin typeface="Yu Gothic"/>
                <a:ea typeface="Yu Gothic"/>
                <a:cs typeface="Yu Gothic"/>
              </a:defRPr>
            </a:pPr>
            <a:r>
              <a:rPr sz="900" b="1">
                <a:solidFill>
                  <a:srgbClr val="15803D"/>
                </a:solidFill>
                <a:latin typeface="Yu Gothic"/>
                <a:ea typeface="Yu Gothic"/>
                <a:cs typeface="Yu Gothic"/>
              </a:rPr>
              <a:t>Goal 4</a:t>
            </a:r>
          </a:p>
        </p:txBody>
      </p:sp>
      <p:sp>
        <p:nvSpPr>
          <p:cNvPr id="23" name="正方形/長方形 22">
            <a:extLst>
              <a:ext uri="{FF2B5EF4-FFF2-40B4-BE49-F238E27FC236}">
                <a16:creationId xmlns:a16="http://schemas.microsoft.com/office/drawing/2014/main" id="{20FBFA85-A648-4F8D-AA5A-9F552796D566}"/>
              </a:ext>
            </a:extLst>
          </p:cNvPr>
          <p:cNvSpPr>
            <a:spLocks noGrp="1"/>
          </p:cNvSpPr>
          <p:nvPr/>
        </p:nvSpPr>
        <p:spPr>
          <a:xfrm>
            <a:off x="6296025" y="4324350"/>
            <a:ext cx="453390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動作と後片付け</a:t>
            </a:r>
          </a:p>
        </p:txBody>
      </p:sp>
      <p:sp>
        <p:nvSpPr>
          <p:cNvPr id="24" name="正方形/長方形 23">
            <a:extLst>
              <a:ext uri="{FF2B5EF4-FFF2-40B4-BE49-F238E27FC236}">
                <a16:creationId xmlns:a16="http://schemas.microsoft.com/office/drawing/2014/main" id="{37ED4639-D238-40E7-94B7-1191406B628A}"/>
              </a:ext>
            </a:extLst>
          </p:cNvPr>
          <p:cNvSpPr>
            <a:spLocks noGrp="1"/>
          </p:cNvSpPr>
          <p:nvPr/>
        </p:nvSpPr>
        <p:spPr>
          <a:xfrm>
            <a:off x="6296025" y="4762500"/>
            <a:ext cx="4533900" cy="8096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Todo 操作を確認し、停止または削除方針を決めます。</a:t>
            </a:r>
          </a:p>
        </p:txBody>
      </p:sp>
      <p:sp>
        <p:nvSpPr>
          <p:cNvPr id="25" name="正方形/長方形 24">
            <a:extLst>
              <a:ext uri="{FF2B5EF4-FFF2-40B4-BE49-F238E27FC236}">
                <a16:creationId xmlns:a16="http://schemas.microsoft.com/office/drawing/2014/main" id="{4D546CCD-D8A5-44E8-8944-D3A05C17BE35}"/>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正方形/長方形 36">
            <a:extLst>
              <a:ext uri="{FF2B5EF4-FFF2-40B4-BE49-F238E27FC236}">
                <a16:creationId xmlns:a16="http://schemas.microsoft.com/office/drawing/2014/main" id="{ECF5FBF0-D566-4984-BA5E-41E368B9433D}"/>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第5回の終了状態</a:t>
            </a:r>
          </a:p>
        </p:txBody>
      </p:sp>
      <p:sp>
        <p:nvSpPr>
          <p:cNvPr id="2" name="正方形/長方形 1">
            <a:extLst>
              <a:ext uri="{FF2B5EF4-FFF2-40B4-BE49-F238E27FC236}">
                <a16:creationId xmlns:a16="http://schemas.microsoft.com/office/drawing/2014/main" id="{44C015F9-E75A-4FC7-9203-B8721DBF619B}"/>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03 / 48</a:t>
            </a:r>
          </a:p>
        </p:txBody>
      </p:sp>
      <p:sp>
        <p:nvSpPr>
          <p:cNvPr id="3" name="正方形/長方形 2">
            <a:extLst>
              <a:ext uri="{FF2B5EF4-FFF2-40B4-BE49-F238E27FC236}">
                <a16:creationId xmlns:a16="http://schemas.microsoft.com/office/drawing/2014/main" id="{9F9E7957-0298-46EE-8172-6AB973995C12}"/>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078CED54-93DD-4FB8-83E3-2ECA23C23632}"/>
              </a:ext>
            </a:extLst>
          </p:cNvPr>
          <p:cNvSpPr>
            <a:spLocks noGrp="1"/>
          </p:cNvSpPr>
          <p:nvPr/>
        </p:nvSpPr>
        <p:spPr>
          <a:xfrm>
            <a:off x="666750" y="1162050"/>
            <a:ext cx="10096500" cy="552450"/>
          </a:xfrm>
          <a:prstGeom prst="rect">
            <a:avLst/>
          </a:prstGeom>
          <a:ln w="0">
            <a:solidFill>
              <a:srgbClr val="FFFFFF"/>
            </a:solidFill>
            <a:prstDash val="solid"/>
          </a:ln>
        </p:spPr>
        <p:txBody>
          <a:bodyPr lIns="0" tIns="0" rIns="0" bIns="0" anchor="t"/>
          <a:lstStyle/>
          <a:p>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前回は Azure 側の土台を作り、PostgreSQL を停止して引き継ぎました。本回はその状態から再開します。</a:t>
            </a:r>
          </a:p>
        </p:txBody>
      </p:sp>
      <p:sp>
        <p:nvSpPr>
          <p:cNvPr id="5" name="正方形/長方形 4">
            <a:extLst>
              <a:ext uri="{FF2B5EF4-FFF2-40B4-BE49-F238E27FC236}">
                <a16:creationId xmlns:a16="http://schemas.microsoft.com/office/drawing/2014/main" id="{451FBCF5-48FB-4BB8-B331-FD8175E05880}"/>
              </a:ext>
            </a:extLst>
          </p:cNvPr>
          <p:cNvSpPr>
            <a:spLocks noGrp="1"/>
          </p:cNvSpPr>
          <p:nvPr/>
        </p:nvSpPr>
        <p:spPr>
          <a:xfrm>
            <a:off x="2238375" y="1619250"/>
            <a:ext cx="7715250" cy="266700"/>
          </a:xfrm>
          <a:prstGeom prst="rect">
            <a:avLst/>
          </a:prstGeom>
          <a:ln w="0">
            <a:solidFill>
              <a:srgbClr val="FFFFFF"/>
            </a:solidFill>
            <a:prstDash val="solid"/>
          </a:ln>
        </p:spPr>
        <p:txBody>
          <a:bodyPr lIns="0" tIns="0" rIns="0" bIns="0" anchor="t"/>
          <a:lstStyle/>
          <a:p>
            <a:pPr algn="ctr">
              <a:defRPr sz="1500" b="1">
                <a:solidFill>
                  <a:srgbClr val="1F2937"/>
                </a:solidFill>
                <a:latin typeface="Yu Gothic"/>
                <a:ea typeface="Yu Gothic"/>
                <a:cs typeface="Yu Gothic"/>
              </a:defRPr>
            </a:pPr>
            <a:r>
              <a:rPr sz="1500" b="1">
                <a:solidFill>
                  <a:srgbClr val="1F2937"/>
                </a:solidFill>
                <a:latin typeface="Yu Gothic"/>
                <a:ea typeface="Yu Gothic"/>
                <a:cs typeface="Yu Gothic"/>
              </a:rPr>
              <a:t>第5回の完了条件は「土台作成」と「値の記録」</a:t>
            </a:r>
          </a:p>
        </p:txBody>
      </p:sp>
      <p:sp>
        <p:nvSpPr>
          <p:cNvPr id="6" name="正方形/長方形 5">
            <a:extLst>
              <a:ext uri="{FF2B5EF4-FFF2-40B4-BE49-F238E27FC236}">
                <a16:creationId xmlns:a16="http://schemas.microsoft.com/office/drawing/2014/main" id="{BA2A7A53-A276-4BE8-B1A1-22D19146F94A}"/>
              </a:ext>
            </a:extLst>
          </p:cNvPr>
          <p:cNvSpPr>
            <a:spLocks noGrp="1"/>
          </p:cNvSpPr>
          <p:nvPr/>
        </p:nvSpPr>
        <p:spPr>
          <a:xfrm>
            <a:off x="1190625" y="2238375"/>
            <a:ext cx="6381750" cy="2809875"/>
          </a:xfrm>
          <a:prstGeom prst="rect">
            <a:avLst/>
          </a:prstGeom>
          <a:ln w="14288">
            <a:solidFill>
              <a:srgbClr val="15803D"/>
            </a:solidFill>
            <a:prstDash val="solid"/>
          </a:ln>
        </p:spPr>
      </p:sp>
      <p:sp>
        <p:nvSpPr>
          <p:cNvPr id="7" name="正方形/長方形 6">
            <a:extLst>
              <a:ext uri="{FF2B5EF4-FFF2-40B4-BE49-F238E27FC236}">
                <a16:creationId xmlns:a16="http://schemas.microsoft.com/office/drawing/2014/main" id="{1EE47AC2-4F33-40C1-AE59-8C564822FA11}"/>
              </a:ext>
            </a:extLst>
          </p:cNvPr>
          <p:cNvSpPr>
            <a:spLocks noGrp="1"/>
          </p:cNvSpPr>
          <p:nvPr/>
        </p:nvSpPr>
        <p:spPr>
          <a:xfrm>
            <a:off x="7905750" y="2238375"/>
            <a:ext cx="3095625" cy="2809875"/>
          </a:xfrm>
          <a:prstGeom prst="rect">
            <a:avLst/>
          </a:prstGeom>
          <a:ln w="14288">
            <a:solidFill>
              <a:srgbClr val="EA580C"/>
            </a:solidFill>
            <a:prstDash val="solid"/>
          </a:ln>
        </p:spPr>
      </p:sp>
      <p:sp>
        <p:nvSpPr>
          <p:cNvPr id="8" name="正方形/長方形 7">
            <a:extLst>
              <a:ext uri="{FF2B5EF4-FFF2-40B4-BE49-F238E27FC236}">
                <a16:creationId xmlns:a16="http://schemas.microsoft.com/office/drawing/2014/main" id="{28D16C9E-ECAF-48A0-BC5A-C0848DBB3C80}"/>
              </a:ext>
            </a:extLst>
          </p:cNvPr>
          <p:cNvSpPr>
            <a:spLocks noGrp="1"/>
          </p:cNvSpPr>
          <p:nvPr/>
        </p:nvSpPr>
        <p:spPr>
          <a:xfrm>
            <a:off x="1524000" y="2428875"/>
            <a:ext cx="2857500" cy="266700"/>
          </a:xfrm>
          <a:prstGeom prst="rect">
            <a:avLst/>
          </a:prstGeom>
          <a:ln w="0">
            <a:solidFill>
              <a:srgbClr val="FFFFFF"/>
            </a:solidFill>
            <a:prstDash val="solid"/>
          </a:ln>
        </p:spPr>
        <p:txBody>
          <a:bodyPr lIns="0" tIns="0" rIns="0" bIns="0" anchor="t"/>
          <a:lstStyle/>
          <a:p>
            <a:pPr algn="l">
              <a:defRPr sz="1425" b="1">
                <a:solidFill>
                  <a:srgbClr val="15803D"/>
                </a:solidFill>
                <a:latin typeface="Yu Gothic"/>
                <a:ea typeface="Yu Gothic"/>
                <a:cs typeface="Yu Gothic"/>
              </a:defRPr>
            </a:pPr>
            <a:r>
              <a:rPr sz="1425" b="1">
                <a:solidFill>
                  <a:srgbClr val="15803D"/>
                </a:solidFill>
                <a:latin typeface="Yu Gothic"/>
                <a:ea typeface="Yu Gothic"/>
                <a:cs typeface="Yu Gothic"/>
              </a:rPr>
              <a:t>第5回で作成済み</a:t>
            </a:r>
          </a:p>
        </p:txBody>
      </p:sp>
      <p:sp>
        <p:nvSpPr>
          <p:cNvPr id="9" name="正方形/長方形 8">
            <a:extLst>
              <a:ext uri="{FF2B5EF4-FFF2-40B4-BE49-F238E27FC236}">
                <a16:creationId xmlns:a16="http://schemas.microsoft.com/office/drawing/2014/main" id="{11172A47-665B-47F1-9148-2572E755FAB3}"/>
              </a:ext>
            </a:extLst>
          </p:cNvPr>
          <p:cNvSpPr>
            <a:spLocks noGrp="1"/>
          </p:cNvSpPr>
          <p:nvPr/>
        </p:nvSpPr>
        <p:spPr>
          <a:xfrm>
            <a:off x="8239125" y="2428875"/>
            <a:ext cx="2095500" cy="266700"/>
          </a:xfrm>
          <a:prstGeom prst="rect">
            <a:avLst/>
          </a:prstGeom>
          <a:ln w="0">
            <a:solidFill>
              <a:srgbClr val="FFFFFF"/>
            </a:solidFill>
            <a:prstDash val="solid"/>
          </a:ln>
        </p:spPr>
        <p:txBody>
          <a:bodyPr lIns="0" tIns="0" rIns="0" bIns="0" anchor="t"/>
          <a:lstStyle/>
          <a:p>
            <a:pPr algn="l">
              <a:defRPr sz="1425" b="1">
                <a:solidFill>
                  <a:srgbClr val="EA580C"/>
                </a:solidFill>
                <a:latin typeface="Yu Gothic"/>
                <a:ea typeface="Yu Gothic"/>
                <a:cs typeface="Yu Gothic"/>
              </a:defRPr>
            </a:pPr>
            <a:r>
              <a:rPr sz="1425" b="1">
                <a:solidFill>
                  <a:srgbClr val="EA580C"/>
                </a:solidFill>
                <a:latin typeface="Yu Gothic"/>
                <a:ea typeface="Yu Gothic"/>
                <a:cs typeface="Yu Gothic"/>
              </a:rPr>
              <a:t>第6回で更新</a:t>
            </a:r>
          </a:p>
        </p:txBody>
      </p:sp>
      <p:sp>
        <p:nvSpPr>
          <p:cNvPr id="10" name="正方形/長方形 9">
            <a:extLst>
              <a:ext uri="{FF2B5EF4-FFF2-40B4-BE49-F238E27FC236}">
                <a16:creationId xmlns:a16="http://schemas.microsoft.com/office/drawing/2014/main" id="{91C21DD4-5F76-475E-B37D-5D1CE3523361}"/>
              </a:ext>
            </a:extLst>
          </p:cNvPr>
          <p:cNvSpPr>
            <a:spLocks noGrp="1"/>
          </p:cNvSpPr>
          <p:nvPr/>
        </p:nvSpPr>
        <p:spPr>
          <a:xfrm>
            <a:off x="1666875" y="2857500"/>
            <a:ext cx="2143125" cy="476250"/>
          </a:xfrm>
          <a:prstGeom prst="rect">
            <a:avLst/>
          </a:prstGeom>
          <a:ln w="12383">
            <a:solidFill>
              <a:srgbClr val="2563EB"/>
            </a:solidFill>
            <a:prstDash val="solid"/>
          </a:ln>
        </p:spPr>
      </p:sp>
      <p:sp>
        <p:nvSpPr>
          <p:cNvPr id="11" name="正方形/長方形 10">
            <a:extLst>
              <a:ext uri="{FF2B5EF4-FFF2-40B4-BE49-F238E27FC236}">
                <a16:creationId xmlns:a16="http://schemas.microsoft.com/office/drawing/2014/main" id="{A7AD4FC1-94A3-451C-A6C6-D29AED00CA0E}"/>
              </a:ext>
            </a:extLst>
          </p:cNvPr>
          <p:cNvSpPr>
            <a:spLocks noGrp="1"/>
          </p:cNvSpPr>
          <p:nvPr/>
        </p:nvSpPr>
        <p:spPr>
          <a:xfrm>
            <a:off x="1781175" y="2952750"/>
            <a:ext cx="1914525" cy="247650"/>
          </a:xfrm>
          <a:prstGeom prst="rect">
            <a:avLst/>
          </a:prstGeom>
          <a:ln w="0">
            <a:solidFill>
              <a:srgbClr val="FFFFFF"/>
            </a:solidFill>
            <a:prstDash val="solid"/>
          </a:ln>
        </p:spPr>
        <p:txBody>
          <a:bodyPr lIns="0" tIns="0" rIns="0" bIns="0" anchor="ctr"/>
          <a:lstStyle/>
          <a:p>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Resource group</a:t>
            </a:r>
          </a:p>
        </p:txBody>
      </p:sp>
      <p:sp>
        <p:nvSpPr>
          <p:cNvPr id="12" name="正方形/長方形 11">
            <a:extLst>
              <a:ext uri="{FF2B5EF4-FFF2-40B4-BE49-F238E27FC236}">
                <a16:creationId xmlns:a16="http://schemas.microsoft.com/office/drawing/2014/main" id="{2C333BB0-CB04-4DA5-B547-364791C3289D}"/>
              </a:ext>
            </a:extLst>
          </p:cNvPr>
          <p:cNvSpPr>
            <a:spLocks noGrp="1"/>
          </p:cNvSpPr>
          <p:nvPr/>
        </p:nvSpPr>
        <p:spPr>
          <a:xfrm>
            <a:off x="1781175" y="3267075"/>
            <a:ext cx="1914525" cy="19050"/>
          </a:xfrm>
          <a:prstGeom prst="rect">
            <a:avLst/>
          </a:prstGeom>
          <a:ln w="0">
            <a:solidFill>
              <a:srgbClr val="FFFFFF"/>
            </a:solidFill>
            <a:prstDash val="solid"/>
          </a:ln>
        </p:spPr>
        <p:txBody>
          <a:bodyPr lIns="0" tIns="0" rIns="0" bIns="0" anchor="t"/>
          <a:lstStyle/>
          <a:p>
            <a:pPr algn="ctr">
              <a:defRPr sz="713" b="0">
                <a:solidFill>
                  <a:srgbClr val="64748B"/>
                </a:solidFill>
                <a:latin typeface="Yu Gothic"/>
                <a:ea typeface="Yu Gothic"/>
                <a:cs typeface="Yu Gothic"/>
              </a:defRPr>
            </a:pPr>
            <a:r>
              <a:rPr sz="713" b="0">
                <a:solidFill>
                  <a:srgbClr val="64748B"/>
                </a:solidFill>
                <a:latin typeface="Yu Gothic"/>
                <a:ea typeface="Yu Gothic"/>
                <a:cs typeface="Yu Gothic"/>
              </a:rPr>
              <a:t>残す</a:t>
            </a:r>
          </a:p>
        </p:txBody>
      </p:sp>
      <p:sp>
        <p:nvSpPr>
          <p:cNvPr id="13" name="正方形/長方形 12">
            <a:extLst>
              <a:ext uri="{FF2B5EF4-FFF2-40B4-BE49-F238E27FC236}">
                <a16:creationId xmlns:a16="http://schemas.microsoft.com/office/drawing/2014/main" id="{EE0A4164-B83B-4601-BF8F-9229879F58F9}"/>
              </a:ext>
            </a:extLst>
          </p:cNvPr>
          <p:cNvSpPr>
            <a:spLocks noGrp="1"/>
          </p:cNvSpPr>
          <p:nvPr/>
        </p:nvSpPr>
        <p:spPr>
          <a:xfrm>
            <a:off x="4524375" y="2857500"/>
            <a:ext cx="2143125" cy="476250"/>
          </a:xfrm>
          <a:prstGeom prst="rect">
            <a:avLst/>
          </a:prstGeom>
          <a:ln w="12383">
            <a:solidFill>
              <a:srgbClr val="0F766E"/>
            </a:solidFill>
            <a:prstDash val="solid"/>
          </a:ln>
        </p:spPr>
      </p:sp>
      <p:sp>
        <p:nvSpPr>
          <p:cNvPr id="14" name="正方形/長方形 13">
            <a:extLst>
              <a:ext uri="{FF2B5EF4-FFF2-40B4-BE49-F238E27FC236}">
                <a16:creationId xmlns:a16="http://schemas.microsoft.com/office/drawing/2014/main" id="{5AEC1741-7485-446E-9A22-FF79A6DFAB38}"/>
              </a:ext>
            </a:extLst>
          </p:cNvPr>
          <p:cNvSpPr>
            <a:spLocks noGrp="1"/>
          </p:cNvSpPr>
          <p:nvPr/>
        </p:nvSpPr>
        <p:spPr>
          <a:xfrm>
            <a:off x="4638675" y="2952750"/>
            <a:ext cx="1914525" cy="247650"/>
          </a:xfrm>
          <a:prstGeom prst="rect">
            <a:avLst/>
          </a:prstGeom>
          <a:ln w="0">
            <a:solidFill>
              <a:srgbClr val="FFFFFF"/>
            </a:solidFill>
            <a:prstDash val="solid"/>
          </a:ln>
        </p:spPr>
        <p:txBody>
          <a:bodyPr lIns="0" tIns="0" rIns="0" bIns="0" anchor="ctr"/>
          <a:lstStyle/>
          <a:p>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VNet / Subnets</a:t>
            </a:r>
          </a:p>
        </p:txBody>
      </p:sp>
      <p:sp>
        <p:nvSpPr>
          <p:cNvPr id="15" name="正方形/長方形 14">
            <a:extLst>
              <a:ext uri="{FF2B5EF4-FFF2-40B4-BE49-F238E27FC236}">
                <a16:creationId xmlns:a16="http://schemas.microsoft.com/office/drawing/2014/main" id="{BB035758-4192-4C04-B80C-8C1B094F84A0}"/>
              </a:ext>
            </a:extLst>
          </p:cNvPr>
          <p:cNvSpPr>
            <a:spLocks noGrp="1"/>
          </p:cNvSpPr>
          <p:nvPr/>
        </p:nvSpPr>
        <p:spPr>
          <a:xfrm>
            <a:off x="4638675" y="3267075"/>
            <a:ext cx="1914525" cy="19050"/>
          </a:xfrm>
          <a:prstGeom prst="rect">
            <a:avLst/>
          </a:prstGeom>
          <a:ln w="0">
            <a:solidFill>
              <a:srgbClr val="FFFFFF"/>
            </a:solidFill>
            <a:prstDash val="solid"/>
          </a:ln>
        </p:spPr>
        <p:txBody>
          <a:bodyPr lIns="0" tIns="0" rIns="0" bIns="0" anchor="t"/>
          <a:lstStyle/>
          <a:p>
            <a:pPr algn="ctr">
              <a:defRPr sz="713" b="0">
                <a:solidFill>
                  <a:srgbClr val="64748B"/>
                </a:solidFill>
                <a:latin typeface="Yu Gothic"/>
                <a:ea typeface="Yu Gothic"/>
                <a:cs typeface="Yu Gothic"/>
              </a:defRPr>
            </a:pPr>
            <a:r>
              <a:rPr sz="713" b="0">
                <a:solidFill>
                  <a:srgbClr val="64748B"/>
                </a:solidFill>
                <a:latin typeface="Yu Gothic"/>
                <a:ea typeface="Yu Gothic"/>
                <a:cs typeface="Yu Gothic"/>
              </a:rPr>
              <a:t>接続先として参照</a:t>
            </a:r>
          </a:p>
        </p:txBody>
      </p:sp>
      <p:sp>
        <p:nvSpPr>
          <p:cNvPr id="16" name="正方形/長方形 15">
            <a:extLst>
              <a:ext uri="{FF2B5EF4-FFF2-40B4-BE49-F238E27FC236}">
                <a16:creationId xmlns:a16="http://schemas.microsoft.com/office/drawing/2014/main" id="{93216BD4-C21B-4B89-9312-AB781A3DF027}"/>
              </a:ext>
            </a:extLst>
          </p:cNvPr>
          <p:cNvSpPr>
            <a:spLocks noGrp="1"/>
          </p:cNvSpPr>
          <p:nvPr/>
        </p:nvSpPr>
        <p:spPr>
          <a:xfrm>
            <a:off x="1666875" y="3495675"/>
            <a:ext cx="2143125" cy="476250"/>
          </a:xfrm>
          <a:prstGeom prst="rect">
            <a:avLst/>
          </a:prstGeom>
          <a:ln w="12383">
            <a:solidFill>
              <a:srgbClr val="EA580C"/>
            </a:solidFill>
            <a:prstDash val="solid"/>
          </a:ln>
        </p:spPr>
      </p:sp>
      <p:sp>
        <p:nvSpPr>
          <p:cNvPr id="17" name="正方形/長方形 16">
            <a:extLst>
              <a:ext uri="{FF2B5EF4-FFF2-40B4-BE49-F238E27FC236}">
                <a16:creationId xmlns:a16="http://schemas.microsoft.com/office/drawing/2014/main" id="{811B544C-70C5-404D-85F2-9CC2D5359EFC}"/>
              </a:ext>
            </a:extLst>
          </p:cNvPr>
          <p:cNvSpPr>
            <a:spLocks noGrp="1"/>
          </p:cNvSpPr>
          <p:nvPr/>
        </p:nvSpPr>
        <p:spPr>
          <a:xfrm>
            <a:off x="1781175" y="3590925"/>
            <a:ext cx="1914525" cy="247650"/>
          </a:xfrm>
          <a:prstGeom prst="rect">
            <a:avLst/>
          </a:prstGeom>
          <a:ln w="0">
            <a:solidFill>
              <a:srgbClr val="FFFFFF"/>
            </a:solidFill>
            <a:prstDash val="solid"/>
          </a:ln>
        </p:spPr>
        <p:txBody>
          <a:bodyPr lIns="0" tIns="0" rIns="0" bIns="0" anchor="ctr"/>
          <a:lstStyle/>
          <a:p>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ACR</a:t>
            </a:r>
          </a:p>
        </p:txBody>
      </p:sp>
      <p:sp>
        <p:nvSpPr>
          <p:cNvPr id="18" name="正方形/長方形 17">
            <a:extLst>
              <a:ext uri="{FF2B5EF4-FFF2-40B4-BE49-F238E27FC236}">
                <a16:creationId xmlns:a16="http://schemas.microsoft.com/office/drawing/2014/main" id="{C171AB11-BE3B-4DAB-A9D8-458E0D5D0C50}"/>
              </a:ext>
            </a:extLst>
          </p:cNvPr>
          <p:cNvSpPr>
            <a:spLocks noGrp="1"/>
          </p:cNvSpPr>
          <p:nvPr/>
        </p:nvSpPr>
        <p:spPr>
          <a:xfrm>
            <a:off x="1781175" y="3905250"/>
            <a:ext cx="1914525" cy="19050"/>
          </a:xfrm>
          <a:prstGeom prst="rect">
            <a:avLst/>
          </a:prstGeom>
          <a:ln w="0">
            <a:solidFill>
              <a:srgbClr val="FFFFFF"/>
            </a:solidFill>
            <a:prstDash val="solid"/>
          </a:ln>
        </p:spPr>
        <p:txBody>
          <a:bodyPr lIns="0" tIns="0" rIns="0" bIns="0" anchor="t"/>
          <a:lstStyle/>
          <a:p>
            <a:pPr algn="ctr">
              <a:defRPr sz="713" b="0">
                <a:solidFill>
                  <a:srgbClr val="64748B"/>
                </a:solidFill>
                <a:latin typeface="Yu Gothic"/>
                <a:ea typeface="Yu Gothic"/>
                <a:cs typeface="Yu Gothic"/>
              </a:defRPr>
            </a:pPr>
            <a:r>
              <a:rPr sz="713" b="0">
                <a:solidFill>
                  <a:srgbClr val="64748B"/>
                </a:solidFill>
                <a:latin typeface="Yu Gothic"/>
                <a:ea typeface="Yu Gothic"/>
                <a:cs typeface="Yu Gothic"/>
              </a:rPr>
              <a:t>push 先として利用</a:t>
            </a:r>
          </a:p>
        </p:txBody>
      </p:sp>
      <p:sp>
        <p:nvSpPr>
          <p:cNvPr id="19" name="正方形/長方形 18">
            <a:extLst>
              <a:ext uri="{FF2B5EF4-FFF2-40B4-BE49-F238E27FC236}">
                <a16:creationId xmlns:a16="http://schemas.microsoft.com/office/drawing/2014/main" id="{DCB9CB96-14DB-4B5A-9207-F56C974D221E}"/>
              </a:ext>
            </a:extLst>
          </p:cNvPr>
          <p:cNvSpPr>
            <a:spLocks noGrp="1"/>
          </p:cNvSpPr>
          <p:nvPr/>
        </p:nvSpPr>
        <p:spPr>
          <a:xfrm>
            <a:off x="4524375" y="3495675"/>
            <a:ext cx="2143125" cy="476250"/>
          </a:xfrm>
          <a:prstGeom prst="rect">
            <a:avLst/>
          </a:prstGeom>
          <a:ln w="12383">
            <a:solidFill>
              <a:srgbClr val="BE185D"/>
            </a:solidFill>
            <a:prstDash val="solid"/>
          </a:ln>
        </p:spPr>
      </p:sp>
      <p:sp>
        <p:nvSpPr>
          <p:cNvPr id="20" name="正方形/長方形 19">
            <a:extLst>
              <a:ext uri="{FF2B5EF4-FFF2-40B4-BE49-F238E27FC236}">
                <a16:creationId xmlns:a16="http://schemas.microsoft.com/office/drawing/2014/main" id="{383D2165-3041-4ADC-A281-EE070C8D28F3}"/>
              </a:ext>
            </a:extLst>
          </p:cNvPr>
          <p:cNvSpPr>
            <a:spLocks noGrp="1"/>
          </p:cNvSpPr>
          <p:nvPr/>
        </p:nvSpPr>
        <p:spPr>
          <a:xfrm>
            <a:off x="4638675" y="3590925"/>
            <a:ext cx="1914525" cy="247650"/>
          </a:xfrm>
          <a:prstGeom prst="rect">
            <a:avLst/>
          </a:prstGeom>
          <a:ln w="0">
            <a:solidFill>
              <a:srgbClr val="FFFFFF"/>
            </a:solidFill>
            <a:prstDash val="solid"/>
          </a:ln>
        </p:spPr>
        <p:txBody>
          <a:bodyPr lIns="0" tIns="0" rIns="0" bIns="0" anchor="ctr"/>
          <a:lstStyle/>
          <a:p>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PostgreSQL</a:t>
            </a:r>
          </a:p>
        </p:txBody>
      </p:sp>
      <p:sp>
        <p:nvSpPr>
          <p:cNvPr id="21" name="正方形/長方形 20">
            <a:extLst>
              <a:ext uri="{FF2B5EF4-FFF2-40B4-BE49-F238E27FC236}">
                <a16:creationId xmlns:a16="http://schemas.microsoft.com/office/drawing/2014/main" id="{01B1A111-53E5-4217-9C81-D3FD47E9EF03}"/>
              </a:ext>
            </a:extLst>
          </p:cNvPr>
          <p:cNvSpPr>
            <a:spLocks noGrp="1"/>
          </p:cNvSpPr>
          <p:nvPr/>
        </p:nvSpPr>
        <p:spPr>
          <a:xfrm>
            <a:off x="4638675" y="3905250"/>
            <a:ext cx="1914525" cy="19050"/>
          </a:xfrm>
          <a:prstGeom prst="rect">
            <a:avLst/>
          </a:prstGeom>
          <a:ln w="0">
            <a:solidFill>
              <a:srgbClr val="FFFFFF"/>
            </a:solidFill>
            <a:prstDash val="solid"/>
          </a:ln>
        </p:spPr>
        <p:txBody>
          <a:bodyPr lIns="0" tIns="0" rIns="0" bIns="0" anchor="t"/>
          <a:lstStyle/>
          <a:p>
            <a:pPr algn="ctr">
              <a:defRPr sz="713" b="0">
                <a:solidFill>
                  <a:srgbClr val="64748B"/>
                </a:solidFill>
                <a:latin typeface="Yu Gothic"/>
                <a:ea typeface="Yu Gothic"/>
                <a:cs typeface="Yu Gothic"/>
              </a:defRPr>
            </a:pPr>
            <a:r>
              <a:rPr sz="713" b="0">
                <a:solidFill>
                  <a:srgbClr val="64748B"/>
                </a:solidFill>
                <a:latin typeface="Yu Gothic"/>
                <a:ea typeface="Yu Gothic"/>
                <a:cs typeface="Yu Gothic"/>
              </a:rPr>
              <a:t>Stopped から再開</a:t>
            </a:r>
          </a:p>
        </p:txBody>
      </p:sp>
      <p:sp>
        <p:nvSpPr>
          <p:cNvPr id="22" name="正方形/長方形 21">
            <a:extLst>
              <a:ext uri="{FF2B5EF4-FFF2-40B4-BE49-F238E27FC236}">
                <a16:creationId xmlns:a16="http://schemas.microsoft.com/office/drawing/2014/main" id="{71C1397C-B4D9-4134-B6FB-708A8F92CF84}"/>
              </a:ext>
            </a:extLst>
          </p:cNvPr>
          <p:cNvSpPr>
            <a:spLocks noGrp="1"/>
          </p:cNvSpPr>
          <p:nvPr/>
        </p:nvSpPr>
        <p:spPr>
          <a:xfrm>
            <a:off x="1666875" y="4133850"/>
            <a:ext cx="2143125" cy="476250"/>
          </a:xfrm>
          <a:prstGeom prst="rect">
            <a:avLst/>
          </a:prstGeom>
          <a:ln w="12383">
            <a:solidFill>
              <a:srgbClr val="7C3AED"/>
            </a:solidFill>
            <a:prstDash val="solid"/>
          </a:ln>
        </p:spPr>
      </p:sp>
      <p:sp>
        <p:nvSpPr>
          <p:cNvPr id="23" name="正方形/長方形 22">
            <a:extLst>
              <a:ext uri="{FF2B5EF4-FFF2-40B4-BE49-F238E27FC236}">
                <a16:creationId xmlns:a16="http://schemas.microsoft.com/office/drawing/2014/main" id="{7A1C043B-8CB9-44FF-B2DA-7FB934DCAAE1}"/>
              </a:ext>
            </a:extLst>
          </p:cNvPr>
          <p:cNvSpPr>
            <a:spLocks noGrp="1"/>
          </p:cNvSpPr>
          <p:nvPr/>
        </p:nvSpPr>
        <p:spPr>
          <a:xfrm>
            <a:off x="1781175" y="4229100"/>
            <a:ext cx="1914525" cy="247650"/>
          </a:xfrm>
          <a:prstGeom prst="rect">
            <a:avLst/>
          </a:prstGeom>
          <a:ln w="0">
            <a:solidFill>
              <a:srgbClr val="FFFFFF"/>
            </a:solidFill>
            <a:prstDash val="solid"/>
          </a:ln>
        </p:spPr>
        <p:txBody>
          <a:bodyPr lIns="0" tIns="0" rIns="0" bIns="0" anchor="ctr"/>
          <a:lstStyle/>
          <a:p>
            <a:pPr algn="ctr">
              <a:defRPr sz="1163" b="1">
                <a:solidFill>
                  <a:srgbClr val="1F2937"/>
                </a:solidFill>
                <a:latin typeface="Yu Gothic"/>
                <a:ea typeface="Yu Gothic"/>
                <a:cs typeface="Yu Gothic"/>
              </a:defRPr>
            </a:pPr>
            <a:r>
              <a:rPr sz="1163" b="1">
                <a:solidFill>
                  <a:srgbClr val="1F2937"/>
                </a:solidFill>
                <a:latin typeface="Yu Gothic"/>
                <a:ea typeface="Yu Gothic"/>
                <a:cs typeface="Yu Gothic"/>
              </a:rPr>
              <a:t>Managed Identity / Entra</a:t>
            </a:r>
          </a:p>
        </p:txBody>
      </p:sp>
      <p:sp>
        <p:nvSpPr>
          <p:cNvPr id="24" name="正方形/長方形 23">
            <a:extLst>
              <a:ext uri="{FF2B5EF4-FFF2-40B4-BE49-F238E27FC236}">
                <a16:creationId xmlns:a16="http://schemas.microsoft.com/office/drawing/2014/main" id="{56A8C46B-0FC0-4BC6-A939-46325E8BA893}"/>
              </a:ext>
            </a:extLst>
          </p:cNvPr>
          <p:cNvSpPr>
            <a:spLocks noGrp="1"/>
          </p:cNvSpPr>
          <p:nvPr/>
        </p:nvSpPr>
        <p:spPr>
          <a:xfrm>
            <a:off x="1781175" y="4543425"/>
            <a:ext cx="1914525" cy="19050"/>
          </a:xfrm>
          <a:prstGeom prst="rect">
            <a:avLst/>
          </a:prstGeom>
          <a:ln w="0">
            <a:solidFill>
              <a:srgbClr val="FFFFFF"/>
            </a:solidFill>
            <a:prstDash val="solid"/>
          </a:ln>
        </p:spPr>
        <p:txBody>
          <a:bodyPr lIns="0" tIns="0" rIns="0" bIns="0" anchor="t"/>
          <a:lstStyle/>
          <a:p>
            <a:pPr algn="ctr">
              <a:defRPr sz="713" b="0">
                <a:solidFill>
                  <a:srgbClr val="64748B"/>
                </a:solidFill>
                <a:latin typeface="Yu Gothic"/>
                <a:ea typeface="Yu Gothic"/>
                <a:cs typeface="Yu Gothic"/>
              </a:defRPr>
            </a:pPr>
            <a:r>
              <a:rPr sz="713" b="0">
                <a:solidFill>
                  <a:srgbClr val="64748B"/>
                </a:solidFill>
                <a:latin typeface="Yu Gothic"/>
                <a:ea typeface="Yu Gothic"/>
                <a:cs typeface="Yu Gothic"/>
              </a:rPr>
              <a:t>ID を記録済み</a:t>
            </a:r>
          </a:p>
        </p:txBody>
      </p:sp>
      <p:sp>
        <p:nvSpPr>
          <p:cNvPr id="25" name="正方形/長方形 24">
            <a:extLst>
              <a:ext uri="{FF2B5EF4-FFF2-40B4-BE49-F238E27FC236}">
                <a16:creationId xmlns:a16="http://schemas.microsoft.com/office/drawing/2014/main" id="{9992A78D-6246-4516-AFC3-3867BE5AE4A3}"/>
              </a:ext>
            </a:extLst>
          </p:cNvPr>
          <p:cNvSpPr>
            <a:spLocks noGrp="1"/>
          </p:cNvSpPr>
          <p:nvPr/>
        </p:nvSpPr>
        <p:spPr>
          <a:xfrm>
            <a:off x="4524375" y="4133850"/>
            <a:ext cx="2143125" cy="476250"/>
          </a:xfrm>
          <a:prstGeom prst="rect">
            <a:avLst/>
          </a:prstGeom>
          <a:ln w="12383">
            <a:solidFill>
              <a:srgbClr val="15803D"/>
            </a:solidFill>
            <a:prstDash val="solid"/>
          </a:ln>
        </p:spPr>
      </p:sp>
      <p:sp>
        <p:nvSpPr>
          <p:cNvPr id="26" name="正方形/長方形 25">
            <a:extLst>
              <a:ext uri="{FF2B5EF4-FFF2-40B4-BE49-F238E27FC236}">
                <a16:creationId xmlns:a16="http://schemas.microsoft.com/office/drawing/2014/main" id="{6E773941-76F7-4148-843A-26CCE7E29A1D}"/>
              </a:ext>
            </a:extLst>
          </p:cNvPr>
          <p:cNvSpPr>
            <a:spLocks noGrp="1"/>
          </p:cNvSpPr>
          <p:nvPr/>
        </p:nvSpPr>
        <p:spPr>
          <a:xfrm>
            <a:off x="4638675" y="4229100"/>
            <a:ext cx="1914525" cy="247650"/>
          </a:xfrm>
          <a:prstGeom prst="rect">
            <a:avLst/>
          </a:prstGeom>
          <a:ln w="0">
            <a:solidFill>
              <a:srgbClr val="FFFFFF"/>
            </a:solidFill>
            <a:prstDash val="solid"/>
          </a:ln>
        </p:spPr>
        <p:txBody>
          <a:bodyPr lIns="0" tIns="0" rIns="0" bIns="0" anchor="ctr"/>
          <a:lstStyle/>
          <a:p>
            <a:pPr algn="ctr">
              <a:defRPr sz="1163" b="1">
                <a:solidFill>
                  <a:srgbClr val="1F2937"/>
                </a:solidFill>
                <a:latin typeface="Yu Gothic"/>
                <a:ea typeface="Yu Gothic"/>
                <a:cs typeface="Yu Gothic"/>
              </a:defRPr>
            </a:pPr>
            <a:r>
              <a:rPr sz="1163" b="1">
                <a:solidFill>
                  <a:srgbClr val="1F2937"/>
                </a:solidFill>
                <a:latin typeface="Yu Gothic"/>
                <a:ea typeface="Yu Gothic"/>
                <a:cs typeface="Yu Gothic"/>
              </a:rPr>
              <a:t>API / Web Container App</a:t>
            </a:r>
          </a:p>
        </p:txBody>
      </p:sp>
      <p:sp>
        <p:nvSpPr>
          <p:cNvPr id="27" name="正方形/長方形 26">
            <a:extLst>
              <a:ext uri="{FF2B5EF4-FFF2-40B4-BE49-F238E27FC236}">
                <a16:creationId xmlns:a16="http://schemas.microsoft.com/office/drawing/2014/main" id="{027DA787-9C3F-490A-8E9F-8C12A4B5537D}"/>
              </a:ext>
            </a:extLst>
          </p:cNvPr>
          <p:cNvSpPr>
            <a:spLocks noGrp="1"/>
          </p:cNvSpPr>
          <p:nvPr/>
        </p:nvSpPr>
        <p:spPr>
          <a:xfrm>
            <a:off x="4638675" y="4543425"/>
            <a:ext cx="1914525" cy="19050"/>
          </a:xfrm>
          <a:prstGeom prst="rect">
            <a:avLst/>
          </a:prstGeom>
          <a:ln w="0">
            <a:solidFill>
              <a:srgbClr val="FFFFFF"/>
            </a:solidFill>
            <a:prstDash val="solid"/>
          </a:ln>
        </p:spPr>
        <p:txBody>
          <a:bodyPr lIns="0" tIns="0" rIns="0" bIns="0" anchor="t"/>
          <a:lstStyle/>
          <a:p>
            <a:pPr algn="ctr">
              <a:defRPr sz="713" b="0">
                <a:solidFill>
                  <a:srgbClr val="64748B"/>
                </a:solidFill>
                <a:latin typeface="Yu Gothic"/>
                <a:ea typeface="Yu Gothic"/>
                <a:cs typeface="Yu Gothic"/>
              </a:defRPr>
            </a:pPr>
            <a:r>
              <a:rPr sz="713" b="0">
                <a:solidFill>
                  <a:srgbClr val="64748B"/>
                </a:solidFill>
                <a:latin typeface="Yu Gothic"/>
                <a:ea typeface="Yu Gothic"/>
                <a:cs typeface="Yu Gothic"/>
              </a:rPr>
              <a:t>プレースホルダー作成済み</a:t>
            </a:r>
          </a:p>
        </p:txBody>
      </p:sp>
      <p:sp>
        <p:nvSpPr>
          <p:cNvPr id="28" name="正方形/長方形 27">
            <a:extLst>
              <a:ext uri="{FF2B5EF4-FFF2-40B4-BE49-F238E27FC236}">
                <a16:creationId xmlns:a16="http://schemas.microsoft.com/office/drawing/2014/main" id="{FAA0E3F5-34CC-4115-B6F0-B7C949BFA97B}"/>
              </a:ext>
            </a:extLst>
          </p:cNvPr>
          <p:cNvSpPr>
            <a:spLocks noGrp="1"/>
          </p:cNvSpPr>
          <p:nvPr/>
        </p:nvSpPr>
        <p:spPr>
          <a:xfrm>
            <a:off x="8477250" y="3000375"/>
            <a:ext cx="1952625" cy="628650"/>
          </a:xfrm>
          <a:prstGeom prst="rect">
            <a:avLst/>
          </a:prstGeom>
          <a:ln w="12383">
            <a:solidFill>
              <a:srgbClr val="7C3AED"/>
            </a:solidFill>
            <a:prstDash val="solid"/>
          </a:ln>
        </p:spPr>
      </p:sp>
      <p:sp>
        <p:nvSpPr>
          <p:cNvPr id="29" name="正方形/長方形 28">
            <a:extLst>
              <a:ext uri="{FF2B5EF4-FFF2-40B4-BE49-F238E27FC236}">
                <a16:creationId xmlns:a16="http://schemas.microsoft.com/office/drawing/2014/main" id="{A8650F90-0CB9-49A3-8B1D-4066AC131109}"/>
              </a:ext>
            </a:extLst>
          </p:cNvPr>
          <p:cNvSpPr>
            <a:spLocks noGrp="1"/>
          </p:cNvSpPr>
          <p:nvPr/>
        </p:nvSpPr>
        <p:spPr>
          <a:xfrm>
            <a:off x="8591550" y="3095625"/>
            <a:ext cx="1724025" cy="247650"/>
          </a:xfrm>
          <a:prstGeom prst="rect">
            <a:avLst/>
          </a:prstGeom>
          <a:ln w="0">
            <a:solidFill>
              <a:srgbClr val="FFFFFF"/>
            </a:solidFill>
            <a:prstDash val="solid"/>
          </a:ln>
        </p:spPr>
        <p:txBody>
          <a:bodyPr lIns="0" tIns="0" rIns="0" bIns="0" anchor="ctr"/>
          <a:lstStyle/>
          <a:p>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GitHub Actions</a:t>
            </a:r>
          </a:p>
        </p:txBody>
      </p:sp>
      <p:sp>
        <p:nvSpPr>
          <p:cNvPr id="30" name="正方形/長方形 29">
            <a:extLst>
              <a:ext uri="{FF2B5EF4-FFF2-40B4-BE49-F238E27FC236}">
                <a16:creationId xmlns:a16="http://schemas.microsoft.com/office/drawing/2014/main" id="{41494933-F0AD-4D83-9589-77182AC26821}"/>
              </a:ext>
            </a:extLst>
          </p:cNvPr>
          <p:cNvSpPr>
            <a:spLocks noGrp="1"/>
          </p:cNvSpPr>
          <p:nvPr/>
        </p:nvSpPr>
        <p:spPr>
          <a:xfrm>
            <a:off x="8591550" y="3409950"/>
            <a:ext cx="1724025" cy="171450"/>
          </a:xfrm>
          <a:prstGeom prst="rect">
            <a:avLst/>
          </a:prstGeom>
          <a:ln w="0">
            <a:solidFill>
              <a:srgbClr val="FFFFFF"/>
            </a:solidFill>
            <a:prstDash val="solid"/>
          </a:ln>
        </p:spPr>
        <p:txBody>
          <a:bodyPr lIns="0" tIns="0" rIns="0" bIns="0" anchor="t"/>
          <a:lstStyle/>
          <a:p>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build / push / deploy</a:t>
            </a:r>
          </a:p>
        </p:txBody>
      </p:sp>
      <p:sp>
        <p:nvSpPr>
          <p:cNvPr id="31" name="正方形/長方形 30">
            <a:extLst>
              <a:ext uri="{FF2B5EF4-FFF2-40B4-BE49-F238E27FC236}">
                <a16:creationId xmlns:a16="http://schemas.microsoft.com/office/drawing/2014/main" id="{37BC4ACC-E4A7-4BF4-B996-02776A5C10ED}"/>
              </a:ext>
            </a:extLst>
          </p:cNvPr>
          <p:cNvSpPr>
            <a:spLocks noGrp="1"/>
          </p:cNvSpPr>
          <p:nvPr/>
        </p:nvSpPr>
        <p:spPr>
          <a:xfrm>
            <a:off x="8477250" y="4000500"/>
            <a:ext cx="1952625" cy="628650"/>
          </a:xfrm>
          <a:prstGeom prst="rect">
            <a:avLst/>
          </a:prstGeom>
          <a:ln w="12383">
            <a:solidFill>
              <a:srgbClr val="2563EB"/>
            </a:solidFill>
            <a:prstDash val="solid"/>
          </a:ln>
        </p:spPr>
      </p:sp>
      <p:sp>
        <p:nvSpPr>
          <p:cNvPr id="32" name="正方形/長方形 31">
            <a:extLst>
              <a:ext uri="{FF2B5EF4-FFF2-40B4-BE49-F238E27FC236}">
                <a16:creationId xmlns:a16="http://schemas.microsoft.com/office/drawing/2014/main" id="{9480F344-9F52-48DE-8D64-5A9151CE370B}"/>
              </a:ext>
            </a:extLst>
          </p:cNvPr>
          <p:cNvSpPr>
            <a:spLocks noGrp="1"/>
          </p:cNvSpPr>
          <p:nvPr/>
        </p:nvSpPr>
        <p:spPr>
          <a:xfrm>
            <a:off x="8591550" y="4095750"/>
            <a:ext cx="1724025" cy="247650"/>
          </a:xfrm>
          <a:prstGeom prst="rect">
            <a:avLst/>
          </a:prstGeom>
          <a:ln w="0">
            <a:solidFill>
              <a:srgbClr val="FFFFFF"/>
            </a:solidFill>
            <a:prstDash val="solid"/>
          </a:ln>
        </p:spPr>
        <p:txBody>
          <a:bodyPr lIns="0" tIns="0" rIns="0" bIns="0" anchor="ctr"/>
          <a:lstStyle/>
          <a:p>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Web / API</a:t>
            </a:r>
          </a:p>
        </p:txBody>
      </p:sp>
      <p:sp>
        <p:nvSpPr>
          <p:cNvPr id="33" name="正方形/長方形 32">
            <a:extLst>
              <a:ext uri="{FF2B5EF4-FFF2-40B4-BE49-F238E27FC236}">
                <a16:creationId xmlns:a16="http://schemas.microsoft.com/office/drawing/2014/main" id="{DB380BE5-8C76-4726-86C1-C4C36E986D16}"/>
              </a:ext>
            </a:extLst>
          </p:cNvPr>
          <p:cNvSpPr>
            <a:spLocks noGrp="1"/>
          </p:cNvSpPr>
          <p:nvPr/>
        </p:nvSpPr>
        <p:spPr>
          <a:xfrm>
            <a:off x="8591550" y="4410075"/>
            <a:ext cx="1724025" cy="171450"/>
          </a:xfrm>
          <a:prstGeom prst="rect">
            <a:avLst/>
          </a:prstGeom>
          <a:ln w="0">
            <a:solidFill>
              <a:srgbClr val="FFFFFF"/>
            </a:solidFill>
            <a:prstDash val="solid"/>
          </a:ln>
        </p:spPr>
        <p:txBody>
          <a:bodyPr lIns="0" tIns="0" rIns="0" bIns="0" anchor="t"/>
          <a:lstStyle/>
          <a:p>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実イメージへ更新</a:t>
            </a:r>
          </a:p>
        </p:txBody>
      </p:sp>
      <p:sp>
        <p:nvSpPr>
          <p:cNvPr id="34" name="直線コネクタ 33">
            <a:extLst>
              <a:ext uri="{FF2B5EF4-FFF2-40B4-BE49-F238E27FC236}">
                <a16:creationId xmlns:a16="http://schemas.microsoft.com/office/drawing/2014/main" id="{C50EB8E5-696A-41EB-804C-F90E1C11DB47}"/>
              </a:ext>
            </a:extLst>
          </p:cNvPr>
          <p:cNvSpPr>
            <a:spLocks noGrp="1"/>
          </p:cNvSpPr>
          <p:nvPr/>
        </p:nvSpPr>
        <p:spPr>
          <a:xfrm>
            <a:off x="7572375" y="3638550"/>
            <a:ext cx="904875" cy="0"/>
          </a:xfrm>
          <a:prstGeom prst="line">
            <a:avLst/>
          </a:prstGeom>
          <a:ln w="20955">
            <a:solidFill>
              <a:srgbClr val="EA580C"/>
            </a:solidFill>
            <a:prstDash val="solid"/>
          </a:ln>
        </p:spPr>
      </p:sp>
      <p:sp>
        <p:nvSpPr>
          <p:cNvPr id="35" name="直線コネクタ 34">
            <a:extLst>
              <a:ext uri="{FF2B5EF4-FFF2-40B4-BE49-F238E27FC236}">
                <a16:creationId xmlns:a16="http://schemas.microsoft.com/office/drawing/2014/main" id="{D891F351-975E-4E64-BA4F-7C1CF0A03319}"/>
              </a:ext>
            </a:extLst>
          </p:cNvPr>
          <p:cNvSpPr>
            <a:spLocks noGrp="1"/>
          </p:cNvSpPr>
          <p:nvPr/>
        </p:nvSpPr>
        <p:spPr>
          <a:xfrm>
            <a:off x="7572375" y="4210050"/>
            <a:ext cx="904875" cy="95250"/>
          </a:xfrm>
          <a:prstGeom prst="line">
            <a:avLst/>
          </a:prstGeom>
          <a:ln w="20955">
            <a:solidFill>
              <a:srgbClr val="EA580C"/>
            </a:solidFill>
            <a:prstDash val="solid"/>
          </a:ln>
        </p:spPr>
      </p:sp>
      <p:sp>
        <p:nvSpPr>
          <p:cNvPr id="36" name="正方形/長方形 35">
            <a:extLst>
              <a:ext uri="{FF2B5EF4-FFF2-40B4-BE49-F238E27FC236}">
                <a16:creationId xmlns:a16="http://schemas.microsoft.com/office/drawing/2014/main" id="{700F2C8A-5ECF-4245-AB73-C497E2D3DE89}"/>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正方形/長方形 29">
            <a:extLst>
              <a:ext uri="{FF2B5EF4-FFF2-40B4-BE49-F238E27FC236}">
                <a16:creationId xmlns:a16="http://schemas.microsoft.com/office/drawing/2014/main" id="{333B67C6-8773-4475-946D-A3C956A75AD9}"/>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第6回で完成させる範囲</a:t>
            </a:r>
          </a:p>
        </p:txBody>
      </p:sp>
      <p:sp>
        <p:nvSpPr>
          <p:cNvPr id="2" name="正方形/長方形 1">
            <a:extLst>
              <a:ext uri="{FF2B5EF4-FFF2-40B4-BE49-F238E27FC236}">
                <a16:creationId xmlns:a16="http://schemas.microsoft.com/office/drawing/2014/main" id="{9537D061-CFB5-46CC-B766-6A869475CA8A}"/>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04 / 48</a:t>
            </a:r>
          </a:p>
        </p:txBody>
      </p:sp>
      <p:sp>
        <p:nvSpPr>
          <p:cNvPr id="3" name="正方形/長方形 2">
            <a:extLst>
              <a:ext uri="{FF2B5EF4-FFF2-40B4-BE49-F238E27FC236}">
                <a16:creationId xmlns:a16="http://schemas.microsoft.com/office/drawing/2014/main" id="{4BEC9B54-B033-448B-9788-29B697972DF8}"/>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466D6236-7E6E-4C54-8D71-577098112DB4}"/>
              </a:ext>
            </a:extLst>
          </p:cNvPr>
          <p:cNvSpPr>
            <a:spLocks noGrp="1"/>
          </p:cNvSpPr>
          <p:nvPr/>
        </p:nvSpPr>
        <p:spPr>
          <a:xfrm>
            <a:off x="666750" y="1162050"/>
            <a:ext cx="10096500" cy="552450"/>
          </a:xfrm>
          <a:prstGeom prst="rect">
            <a:avLst/>
          </a:prstGeom>
          <a:ln w="0">
            <a:solidFill>
              <a:srgbClr val="FFFFFF"/>
            </a:solidFill>
            <a:prstDash val="solid"/>
          </a:ln>
        </p:spPr>
        <p:txBody>
          <a:bodyPr lIns="0" tIns="0" rIns="0" bIns="0" anchor="t"/>
          <a:lstStyle/>
          <a:p>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第5回で作ったリソースに対して、第6回ではリポジトリ、認証情報、variables、workflow、デプロイ、動作確認を進めます。</a:t>
            </a:r>
          </a:p>
        </p:txBody>
      </p:sp>
      <p:sp>
        <p:nvSpPr>
          <p:cNvPr id="5" name="正方形/長方形 4">
            <a:extLst>
              <a:ext uri="{FF2B5EF4-FFF2-40B4-BE49-F238E27FC236}">
                <a16:creationId xmlns:a16="http://schemas.microsoft.com/office/drawing/2014/main" id="{25819E5F-7855-4891-AC55-A4591713CBE4}"/>
              </a:ext>
            </a:extLst>
          </p:cNvPr>
          <p:cNvSpPr>
            <a:spLocks noGrp="1"/>
          </p:cNvSpPr>
          <p:nvPr/>
        </p:nvSpPr>
        <p:spPr>
          <a:xfrm>
            <a:off x="904875" y="1809750"/>
            <a:ext cx="3460750" cy="647700"/>
          </a:xfrm>
          <a:prstGeom prst="rect">
            <a:avLst/>
          </a:prstGeom>
          <a:ln w="9525">
            <a:solidFill>
              <a:srgbClr val="C8D7EF"/>
            </a:solidFill>
            <a:prstDash val="solid"/>
          </a:ln>
        </p:spPr>
      </p:sp>
      <p:sp>
        <p:nvSpPr>
          <p:cNvPr id="6" name="正方形/長方形 5">
            <a:extLst>
              <a:ext uri="{FF2B5EF4-FFF2-40B4-BE49-F238E27FC236}">
                <a16:creationId xmlns:a16="http://schemas.microsoft.com/office/drawing/2014/main" id="{177D917B-6887-4904-A683-8BB852FC931D}"/>
              </a:ext>
            </a:extLst>
          </p:cNvPr>
          <p:cNvSpPr>
            <a:spLocks noGrp="1"/>
          </p:cNvSpPr>
          <p:nvPr/>
        </p:nvSpPr>
        <p:spPr>
          <a:xfrm>
            <a:off x="990600" y="1895475"/>
            <a:ext cx="3289300" cy="533400"/>
          </a:xfrm>
          <a:prstGeom prst="rect">
            <a:avLst/>
          </a:prstGeom>
          <a:ln w="0">
            <a:solidFill>
              <a:srgbClr val="FFFFFF"/>
            </a:solidFill>
            <a:prstDash val="solid"/>
          </a:ln>
        </p:spPr>
        <p:txBody>
          <a:bodyPr lIns="0" tIns="0" rIns="0" bIns="0" anchor="ctr"/>
          <a:lstStyle/>
          <a:p>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区分</a:t>
            </a:r>
          </a:p>
        </p:txBody>
      </p:sp>
      <p:sp>
        <p:nvSpPr>
          <p:cNvPr id="7" name="正方形/長方形 6">
            <a:extLst>
              <a:ext uri="{FF2B5EF4-FFF2-40B4-BE49-F238E27FC236}">
                <a16:creationId xmlns:a16="http://schemas.microsoft.com/office/drawing/2014/main" id="{CCCC759E-64DB-47C2-81DD-5F9A3B37D41C}"/>
              </a:ext>
            </a:extLst>
          </p:cNvPr>
          <p:cNvSpPr>
            <a:spLocks noGrp="1"/>
          </p:cNvSpPr>
          <p:nvPr/>
        </p:nvSpPr>
        <p:spPr>
          <a:xfrm>
            <a:off x="4365625" y="1809750"/>
            <a:ext cx="3460750" cy="647700"/>
          </a:xfrm>
          <a:prstGeom prst="rect">
            <a:avLst/>
          </a:prstGeom>
          <a:ln w="9525">
            <a:solidFill>
              <a:srgbClr val="C8D7EF"/>
            </a:solidFill>
            <a:prstDash val="solid"/>
          </a:ln>
        </p:spPr>
      </p:sp>
      <p:sp>
        <p:nvSpPr>
          <p:cNvPr id="8" name="正方形/長方形 7">
            <a:extLst>
              <a:ext uri="{FF2B5EF4-FFF2-40B4-BE49-F238E27FC236}">
                <a16:creationId xmlns:a16="http://schemas.microsoft.com/office/drawing/2014/main" id="{27FBFEE4-ED3E-4EDE-9726-6832F412FC52}"/>
              </a:ext>
            </a:extLst>
          </p:cNvPr>
          <p:cNvSpPr>
            <a:spLocks noGrp="1"/>
          </p:cNvSpPr>
          <p:nvPr/>
        </p:nvSpPr>
        <p:spPr>
          <a:xfrm>
            <a:off x="4451350" y="1895475"/>
            <a:ext cx="3289300" cy="533400"/>
          </a:xfrm>
          <a:prstGeom prst="rect">
            <a:avLst/>
          </a:prstGeom>
          <a:ln w="0">
            <a:solidFill>
              <a:srgbClr val="FFFFFF"/>
            </a:solidFill>
            <a:prstDash val="solid"/>
          </a:ln>
        </p:spPr>
        <p:txBody>
          <a:bodyPr lIns="0" tIns="0" rIns="0" bIns="0" anchor="ctr"/>
          <a:lstStyle/>
          <a:p>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第5回まで</a:t>
            </a:r>
          </a:p>
        </p:txBody>
      </p:sp>
      <p:sp>
        <p:nvSpPr>
          <p:cNvPr id="9" name="正方形/長方形 8">
            <a:extLst>
              <a:ext uri="{FF2B5EF4-FFF2-40B4-BE49-F238E27FC236}">
                <a16:creationId xmlns:a16="http://schemas.microsoft.com/office/drawing/2014/main" id="{C01BDE83-C12A-48F2-92DE-26817C6FCFE1}"/>
              </a:ext>
            </a:extLst>
          </p:cNvPr>
          <p:cNvSpPr>
            <a:spLocks noGrp="1"/>
          </p:cNvSpPr>
          <p:nvPr/>
        </p:nvSpPr>
        <p:spPr>
          <a:xfrm>
            <a:off x="7826375" y="1809750"/>
            <a:ext cx="3460750" cy="647700"/>
          </a:xfrm>
          <a:prstGeom prst="rect">
            <a:avLst/>
          </a:prstGeom>
          <a:ln w="9525">
            <a:solidFill>
              <a:srgbClr val="C8D7EF"/>
            </a:solidFill>
            <a:prstDash val="solid"/>
          </a:ln>
        </p:spPr>
      </p:sp>
      <p:sp>
        <p:nvSpPr>
          <p:cNvPr id="10" name="正方形/長方形 9">
            <a:extLst>
              <a:ext uri="{FF2B5EF4-FFF2-40B4-BE49-F238E27FC236}">
                <a16:creationId xmlns:a16="http://schemas.microsoft.com/office/drawing/2014/main" id="{BAE4182D-35E0-4B79-B056-1A7CDF6B8B07}"/>
              </a:ext>
            </a:extLst>
          </p:cNvPr>
          <p:cNvSpPr>
            <a:spLocks noGrp="1"/>
          </p:cNvSpPr>
          <p:nvPr/>
        </p:nvSpPr>
        <p:spPr>
          <a:xfrm>
            <a:off x="7912100" y="1895475"/>
            <a:ext cx="3289300" cy="533400"/>
          </a:xfrm>
          <a:prstGeom prst="rect">
            <a:avLst/>
          </a:prstGeom>
          <a:ln w="0">
            <a:solidFill>
              <a:srgbClr val="FFFFFF"/>
            </a:solidFill>
            <a:prstDash val="solid"/>
          </a:ln>
        </p:spPr>
        <p:txBody>
          <a:bodyPr lIns="0" tIns="0" rIns="0" bIns="0" anchor="ctr"/>
          <a:lstStyle/>
          <a:p>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第6回で行うこと</a:t>
            </a:r>
          </a:p>
        </p:txBody>
      </p:sp>
      <p:sp>
        <p:nvSpPr>
          <p:cNvPr id="11" name="正方形/長方形 10">
            <a:extLst>
              <a:ext uri="{FF2B5EF4-FFF2-40B4-BE49-F238E27FC236}">
                <a16:creationId xmlns:a16="http://schemas.microsoft.com/office/drawing/2014/main" id="{B9735CF2-C957-4EED-8D2D-D8D31E1997F9}"/>
              </a:ext>
            </a:extLst>
          </p:cNvPr>
          <p:cNvSpPr>
            <a:spLocks noGrp="1"/>
          </p:cNvSpPr>
          <p:nvPr/>
        </p:nvSpPr>
        <p:spPr>
          <a:xfrm>
            <a:off x="904875" y="2457450"/>
            <a:ext cx="3460750" cy="647700"/>
          </a:xfrm>
          <a:prstGeom prst="rect">
            <a:avLst/>
          </a:prstGeom>
          <a:ln w="9525">
            <a:solidFill>
              <a:srgbClr val="DDE5EF"/>
            </a:solidFill>
            <a:prstDash val="solid"/>
          </a:ln>
        </p:spPr>
      </p:sp>
      <p:sp>
        <p:nvSpPr>
          <p:cNvPr id="12" name="正方形/長方形 11">
            <a:extLst>
              <a:ext uri="{FF2B5EF4-FFF2-40B4-BE49-F238E27FC236}">
                <a16:creationId xmlns:a16="http://schemas.microsoft.com/office/drawing/2014/main" id="{5912C4A6-7C80-467B-A186-76F7EFF2C4BD}"/>
              </a:ext>
            </a:extLst>
          </p:cNvPr>
          <p:cNvSpPr>
            <a:spLocks noGrp="1"/>
          </p:cNvSpPr>
          <p:nvPr/>
        </p:nvSpPr>
        <p:spPr>
          <a:xfrm>
            <a:off x="990600" y="25241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Azure</a:t>
            </a:r>
          </a:p>
        </p:txBody>
      </p:sp>
      <p:sp>
        <p:nvSpPr>
          <p:cNvPr id="13" name="正方形/長方形 12">
            <a:extLst>
              <a:ext uri="{FF2B5EF4-FFF2-40B4-BE49-F238E27FC236}">
                <a16:creationId xmlns:a16="http://schemas.microsoft.com/office/drawing/2014/main" id="{C221B6BF-4764-4AE0-BA1B-80CDB5D54BC4}"/>
              </a:ext>
            </a:extLst>
          </p:cNvPr>
          <p:cNvSpPr>
            <a:spLocks noGrp="1"/>
          </p:cNvSpPr>
          <p:nvPr/>
        </p:nvSpPr>
        <p:spPr>
          <a:xfrm>
            <a:off x="4365625" y="2457450"/>
            <a:ext cx="3460750" cy="647700"/>
          </a:xfrm>
          <a:prstGeom prst="rect">
            <a:avLst/>
          </a:prstGeom>
          <a:ln w="9525">
            <a:solidFill>
              <a:srgbClr val="DDE5EF"/>
            </a:solidFill>
            <a:prstDash val="solid"/>
          </a:ln>
        </p:spPr>
      </p:sp>
      <p:sp>
        <p:nvSpPr>
          <p:cNvPr id="14" name="正方形/長方形 13">
            <a:extLst>
              <a:ext uri="{FF2B5EF4-FFF2-40B4-BE49-F238E27FC236}">
                <a16:creationId xmlns:a16="http://schemas.microsoft.com/office/drawing/2014/main" id="{8483A890-AAE3-4E01-9FEB-BDAC5F542176}"/>
              </a:ext>
            </a:extLst>
          </p:cNvPr>
          <p:cNvSpPr>
            <a:spLocks noGrp="1"/>
          </p:cNvSpPr>
          <p:nvPr/>
        </p:nvSpPr>
        <p:spPr>
          <a:xfrm>
            <a:off x="4451350" y="25241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リソース作成済み</a:t>
            </a:r>
          </a:p>
        </p:txBody>
      </p:sp>
      <p:sp>
        <p:nvSpPr>
          <p:cNvPr id="15" name="正方形/長方形 14">
            <a:extLst>
              <a:ext uri="{FF2B5EF4-FFF2-40B4-BE49-F238E27FC236}">
                <a16:creationId xmlns:a16="http://schemas.microsoft.com/office/drawing/2014/main" id="{6BCD8D41-8BFE-490B-AE6F-B47A5E8B713C}"/>
              </a:ext>
            </a:extLst>
          </p:cNvPr>
          <p:cNvSpPr>
            <a:spLocks noGrp="1"/>
          </p:cNvSpPr>
          <p:nvPr/>
        </p:nvSpPr>
        <p:spPr>
          <a:xfrm>
            <a:off x="7826375" y="2457450"/>
            <a:ext cx="3460750" cy="647700"/>
          </a:xfrm>
          <a:prstGeom prst="rect">
            <a:avLst/>
          </a:prstGeom>
          <a:ln w="9525">
            <a:solidFill>
              <a:srgbClr val="DDE5EF"/>
            </a:solidFill>
            <a:prstDash val="solid"/>
          </a:ln>
        </p:spPr>
      </p:sp>
      <p:sp>
        <p:nvSpPr>
          <p:cNvPr id="16" name="正方形/長方形 15">
            <a:extLst>
              <a:ext uri="{FF2B5EF4-FFF2-40B4-BE49-F238E27FC236}">
                <a16:creationId xmlns:a16="http://schemas.microsoft.com/office/drawing/2014/main" id="{57918726-1B60-4F40-808A-2D01D337ED7D}"/>
              </a:ext>
            </a:extLst>
          </p:cNvPr>
          <p:cNvSpPr>
            <a:spLocks noGrp="1"/>
          </p:cNvSpPr>
          <p:nvPr/>
        </p:nvSpPr>
        <p:spPr>
          <a:xfrm>
            <a:off x="7912100" y="2524125"/>
            <a:ext cx="3289300" cy="533400"/>
          </a:xfrm>
          <a:prstGeom prst="rect">
            <a:avLst/>
          </a:prstGeom>
          <a:ln w="0">
            <a:solidFill>
              <a:srgbClr val="FFFFFF"/>
            </a:solidFill>
            <a:prstDash val="solid"/>
          </a:ln>
        </p:spPr>
        <p:txBody>
          <a:bodyPr lIns="0" tIns="0" rIns="0" bIns="0" anchor="ctr"/>
          <a:lstStyle/>
          <a:p>
            <a:pPr algn="l">
              <a:defRPr sz="938" b="0">
                <a:solidFill>
                  <a:srgbClr val="1F2937"/>
                </a:solidFill>
                <a:latin typeface="Yu Gothic"/>
                <a:ea typeface="Yu Gothic"/>
                <a:cs typeface="Yu Gothic"/>
              </a:defRPr>
            </a:pPr>
            <a:r>
              <a:rPr sz="938" b="0">
                <a:solidFill>
                  <a:srgbClr val="1F2937"/>
                </a:solidFill>
                <a:latin typeface="Yu Gothic"/>
                <a:ea typeface="Yu Gothic"/>
                <a:cs typeface="Yu Gothic"/>
              </a:rPr>
              <a:t>DB 再開、ACR と Container Apps の更新確認</a:t>
            </a:r>
          </a:p>
        </p:txBody>
      </p:sp>
      <p:sp>
        <p:nvSpPr>
          <p:cNvPr id="17" name="正方形/長方形 16">
            <a:extLst>
              <a:ext uri="{FF2B5EF4-FFF2-40B4-BE49-F238E27FC236}">
                <a16:creationId xmlns:a16="http://schemas.microsoft.com/office/drawing/2014/main" id="{135726D1-19EE-41D4-8BE4-8D4AFD9079A7}"/>
              </a:ext>
            </a:extLst>
          </p:cNvPr>
          <p:cNvSpPr>
            <a:spLocks noGrp="1"/>
          </p:cNvSpPr>
          <p:nvPr/>
        </p:nvSpPr>
        <p:spPr>
          <a:xfrm>
            <a:off x="904875" y="3105150"/>
            <a:ext cx="3460750" cy="647700"/>
          </a:xfrm>
          <a:prstGeom prst="rect">
            <a:avLst/>
          </a:prstGeom>
          <a:ln w="9525">
            <a:solidFill>
              <a:srgbClr val="DDE5EF"/>
            </a:solidFill>
            <a:prstDash val="solid"/>
          </a:ln>
        </p:spPr>
      </p:sp>
      <p:sp>
        <p:nvSpPr>
          <p:cNvPr id="18" name="正方形/長方形 17">
            <a:extLst>
              <a:ext uri="{FF2B5EF4-FFF2-40B4-BE49-F238E27FC236}">
                <a16:creationId xmlns:a16="http://schemas.microsoft.com/office/drawing/2014/main" id="{7EF59CF7-4113-4A39-BC02-BB2D50BAE02B}"/>
              </a:ext>
            </a:extLst>
          </p:cNvPr>
          <p:cNvSpPr>
            <a:spLocks noGrp="1"/>
          </p:cNvSpPr>
          <p:nvPr/>
        </p:nvSpPr>
        <p:spPr>
          <a:xfrm>
            <a:off x="990600" y="31718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GitHub</a:t>
            </a:r>
          </a:p>
        </p:txBody>
      </p:sp>
      <p:sp>
        <p:nvSpPr>
          <p:cNvPr id="19" name="正方形/長方形 18">
            <a:extLst>
              <a:ext uri="{FF2B5EF4-FFF2-40B4-BE49-F238E27FC236}">
                <a16:creationId xmlns:a16="http://schemas.microsoft.com/office/drawing/2014/main" id="{3FAC6D0D-C4B6-4AFD-A71A-D9CA07C0DC5E}"/>
              </a:ext>
            </a:extLst>
          </p:cNvPr>
          <p:cNvSpPr>
            <a:spLocks noGrp="1"/>
          </p:cNvSpPr>
          <p:nvPr/>
        </p:nvSpPr>
        <p:spPr>
          <a:xfrm>
            <a:off x="4365625" y="3105150"/>
            <a:ext cx="3460750" cy="647700"/>
          </a:xfrm>
          <a:prstGeom prst="rect">
            <a:avLst/>
          </a:prstGeom>
          <a:ln w="9525">
            <a:solidFill>
              <a:srgbClr val="DDE5EF"/>
            </a:solidFill>
            <a:prstDash val="solid"/>
          </a:ln>
        </p:spPr>
      </p:sp>
      <p:sp>
        <p:nvSpPr>
          <p:cNvPr id="20" name="正方形/長方形 19">
            <a:extLst>
              <a:ext uri="{FF2B5EF4-FFF2-40B4-BE49-F238E27FC236}">
                <a16:creationId xmlns:a16="http://schemas.microsoft.com/office/drawing/2014/main" id="{5D756786-C058-4EA7-B730-EF0D3A13726F}"/>
              </a:ext>
            </a:extLst>
          </p:cNvPr>
          <p:cNvSpPr>
            <a:spLocks noGrp="1"/>
          </p:cNvSpPr>
          <p:nvPr/>
        </p:nvSpPr>
        <p:spPr>
          <a:xfrm>
            <a:off x="4451350" y="31718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未設定</a:t>
            </a:r>
          </a:p>
        </p:txBody>
      </p:sp>
      <p:sp>
        <p:nvSpPr>
          <p:cNvPr id="21" name="正方形/長方形 20">
            <a:extLst>
              <a:ext uri="{FF2B5EF4-FFF2-40B4-BE49-F238E27FC236}">
                <a16:creationId xmlns:a16="http://schemas.microsoft.com/office/drawing/2014/main" id="{78714917-04FA-4B60-AD7D-FBCD08DFD6BA}"/>
              </a:ext>
            </a:extLst>
          </p:cNvPr>
          <p:cNvSpPr>
            <a:spLocks noGrp="1"/>
          </p:cNvSpPr>
          <p:nvPr/>
        </p:nvSpPr>
        <p:spPr>
          <a:xfrm>
            <a:off x="7826375" y="3105150"/>
            <a:ext cx="3460750" cy="647700"/>
          </a:xfrm>
          <a:prstGeom prst="rect">
            <a:avLst/>
          </a:prstGeom>
          <a:ln w="9525">
            <a:solidFill>
              <a:srgbClr val="DDE5EF"/>
            </a:solidFill>
            <a:prstDash val="solid"/>
          </a:ln>
        </p:spPr>
      </p:sp>
      <p:sp>
        <p:nvSpPr>
          <p:cNvPr id="22" name="正方形/長方形 21">
            <a:extLst>
              <a:ext uri="{FF2B5EF4-FFF2-40B4-BE49-F238E27FC236}">
                <a16:creationId xmlns:a16="http://schemas.microsoft.com/office/drawing/2014/main" id="{C1E1FE39-5D25-40A9-8546-60FAB86C0B09}"/>
              </a:ext>
            </a:extLst>
          </p:cNvPr>
          <p:cNvSpPr>
            <a:spLocks noGrp="1"/>
          </p:cNvSpPr>
          <p:nvPr/>
        </p:nvSpPr>
        <p:spPr>
          <a:xfrm>
            <a:off x="7912100" y="3171825"/>
            <a:ext cx="3289300" cy="533400"/>
          </a:xfrm>
          <a:prstGeom prst="rect">
            <a:avLst/>
          </a:prstGeom>
          <a:ln w="0">
            <a:solidFill>
              <a:srgbClr val="FFFFFF"/>
            </a:solidFill>
            <a:prstDash val="solid"/>
          </a:ln>
        </p:spPr>
        <p:txBody>
          <a:bodyPr lIns="0" tIns="0" rIns="0" bIns="0" anchor="ctr"/>
          <a:lstStyle/>
          <a:p>
            <a:pPr algn="l">
              <a:defRPr sz="938" b="0">
                <a:solidFill>
                  <a:srgbClr val="1F2937"/>
                </a:solidFill>
                <a:latin typeface="Yu Gothic"/>
                <a:ea typeface="Yu Gothic"/>
                <a:cs typeface="Yu Gothic"/>
              </a:defRPr>
            </a:pPr>
            <a:r>
              <a:rPr sz="938" b="0">
                <a:solidFill>
                  <a:srgbClr val="1F2937"/>
                </a:solidFill>
                <a:latin typeface="Yu Gothic"/>
                <a:ea typeface="Yu Gothic"/>
                <a:cs typeface="Yu Gothic"/>
              </a:rPr>
              <a:t>リポジトリ、Secret、variables、workflow を設定</a:t>
            </a:r>
          </a:p>
        </p:txBody>
      </p:sp>
      <p:sp>
        <p:nvSpPr>
          <p:cNvPr id="23" name="正方形/長方形 22">
            <a:extLst>
              <a:ext uri="{FF2B5EF4-FFF2-40B4-BE49-F238E27FC236}">
                <a16:creationId xmlns:a16="http://schemas.microsoft.com/office/drawing/2014/main" id="{4E862AD9-FCD1-45C9-9140-174F4B83450D}"/>
              </a:ext>
            </a:extLst>
          </p:cNvPr>
          <p:cNvSpPr>
            <a:spLocks noGrp="1"/>
          </p:cNvSpPr>
          <p:nvPr/>
        </p:nvSpPr>
        <p:spPr>
          <a:xfrm>
            <a:off x="904875" y="3752850"/>
            <a:ext cx="3460750" cy="647700"/>
          </a:xfrm>
          <a:prstGeom prst="rect">
            <a:avLst/>
          </a:prstGeom>
          <a:ln w="9525">
            <a:solidFill>
              <a:srgbClr val="DDE5EF"/>
            </a:solidFill>
            <a:prstDash val="solid"/>
          </a:ln>
        </p:spPr>
      </p:sp>
      <p:sp>
        <p:nvSpPr>
          <p:cNvPr id="24" name="正方形/長方形 23">
            <a:extLst>
              <a:ext uri="{FF2B5EF4-FFF2-40B4-BE49-F238E27FC236}">
                <a16:creationId xmlns:a16="http://schemas.microsoft.com/office/drawing/2014/main" id="{D87B083D-0784-411A-B4D1-99654914E1EB}"/>
              </a:ext>
            </a:extLst>
          </p:cNvPr>
          <p:cNvSpPr>
            <a:spLocks noGrp="1"/>
          </p:cNvSpPr>
          <p:nvPr/>
        </p:nvSpPr>
        <p:spPr>
          <a:xfrm>
            <a:off x="990600" y="38195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アプリ</a:t>
            </a:r>
          </a:p>
        </p:txBody>
      </p:sp>
      <p:sp>
        <p:nvSpPr>
          <p:cNvPr id="25" name="正方形/長方形 24">
            <a:extLst>
              <a:ext uri="{FF2B5EF4-FFF2-40B4-BE49-F238E27FC236}">
                <a16:creationId xmlns:a16="http://schemas.microsoft.com/office/drawing/2014/main" id="{BA27F29E-AD8A-49AF-BB86-2BACACCCDE16}"/>
              </a:ext>
            </a:extLst>
          </p:cNvPr>
          <p:cNvSpPr>
            <a:spLocks noGrp="1"/>
          </p:cNvSpPr>
          <p:nvPr/>
        </p:nvSpPr>
        <p:spPr>
          <a:xfrm>
            <a:off x="4365625" y="3752850"/>
            <a:ext cx="3460750" cy="647700"/>
          </a:xfrm>
          <a:prstGeom prst="rect">
            <a:avLst/>
          </a:prstGeom>
          <a:ln w="9525">
            <a:solidFill>
              <a:srgbClr val="DDE5EF"/>
            </a:solidFill>
            <a:prstDash val="solid"/>
          </a:ln>
        </p:spPr>
      </p:sp>
      <p:sp>
        <p:nvSpPr>
          <p:cNvPr id="26" name="正方形/長方形 25">
            <a:extLst>
              <a:ext uri="{FF2B5EF4-FFF2-40B4-BE49-F238E27FC236}">
                <a16:creationId xmlns:a16="http://schemas.microsoft.com/office/drawing/2014/main" id="{E43E63CE-72D5-4897-A86B-BB224F25F17B}"/>
              </a:ext>
            </a:extLst>
          </p:cNvPr>
          <p:cNvSpPr>
            <a:spLocks noGrp="1"/>
          </p:cNvSpPr>
          <p:nvPr/>
        </p:nvSpPr>
        <p:spPr>
          <a:xfrm>
            <a:off x="4451350" y="38195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プレースホルダー</a:t>
            </a:r>
          </a:p>
        </p:txBody>
      </p:sp>
      <p:sp>
        <p:nvSpPr>
          <p:cNvPr id="27" name="正方形/長方形 26">
            <a:extLst>
              <a:ext uri="{FF2B5EF4-FFF2-40B4-BE49-F238E27FC236}">
                <a16:creationId xmlns:a16="http://schemas.microsoft.com/office/drawing/2014/main" id="{1CC0424B-B951-487D-94A1-6E2FCFF10111}"/>
              </a:ext>
            </a:extLst>
          </p:cNvPr>
          <p:cNvSpPr>
            <a:spLocks noGrp="1"/>
          </p:cNvSpPr>
          <p:nvPr/>
        </p:nvSpPr>
        <p:spPr>
          <a:xfrm>
            <a:off x="7826375" y="3752850"/>
            <a:ext cx="3460750" cy="647700"/>
          </a:xfrm>
          <a:prstGeom prst="rect">
            <a:avLst/>
          </a:prstGeom>
          <a:ln w="9525">
            <a:solidFill>
              <a:srgbClr val="DDE5EF"/>
            </a:solidFill>
            <a:prstDash val="solid"/>
          </a:ln>
        </p:spPr>
      </p:sp>
      <p:sp>
        <p:nvSpPr>
          <p:cNvPr id="28" name="正方形/長方形 27">
            <a:extLst>
              <a:ext uri="{FF2B5EF4-FFF2-40B4-BE49-F238E27FC236}">
                <a16:creationId xmlns:a16="http://schemas.microsoft.com/office/drawing/2014/main" id="{F6A76141-D2D9-4AFC-90C5-353DD81E3955}"/>
              </a:ext>
            </a:extLst>
          </p:cNvPr>
          <p:cNvSpPr>
            <a:spLocks noGrp="1"/>
          </p:cNvSpPr>
          <p:nvPr/>
        </p:nvSpPr>
        <p:spPr>
          <a:xfrm>
            <a:off x="7912100" y="38195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実イメージに更新し、Todo 操作を確認</a:t>
            </a:r>
          </a:p>
        </p:txBody>
      </p:sp>
      <p:sp>
        <p:nvSpPr>
          <p:cNvPr id="29" name="正方形/長方形 28">
            <a:extLst>
              <a:ext uri="{FF2B5EF4-FFF2-40B4-BE49-F238E27FC236}">
                <a16:creationId xmlns:a16="http://schemas.microsoft.com/office/drawing/2014/main" id="{0FC95BC4-831A-4C2D-BD0C-49E9983D45E3}"/>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正方形/長方形 41">
            <a:extLst>
              <a:ext uri="{FF2B5EF4-FFF2-40B4-BE49-F238E27FC236}">
                <a16:creationId xmlns:a16="http://schemas.microsoft.com/office/drawing/2014/main" id="{6E360791-5032-48E0-A808-608E70706795}"/>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元ガイドとの対応</a:t>
            </a:r>
          </a:p>
        </p:txBody>
      </p:sp>
      <p:sp>
        <p:nvSpPr>
          <p:cNvPr id="2" name="正方形/長方形 1">
            <a:extLst>
              <a:ext uri="{FF2B5EF4-FFF2-40B4-BE49-F238E27FC236}">
                <a16:creationId xmlns:a16="http://schemas.microsoft.com/office/drawing/2014/main" id="{5897039D-C854-4752-BF6A-6CCAC2EC8961}"/>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05 / 48</a:t>
            </a:r>
          </a:p>
        </p:txBody>
      </p:sp>
      <p:sp>
        <p:nvSpPr>
          <p:cNvPr id="3" name="正方形/長方形 2">
            <a:extLst>
              <a:ext uri="{FF2B5EF4-FFF2-40B4-BE49-F238E27FC236}">
                <a16:creationId xmlns:a16="http://schemas.microsoft.com/office/drawing/2014/main" id="{8E7BB435-C5A3-4410-A0B8-1F156704338F}"/>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6D4A26C7-52E8-4B2B-A44F-92635D3A1049}"/>
              </a:ext>
            </a:extLst>
          </p:cNvPr>
          <p:cNvSpPr>
            <a:spLocks noGrp="1"/>
          </p:cNvSpPr>
          <p:nvPr/>
        </p:nvSpPr>
        <p:spPr>
          <a:xfrm>
            <a:off x="666750" y="1162050"/>
            <a:ext cx="10096500" cy="552450"/>
          </a:xfrm>
          <a:prstGeom prst="rect">
            <a:avLst/>
          </a:prstGeom>
          <a:ln w="0">
            <a:solidFill>
              <a:srgbClr val="FFFFFF"/>
            </a:solidFill>
            <a:prstDash val="solid"/>
          </a:ln>
        </p:spPr>
        <p:txBody>
          <a:bodyPr lIns="0" tIns="0" rIns="0" bIns="0" anchor="t"/>
          <a:lstStyle/>
          <a:p>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本回では、元ガイドのフェーズ2からフェーズ4を扱います。GitHub 側の設定から、デプロイメント検証までを一続きで確認します。</a:t>
            </a:r>
          </a:p>
        </p:txBody>
      </p:sp>
      <p:sp>
        <p:nvSpPr>
          <p:cNvPr id="5" name="正方形/長方形 4">
            <a:extLst>
              <a:ext uri="{FF2B5EF4-FFF2-40B4-BE49-F238E27FC236}">
                <a16:creationId xmlns:a16="http://schemas.microsoft.com/office/drawing/2014/main" id="{34FB53CF-9939-497C-B951-58FCE27B9A0F}"/>
              </a:ext>
            </a:extLst>
          </p:cNvPr>
          <p:cNvSpPr>
            <a:spLocks noGrp="1"/>
          </p:cNvSpPr>
          <p:nvPr/>
        </p:nvSpPr>
        <p:spPr>
          <a:xfrm>
            <a:off x="904875" y="1809750"/>
            <a:ext cx="3460750" cy="647700"/>
          </a:xfrm>
          <a:prstGeom prst="rect">
            <a:avLst/>
          </a:prstGeom>
          <a:ln w="9525">
            <a:solidFill>
              <a:srgbClr val="C8D7EF"/>
            </a:solidFill>
            <a:prstDash val="solid"/>
          </a:ln>
        </p:spPr>
      </p:sp>
      <p:sp>
        <p:nvSpPr>
          <p:cNvPr id="6" name="正方形/長方形 5">
            <a:extLst>
              <a:ext uri="{FF2B5EF4-FFF2-40B4-BE49-F238E27FC236}">
                <a16:creationId xmlns:a16="http://schemas.microsoft.com/office/drawing/2014/main" id="{F43DE9A3-1329-4AE7-B3D8-6C8B74548707}"/>
              </a:ext>
            </a:extLst>
          </p:cNvPr>
          <p:cNvSpPr>
            <a:spLocks noGrp="1"/>
          </p:cNvSpPr>
          <p:nvPr/>
        </p:nvSpPr>
        <p:spPr>
          <a:xfrm>
            <a:off x="990600" y="1895475"/>
            <a:ext cx="3289300" cy="533400"/>
          </a:xfrm>
          <a:prstGeom prst="rect">
            <a:avLst/>
          </a:prstGeom>
          <a:ln w="0">
            <a:solidFill>
              <a:srgbClr val="FFFFFF"/>
            </a:solidFill>
            <a:prstDash val="solid"/>
          </a:ln>
        </p:spPr>
        <p:txBody>
          <a:bodyPr lIns="0" tIns="0" rIns="0" bIns="0" anchor="ctr"/>
          <a:lstStyle/>
          <a:p>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元ガイドの範囲</a:t>
            </a:r>
          </a:p>
        </p:txBody>
      </p:sp>
      <p:sp>
        <p:nvSpPr>
          <p:cNvPr id="7" name="正方形/長方形 6">
            <a:extLst>
              <a:ext uri="{FF2B5EF4-FFF2-40B4-BE49-F238E27FC236}">
                <a16:creationId xmlns:a16="http://schemas.microsoft.com/office/drawing/2014/main" id="{50DDA994-93E2-42D7-9F9A-EC62D6F8A8E3}"/>
              </a:ext>
            </a:extLst>
          </p:cNvPr>
          <p:cNvSpPr>
            <a:spLocks noGrp="1"/>
          </p:cNvSpPr>
          <p:nvPr/>
        </p:nvSpPr>
        <p:spPr>
          <a:xfrm>
            <a:off x="4365625" y="1809750"/>
            <a:ext cx="3460750" cy="647700"/>
          </a:xfrm>
          <a:prstGeom prst="rect">
            <a:avLst/>
          </a:prstGeom>
          <a:ln w="9525">
            <a:solidFill>
              <a:srgbClr val="C8D7EF"/>
            </a:solidFill>
            <a:prstDash val="solid"/>
          </a:ln>
        </p:spPr>
      </p:sp>
      <p:sp>
        <p:nvSpPr>
          <p:cNvPr id="8" name="正方形/長方形 7">
            <a:extLst>
              <a:ext uri="{FF2B5EF4-FFF2-40B4-BE49-F238E27FC236}">
                <a16:creationId xmlns:a16="http://schemas.microsoft.com/office/drawing/2014/main" id="{71EC9F7C-76C5-4247-B2B5-AEBE8B7287B4}"/>
              </a:ext>
            </a:extLst>
          </p:cNvPr>
          <p:cNvSpPr>
            <a:spLocks noGrp="1"/>
          </p:cNvSpPr>
          <p:nvPr/>
        </p:nvSpPr>
        <p:spPr>
          <a:xfrm>
            <a:off x="4451350" y="1895475"/>
            <a:ext cx="3289300" cy="533400"/>
          </a:xfrm>
          <a:prstGeom prst="rect">
            <a:avLst/>
          </a:prstGeom>
          <a:ln w="0">
            <a:solidFill>
              <a:srgbClr val="FFFFFF"/>
            </a:solidFill>
            <a:prstDash val="solid"/>
          </a:ln>
        </p:spPr>
        <p:txBody>
          <a:bodyPr lIns="0" tIns="0" rIns="0" bIns="0" anchor="ctr"/>
          <a:lstStyle/>
          <a:p>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本回での扱い</a:t>
            </a:r>
          </a:p>
        </p:txBody>
      </p:sp>
      <p:sp>
        <p:nvSpPr>
          <p:cNvPr id="9" name="正方形/長方形 8">
            <a:extLst>
              <a:ext uri="{FF2B5EF4-FFF2-40B4-BE49-F238E27FC236}">
                <a16:creationId xmlns:a16="http://schemas.microsoft.com/office/drawing/2014/main" id="{D80F19B8-D69E-4564-BD54-39FD228A5A50}"/>
              </a:ext>
            </a:extLst>
          </p:cNvPr>
          <p:cNvSpPr>
            <a:spLocks noGrp="1"/>
          </p:cNvSpPr>
          <p:nvPr/>
        </p:nvSpPr>
        <p:spPr>
          <a:xfrm>
            <a:off x="7826375" y="1809750"/>
            <a:ext cx="3460750" cy="647700"/>
          </a:xfrm>
          <a:prstGeom prst="rect">
            <a:avLst/>
          </a:prstGeom>
          <a:ln w="9525">
            <a:solidFill>
              <a:srgbClr val="C8D7EF"/>
            </a:solidFill>
            <a:prstDash val="solid"/>
          </a:ln>
        </p:spPr>
      </p:sp>
      <p:sp>
        <p:nvSpPr>
          <p:cNvPr id="10" name="正方形/長方形 9">
            <a:extLst>
              <a:ext uri="{FF2B5EF4-FFF2-40B4-BE49-F238E27FC236}">
                <a16:creationId xmlns:a16="http://schemas.microsoft.com/office/drawing/2014/main" id="{BF678EF2-AF9D-483A-9E52-1F655CDE79B3}"/>
              </a:ext>
            </a:extLst>
          </p:cNvPr>
          <p:cNvSpPr>
            <a:spLocks noGrp="1"/>
          </p:cNvSpPr>
          <p:nvPr/>
        </p:nvSpPr>
        <p:spPr>
          <a:xfrm>
            <a:off x="7912100" y="1895475"/>
            <a:ext cx="3289300" cy="533400"/>
          </a:xfrm>
          <a:prstGeom prst="rect">
            <a:avLst/>
          </a:prstGeom>
          <a:ln w="0">
            <a:solidFill>
              <a:srgbClr val="FFFFFF"/>
            </a:solidFill>
            <a:prstDash val="solid"/>
          </a:ln>
        </p:spPr>
        <p:txBody>
          <a:bodyPr lIns="0" tIns="0" rIns="0" bIns="0" anchor="ctr"/>
          <a:lstStyle/>
          <a:p>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注意</a:t>
            </a:r>
          </a:p>
        </p:txBody>
      </p:sp>
      <p:sp>
        <p:nvSpPr>
          <p:cNvPr id="11" name="正方形/長方形 10">
            <a:extLst>
              <a:ext uri="{FF2B5EF4-FFF2-40B4-BE49-F238E27FC236}">
                <a16:creationId xmlns:a16="http://schemas.microsoft.com/office/drawing/2014/main" id="{84CA9FF2-EF6E-46D5-B464-71EB0470C005}"/>
              </a:ext>
            </a:extLst>
          </p:cNvPr>
          <p:cNvSpPr>
            <a:spLocks noGrp="1"/>
          </p:cNvSpPr>
          <p:nvPr/>
        </p:nvSpPr>
        <p:spPr>
          <a:xfrm>
            <a:off x="904875" y="2457450"/>
            <a:ext cx="3460750" cy="647700"/>
          </a:xfrm>
          <a:prstGeom prst="rect">
            <a:avLst/>
          </a:prstGeom>
          <a:ln w="9525">
            <a:solidFill>
              <a:srgbClr val="DDE5EF"/>
            </a:solidFill>
            <a:prstDash val="solid"/>
          </a:ln>
        </p:spPr>
      </p:sp>
      <p:sp>
        <p:nvSpPr>
          <p:cNvPr id="12" name="正方形/長方形 11">
            <a:extLst>
              <a:ext uri="{FF2B5EF4-FFF2-40B4-BE49-F238E27FC236}">
                <a16:creationId xmlns:a16="http://schemas.microsoft.com/office/drawing/2014/main" id="{0C3DAAA3-6D3D-45C0-9A14-3234CA5B9498}"/>
              </a:ext>
            </a:extLst>
          </p:cNvPr>
          <p:cNvSpPr>
            <a:spLocks noGrp="1"/>
          </p:cNvSpPr>
          <p:nvPr/>
        </p:nvSpPr>
        <p:spPr>
          <a:xfrm>
            <a:off x="990600" y="25241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フェーズ2</a:t>
            </a:r>
          </a:p>
        </p:txBody>
      </p:sp>
      <p:sp>
        <p:nvSpPr>
          <p:cNvPr id="13" name="正方形/長方形 12">
            <a:extLst>
              <a:ext uri="{FF2B5EF4-FFF2-40B4-BE49-F238E27FC236}">
                <a16:creationId xmlns:a16="http://schemas.microsoft.com/office/drawing/2014/main" id="{0BAD3BD3-98CF-4603-8444-313E40D07B74}"/>
              </a:ext>
            </a:extLst>
          </p:cNvPr>
          <p:cNvSpPr>
            <a:spLocks noGrp="1"/>
          </p:cNvSpPr>
          <p:nvPr/>
        </p:nvSpPr>
        <p:spPr>
          <a:xfrm>
            <a:off x="4365625" y="2457450"/>
            <a:ext cx="3460750" cy="647700"/>
          </a:xfrm>
          <a:prstGeom prst="rect">
            <a:avLst/>
          </a:prstGeom>
          <a:ln w="9525">
            <a:solidFill>
              <a:srgbClr val="DDE5EF"/>
            </a:solidFill>
            <a:prstDash val="solid"/>
          </a:ln>
        </p:spPr>
      </p:sp>
      <p:sp>
        <p:nvSpPr>
          <p:cNvPr id="14" name="正方形/長方形 13">
            <a:extLst>
              <a:ext uri="{FF2B5EF4-FFF2-40B4-BE49-F238E27FC236}">
                <a16:creationId xmlns:a16="http://schemas.microsoft.com/office/drawing/2014/main" id="{1C94736E-7EF4-42CF-B07E-1227CD7ADDF3}"/>
              </a:ext>
            </a:extLst>
          </p:cNvPr>
          <p:cNvSpPr>
            <a:spLocks noGrp="1"/>
          </p:cNvSpPr>
          <p:nvPr/>
        </p:nvSpPr>
        <p:spPr>
          <a:xfrm>
            <a:off x="4451350" y="25241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テンプレートからリポジトリを作成</a:t>
            </a:r>
          </a:p>
        </p:txBody>
      </p:sp>
      <p:sp>
        <p:nvSpPr>
          <p:cNvPr id="15" name="正方形/長方形 14">
            <a:extLst>
              <a:ext uri="{FF2B5EF4-FFF2-40B4-BE49-F238E27FC236}">
                <a16:creationId xmlns:a16="http://schemas.microsoft.com/office/drawing/2014/main" id="{907E5A94-B87A-4F96-8B6F-76DAB2DFC2CA}"/>
              </a:ext>
            </a:extLst>
          </p:cNvPr>
          <p:cNvSpPr>
            <a:spLocks noGrp="1"/>
          </p:cNvSpPr>
          <p:nvPr/>
        </p:nvSpPr>
        <p:spPr>
          <a:xfrm>
            <a:off x="7826375" y="2457450"/>
            <a:ext cx="3460750" cy="647700"/>
          </a:xfrm>
          <a:prstGeom prst="rect">
            <a:avLst/>
          </a:prstGeom>
          <a:ln w="9525">
            <a:solidFill>
              <a:srgbClr val="DDE5EF"/>
            </a:solidFill>
            <a:prstDash val="solid"/>
          </a:ln>
        </p:spPr>
      </p:sp>
      <p:sp>
        <p:nvSpPr>
          <p:cNvPr id="16" name="正方形/長方形 15">
            <a:extLst>
              <a:ext uri="{FF2B5EF4-FFF2-40B4-BE49-F238E27FC236}">
                <a16:creationId xmlns:a16="http://schemas.microsoft.com/office/drawing/2014/main" id="{56658247-902F-4208-B259-5181E0E90080}"/>
              </a:ext>
            </a:extLst>
          </p:cNvPr>
          <p:cNvSpPr>
            <a:spLocks noGrp="1"/>
          </p:cNvSpPr>
          <p:nvPr/>
        </p:nvSpPr>
        <p:spPr>
          <a:xfrm>
            <a:off x="7912100" y="25241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Public を想定</a:t>
            </a:r>
          </a:p>
        </p:txBody>
      </p:sp>
      <p:sp>
        <p:nvSpPr>
          <p:cNvPr id="17" name="正方形/長方形 16">
            <a:extLst>
              <a:ext uri="{FF2B5EF4-FFF2-40B4-BE49-F238E27FC236}">
                <a16:creationId xmlns:a16="http://schemas.microsoft.com/office/drawing/2014/main" id="{0EE86D4C-62FC-41E9-A641-2CCF38E966E0}"/>
              </a:ext>
            </a:extLst>
          </p:cNvPr>
          <p:cNvSpPr>
            <a:spLocks noGrp="1"/>
          </p:cNvSpPr>
          <p:nvPr/>
        </p:nvSpPr>
        <p:spPr>
          <a:xfrm>
            <a:off x="904875" y="3105150"/>
            <a:ext cx="3460750" cy="647700"/>
          </a:xfrm>
          <a:prstGeom prst="rect">
            <a:avLst/>
          </a:prstGeom>
          <a:ln w="9525">
            <a:solidFill>
              <a:srgbClr val="DDE5EF"/>
            </a:solidFill>
            <a:prstDash val="solid"/>
          </a:ln>
        </p:spPr>
      </p:sp>
      <p:sp>
        <p:nvSpPr>
          <p:cNvPr id="18" name="正方形/長方形 17">
            <a:extLst>
              <a:ext uri="{FF2B5EF4-FFF2-40B4-BE49-F238E27FC236}">
                <a16:creationId xmlns:a16="http://schemas.microsoft.com/office/drawing/2014/main" id="{1C5EF70B-2F39-4E2E-ACDF-5EC3C74CD800}"/>
              </a:ext>
            </a:extLst>
          </p:cNvPr>
          <p:cNvSpPr>
            <a:spLocks noGrp="1"/>
          </p:cNvSpPr>
          <p:nvPr/>
        </p:nvSpPr>
        <p:spPr>
          <a:xfrm>
            <a:off x="990600" y="31718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ステップ3.1</a:t>
            </a:r>
          </a:p>
        </p:txBody>
      </p:sp>
      <p:sp>
        <p:nvSpPr>
          <p:cNvPr id="19" name="正方形/長方形 18">
            <a:extLst>
              <a:ext uri="{FF2B5EF4-FFF2-40B4-BE49-F238E27FC236}">
                <a16:creationId xmlns:a16="http://schemas.microsoft.com/office/drawing/2014/main" id="{5E2D0C1D-BF4E-4113-9CFE-8689D40C26D1}"/>
              </a:ext>
            </a:extLst>
          </p:cNvPr>
          <p:cNvSpPr>
            <a:spLocks noGrp="1"/>
          </p:cNvSpPr>
          <p:nvPr/>
        </p:nvSpPr>
        <p:spPr>
          <a:xfrm>
            <a:off x="4365625" y="3105150"/>
            <a:ext cx="3460750" cy="647700"/>
          </a:xfrm>
          <a:prstGeom prst="rect">
            <a:avLst/>
          </a:prstGeom>
          <a:ln w="9525">
            <a:solidFill>
              <a:srgbClr val="DDE5EF"/>
            </a:solidFill>
            <a:prstDash val="solid"/>
          </a:ln>
        </p:spPr>
      </p:sp>
      <p:sp>
        <p:nvSpPr>
          <p:cNvPr id="20" name="正方形/長方形 19">
            <a:extLst>
              <a:ext uri="{FF2B5EF4-FFF2-40B4-BE49-F238E27FC236}">
                <a16:creationId xmlns:a16="http://schemas.microsoft.com/office/drawing/2014/main" id="{DC90D45C-D3A9-4B8E-B889-0153CCFA1DB4}"/>
              </a:ext>
            </a:extLst>
          </p:cNvPr>
          <p:cNvSpPr>
            <a:spLocks noGrp="1"/>
          </p:cNvSpPr>
          <p:nvPr/>
        </p:nvSpPr>
        <p:spPr>
          <a:xfrm>
            <a:off x="4451350" y="31718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Service Principal と認証情報</a:t>
            </a:r>
          </a:p>
        </p:txBody>
      </p:sp>
      <p:sp>
        <p:nvSpPr>
          <p:cNvPr id="21" name="正方形/長方形 20">
            <a:extLst>
              <a:ext uri="{FF2B5EF4-FFF2-40B4-BE49-F238E27FC236}">
                <a16:creationId xmlns:a16="http://schemas.microsoft.com/office/drawing/2014/main" id="{8B475659-EEAA-439E-BF1D-997AD98E263A}"/>
              </a:ext>
            </a:extLst>
          </p:cNvPr>
          <p:cNvSpPr>
            <a:spLocks noGrp="1"/>
          </p:cNvSpPr>
          <p:nvPr/>
        </p:nvSpPr>
        <p:spPr>
          <a:xfrm>
            <a:off x="7826375" y="3105150"/>
            <a:ext cx="3460750" cy="647700"/>
          </a:xfrm>
          <a:prstGeom prst="rect">
            <a:avLst/>
          </a:prstGeom>
          <a:ln w="9525">
            <a:solidFill>
              <a:srgbClr val="DDE5EF"/>
            </a:solidFill>
            <a:prstDash val="solid"/>
          </a:ln>
        </p:spPr>
      </p:sp>
      <p:sp>
        <p:nvSpPr>
          <p:cNvPr id="22" name="正方形/長方形 21">
            <a:extLst>
              <a:ext uri="{FF2B5EF4-FFF2-40B4-BE49-F238E27FC236}">
                <a16:creationId xmlns:a16="http://schemas.microsoft.com/office/drawing/2014/main" id="{AFEBFFCD-766C-4A2F-B41C-EFFB4420A3BD}"/>
              </a:ext>
            </a:extLst>
          </p:cNvPr>
          <p:cNvSpPr>
            <a:spLocks noGrp="1"/>
          </p:cNvSpPr>
          <p:nvPr/>
        </p:nvSpPr>
        <p:spPr>
          <a:xfrm>
            <a:off x="7912100" y="31718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Cloud Shell から実行</a:t>
            </a:r>
          </a:p>
        </p:txBody>
      </p:sp>
      <p:sp>
        <p:nvSpPr>
          <p:cNvPr id="23" name="正方形/長方形 22">
            <a:extLst>
              <a:ext uri="{FF2B5EF4-FFF2-40B4-BE49-F238E27FC236}">
                <a16:creationId xmlns:a16="http://schemas.microsoft.com/office/drawing/2014/main" id="{28DBF9C3-4D92-4378-8921-B5DC4FA63135}"/>
              </a:ext>
            </a:extLst>
          </p:cNvPr>
          <p:cNvSpPr>
            <a:spLocks noGrp="1"/>
          </p:cNvSpPr>
          <p:nvPr/>
        </p:nvSpPr>
        <p:spPr>
          <a:xfrm>
            <a:off x="904875" y="3752850"/>
            <a:ext cx="3460750" cy="647700"/>
          </a:xfrm>
          <a:prstGeom prst="rect">
            <a:avLst/>
          </a:prstGeom>
          <a:ln w="9525">
            <a:solidFill>
              <a:srgbClr val="DDE5EF"/>
            </a:solidFill>
            <a:prstDash val="solid"/>
          </a:ln>
        </p:spPr>
      </p:sp>
      <p:sp>
        <p:nvSpPr>
          <p:cNvPr id="24" name="正方形/長方形 23">
            <a:extLst>
              <a:ext uri="{FF2B5EF4-FFF2-40B4-BE49-F238E27FC236}">
                <a16:creationId xmlns:a16="http://schemas.microsoft.com/office/drawing/2014/main" id="{483953E4-2933-4A22-8B8A-39FE495BB631}"/>
              </a:ext>
            </a:extLst>
          </p:cNvPr>
          <p:cNvSpPr>
            <a:spLocks noGrp="1"/>
          </p:cNvSpPr>
          <p:nvPr/>
        </p:nvSpPr>
        <p:spPr>
          <a:xfrm>
            <a:off x="990600" y="38195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ステップ3.2/3.3</a:t>
            </a:r>
          </a:p>
        </p:txBody>
      </p:sp>
      <p:sp>
        <p:nvSpPr>
          <p:cNvPr id="25" name="正方形/長方形 24">
            <a:extLst>
              <a:ext uri="{FF2B5EF4-FFF2-40B4-BE49-F238E27FC236}">
                <a16:creationId xmlns:a16="http://schemas.microsoft.com/office/drawing/2014/main" id="{7F5049D5-36F7-4180-B9DC-CC90249DDF1E}"/>
              </a:ext>
            </a:extLst>
          </p:cNvPr>
          <p:cNvSpPr>
            <a:spLocks noGrp="1"/>
          </p:cNvSpPr>
          <p:nvPr/>
        </p:nvSpPr>
        <p:spPr>
          <a:xfrm>
            <a:off x="4365625" y="3752850"/>
            <a:ext cx="3460750" cy="647700"/>
          </a:xfrm>
          <a:prstGeom prst="rect">
            <a:avLst/>
          </a:prstGeom>
          <a:ln w="9525">
            <a:solidFill>
              <a:srgbClr val="DDE5EF"/>
            </a:solidFill>
            <a:prstDash val="solid"/>
          </a:ln>
        </p:spPr>
      </p:sp>
      <p:sp>
        <p:nvSpPr>
          <p:cNvPr id="26" name="正方形/長方形 25">
            <a:extLst>
              <a:ext uri="{FF2B5EF4-FFF2-40B4-BE49-F238E27FC236}">
                <a16:creationId xmlns:a16="http://schemas.microsoft.com/office/drawing/2014/main" id="{A280D350-1FB2-4526-AEF7-69772FFE0DC6}"/>
              </a:ext>
            </a:extLst>
          </p:cNvPr>
          <p:cNvSpPr>
            <a:spLocks noGrp="1"/>
          </p:cNvSpPr>
          <p:nvPr/>
        </p:nvSpPr>
        <p:spPr>
          <a:xfrm>
            <a:off x="4451350" y="38195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Secret と Repository variables</a:t>
            </a:r>
          </a:p>
        </p:txBody>
      </p:sp>
      <p:sp>
        <p:nvSpPr>
          <p:cNvPr id="27" name="正方形/長方形 26">
            <a:extLst>
              <a:ext uri="{FF2B5EF4-FFF2-40B4-BE49-F238E27FC236}">
                <a16:creationId xmlns:a16="http://schemas.microsoft.com/office/drawing/2014/main" id="{A39F5537-65D7-4EB6-B899-ADB6ECC69DF1}"/>
              </a:ext>
            </a:extLst>
          </p:cNvPr>
          <p:cNvSpPr>
            <a:spLocks noGrp="1"/>
          </p:cNvSpPr>
          <p:nvPr/>
        </p:nvSpPr>
        <p:spPr>
          <a:xfrm>
            <a:off x="7826375" y="3752850"/>
            <a:ext cx="3460750" cy="647700"/>
          </a:xfrm>
          <a:prstGeom prst="rect">
            <a:avLst/>
          </a:prstGeom>
          <a:ln w="9525">
            <a:solidFill>
              <a:srgbClr val="DDE5EF"/>
            </a:solidFill>
            <a:prstDash val="solid"/>
          </a:ln>
        </p:spPr>
      </p:sp>
      <p:sp>
        <p:nvSpPr>
          <p:cNvPr id="28" name="正方形/長方形 27">
            <a:extLst>
              <a:ext uri="{FF2B5EF4-FFF2-40B4-BE49-F238E27FC236}">
                <a16:creationId xmlns:a16="http://schemas.microsoft.com/office/drawing/2014/main" id="{73579044-84BD-4F4C-A296-A8AB280C44B5}"/>
              </a:ext>
            </a:extLst>
          </p:cNvPr>
          <p:cNvSpPr>
            <a:spLocks noGrp="1"/>
          </p:cNvSpPr>
          <p:nvPr/>
        </p:nvSpPr>
        <p:spPr>
          <a:xfrm>
            <a:off x="7912100" y="38195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Secret value は表示しない</a:t>
            </a:r>
          </a:p>
        </p:txBody>
      </p:sp>
      <p:sp>
        <p:nvSpPr>
          <p:cNvPr id="29" name="正方形/長方形 28">
            <a:extLst>
              <a:ext uri="{FF2B5EF4-FFF2-40B4-BE49-F238E27FC236}">
                <a16:creationId xmlns:a16="http://schemas.microsoft.com/office/drawing/2014/main" id="{DD3CBEB9-9322-4406-A44C-6F020BE3C3AE}"/>
              </a:ext>
            </a:extLst>
          </p:cNvPr>
          <p:cNvSpPr>
            <a:spLocks noGrp="1"/>
          </p:cNvSpPr>
          <p:nvPr/>
        </p:nvSpPr>
        <p:spPr>
          <a:xfrm>
            <a:off x="904875" y="4400550"/>
            <a:ext cx="3460750" cy="647700"/>
          </a:xfrm>
          <a:prstGeom prst="rect">
            <a:avLst/>
          </a:prstGeom>
          <a:ln w="9525">
            <a:solidFill>
              <a:srgbClr val="DDE5EF"/>
            </a:solidFill>
            <a:prstDash val="solid"/>
          </a:ln>
        </p:spPr>
      </p:sp>
      <p:sp>
        <p:nvSpPr>
          <p:cNvPr id="30" name="正方形/長方形 29">
            <a:extLst>
              <a:ext uri="{FF2B5EF4-FFF2-40B4-BE49-F238E27FC236}">
                <a16:creationId xmlns:a16="http://schemas.microsoft.com/office/drawing/2014/main" id="{3E6AB0AA-9C5F-47B5-99C7-9DAA257225CE}"/>
              </a:ext>
            </a:extLst>
          </p:cNvPr>
          <p:cNvSpPr>
            <a:spLocks noGrp="1"/>
          </p:cNvSpPr>
          <p:nvPr/>
        </p:nvSpPr>
        <p:spPr>
          <a:xfrm>
            <a:off x="990600" y="44672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ステップ3.4/3.5</a:t>
            </a:r>
          </a:p>
        </p:txBody>
      </p:sp>
      <p:sp>
        <p:nvSpPr>
          <p:cNvPr id="31" name="正方形/長方形 30">
            <a:extLst>
              <a:ext uri="{FF2B5EF4-FFF2-40B4-BE49-F238E27FC236}">
                <a16:creationId xmlns:a16="http://schemas.microsoft.com/office/drawing/2014/main" id="{EC1F0B03-571C-4A28-965C-68EAD4F9EC79}"/>
              </a:ext>
            </a:extLst>
          </p:cNvPr>
          <p:cNvSpPr>
            <a:spLocks noGrp="1"/>
          </p:cNvSpPr>
          <p:nvPr/>
        </p:nvSpPr>
        <p:spPr>
          <a:xfrm>
            <a:off x="4365625" y="4400550"/>
            <a:ext cx="3460750" cy="647700"/>
          </a:xfrm>
          <a:prstGeom prst="rect">
            <a:avLst/>
          </a:prstGeom>
          <a:ln w="9525">
            <a:solidFill>
              <a:srgbClr val="DDE5EF"/>
            </a:solidFill>
            <a:prstDash val="solid"/>
          </a:ln>
        </p:spPr>
      </p:sp>
      <p:sp>
        <p:nvSpPr>
          <p:cNvPr id="32" name="正方形/長方形 31">
            <a:extLst>
              <a:ext uri="{FF2B5EF4-FFF2-40B4-BE49-F238E27FC236}">
                <a16:creationId xmlns:a16="http://schemas.microsoft.com/office/drawing/2014/main" id="{31921902-0D24-44A6-805B-F4A61C432BD9}"/>
              </a:ext>
            </a:extLst>
          </p:cNvPr>
          <p:cNvSpPr>
            <a:spLocks noGrp="1"/>
          </p:cNvSpPr>
          <p:nvPr/>
        </p:nvSpPr>
        <p:spPr>
          <a:xfrm>
            <a:off x="4451350" y="44672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workflow 有効化と実行</a:t>
            </a:r>
          </a:p>
        </p:txBody>
      </p:sp>
      <p:sp>
        <p:nvSpPr>
          <p:cNvPr id="33" name="正方形/長方形 32">
            <a:extLst>
              <a:ext uri="{FF2B5EF4-FFF2-40B4-BE49-F238E27FC236}">
                <a16:creationId xmlns:a16="http://schemas.microsoft.com/office/drawing/2014/main" id="{DD06384B-DF01-4FC3-81AE-5647426C0A27}"/>
              </a:ext>
            </a:extLst>
          </p:cNvPr>
          <p:cNvSpPr>
            <a:spLocks noGrp="1"/>
          </p:cNvSpPr>
          <p:nvPr/>
        </p:nvSpPr>
        <p:spPr>
          <a:xfrm>
            <a:off x="7826375" y="4400550"/>
            <a:ext cx="3460750" cy="647700"/>
          </a:xfrm>
          <a:prstGeom prst="rect">
            <a:avLst/>
          </a:prstGeom>
          <a:ln w="9525">
            <a:solidFill>
              <a:srgbClr val="DDE5EF"/>
            </a:solidFill>
            <a:prstDash val="solid"/>
          </a:ln>
        </p:spPr>
      </p:sp>
      <p:sp>
        <p:nvSpPr>
          <p:cNvPr id="34" name="正方形/長方形 33">
            <a:extLst>
              <a:ext uri="{FF2B5EF4-FFF2-40B4-BE49-F238E27FC236}">
                <a16:creationId xmlns:a16="http://schemas.microsoft.com/office/drawing/2014/main" id="{0D002D99-A20B-42DC-99D7-70EA1D568C62}"/>
              </a:ext>
            </a:extLst>
          </p:cNvPr>
          <p:cNvSpPr>
            <a:spLocks noGrp="1"/>
          </p:cNvSpPr>
          <p:nvPr/>
        </p:nvSpPr>
        <p:spPr>
          <a:xfrm>
            <a:off x="7912100" y="44672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Actions ログを確認</a:t>
            </a:r>
          </a:p>
        </p:txBody>
      </p:sp>
      <p:sp>
        <p:nvSpPr>
          <p:cNvPr id="35" name="正方形/長方形 34">
            <a:extLst>
              <a:ext uri="{FF2B5EF4-FFF2-40B4-BE49-F238E27FC236}">
                <a16:creationId xmlns:a16="http://schemas.microsoft.com/office/drawing/2014/main" id="{79202663-95C9-496A-B875-F9F55F1744D2}"/>
              </a:ext>
            </a:extLst>
          </p:cNvPr>
          <p:cNvSpPr>
            <a:spLocks noGrp="1"/>
          </p:cNvSpPr>
          <p:nvPr/>
        </p:nvSpPr>
        <p:spPr>
          <a:xfrm>
            <a:off x="904875" y="5048250"/>
            <a:ext cx="3460750" cy="647700"/>
          </a:xfrm>
          <a:prstGeom prst="rect">
            <a:avLst/>
          </a:prstGeom>
          <a:ln w="9525">
            <a:solidFill>
              <a:srgbClr val="DDE5EF"/>
            </a:solidFill>
            <a:prstDash val="solid"/>
          </a:ln>
        </p:spPr>
      </p:sp>
      <p:sp>
        <p:nvSpPr>
          <p:cNvPr id="36" name="正方形/長方形 35">
            <a:extLst>
              <a:ext uri="{FF2B5EF4-FFF2-40B4-BE49-F238E27FC236}">
                <a16:creationId xmlns:a16="http://schemas.microsoft.com/office/drawing/2014/main" id="{3829A1D6-A1FE-4E1C-B333-FAC5C367FCE3}"/>
              </a:ext>
            </a:extLst>
          </p:cNvPr>
          <p:cNvSpPr>
            <a:spLocks noGrp="1"/>
          </p:cNvSpPr>
          <p:nvPr/>
        </p:nvSpPr>
        <p:spPr>
          <a:xfrm>
            <a:off x="990600" y="51149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フェーズ4</a:t>
            </a:r>
          </a:p>
        </p:txBody>
      </p:sp>
      <p:sp>
        <p:nvSpPr>
          <p:cNvPr id="37" name="正方形/長方形 36">
            <a:extLst>
              <a:ext uri="{FF2B5EF4-FFF2-40B4-BE49-F238E27FC236}">
                <a16:creationId xmlns:a16="http://schemas.microsoft.com/office/drawing/2014/main" id="{11D2AB26-5E05-44EC-8850-FCBFA8AD9272}"/>
              </a:ext>
            </a:extLst>
          </p:cNvPr>
          <p:cNvSpPr>
            <a:spLocks noGrp="1"/>
          </p:cNvSpPr>
          <p:nvPr/>
        </p:nvSpPr>
        <p:spPr>
          <a:xfrm>
            <a:off x="4365625" y="5048250"/>
            <a:ext cx="3460750" cy="647700"/>
          </a:xfrm>
          <a:prstGeom prst="rect">
            <a:avLst/>
          </a:prstGeom>
          <a:ln w="9525">
            <a:solidFill>
              <a:srgbClr val="DDE5EF"/>
            </a:solidFill>
            <a:prstDash val="solid"/>
          </a:ln>
        </p:spPr>
      </p:sp>
      <p:sp>
        <p:nvSpPr>
          <p:cNvPr id="38" name="正方形/長方形 37">
            <a:extLst>
              <a:ext uri="{FF2B5EF4-FFF2-40B4-BE49-F238E27FC236}">
                <a16:creationId xmlns:a16="http://schemas.microsoft.com/office/drawing/2014/main" id="{F6288431-E812-4AD1-8C7B-E6BF144A915D}"/>
              </a:ext>
            </a:extLst>
          </p:cNvPr>
          <p:cNvSpPr>
            <a:spLocks noGrp="1"/>
          </p:cNvSpPr>
          <p:nvPr/>
        </p:nvSpPr>
        <p:spPr>
          <a:xfrm>
            <a:off x="4451350" y="51149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Container Apps とアプリ動作確認</a:t>
            </a:r>
          </a:p>
        </p:txBody>
      </p:sp>
      <p:sp>
        <p:nvSpPr>
          <p:cNvPr id="39" name="正方形/長方形 38">
            <a:extLst>
              <a:ext uri="{FF2B5EF4-FFF2-40B4-BE49-F238E27FC236}">
                <a16:creationId xmlns:a16="http://schemas.microsoft.com/office/drawing/2014/main" id="{7DD00772-012B-4B04-B0C8-0AB7EA01886A}"/>
              </a:ext>
            </a:extLst>
          </p:cNvPr>
          <p:cNvSpPr>
            <a:spLocks noGrp="1"/>
          </p:cNvSpPr>
          <p:nvPr/>
        </p:nvSpPr>
        <p:spPr>
          <a:xfrm>
            <a:off x="7826375" y="5048250"/>
            <a:ext cx="3460750" cy="647700"/>
          </a:xfrm>
          <a:prstGeom prst="rect">
            <a:avLst/>
          </a:prstGeom>
          <a:ln w="9525">
            <a:solidFill>
              <a:srgbClr val="DDE5EF"/>
            </a:solidFill>
            <a:prstDash val="solid"/>
          </a:ln>
        </p:spPr>
      </p:sp>
      <p:sp>
        <p:nvSpPr>
          <p:cNvPr id="40" name="正方形/長方形 39">
            <a:extLst>
              <a:ext uri="{FF2B5EF4-FFF2-40B4-BE49-F238E27FC236}">
                <a16:creationId xmlns:a16="http://schemas.microsoft.com/office/drawing/2014/main" id="{F35797DD-43FA-405B-8620-34EF06505A5E}"/>
              </a:ext>
            </a:extLst>
          </p:cNvPr>
          <p:cNvSpPr>
            <a:spLocks noGrp="1"/>
          </p:cNvSpPr>
          <p:nvPr/>
        </p:nvSpPr>
        <p:spPr>
          <a:xfrm>
            <a:off x="7912100" y="51149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URL と redirect URI の一致を確認</a:t>
            </a:r>
          </a:p>
        </p:txBody>
      </p:sp>
      <p:sp>
        <p:nvSpPr>
          <p:cNvPr id="41" name="正方形/長方形 40">
            <a:extLst>
              <a:ext uri="{FF2B5EF4-FFF2-40B4-BE49-F238E27FC236}">
                <a16:creationId xmlns:a16="http://schemas.microsoft.com/office/drawing/2014/main" id="{F54798FC-1C1A-46F4-9E96-B4F450E584EB}"/>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正方形/長方形 25">
            <a:extLst>
              <a:ext uri="{FF2B5EF4-FFF2-40B4-BE49-F238E27FC236}">
                <a16:creationId xmlns:a16="http://schemas.microsoft.com/office/drawing/2014/main" id="{838499A1-C3DE-421A-A5A6-4254FC0C8BEA}"/>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GitHub Actions が行うこと</a:t>
            </a:r>
          </a:p>
        </p:txBody>
      </p:sp>
      <p:sp>
        <p:nvSpPr>
          <p:cNvPr id="2" name="正方形/長方形 1">
            <a:extLst>
              <a:ext uri="{FF2B5EF4-FFF2-40B4-BE49-F238E27FC236}">
                <a16:creationId xmlns:a16="http://schemas.microsoft.com/office/drawing/2014/main" id="{28229C45-D2E8-4E74-95B9-8C778B07B2DD}"/>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06 / 48</a:t>
            </a:r>
          </a:p>
        </p:txBody>
      </p:sp>
      <p:sp>
        <p:nvSpPr>
          <p:cNvPr id="3" name="正方形/長方形 2">
            <a:extLst>
              <a:ext uri="{FF2B5EF4-FFF2-40B4-BE49-F238E27FC236}">
                <a16:creationId xmlns:a16="http://schemas.microsoft.com/office/drawing/2014/main" id="{34E0B1D2-5A2E-4922-83B0-15776402465D}"/>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C214F9CA-4D0A-4262-98B5-52B3302E16A0}"/>
              </a:ext>
            </a:extLst>
          </p:cNvPr>
          <p:cNvSpPr>
            <a:spLocks noGrp="1"/>
          </p:cNvSpPr>
          <p:nvPr/>
        </p:nvSpPr>
        <p:spPr>
          <a:xfrm>
            <a:off x="666750" y="1162050"/>
            <a:ext cx="10096500" cy="552450"/>
          </a:xfrm>
          <a:prstGeom prst="rect">
            <a:avLst/>
          </a:prstGeom>
          <a:ln w="0">
            <a:solidFill>
              <a:srgbClr val="FFFFFF"/>
            </a:solidFill>
            <a:prstDash val="solid"/>
          </a:ln>
        </p:spPr>
        <p:txBody>
          <a:bodyPr lIns="0" tIns="0" rIns="0" bIns="0" anchor="t"/>
          <a:lstStyle/>
          <a:p>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GitHub Actions は、手作業で行うビルド、ACR への push、Container Apps の更新を workflow として実行します。</a:t>
            </a:r>
          </a:p>
        </p:txBody>
      </p:sp>
      <p:sp>
        <p:nvSpPr>
          <p:cNvPr id="5" name="正方形/長方形 4">
            <a:extLst>
              <a:ext uri="{FF2B5EF4-FFF2-40B4-BE49-F238E27FC236}">
                <a16:creationId xmlns:a16="http://schemas.microsoft.com/office/drawing/2014/main" id="{EA310938-1721-4F26-9ECF-0235AD2F093C}"/>
              </a:ext>
            </a:extLst>
          </p:cNvPr>
          <p:cNvSpPr>
            <a:spLocks noGrp="1"/>
          </p:cNvSpPr>
          <p:nvPr/>
        </p:nvSpPr>
        <p:spPr>
          <a:xfrm>
            <a:off x="904875" y="1952625"/>
            <a:ext cx="4933950" cy="1762125"/>
          </a:xfrm>
          <a:prstGeom prst="rect">
            <a:avLst/>
          </a:prstGeom>
          <a:ln w="9525">
            <a:solidFill>
              <a:srgbClr val="DBE4EF"/>
            </a:solidFill>
            <a:prstDash val="solid"/>
          </a:ln>
        </p:spPr>
      </p:sp>
      <p:sp>
        <p:nvSpPr>
          <p:cNvPr id="6" name="正方形/長方形 5">
            <a:extLst>
              <a:ext uri="{FF2B5EF4-FFF2-40B4-BE49-F238E27FC236}">
                <a16:creationId xmlns:a16="http://schemas.microsoft.com/office/drawing/2014/main" id="{13993145-89D8-481E-BA16-EE8A00E4A98A}"/>
              </a:ext>
            </a:extLst>
          </p:cNvPr>
          <p:cNvSpPr>
            <a:spLocks noGrp="1"/>
          </p:cNvSpPr>
          <p:nvPr/>
        </p:nvSpPr>
        <p:spPr>
          <a:xfrm>
            <a:off x="904875" y="1952625"/>
            <a:ext cx="76200" cy="1762125"/>
          </a:xfrm>
          <a:prstGeom prst="rect">
            <a:avLst/>
          </a:prstGeom>
          <a:ln w="0">
            <a:solidFill>
              <a:srgbClr val="2563EB"/>
            </a:solidFill>
            <a:prstDash val="solid"/>
          </a:ln>
        </p:spPr>
      </p:sp>
      <p:sp>
        <p:nvSpPr>
          <p:cNvPr id="7" name="正方形/長方形 6">
            <a:extLst>
              <a:ext uri="{FF2B5EF4-FFF2-40B4-BE49-F238E27FC236}">
                <a16:creationId xmlns:a16="http://schemas.microsoft.com/office/drawing/2014/main" id="{793F7D8C-34E2-4C3C-843F-9B36FC30D4F4}"/>
              </a:ext>
            </a:extLst>
          </p:cNvPr>
          <p:cNvSpPr>
            <a:spLocks noGrp="1"/>
          </p:cNvSpPr>
          <p:nvPr/>
        </p:nvSpPr>
        <p:spPr>
          <a:xfrm>
            <a:off x="1133475" y="2124075"/>
            <a:ext cx="4552950" cy="171450"/>
          </a:xfrm>
          <a:prstGeom prst="rect">
            <a:avLst/>
          </a:prstGeom>
          <a:ln w="0">
            <a:solidFill>
              <a:srgbClr val="FFFFFF"/>
            </a:solidFill>
            <a:prstDash val="solid"/>
          </a:ln>
        </p:spPr>
        <p:txBody>
          <a:bodyPr lIns="0" tIns="0" rIns="0" bIns="0" anchor="t"/>
          <a:lstStyle/>
          <a:p>
            <a:pPr algn="l">
              <a:defRPr sz="900" b="1">
                <a:solidFill>
                  <a:srgbClr val="2563EB"/>
                </a:solidFill>
                <a:latin typeface="Yu Gothic"/>
                <a:ea typeface="Yu Gothic"/>
                <a:cs typeface="Yu Gothic"/>
              </a:defRPr>
            </a:pPr>
            <a:r>
              <a:rPr sz="900" b="1">
                <a:solidFill>
                  <a:srgbClr val="2563EB"/>
                </a:solidFill>
                <a:latin typeface="Yu Gothic"/>
                <a:ea typeface="Yu Gothic"/>
                <a:cs typeface="Yu Gothic"/>
              </a:rPr>
              <a:t>1</a:t>
            </a:r>
          </a:p>
        </p:txBody>
      </p:sp>
      <p:sp>
        <p:nvSpPr>
          <p:cNvPr id="8" name="正方形/長方形 7">
            <a:extLst>
              <a:ext uri="{FF2B5EF4-FFF2-40B4-BE49-F238E27FC236}">
                <a16:creationId xmlns:a16="http://schemas.microsoft.com/office/drawing/2014/main" id="{AE0B2419-AD30-4434-A250-B36C481E098A}"/>
              </a:ext>
            </a:extLst>
          </p:cNvPr>
          <p:cNvSpPr>
            <a:spLocks noGrp="1"/>
          </p:cNvSpPr>
          <p:nvPr/>
        </p:nvSpPr>
        <p:spPr>
          <a:xfrm>
            <a:off x="1133475" y="2352675"/>
            <a:ext cx="453390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コード取得</a:t>
            </a:r>
          </a:p>
        </p:txBody>
      </p:sp>
      <p:sp>
        <p:nvSpPr>
          <p:cNvPr id="9" name="正方形/長方形 8">
            <a:extLst>
              <a:ext uri="{FF2B5EF4-FFF2-40B4-BE49-F238E27FC236}">
                <a16:creationId xmlns:a16="http://schemas.microsoft.com/office/drawing/2014/main" id="{40DB6449-AF29-44E7-956C-9A4EE827B5B2}"/>
              </a:ext>
            </a:extLst>
          </p:cNvPr>
          <p:cNvSpPr>
            <a:spLocks noGrp="1"/>
          </p:cNvSpPr>
          <p:nvPr/>
        </p:nvSpPr>
        <p:spPr>
          <a:xfrm>
            <a:off x="1133475" y="2790825"/>
            <a:ext cx="4533900" cy="8096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リポジトリの API/Web コードを使います。</a:t>
            </a:r>
          </a:p>
        </p:txBody>
      </p:sp>
      <p:sp>
        <p:nvSpPr>
          <p:cNvPr id="10" name="正方形/長方形 9">
            <a:extLst>
              <a:ext uri="{FF2B5EF4-FFF2-40B4-BE49-F238E27FC236}">
                <a16:creationId xmlns:a16="http://schemas.microsoft.com/office/drawing/2014/main" id="{ABFAAF29-8C0A-4702-9995-39880C7A93C1}"/>
              </a:ext>
            </a:extLst>
          </p:cNvPr>
          <p:cNvSpPr>
            <a:spLocks noGrp="1"/>
          </p:cNvSpPr>
          <p:nvPr/>
        </p:nvSpPr>
        <p:spPr>
          <a:xfrm>
            <a:off x="6067425" y="1952625"/>
            <a:ext cx="4933950" cy="1762125"/>
          </a:xfrm>
          <a:prstGeom prst="rect">
            <a:avLst/>
          </a:prstGeom>
          <a:ln w="9525">
            <a:solidFill>
              <a:srgbClr val="DBE4EF"/>
            </a:solidFill>
            <a:prstDash val="solid"/>
          </a:ln>
        </p:spPr>
      </p:sp>
      <p:sp>
        <p:nvSpPr>
          <p:cNvPr id="11" name="正方形/長方形 10">
            <a:extLst>
              <a:ext uri="{FF2B5EF4-FFF2-40B4-BE49-F238E27FC236}">
                <a16:creationId xmlns:a16="http://schemas.microsoft.com/office/drawing/2014/main" id="{3632F46B-2C9B-4616-B15D-6C2749258B83}"/>
              </a:ext>
            </a:extLst>
          </p:cNvPr>
          <p:cNvSpPr>
            <a:spLocks noGrp="1"/>
          </p:cNvSpPr>
          <p:nvPr/>
        </p:nvSpPr>
        <p:spPr>
          <a:xfrm>
            <a:off x="6067425" y="1952625"/>
            <a:ext cx="76200" cy="1762125"/>
          </a:xfrm>
          <a:prstGeom prst="rect">
            <a:avLst/>
          </a:prstGeom>
          <a:ln w="0">
            <a:solidFill>
              <a:srgbClr val="0F766E"/>
            </a:solidFill>
            <a:prstDash val="solid"/>
          </a:ln>
        </p:spPr>
      </p:sp>
      <p:sp>
        <p:nvSpPr>
          <p:cNvPr id="12" name="正方形/長方形 11">
            <a:extLst>
              <a:ext uri="{FF2B5EF4-FFF2-40B4-BE49-F238E27FC236}">
                <a16:creationId xmlns:a16="http://schemas.microsoft.com/office/drawing/2014/main" id="{DD20B641-8699-4BFD-9539-B6394D942B1B}"/>
              </a:ext>
            </a:extLst>
          </p:cNvPr>
          <p:cNvSpPr>
            <a:spLocks noGrp="1"/>
          </p:cNvSpPr>
          <p:nvPr/>
        </p:nvSpPr>
        <p:spPr>
          <a:xfrm>
            <a:off x="6296025" y="2124075"/>
            <a:ext cx="4552950" cy="171450"/>
          </a:xfrm>
          <a:prstGeom prst="rect">
            <a:avLst/>
          </a:prstGeom>
          <a:ln w="0">
            <a:solidFill>
              <a:srgbClr val="FFFFFF"/>
            </a:solidFill>
            <a:prstDash val="solid"/>
          </a:ln>
        </p:spPr>
        <p:txBody>
          <a:bodyPr lIns="0" tIns="0" rIns="0" bIns="0" anchor="t"/>
          <a:lstStyle/>
          <a:p>
            <a:pPr algn="l">
              <a:defRPr sz="900" b="1">
                <a:solidFill>
                  <a:srgbClr val="0F766E"/>
                </a:solidFill>
                <a:latin typeface="Yu Gothic"/>
                <a:ea typeface="Yu Gothic"/>
                <a:cs typeface="Yu Gothic"/>
              </a:defRPr>
            </a:pPr>
            <a:r>
              <a:rPr sz="900" b="1">
                <a:solidFill>
                  <a:srgbClr val="0F766E"/>
                </a:solidFill>
                <a:latin typeface="Yu Gothic"/>
                <a:ea typeface="Yu Gothic"/>
                <a:cs typeface="Yu Gothic"/>
              </a:rPr>
              <a:t>2</a:t>
            </a:r>
          </a:p>
        </p:txBody>
      </p:sp>
      <p:sp>
        <p:nvSpPr>
          <p:cNvPr id="13" name="正方形/長方形 12">
            <a:extLst>
              <a:ext uri="{FF2B5EF4-FFF2-40B4-BE49-F238E27FC236}">
                <a16:creationId xmlns:a16="http://schemas.microsoft.com/office/drawing/2014/main" id="{43479FA5-6B30-4CEA-8001-B8E41EBB5FD3}"/>
              </a:ext>
            </a:extLst>
          </p:cNvPr>
          <p:cNvSpPr>
            <a:spLocks noGrp="1"/>
          </p:cNvSpPr>
          <p:nvPr/>
        </p:nvSpPr>
        <p:spPr>
          <a:xfrm>
            <a:off x="6296025" y="2352675"/>
            <a:ext cx="453390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ビルド</a:t>
            </a:r>
          </a:p>
        </p:txBody>
      </p:sp>
      <p:sp>
        <p:nvSpPr>
          <p:cNvPr id="14" name="正方形/長方形 13">
            <a:extLst>
              <a:ext uri="{FF2B5EF4-FFF2-40B4-BE49-F238E27FC236}">
                <a16:creationId xmlns:a16="http://schemas.microsoft.com/office/drawing/2014/main" id="{124A6F91-7703-409E-BED8-838194C093D7}"/>
              </a:ext>
            </a:extLst>
          </p:cNvPr>
          <p:cNvSpPr>
            <a:spLocks noGrp="1"/>
          </p:cNvSpPr>
          <p:nvPr/>
        </p:nvSpPr>
        <p:spPr>
          <a:xfrm>
            <a:off x="6296025" y="2790825"/>
            <a:ext cx="4533900" cy="8096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コンテナイメージを作成します。</a:t>
            </a:r>
          </a:p>
        </p:txBody>
      </p:sp>
      <p:sp>
        <p:nvSpPr>
          <p:cNvPr id="15" name="正方形/長方形 14">
            <a:extLst>
              <a:ext uri="{FF2B5EF4-FFF2-40B4-BE49-F238E27FC236}">
                <a16:creationId xmlns:a16="http://schemas.microsoft.com/office/drawing/2014/main" id="{96BB746B-3BE8-4C17-9F4C-E69FD5EDF5F8}"/>
              </a:ext>
            </a:extLst>
          </p:cNvPr>
          <p:cNvSpPr>
            <a:spLocks noGrp="1"/>
          </p:cNvSpPr>
          <p:nvPr/>
        </p:nvSpPr>
        <p:spPr>
          <a:xfrm>
            <a:off x="904875" y="3924300"/>
            <a:ext cx="4933950" cy="1762125"/>
          </a:xfrm>
          <a:prstGeom prst="rect">
            <a:avLst/>
          </a:prstGeom>
          <a:ln w="9525">
            <a:solidFill>
              <a:srgbClr val="DBE4EF"/>
            </a:solidFill>
            <a:prstDash val="solid"/>
          </a:ln>
        </p:spPr>
      </p:sp>
      <p:sp>
        <p:nvSpPr>
          <p:cNvPr id="16" name="正方形/長方形 15">
            <a:extLst>
              <a:ext uri="{FF2B5EF4-FFF2-40B4-BE49-F238E27FC236}">
                <a16:creationId xmlns:a16="http://schemas.microsoft.com/office/drawing/2014/main" id="{6E643CEC-3765-42D5-92F5-8238B288887F}"/>
              </a:ext>
            </a:extLst>
          </p:cNvPr>
          <p:cNvSpPr>
            <a:spLocks noGrp="1"/>
          </p:cNvSpPr>
          <p:nvPr/>
        </p:nvSpPr>
        <p:spPr>
          <a:xfrm>
            <a:off x="904875" y="3924300"/>
            <a:ext cx="76200" cy="1762125"/>
          </a:xfrm>
          <a:prstGeom prst="rect">
            <a:avLst/>
          </a:prstGeom>
          <a:ln w="0">
            <a:solidFill>
              <a:srgbClr val="EA580C"/>
            </a:solidFill>
            <a:prstDash val="solid"/>
          </a:ln>
        </p:spPr>
      </p:sp>
      <p:sp>
        <p:nvSpPr>
          <p:cNvPr id="17" name="正方形/長方形 16">
            <a:extLst>
              <a:ext uri="{FF2B5EF4-FFF2-40B4-BE49-F238E27FC236}">
                <a16:creationId xmlns:a16="http://schemas.microsoft.com/office/drawing/2014/main" id="{957BBF19-10F3-4539-9A5E-7F7F4EAAD54B}"/>
              </a:ext>
            </a:extLst>
          </p:cNvPr>
          <p:cNvSpPr>
            <a:spLocks noGrp="1"/>
          </p:cNvSpPr>
          <p:nvPr/>
        </p:nvSpPr>
        <p:spPr>
          <a:xfrm>
            <a:off x="1133475" y="4095750"/>
            <a:ext cx="4552950" cy="171450"/>
          </a:xfrm>
          <a:prstGeom prst="rect">
            <a:avLst/>
          </a:prstGeom>
          <a:ln w="0">
            <a:solidFill>
              <a:srgbClr val="FFFFFF"/>
            </a:solidFill>
            <a:prstDash val="solid"/>
          </a:ln>
        </p:spPr>
        <p:txBody>
          <a:bodyPr lIns="0" tIns="0" rIns="0" bIns="0" anchor="t"/>
          <a:lstStyle/>
          <a:p>
            <a:pPr algn="l">
              <a:defRPr sz="900" b="1">
                <a:solidFill>
                  <a:srgbClr val="EA580C"/>
                </a:solidFill>
                <a:latin typeface="Yu Gothic"/>
                <a:ea typeface="Yu Gothic"/>
                <a:cs typeface="Yu Gothic"/>
              </a:defRPr>
            </a:pPr>
            <a:r>
              <a:rPr sz="900" b="1">
                <a:solidFill>
                  <a:srgbClr val="EA580C"/>
                </a:solidFill>
                <a:latin typeface="Yu Gothic"/>
                <a:ea typeface="Yu Gothic"/>
                <a:cs typeface="Yu Gothic"/>
              </a:rPr>
              <a:t>3</a:t>
            </a:r>
          </a:p>
        </p:txBody>
      </p:sp>
      <p:sp>
        <p:nvSpPr>
          <p:cNvPr id="18" name="正方形/長方形 17">
            <a:extLst>
              <a:ext uri="{FF2B5EF4-FFF2-40B4-BE49-F238E27FC236}">
                <a16:creationId xmlns:a16="http://schemas.microsoft.com/office/drawing/2014/main" id="{21303730-EC11-42BA-A410-17264B7EA5BA}"/>
              </a:ext>
            </a:extLst>
          </p:cNvPr>
          <p:cNvSpPr>
            <a:spLocks noGrp="1"/>
          </p:cNvSpPr>
          <p:nvPr/>
        </p:nvSpPr>
        <p:spPr>
          <a:xfrm>
            <a:off x="1133475" y="4324350"/>
            <a:ext cx="453390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push</a:t>
            </a:r>
          </a:p>
        </p:txBody>
      </p:sp>
      <p:sp>
        <p:nvSpPr>
          <p:cNvPr id="19" name="正方形/長方形 18">
            <a:extLst>
              <a:ext uri="{FF2B5EF4-FFF2-40B4-BE49-F238E27FC236}">
                <a16:creationId xmlns:a16="http://schemas.microsoft.com/office/drawing/2014/main" id="{B391EAC1-2771-48AD-87F6-566DD3B926E8}"/>
              </a:ext>
            </a:extLst>
          </p:cNvPr>
          <p:cNvSpPr>
            <a:spLocks noGrp="1"/>
          </p:cNvSpPr>
          <p:nvPr/>
        </p:nvSpPr>
        <p:spPr>
          <a:xfrm>
            <a:off x="1133475" y="4762500"/>
            <a:ext cx="4533900" cy="8096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ACR にイメージを登録します。</a:t>
            </a:r>
          </a:p>
        </p:txBody>
      </p:sp>
      <p:sp>
        <p:nvSpPr>
          <p:cNvPr id="20" name="正方形/長方形 19">
            <a:extLst>
              <a:ext uri="{FF2B5EF4-FFF2-40B4-BE49-F238E27FC236}">
                <a16:creationId xmlns:a16="http://schemas.microsoft.com/office/drawing/2014/main" id="{C7155089-07E4-467E-9FAC-D68104CBA206}"/>
              </a:ext>
            </a:extLst>
          </p:cNvPr>
          <p:cNvSpPr>
            <a:spLocks noGrp="1"/>
          </p:cNvSpPr>
          <p:nvPr/>
        </p:nvSpPr>
        <p:spPr>
          <a:xfrm>
            <a:off x="6067425" y="3924300"/>
            <a:ext cx="4933950" cy="1762125"/>
          </a:xfrm>
          <a:prstGeom prst="rect">
            <a:avLst/>
          </a:prstGeom>
          <a:ln w="9525">
            <a:solidFill>
              <a:srgbClr val="DBE4EF"/>
            </a:solidFill>
            <a:prstDash val="solid"/>
          </a:ln>
        </p:spPr>
      </p:sp>
      <p:sp>
        <p:nvSpPr>
          <p:cNvPr id="21" name="正方形/長方形 20">
            <a:extLst>
              <a:ext uri="{FF2B5EF4-FFF2-40B4-BE49-F238E27FC236}">
                <a16:creationId xmlns:a16="http://schemas.microsoft.com/office/drawing/2014/main" id="{C54A926A-CAD4-4FBB-8174-887756B5DC27}"/>
              </a:ext>
            </a:extLst>
          </p:cNvPr>
          <p:cNvSpPr>
            <a:spLocks noGrp="1"/>
          </p:cNvSpPr>
          <p:nvPr/>
        </p:nvSpPr>
        <p:spPr>
          <a:xfrm>
            <a:off x="6067425" y="3924300"/>
            <a:ext cx="76200" cy="1762125"/>
          </a:xfrm>
          <a:prstGeom prst="rect">
            <a:avLst/>
          </a:prstGeom>
          <a:ln w="0">
            <a:solidFill>
              <a:srgbClr val="15803D"/>
            </a:solidFill>
            <a:prstDash val="solid"/>
          </a:ln>
        </p:spPr>
      </p:sp>
      <p:sp>
        <p:nvSpPr>
          <p:cNvPr id="22" name="正方形/長方形 21">
            <a:extLst>
              <a:ext uri="{FF2B5EF4-FFF2-40B4-BE49-F238E27FC236}">
                <a16:creationId xmlns:a16="http://schemas.microsoft.com/office/drawing/2014/main" id="{302A6935-09CA-4833-9D32-2F0D71D8A3E8}"/>
              </a:ext>
            </a:extLst>
          </p:cNvPr>
          <p:cNvSpPr>
            <a:spLocks noGrp="1"/>
          </p:cNvSpPr>
          <p:nvPr/>
        </p:nvSpPr>
        <p:spPr>
          <a:xfrm>
            <a:off x="6296025" y="4095750"/>
            <a:ext cx="4552950" cy="171450"/>
          </a:xfrm>
          <a:prstGeom prst="rect">
            <a:avLst/>
          </a:prstGeom>
          <a:ln w="0">
            <a:solidFill>
              <a:srgbClr val="FFFFFF"/>
            </a:solidFill>
            <a:prstDash val="solid"/>
          </a:ln>
        </p:spPr>
        <p:txBody>
          <a:bodyPr lIns="0" tIns="0" rIns="0" bIns="0" anchor="t"/>
          <a:lstStyle/>
          <a:p>
            <a:pPr algn="l">
              <a:defRPr sz="900" b="1">
                <a:solidFill>
                  <a:srgbClr val="15803D"/>
                </a:solidFill>
                <a:latin typeface="Yu Gothic"/>
                <a:ea typeface="Yu Gothic"/>
                <a:cs typeface="Yu Gothic"/>
              </a:defRPr>
            </a:pPr>
            <a:r>
              <a:rPr sz="900" b="1">
                <a:solidFill>
                  <a:srgbClr val="15803D"/>
                </a:solidFill>
                <a:latin typeface="Yu Gothic"/>
                <a:ea typeface="Yu Gothic"/>
                <a:cs typeface="Yu Gothic"/>
              </a:rPr>
              <a:t>4</a:t>
            </a:r>
          </a:p>
        </p:txBody>
      </p:sp>
      <p:sp>
        <p:nvSpPr>
          <p:cNvPr id="23" name="正方形/長方形 22">
            <a:extLst>
              <a:ext uri="{FF2B5EF4-FFF2-40B4-BE49-F238E27FC236}">
                <a16:creationId xmlns:a16="http://schemas.microsoft.com/office/drawing/2014/main" id="{783D2F33-F9F7-47BE-9E71-2AA025EF691D}"/>
              </a:ext>
            </a:extLst>
          </p:cNvPr>
          <p:cNvSpPr>
            <a:spLocks noGrp="1"/>
          </p:cNvSpPr>
          <p:nvPr/>
        </p:nvSpPr>
        <p:spPr>
          <a:xfrm>
            <a:off x="6296025" y="4324350"/>
            <a:ext cx="453390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更新</a:t>
            </a:r>
          </a:p>
        </p:txBody>
      </p:sp>
      <p:sp>
        <p:nvSpPr>
          <p:cNvPr id="24" name="正方形/長方形 23">
            <a:extLst>
              <a:ext uri="{FF2B5EF4-FFF2-40B4-BE49-F238E27FC236}">
                <a16:creationId xmlns:a16="http://schemas.microsoft.com/office/drawing/2014/main" id="{AEE07FF3-E1FB-40C9-A6D6-71749683E7B5}"/>
              </a:ext>
            </a:extLst>
          </p:cNvPr>
          <p:cNvSpPr>
            <a:spLocks noGrp="1"/>
          </p:cNvSpPr>
          <p:nvPr/>
        </p:nvSpPr>
        <p:spPr>
          <a:xfrm>
            <a:off x="6296025" y="4762500"/>
            <a:ext cx="4533900" cy="8096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Container Apps の revision を更新します。</a:t>
            </a:r>
          </a:p>
        </p:txBody>
      </p:sp>
      <p:sp>
        <p:nvSpPr>
          <p:cNvPr id="25" name="正方形/長方形 24">
            <a:extLst>
              <a:ext uri="{FF2B5EF4-FFF2-40B4-BE49-F238E27FC236}">
                <a16:creationId xmlns:a16="http://schemas.microsoft.com/office/drawing/2014/main" id="{36048BF6-E5ED-45AE-847C-6F410165CC34}"/>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正方形/長方形 29">
            <a:extLst>
              <a:ext uri="{FF2B5EF4-FFF2-40B4-BE49-F238E27FC236}">
                <a16:creationId xmlns:a16="http://schemas.microsoft.com/office/drawing/2014/main" id="{B17FCC69-9A4A-49C8-BDAA-CE0AB7B506BA}"/>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デプロイの通信経路</a:t>
            </a:r>
          </a:p>
        </p:txBody>
      </p:sp>
      <p:sp>
        <p:nvSpPr>
          <p:cNvPr id="2" name="正方形/長方形 1">
            <a:extLst>
              <a:ext uri="{FF2B5EF4-FFF2-40B4-BE49-F238E27FC236}">
                <a16:creationId xmlns:a16="http://schemas.microsoft.com/office/drawing/2014/main" id="{1BB50637-E733-4B21-87A9-089E99ADA2CC}"/>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07 / 48</a:t>
            </a:r>
          </a:p>
        </p:txBody>
      </p:sp>
      <p:sp>
        <p:nvSpPr>
          <p:cNvPr id="3" name="正方形/長方形 2">
            <a:extLst>
              <a:ext uri="{FF2B5EF4-FFF2-40B4-BE49-F238E27FC236}">
                <a16:creationId xmlns:a16="http://schemas.microsoft.com/office/drawing/2014/main" id="{B33CD633-0F14-407A-9A73-9F33D3D868AA}"/>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399285EB-8B80-40E7-92FE-FDAE9A46A6CA}"/>
              </a:ext>
            </a:extLst>
          </p:cNvPr>
          <p:cNvSpPr>
            <a:spLocks noGrp="1"/>
          </p:cNvSpPr>
          <p:nvPr/>
        </p:nvSpPr>
        <p:spPr>
          <a:xfrm>
            <a:off x="666750" y="1162050"/>
            <a:ext cx="10096500" cy="552450"/>
          </a:xfrm>
          <a:prstGeom prst="rect">
            <a:avLst/>
          </a:prstGeom>
          <a:ln w="0">
            <a:solidFill>
              <a:srgbClr val="FFFFFF"/>
            </a:solidFill>
            <a:prstDash val="solid"/>
          </a:ln>
        </p:spPr>
        <p:txBody>
          <a:bodyPr lIns="0" tIns="0" rIns="0" bIns="0" anchor="t"/>
          <a:lstStyle/>
          <a:p>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GitHub Actions は Service Principal を使って Azure にログインし、ACR と Container Apps を更新します。PostgreSQL はデプロイ先ではなく、実行時の接続先です。</a:t>
            </a:r>
          </a:p>
        </p:txBody>
      </p:sp>
      <p:sp>
        <p:nvSpPr>
          <p:cNvPr id="5" name="正方形/長方形 4">
            <a:extLst>
              <a:ext uri="{FF2B5EF4-FFF2-40B4-BE49-F238E27FC236}">
                <a16:creationId xmlns:a16="http://schemas.microsoft.com/office/drawing/2014/main" id="{CDB60D9F-CE11-4BE7-B9D4-AEAE15AA3351}"/>
              </a:ext>
            </a:extLst>
          </p:cNvPr>
          <p:cNvSpPr>
            <a:spLocks noGrp="1"/>
          </p:cNvSpPr>
          <p:nvPr/>
        </p:nvSpPr>
        <p:spPr>
          <a:xfrm>
            <a:off x="1809750" y="1571625"/>
            <a:ext cx="8572500" cy="285750"/>
          </a:xfrm>
          <a:prstGeom prst="rect">
            <a:avLst/>
          </a:prstGeom>
          <a:ln w="0">
            <a:solidFill>
              <a:srgbClr val="FFFFFF"/>
            </a:solidFill>
            <a:prstDash val="solid"/>
          </a:ln>
        </p:spPr>
        <p:txBody>
          <a:bodyPr lIns="0" tIns="0" rIns="0" bIns="0" anchor="t"/>
          <a:lstStyle/>
          <a:p>
            <a:pPr algn="ctr">
              <a:defRPr sz="1575" b="1">
                <a:solidFill>
                  <a:srgbClr val="2563EB"/>
                </a:solidFill>
                <a:latin typeface="Yu Gothic"/>
                <a:ea typeface="Yu Gothic"/>
                <a:cs typeface="Yu Gothic"/>
              </a:defRPr>
            </a:pPr>
            <a:r>
              <a:rPr sz="1575" b="1">
                <a:solidFill>
                  <a:srgbClr val="2563EB"/>
                </a:solidFill>
                <a:latin typeface="Yu Gothic"/>
                <a:ea typeface="Yu Gothic"/>
                <a:cs typeface="Yu Gothic"/>
              </a:rPr>
              <a:t>デプロイ時通信: GitHub Actions が Azure リソースを更新</a:t>
            </a:r>
          </a:p>
        </p:txBody>
      </p:sp>
      <p:sp>
        <p:nvSpPr>
          <p:cNvPr id="6" name="正方形/長方形 5">
            <a:extLst>
              <a:ext uri="{FF2B5EF4-FFF2-40B4-BE49-F238E27FC236}">
                <a16:creationId xmlns:a16="http://schemas.microsoft.com/office/drawing/2014/main" id="{97FF3AAB-DF4F-4589-B689-64F3E0C97163}"/>
              </a:ext>
            </a:extLst>
          </p:cNvPr>
          <p:cNvSpPr>
            <a:spLocks noGrp="1"/>
          </p:cNvSpPr>
          <p:nvPr/>
        </p:nvSpPr>
        <p:spPr>
          <a:xfrm>
            <a:off x="904875" y="2524125"/>
            <a:ext cx="2000250" cy="819150"/>
          </a:xfrm>
          <a:prstGeom prst="rect">
            <a:avLst/>
          </a:prstGeom>
          <a:ln w="12383">
            <a:solidFill>
              <a:srgbClr val="7C3AED"/>
            </a:solidFill>
            <a:prstDash val="solid"/>
          </a:ln>
        </p:spPr>
      </p:sp>
      <p:sp>
        <p:nvSpPr>
          <p:cNvPr id="7" name="正方形/長方形 6">
            <a:extLst>
              <a:ext uri="{FF2B5EF4-FFF2-40B4-BE49-F238E27FC236}">
                <a16:creationId xmlns:a16="http://schemas.microsoft.com/office/drawing/2014/main" id="{7AFE3144-40B3-42A5-B3B5-25BC8197876B}"/>
              </a:ext>
            </a:extLst>
          </p:cNvPr>
          <p:cNvSpPr>
            <a:spLocks noGrp="1"/>
          </p:cNvSpPr>
          <p:nvPr/>
        </p:nvSpPr>
        <p:spPr>
          <a:xfrm>
            <a:off x="1019175" y="2619375"/>
            <a:ext cx="1771650" cy="247650"/>
          </a:xfrm>
          <a:prstGeom prst="rect">
            <a:avLst/>
          </a:prstGeom>
          <a:ln w="0">
            <a:solidFill>
              <a:srgbClr val="FFFFFF"/>
            </a:solidFill>
            <a:prstDash val="solid"/>
          </a:ln>
        </p:spPr>
        <p:txBody>
          <a:bodyPr lIns="0" tIns="0" rIns="0" bIns="0" anchor="ctr"/>
          <a:lstStyle/>
          <a:p>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GitHub Actions</a:t>
            </a:r>
          </a:p>
        </p:txBody>
      </p:sp>
      <p:sp>
        <p:nvSpPr>
          <p:cNvPr id="8" name="正方形/長方形 7">
            <a:extLst>
              <a:ext uri="{FF2B5EF4-FFF2-40B4-BE49-F238E27FC236}">
                <a16:creationId xmlns:a16="http://schemas.microsoft.com/office/drawing/2014/main" id="{85D52581-693B-44F1-9CE3-A1DF5A53A992}"/>
              </a:ext>
            </a:extLst>
          </p:cNvPr>
          <p:cNvSpPr>
            <a:spLocks noGrp="1"/>
          </p:cNvSpPr>
          <p:nvPr/>
        </p:nvSpPr>
        <p:spPr>
          <a:xfrm>
            <a:off x="1019175" y="2933700"/>
            <a:ext cx="1771650" cy="361950"/>
          </a:xfrm>
          <a:prstGeom prst="rect">
            <a:avLst/>
          </a:prstGeom>
          <a:ln w="0">
            <a:solidFill>
              <a:srgbClr val="FFFFFF"/>
            </a:solidFill>
            <a:prstDash val="solid"/>
          </a:ln>
        </p:spPr>
        <p:txBody>
          <a:bodyPr lIns="0" tIns="0" rIns="0" bIns="0" anchor="t"/>
          <a:lstStyle/>
          <a:p>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workflow 実行</a:t>
            </a:r>
          </a:p>
        </p:txBody>
      </p:sp>
      <p:sp>
        <p:nvSpPr>
          <p:cNvPr id="9" name="正方形/長方形 8">
            <a:extLst>
              <a:ext uri="{FF2B5EF4-FFF2-40B4-BE49-F238E27FC236}">
                <a16:creationId xmlns:a16="http://schemas.microsoft.com/office/drawing/2014/main" id="{64B58E4B-63CE-4D12-B71D-346E5FA60E0B}"/>
              </a:ext>
            </a:extLst>
          </p:cNvPr>
          <p:cNvSpPr>
            <a:spLocks noGrp="1"/>
          </p:cNvSpPr>
          <p:nvPr/>
        </p:nvSpPr>
        <p:spPr>
          <a:xfrm>
            <a:off x="3667125" y="2524125"/>
            <a:ext cx="2000250" cy="819150"/>
          </a:xfrm>
          <a:prstGeom prst="rect">
            <a:avLst/>
          </a:prstGeom>
          <a:ln w="12383">
            <a:solidFill>
              <a:srgbClr val="EA580C"/>
            </a:solidFill>
            <a:prstDash val="solid"/>
          </a:ln>
        </p:spPr>
      </p:sp>
      <p:sp>
        <p:nvSpPr>
          <p:cNvPr id="10" name="正方形/長方形 9">
            <a:extLst>
              <a:ext uri="{FF2B5EF4-FFF2-40B4-BE49-F238E27FC236}">
                <a16:creationId xmlns:a16="http://schemas.microsoft.com/office/drawing/2014/main" id="{0AB662D7-56F8-41C9-BA84-88ED2072877D}"/>
              </a:ext>
            </a:extLst>
          </p:cNvPr>
          <p:cNvSpPr>
            <a:spLocks noGrp="1"/>
          </p:cNvSpPr>
          <p:nvPr/>
        </p:nvSpPr>
        <p:spPr>
          <a:xfrm>
            <a:off x="3781425" y="2619375"/>
            <a:ext cx="1771650" cy="247650"/>
          </a:xfrm>
          <a:prstGeom prst="rect">
            <a:avLst/>
          </a:prstGeom>
          <a:ln w="0">
            <a:solidFill>
              <a:srgbClr val="FFFFFF"/>
            </a:solidFill>
            <a:prstDash val="solid"/>
          </a:ln>
        </p:spPr>
        <p:txBody>
          <a:bodyPr lIns="0" tIns="0" rIns="0" bIns="0" anchor="ctr"/>
          <a:lstStyle/>
          <a:p>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Service Principal</a:t>
            </a:r>
          </a:p>
        </p:txBody>
      </p:sp>
      <p:sp>
        <p:nvSpPr>
          <p:cNvPr id="11" name="正方形/長方形 10">
            <a:extLst>
              <a:ext uri="{FF2B5EF4-FFF2-40B4-BE49-F238E27FC236}">
                <a16:creationId xmlns:a16="http://schemas.microsoft.com/office/drawing/2014/main" id="{634C403D-C6A6-4E47-A6EC-D06031BEA452}"/>
              </a:ext>
            </a:extLst>
          </p:cNvPr>
          <p:cNvSpPr>
            <a:spLocks noGrp="1"/>
          </p:cNvSpPr>
          <p:nvPr/>
        </p:nvSpPr>
        <p:spPr>
          <a:xfrm>
            <a:off x="3781425" y="2933700"/>
            <a:ext cx="1771650" cy="361950"/>
          </a:xfrm>
          <a:prstGeom prst="rect">
            <a:avLst/>
          </a:prstGeom>
          <a:ln w="0">
            <a:solidFill>
              <a:srgbClr val="FFFFFF"/>
            </a:solidFill>
            <a:prstDash val="solid"/>
          </a:ln>
        </p:spPr>
        <p:txBody>
          <a:bodyPr lIns="0" tIns="0" rIns="0" bIns="0" anchor="t"/>
          <a:lstStyle/>
          <a:p>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Azure へログイン</a:t>
            </a:r>
          </a:p>
        </p:txBody>
      </p:sp>
      <p:sp>
        <p:nvSpPr>
          <p:cNvPr id="12" name="正方形/長方形 11">
            <a:extLst>
              <a:ext uri="{FF2B5EF4-FFF2-40B4-BE49-F238E27FC236}">
                <a16:creationId xmlns:a16="http://schemas.microsoft.com/office/drawing/2014/main" id="{2661E58D-ED63-451D-8F63-ADC73E25926B}"/>
              </a:ext>
            </a:extLst>
          </p:cNvPr>
          <p:cNvSpPr>
            <a:spLocks noGrp="1"/>
          </p:cNvSpPr>
          <p:nvPr/>
        </p:nvSpPr>
        <p:spPr>
          <a:xfrm>
            <a:off x="6429375" y="2524125"/>
            <a:ext cx="2190750" cy="819150"/>
          </a:xfrm>
          <a:prstGeom prst="rect">
            <a:avLst/>
          </a:prstGeom>
          <a:ln w="12383">
            <a:solidFill>
              <a:srgbClr val="2563EB"/>
            </a:solidFill>
            <a:prstDash val="solid"/>
          </a:ln>
        </p:spPr>
      </p:sp>
      <p:sp>
        <p:nvSpPr>
          <p:cNvPr id="13" name="正方形/長方形 12">
            <a:extLst>
              <a:ext uri="{FF2B5EF4-FFF2-40B4-BE49-F238E27FC236}">
                <a16:creationId xmlns:a16="http://schemas.microsoft.com/office/drawing/2014/main" id="{6B1A0F2E-26C1-4E31-BC17-4308EB0EA2A1}"/>
              </a:ext>
            </a:extLst>
          </p:cNvPr>
          <p:cNvSpPr>
            <a:spLocks noGrp="1"/>
          </p:cNvSpPr>
          <p:nvPr/>
        </p:nvSpPr>
        <p:spPr>
          <a:xfrm>
            <a:off x="6543675" y="2619375"/>
            <a:ext cx="1962150" cy="247650"/>
          </a:xfrm>
          <a:prstGeom prst="rect">
            <a:avLst/>
          </a:prstGeom>
          <a:ln w="0">
            <a:solidFill>
              <a:srgbClr val="FFFFFF"/>
            </a:solidFill>
            <a:prstDash val="solid"/>
          </a:ln>
        </p:spPr>
        <p:txBody>
          <a:bodyPr lIns="0" tIns="0" rIns="0" bIns="0" anchor="ctr"/>
          <a:lstStyle/>
          <a:p>
            <a:pPr algn="ctr">
              <a:defRPr sz="1163" b="1">
                <a:solidFill>
                  <a:srgbClr val="1F2937"/>
                </a:solidFill>
                <a:latin typeface="Yu Gothic"/>
                <a:ea typeface="Yu Gothic"/>
                <a:cs typeface="Yu Gothic"/>
              </a:defRPr>
            </a:pPr>
            <a:r>
              <a:rPr sz="1163" b="1">
                <a:solidFill>
                  <a:srgbClr val="1F2937"/>
                </a:solidFill>
                <a:latin typeface="Yu Gothic"/>
                <a:ea typeface="Yu Gothic"/>
                <a:cs typeface="Yu Gothic"/>
              </a:rPr>
              <a:t>Azure Resource Manager</a:t>
            </a:r>
          </a:p>
        </p:txBody>
      </p:sp>
      <p:sp>
        <p:nvSpPr>
          <p:cNvPr id="14" name="正方形/長方形 13">
            <a:extLst>
              <a:ext uri="{FF2B5EF4-FFF2-40B4-BE49-F238E27FC236}">
                <a16:creationId xmlns:a16="http://schemas.microsoft.com/office/drawing/2014/main" id="{670630E3-FCF0-40F5-BB18-80AFDC070A9F}"/>
              </a:ext>
            </a:extLst>
          </p:cNvPr>
          <p:cNvSpPr>
            <a:spLocks noGrp="1"/>
          </p:cNvSpPr>
          <p:nvPr/>
        </p:nvSpPr>
        <p:spPr>
          <a:xfrm>
            <a:off x="6543675" y="2933700"/>
            <a:ext cx="1962150" cy="361950"/>
          </a:xfrm>
          <a:prstGeom prst="rect">
            <a:avLst/>
          </a:prstGeom>
          <a:ln w="0">
            <a:solidFill>
              <a:srgbClr val="FFFFFF"/>
            </a:solidFill>
            <a:prstDash val="solid"/>
          </a:ln>
        </p:spPr>
        <p:txBody>
          <a:bodyPr lIns="0" tIns="0" rIns="0" bIns="0" anchor="t"/>
          <a:lstStyle/>
          <a:p>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Container Apps 更新</a:t>
            </a:r>
          </a:p>
        </p:txBody>
      </p:sp>
      <p:sp>
        <p:nvSpPr>
          <p:cNvPr id="15" name="正方形/長方形 14">
            <a:extLst>
              <a:ext uri="{FF2B5EF4-FFF2-40B4-BE49-F238E27FC236}">
                <a16:creationId xmlns:a16="http://schemas.microsoft.com/office/drawing/2014/main" id="{EE137222-52BA-4C31-9C34-1F324BAFF9BE}"/>
              </a:ext>
            </a:extLst>
          </p:cNvPr>
          <p:cNvSpPr>
            <a:spLocks noGrp="1"/>
          </p:cNvSpPr>
          <p:nvPr/>
        </p:nvSpPr>
        <p:spPr>
          <a:xfrm>
            <a:off x="9334500" y="2143125"/>
            <a:ext cx="1714500" cy="666750"/>
          </a:xfrm>
          <a:prstGeom prst="rect">
            <a:avLst/>
          </a:prstGeom>
          <a:ln w="12383">
            <a:solidFill>
              <a:srgbClr val="0F766E"/>
            </a:solidFill>
            <a:prstDash val="solid"/>
          </a:ln>
        </p:spPr>
      </p:sp>
      <p:sp>
        <p:nvSpPr>
          <p:cNvPr id="16" name="正方形/長方形 15">
            <a:extLst>
              <a:ext uri="{FF2B5EF4-FFF2-40B4-BE49-F238E27FC236}">
                <a16:creationId xmlns:a16="http://schemas.microsoft.com/office/drawing/2014/main" id="{3235E397-1BDF-4632-BF77-70DD5429D581}"/>
              </a:ext>
            </a:extLst>
          </p:cNvPr>
          <p:cNvSpPr>
            <a:spLocks noGrp="1"/>
          </p:cNvSpPr>
          <p:nvPr/>
        </p:nvSpPr>
        <p:spPr>
          <a:xfrm>
            <a:off x="9448800" y="2238375"/>
            <a:ext cx="1485900" cy="247650"/>
          </a:xfrm>
          <a:prstGeom prst="rect">
            <a:avLst/>
          </a:prstGeom>
          <a:ln w="0">
            <a:solidFill>
              <a:srgbClr val="FFFFFF"/>
            </a:solidFill>
            <a:prstDash val="solid"/>
          </a:ln>
        </p:spPr>
        <p:txBody>
          <a:bodyPr lIns="0" tIns="0" rIns="0" bIns="0" anchor="ctr"/>
          <a:lstStyle/>
          <a:p>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ACR</a:t>
            </a:r>
          </a:p>
        </p:txBody>
      </p:sp>
      <p:sp>
        <p:nvSpPr>
          <p:cNvPr id="17" name="正方形/長方形 16">
            <a:extLst>
              <a:ext uri="{FF2B5EF4-FFF2-40B4-BE49-F238E27FC236}">
                <a16:creationId xmlns:a16="http://schemas.microsoft.com/office/drawing/2014/main" id="{1D19F96D-0EDA-4066-B872-8C0D42A180AC}"/>
              </a:ext>
            </a:extLst>
          </p:cNvPr>
          <p:cNvSpPr>
            <a:spLocks noGrp="1"/>
          </p:cNvSpPr>
          <p:nvPr/>
        </p:nvSpPr>
        <p:spPr>
          <a:xfrm>
            <a:off x="9448800" y="2552700"/>
            <a:ext cx="1485900" cy="209550"/>
          </a:xfrm>
          <a:prstGeom prst="rect">
            <a:avLst/>
          </a:prstGeom>
          <a:ln w="0">
            <a:solidFill>
              <a:srgbClr val="FFFFFF"/>
            </a:solidFill>
            <a:prstDash val="solid"/>
          </a:ln>
        </p:spPr>
        <p:txBody>
          <a:bodyPr lIns="0" tIns="0" rIns="0" bIns="0" anchor="t"/>
          <a:lstStyle/>
          <a:p>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image push</a:t>
            </a:r>
          </a:p>
        </p:txBody>
      </p:sp>
      <p:sp>
        <p:nvSpPr>
          <p:cNvPr id="18" name="正方形/長方形 17">
            <a:extLst>
              <a:ext uri="{FF2B5EF4-FFF2-40B4-BE49-F238E27FC236}">
                <a16:creationId xmlns:a16="http://schemas.microsoft.com/office/drawing/2014/main" id="{4E1A03C5-C703-46BF-9999-F4CED3DD059A}"/>
              </a:ext>
            </a:extLst>
          </p:cNvPr>
          <p:cNvSpPr>
            <a:spLocks noGrp="1"/>
          </p:cNvSpPr>
          <p:nvPr/>
        </p:nvSpPr>
        <p:spPr>
          <a:xfrm>
            <a:off x="9334500" y="3238500"/>
            <a:ext cx="1714500" cy="666750"/>
          </a:xfrm>
          <a:prstGeom prst="rect">
            <a:avLst/>
          </a:prstGeom>
          <a:ln w="12383">
            <a:solidFill>
              <a:srgbClr val="15803D"/>
            </a:solidFill>
            <a:prstDash val="solid"/>
          </a:ln>
        </p:spPr>
      </p:sp>
      <p:sp>
        <p:nvSpPr>
          <p:cNvPr id="19" name="正方形/長方形 18">
            <a:extLst>
              <a:ext uri="{FF2B5EF4-FFF2-40B4-BE49-F238E27FC236}">
                <a16:creationId xmlns:a16="http://schemas.microsoft.com/office/drawing/2014/main" id="{005B793B-701E-46EE-B52C-03D79BB64FB5}"/>
              </a:ext>
            </a:extLst>
          </p:cNvPr>
          <p:cNvSpPr>
            <a:spLocks noGrp="1"/>
          </p:cNvSpPr>
          <p:nvPr/>
        </p:nvSpPr>
        <p:spPr>
          <a:xfrm>
            <a:off x="9448800" y="3333750"/>
            <a:ext cx="1485900" cy="247650"/>
          </a:xfrm>
          <a:prstGeom prst="rect">
            <a:avLst/>
          </a:prstGeom>
          <a:ln w="0">
            <a:solidFill>
              <a:srgbClr val="FFFFFF"/>
            </a:solidFill>
            <a:prstDash val="solid"/>
          </a:ln>
        </p:spPr>
        <p:txBody>
          <a:bodyPr lIns="0" tIns="0" rIns="0" bIns="0" anchor="ctr"/>
          <a:lstStyle/>
          <a:p>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Container Apps</a:t>
            </a:r>
          </a:p>
        </p:txBody>
      </p:sp>
      <p:sp>
        <p:nvSpPr>
          <p:cNvPr id="20" name="正方形/長方形 19">
            <a:extLst>
              <a:ext uri="{FF2B5EF4-FFF2-40B4-BE49-F238E27FC236}">
                <a16:creationId xmlns:a16="http://schemas.microsoft.com/office/drawing/2014/main" id="{C626672D-CD11-45C3-94C0-F0E2532E33DF}"/>
              </a:ext>
            </a:extLst>
          </p:cNvPr>
          <p:cNvSpPr>
            <a:spLocks noGrp="1"/>
          </p:cNvSpPr>
          <p:nvPr/>
        </p:nvSpPr>
        <p:spPr>
          <a:xfrm>
            <a:off x="9448800" y="3648075"/>
            <a:ext cx="1485900" cy="209550"/>
          </a:xfrm>
          <a:prstGeom prst="rect">
            <a:avLst/>
          </a:prstGeom>
          <a:ln w="0">
            <a:solidFill>
              <a:srgbClr val="FFFFFF"/>
            </a:solidFill>
            <a:prstDash val="solid"/>
          </a:ln>
        </p:spPr>
        <p:txBody>
          <a:bodyPr lIns="0" tIns="0" rIns="0" bIns="0" anchor="t"/>
          <a:lstStyle/>
          <a:p>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revision 更新</a:t>
            </a:r>
          </a:p>
        </p:txBody>
      </p:sp>
      <p:sp>
        <p:nvSpPr>
          <p:cNvPr id="21" name="正方形/長方形 20">
            <a:extLst>
              <a:ext uri="{FF2B5EF4-FFF2-40B4-BE49-F238E27FC236}">
                <a16:creationId xmlns:a16="http://schemas.microsoft.com/office/drawing/2014/main" id="{A5E8A581-C927-411F-88E5-D9C93E5CC0BC}"/>
              </a:ext>
            </a:extLst>
          </p:cNvPr>
          <p:cNvSpPr>
            <a:spLocks noGrp="1"/>
          </p:cNvSpPr>
          <p:nvPr/>
        </p:nvSpPr>
        <p:spPr>
          <a:xfrm>
            <a:off x="4333875" y="4524375"/>
            <a:ext cx="3524250" cy="742950"/>
          </a:xfrm>
          <a:prstGeom prst="rect">
            <a:avLst/>
          </a:prstGeom>
          <a:ln w="12383">
            <a:solidFill>
              <a:srgbClr val="BE185D"/>
            </a:solidFill>
            <a:prstDash val="solid"/>
          </a:ln>
        </p:spPr>
      </p:sp>
      <p:sp>
        <p:nvSpPr>
          <p:cNvPr id="22" name="正方形/長方形 21">
            <a:extLst>
              <a:ext uri="{FF2B5EF4-FFF2-40B4-BE49-F238E27FC236}">
                <a16:creationId xmlns:a16="http://schemas.microsoft.com/office/drawing/2014/main" id="{CCEDBA95-0152-493E-B18A-7A3A136ED5F9}"/>
              </a:ext>
            </a:extLst>
          </p:cNvPr>
          <p:cNvSpPr>
            <a:spLocks noGrp="1"/>
          </p:cNvSpPr>
          <p:nvPr/>
        </p:nvSpPr>
        <p:spPr>
          <a:xfrm>
            <a:off x="4448175" y="4619625"/>
            <a:ext cx="3295650" cy="247650"/>
          </a:xfrm>
          <a:prstGeom prst="rect">
            <a:avLst/>
          </a:prstGeom>
          <a:ln w="0">
            <a:solidFill>
              <a:srgbClr val="FFFFFF"/>
            </a:solidFill>
            <a:prstDash val="solid"/>
          </a:ln>
        </p:spPr>
        <p:txBody>
          <a:bodyPr lIns="0" tIns="0" rIns="0" bIns="0" anchor="ctr"/>
          <a:lstStyle/>
          <a:p>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PostgreSQL</a:t>
            </a:r>
          </a:p>
        </p:txBody>
      </p:sp>
      <p:sp>
        <p:nvSpPr>
          <p:cNvPr id="23" name="正方形/長方形 22">
            <a:extLst>
              <a:ext uri="{FF2B5EF4-FFF2-40B4-BE49-F238E27FC236}">
                <a16:creationId xmlns:a16="http://schemas.microsoft.com/office/drawing/2014/main" id="{C60FE571-C715-427B-B179-7CED3A7100F1}"/>
              </a:ext>
            </a:extLst>
          </p:cNvPr>
          <p:cNvSpPr>
            <a:spLocks noGrp="1"/>
          </p:cNvSpPr>
          <p:nvPr/>
        </p:nvSpPr>
        <p:spPr>
          <a:xfrm>
            <a:off x="4448175" y="4933950"/>
            <a:ext cx="3295650" cy="285750"/>
          </a:xfrm>
          <a:prstGeom prst="rect">
            <a:avLst/>
          </a:prstGeom>
          <a:ln w="0">
            <a:solidFill>
              <a:srgbClr val="FFFFFF"/>
            </a:solidFill>
            <a:prstDash val="solid"/>
          </a:ln>
        </p:spPr>
        <p:txBody>
          <a:bodyPr lIns="0" tIns="0" rIns="0" bIns="0" anchor="t"/>
          <a:lstStyle/>
          <a:p>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デプロイ先ではなく実行時の接続先</a:t>
            </a:r>
          </a:p>
        </p:txBody>
      </p:sp>
      <p:sp>
        <p:nvSpPr>
          <p:cNvPr id="24" name="直線コネクタ 23">
            <a:extLst>
              <a:ext uri="{FF2B5EF4-FFF2-40B4-BE49-F238E27FC236}">
                <a16:creationId xmlns:a16="http://schemas.microsoft.com/office/drawing/2014/main" id="{2F238EFE-B8A2-4584-9D86-F5458756525C}"/>
              </a:ext>
            </a:extLst>
          </p:cNvPr>
          <p:cNvSpPr>
            <a:spLocks noGrp="1"/>
          </p:cNvSpPr>
          <p:nvPr/>
        </p:nvSpPr>
        <p:spPr>
          <a:xfrm>
            <a:off x="2905125" y="2933700"/>
            <a:ext cx="762000" cy="0"/>
          </a:xfrm>
          <a:prstGeom prst="line">
            <a:avLst/>
          </a:prstGeom>
          <a:ln w="20955">
            <a:solidFill>
              <a:srgbClr val="7C3AED"/>
            </a:solidFill>
            <a:prstDash val="solid"/>
          </a:ln>
        </p:spPr>
      </p:sp>
      <p:sp>
        <p:nvSpPr>
          <p:cNvPr id="25" name="直線コネクタ 24">
            <a:extLst>
              <a:ext uri="{FF2B5EF4-FFF2-40B4-BE49-F238E27FC236}">
                <a16:creationId xmlns:a16="http://schemas.microsoft.com/office/drawing/2014/main" id="{71C60CA5-4CC0-44A1-8C9D-351A49E9C89D}"/>
              </a:ext>
            </a:extLst>
          </p:cNvPr>
          <p:cNvSpPr>
            <a:spLocks noGrp="1"/>
          </p:cNvSpPr>
          <p:nvPr/>
        </p:nvSpPr>
        <p:spPr>
          <a:xfrm>
            <a:off x="5667375" y="2933700"/>
            <a:ext cx="762000" cy="0"/>
          </a:xfrm>
          <a:prstGeom prst="line">
            <a:avLst/>
          </a:prstGeom>
          <a:ln w="20955">
            <a:solidFill>
              <a:srgbClr val="EA580C"/>
            </a:solidFill>
            <a:prstDash val="solid"/>
          </a:ln>
        </p:spPr>
      </p:sp>
      <p:sp>
        <p:nvSpPr>
          <p:cNvPr id="26" name="直線コネクタ 25">
            <a:extLst>
              <a:ext uri="{FF2B5EF4-FFF2-40B4-BE49-F238E27FC236}">
                <a16:creationId xmlns:a16="http://schemas.microsoft.com/office/drawing/2014/main" id="{92C20C89-B654-419B-A9DA-225D7AB726D6}"/>
              </a:ext>
            </a:extLst>
          </p:cNvPr>
          <p:cNvSpPr>
            <a:spLocks noGrp="1"/>
          </p:cNvSpPr>
          <p:nvPr/>
        </p:nvSpPr>
        <p:spPr>
          <a:xfrm>
            <a:off x="8620125" y="2800350"/>
            <a:ext cx="714375" cy="0"/>
          </a:xfrm>
          <a:prstGeom prst="line">
            <a:avLst/>
          </a:prstGeom>
          <a:ln w="20955">
            <a:solidFill>
              <a:srgbClr val="0F766E"/>
            </a:solidFill>
            <a:prstDash val="solid"/>
          </a:ln>
        </p:spPr>
      </p:sp>
      <p:sp>
        <p:nvSpPr>
          <p:cNvPr id="27" name="直線コネクタ 26">
            <a:extLst>
              <a:ext uri="{FF2B5EF4-FFF2-40B4-BE49-F238E27FC236}">
                <a16:creationId xmlns:a16="http://schemas.microsoft.com/office/drawing/2014/main" id="{F487DE85-6B8B-4C4E-A38B-93F7BE7EE5BE}"/>
              </a:ext>
            </a:extLst>
          </p:cNvPr>
          <p:cNvSpPr>
            <a:spLocks noGrp="1"/>
          </p:cNvSpPr>
          <p:nvPr/>
        </p:nvSpPr>
        <p:spPr>
          <a:xfrm>
            <a:off x="8620125" y="3095625"/>
            <a:ext cx="714375" cy="476250"/>
          </a:xfrm>
          <a:prstGeom prst="line">
            <a:avLst/>
          </a:prstGeom>
          <a:ln w="20955">
            <a:solidFill>
              <a:srgbClr val="15803D"/>
            </a:solidFill>
            <a:prstDash val="solid"/>
          </a:ln>
        </p:spPr>
      </p:sp>
      <p:sp>
        <p:nvSpPr>
          <p:cNvPr id="28" name="正方形/長方形 27">
            <a:extLst>
              <a:ext uri="{FF2B5EF4-FFF2-40B4-BE49-F238E27FC236}">
                <a16:creationId xmlns:a16="http://schemas.microsoft.com/office/drawing/2014/main" id="{95B2467D-8E6B-429A-9C82-85D2A65041CD}"/>
              </a:ext>
            </a:extLst>
          </p:cNvPr>
          <p:cNvSpPr>
            <a:spLocks noGrp="1"/>
          </p:cNvSpPr>
          <p:nvPr/>
        </p:nvSpPr>
        <p:spPr>
          <a:xfrm>
            <a:off x="2381250" y="5572125"/>
            <a:ext cx="7429500" cy="266700"/>
          </a:xfrm>
          <a:prstGeom prst="rect">
            <a:avLst/>
          </a:prstGeom>
          <a:ln w="0">
            <a:solidFill>
              <a:srgbClr val="FFFFFF"/>
            </a:solidFill>
            <a:prstDash val="solid"/>
          </a:ln>
        </p:spPr>
        <p:txBody>
          <a:bodyPr lIns="0" tIns="0" rIns="0" bIns="0" anchor="t"/>
          <a:lstStyle/>
          <a:p>
            <a:pPr algn="ctr">
              <a:defRPr sz="1200" b="0">
                <a:solidFill>
                  <a:srgbClr val="64748B"/>
                </a:solidFill>
                <a:latin typeface="Yu Gothic"/>
                <a:ea typeface="Yu Gothic"/>
                <a:cs typeface="Yu Gothic"/>
              </a:defRPr>
            </a:pPr>
            <a:r>
              <a:rPr sz="1200" b="0">
                <a:solidFill>
                  <a:srgbClr val="64748B"/>
                </a:solidFill>
                <a:latin typeface="Yu Gothic"/>
                <a:ea typeface="Yu Gothic"/>
                <a:cs typeface="Yu Gothic"/>
              </a:rPr>
              <a:t>注意: PostgreSQL への Todo データ接続は、デプロイ後に API が実行時に行います。</a:t>
            </a:r>
          </a:p>
        </p:txBody>
      </p:sp>
      <p:sp>
        <p:nvSpPr>
          <p:cNvPr id="29" name="正方形/長方形 28">
            <a:extLst>
              <a:ext uri="{FF2B5EF4-FFF2-40B4-BE49-F238E27FC236}">
                <a16:creationId xmlns:a16="http://schemas.microsoft.com/office/drawing/2014/main" id="{5FB28026-6580-41B0-9AAB-C5DBEB770D0B}"/>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正方形/長方形 23">
            <a:extLst>
              <a:ext uri="{FF2B5EF4-FFF2-40B4-BE49-F238E27FC236}">
                <a16:creationId xmlns:a16="http://schemas.microsoft.com/office/drawing/2014/main" id="{14C11F19-5DFB-4127-82BF-FFAE98382D76}"/>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Secret と Variables</a:t>
            </a:r>
          </a:p>
        </p:txBody>
      </p:sp>
      <p:sp>
        <p:nvSpPr>
          <p:cNvPr id="2" name="正方形/長方形 1">
            <a:extLst>
              <a:ext uri="{FF2B5EF4-FFF2-40B4-BE49-F238E27FC236}">
                <a16:creationId xmlns:a16="http://schemas.microsoft.com/office/drawing/2014/main" id="{2AD35138-1492-4565-8F1D-56329E5A0F69}"/>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08 / 48</a:t>
            </a:r>
          </a:p>
        </p:txBody>
      </p:sp>
      <p:sp>
        <p:nvSpPr>
          <p:cNvPr id="3" name="正方形/長方形 2">
            <a:extLst>
              <a:ext uri="{FF2B5EF4-FFF2-40B4-BE49-F238E27FC236}">
                <a16:creationId xmlns:a16="http://schemas.microsoft.com/office/drawing/2014/main" id="{84CD4E7C-7C47-4E17-AE47-CDC9D7DB6D44}"/>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D7B55B3D-559C-40C5-BFFE-DCC106C6017B}"/>
              </a:ext>
            </a:extLst>
          </p:cNvPr>
          <p:cNvSpPr>
            <a:spLocks noGrp="1"/>
          </p:cNvSpPr>
          <p:nvPr/>
        </p:nvSpPr>
        <p:spPr>
          <a:xfrm>
            <a:off x="666750" y="1162050"/>
            <a:ext cx="10096500" cy="552450"/>
          </a:xfrm>
          <a:prstGeom prst="rect">
            <a:avLst/>
          </a:prstGeom>
          <a:ln w="0">
            <a:solidFill>
              <a:srgbClr val="FFFFFF"/>
            </a:solidFill>
            <a:prstDash val="solid"/>
          </a:ln>
        </p:spPr>
        <p:txBody>
          <a:bodyPr lIns="0" tIns="0" rIns="0" bIns="0" anchor="t"/>
          <a:lstStyle/>
          <a:p>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GitHub に登録する値は、秘密情報と設定値に分けます。Secret は値を再表示できない前提で慎重に扱います。</a:t>
            </a:r>
          </a:p>
        </p:txBody>
      </p:sp>
      <p:sp>
        <p:nvSpPr>
          <p:cNvPr id="5" name="正方形/長方形 4">
            <a:extLst>
              <a:ext uri="{FF2B5EF4-FFF2-40B4-BE49-F238E27FC236}">
                <a16:creationId xmlns:a16="http://schemas.microsoft.com/office/drawing/2014/main" id="{C3582981-E3C3-4EEB-8533-9BB226C453AE}"/>
              </a:ext>
            </a:extLst>
          </p:cNvPr>
          <p:cNvSpPr>
            <a:spLocks noGrp="1"/>
          </p:cNvSpPr>
          <p:nvPr/>
        </p:nvSpPr>
        <p:spPr>
          <a:xfrm>
            <a:off x="904875" y="1809750"/>
            <a:ext cx="3460750" cy="647700"/>
          </a:xfrm>
          <a:prstGeom prst="rect">
            <a:avLst/>
          </a:prstGeom>
          <a:ln w="9525">
            <a:solidFill>
              <a:srgbClr val="C8D7EF"/>
            </a:solidFill>
            <a:prstDash val="solid"/>
          </a:ln>
        </p:spPr>
      </p:sp>
      <p:sp>
        <p:nvSpPr>
          <p:cNvPr id="6" name="正方形/長方形 5">
            <a:extLst>
              <a:ext uri="{FF2B5EF4-FFF2-40B4-BE49-F238E27FC236}">
                <a16:creationId xmlns:a16="http://schemas.microsoft.com/office/drawing/2014/main" id="{DE6F90B7-1864-4CD8-933F-2EB0FDE37088}"/>
              </a:ext>
            </a:extLst>
          </p:cNvPr>
          <p:cNvSpPr>
            <a:spLocks noGrp="1"/>
          </p:cNvSpPr>
          <p:nvPr/>
        </p:nvSpPr>
        <p:spPr>
          <a:xfrm>
            <a:off x="990600" y="1895475"/>
            <a:ext cx="3289300" cy="533400"/>
          </a:xfrm>
          <a:prstGeom prst="rect">
            <a:avLst/>
          </a:prstGeom>
          <a:ln w="0">
            <a:solidFill>
              <a:srgbClr val="FFFFFF"/>
            </a:solidFill>
            <a:prstDash val="solid"/>
          </a:ln>
        </p:spPr>
        <p:txBody>
          <a:bodyPr lIns="0" tIns="0" rIns="0" bIns="0" anchor="ctr"/>
          <a:lstStyle/>
          <a:p>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種類</a:t>
            </a:r>
          </a:p>
        </p:txBody>
      </p:sp>
      <p:sp>
        <p:nvSpPr>
          <p:cNvPr id="7" name="正方形/長方形 6">
            <a:extLst>
              <a:ext uri="{FF2B5EF4-FFF2-40B4-BE49-F238E27FC236}">
                <a16:creationId xmlns:a16="http://schemas.microsoft.com/office/drawing/2014/main" id="{6480DA1A-B1F3-4BE6-893B-171789C7DFA6}"/>
              </a:ext>
            </a:extLst>
          </p:cNvPr>
          <p:cNvSpPr>
            <a:spLocks noGrp="1"/>
          </p:cNvSpPr>
          <p:nvPr/>
        </p:nvSpPr>
        <p:spPr>
          <a:xfrm>
            <a:off x="4365625" y="1809750"/>
            <a:ext cx="3460750" cy="647700"/>
          </a:xfrm>
          <a:prstGeom prst="rect">
            <a:avLst/>
          </a:prstGeom>
          <a:ln w="9525">
            <a:solidFill>
              <a:srgbClr val="C8D7EF"/>
            </a:solidFill>
            <a:prstDash val="solid"/>
          </a:ln>
        </p:spPr>
      </p:sp>
      <p:sp>
        <p:nvSpPr>
          <p:cNvPr id="8" name="正方形/長方形 7">
            <a:extLst>
              <a:ext uri="{FF2B5EF4-FFF2-40B4-BE49-F238E27FC236}">
                <a16:creationId xmlns:a16="http://schemas.microsoft.com/office/drawing/2014/main" id="{DCC43863-EFD9-480B-8E30-7CD233BDBE19}"/>
              </a:ext>
            </a:extLst>
          </p:cNvPr>
          <p:cNvSpPr>
            <a:spLocks noGrp="1"/>
          </p:cNvSpPr>
          <p:nvPr/>
        </p:nvSpPr>
        <p:spPr>
          <a:xfrm>
            <a:off x="4451350" y="1895475"/>
            <a:ext cx="3289300" cy="533400"/>
          </a:xfrm>
          <a:prstGeom prst="rect">
            <a:avLst/>
          </a:prstGeom>
          <a:ln w="0">
            <a:solidFill>
              <a:srgbClr val="FFFFFF"/>
            </a:solidFill>
            <a:prstDash val="solid"/>
          </a:ln>
        </p:spPr>
        <p:txBody>
          <a:bodyPr lIns="0" tIns="0" rIns="0" bIns="0" anchor="ctr"/>
          <a:lstStyle/>
          <a:p>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例</a:t>
            </a:r>
          </a:p>
        </p:txBody>
      </p:sp>
      <p:sp>
        <p:nvSpPr>
          <p:cNvPr id="9" name="正方形/長方形 8">
            <a:extLst>
              <a:ext uri="{FF2B5EF4-FFF2-40B4-BE49-F238E27FC236}">
                <a16:creationId xmlns:a16="http://schemas.microsoft.com/office/drawing/2014/main" id="{73EA6E79-DA08-4BE1-B9DC-8A52DF3D9760}"/>
              </a:ext>
            </a:extLst>
          </p:cNvPr>
          <p:cNvSpPr>
            <a:spLocks noGrp="1"/>
          </p:cNvSpPr>
          <p:nvPr/>
        </p:nvSpPr>
        <p:spPr>
          <a:xfrm>
            <a:off x="7826375" y="1809750"/>
            <a:ext cx="3460750" cy="647700"/>
          </a:xfrm>
          <a:prstGeom prst="rect">
            <a:avLst/>
          </a:prstGeom>
          <a:ln w="9525">
            <a:solidFill>
              <a:srgbClr val="C8D7EF"/>
            </a:solidFill>
            <a:prstDash val="solid"/>
          </a:ln>
        </p:spPr>
      </p:sp>
      <p:sp>
        <p:nvSpPr>
          <p:cNvPr id="10" name="正方形/長方形 9">
            <a:extLst>
              <a:ext uri="{FF2B5EF4-FFF2-40B4-BE49-F238E27FC236}">
                <a16:creationId xmlns:a16="http://schemas.microsoft.com/office/drawing/2014/main" id="{FE26CA97-18B7-4E3A-AFD0-D5C357DC2962}"/>
              </a:ext>
            </a:extLst>
          </p:cNvPr>
          <p:cNvSpPr>
            <a:spLocks noGrp="1"/>
          </p:cNvSpPr>
          <p:nvPr/>
        </p:nvSpPr>
        <p:spPr>
          <a:xfrm>
            <a:off x="7912100" y="1895475"/>
            <a:ext cx="3289300" cy="533400"/>
          </a:xfrm>
          <a:prstGeom prst="rect">
            <a:avLst/>
          </a:prstGeom>
          <a:ln w="0">
            <a:solidFill>
              <a:srgbClr val="FFFFFF"/>
            </a:solidFill>
            <a:prstDash val="solid"/>
          </a:ln>
        </p:spPr>
        <p:txBody>
          <a:bodyPr lIns="0" tIns="0" rIns="0" bIns="0" anchor="ctr"/>
          <a:lstStyle/>
          <a:p>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扱い</a:t>
            </a:r>
          </a:p>
        </p:txBody>
      </p:sp>
      <p:sp>
        <p:nvSpPr>
          <p:cNvPr id="11" name="正方形/長方形 10">
            <a:extLst>
              <a:ext uri="{FF2B5EF4-FFF2-40B4-BE49-F238E27FC236}">
                <a16:creationId xmlns:a16="http://schemas.microsoft.com/office/drawing/2014/main" id="{274E5524-A555-49FF-8634-056AB4102CE3}"/>
              </a:ext>
            </a:extLst>
          </p:cNvPr>
          <p:cNvSpPr>
            <a:spLocks noGrp="1"/>
          </p:cNvSpPr>
          <p:nvPr/>
        </p:nvSpPr>
        <p:spPr>
          <a:xfrm>
            <a:off x="904875" y="2457450"/>
            <a:ext cx="3460750" cy="647700"/>
          </a:xfrm>
          <a:prstGeom prst="rect">
            <a:avLst/>
          </a:prstGeom>
          <a:ln w="9525">
            <a:solidFill>
              <a:srgbClr val="DDE5EF"/>
            </a:solidFill>
            <a:prstDash val="solid"/>
          </a:ln>
        </p:spPr>
      </p:sp>
      <p:sp>
        <p:nvSpPr>
          <p:cNvPr id="12" name="正方形/長方形 11">
            <a:extLst>
              <a:ext uri="{FF2B5EF4-FFF2-40B4-BE49-F238E27FC236}">
                <a16:creationId xmlns:a16="http://schemas.microsoft.com/office/drawing/2014/main" id="{7B5FD336-B845-45FF-A31A-F38DFDB3279F}"/>
              </a:ext>
            </a:extLst>
          </p:cNvPr>
          <p:cNvSpPr>
            <a:spLocks noGrp="1"/>
          </p:cNvSpPr>
          <p:nvPr/>
        </p:nvSpPr>
        <p:spPr>
          <a:xfrm>
            <a:off x="990600" y="25241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Secret</a:t>
            </a:r>
          </a:p>
        </p:txBody>
      </p:sp>
      <p:sp>
        <p:nvSpPr>
          <p:cNvPr id="13" name="正方形/長方形 12">
            <a:extLst>
              <a:ext uri="{FF2B5EF4-FFF2-40B4-BE49-F238E27FC236}">
                <a16:creationId xmlns:a16="http://schemas.microsoft.com/office/drawing/2014/main" id="{8F77E885-0FC4-4203-B102-23262FF386D3}"/>
              </a:ext>
            </a:extLst>
          </p:cNvPr>
          <p:cNvSpPr>
            <a:spLocks noGrp="1"/>
          </p:cNvSpPr>
          <p:nvPr/>
        </p:nvSpPr>
        <p:spPr>
          <a:xfrm>
            <a:off x="4365625" y="2457450"/>
            <a:ext cx="3460750" cy="647700"/>
          </a:xfrm>
          <a:prstGeom prst="rect">
            <a:avLst/>
          </a:prstGeom>
          <a:ln w="9525">
            <a:solidFill>
              <a:srgbClr val="DDE5EF"/>
            </a:solidFill>
            <a:prstDash val="solid"/>
          </a:ln>
        </p:spPr>
      </p:sp>
      <p:sp>
        <p:nvSpPr>
          <p:cNvPr id="14" name="正方形/長方形 13">
            <a:extLst>
              <a:ext uri="{FF2B5EF4-FFF2-40B4-BE49-F238E27FC236}">
                <a16:creationId xmlns:a16="http://schemas.microsoft.com/office/drawing/2014/main" id="{CE568508-52B3-4A85-AF2F-E170CFEE7FB4}"/>
              </a:ext>
            </a:extLst>
          </p:cNvPr>
          <p:cNvSpPr>
            <a:spLocks noGrp="1"/>
          </p:cNvSpPr>
          <p:nvPr/>
        </p:nvSpPr>
        <p:spPr>
          <a:xfrm>
            <a:off x="4451350" y="25241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AZURE_CREDENTIALS</a:t>
            </a:r>
          </a:p>
        </p:txBody>
      </p:sp>
      <p:sp>
        <p:nvSpPr>
          <p:cNvPr id="15" name="正方形/長方形 14">
            <a:extLst>
              <a:ext uri="{FF2B5EF4-FFF2-40B4-BE49-F238E27FC236}">
                <a16:creationId xmlns:a16="http://schemas.microsoft.com/office/drawing/2014/main" id="{72AE89B6-F9AB-4917-B47E-8B5889B98B54}"/>
              </a:ext>
            </a:extLst>
          </p:cNvPr>
          <p:cNvSpPr>
            <a:spLocks noGrp="1"/>
          </p:cNvSpPr>
          <p:nvPr/>
        </p:nvSpPr>
        <p:spPr>
          <a:xfrm>
            <a:off x="7826375" y="2457450"/>
            <a:ext cx="3460750" cy="647700"/>
          </a:xfrm>
          <a:prstGeom prst="rect">
            <a:avLst/>
          </a:prstGeom>
          <a:ln w="9525">
            <a:solidFill>
              <a:srgbClr val="DDE5EF"/>
            </a:solidFill>
            <a:prstDash val="solid"/>
          </a:ln>
        </p:spPr>
      </p:sp>
      <p:sp>
        <p:nvSpPr>
          <p:cNvPr id="16" name="正方形/長方形 15">
            <a:extLst>
              <a:ext uri="{FF2B5EF4-FFF2-40B4-BE49-F238E27FC236}">
                <a16:creationId xmlns:a16="http://schemas.microsoft.com/office/drawing/2014/main" id="{C36BFF8A-E670-4915-99C3-B4783EDC92B1}"/>
              </a:ext>
            </a:extLst>
          </p:cNvPr>
          <p:cNvSpPr>
            <a:spLocks noGrp="1"/>
          </p:cNvSpPr>
          <p:nvPr/>
        </p:nvSpPr>
        <p:spPr>
          <a:xfrm>
            <a:off x="7912100" y="25241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値は再表示できない。公開資料に残さない。</a:t>
            </a:r>
          </a:p>
        </p:txBody>
      </p:sp>
      <p:sp>
        <p:nvSpPr>
          <p:cNvPr id="17" name="正方形/長方形 16">
            <a:extLst>
              <a:ext uri="{FF2B5EF4-FFF2-40B4-BE49-F238E27FC236}">
                <a16:creationId xmlns:a16="http://schemas.microsoft.com/office/drawing/2014/main" id="{179E1447-BB68-44A4-82E6-ACF67B223F42}"/>
              </a:ext>
            </a:extLst>
          </p:cNvPr>
          <p:cNvSpPr>
            <a:spLocks noGrp="1"/>
          </p:cNvSpPr>
          <p:nvPr/>
        </p:nvSpPr>
        <p:spPr>
          <a:xfrm>
            <a:off x="904875" y="3105150"/>
            <a:ext cx="3460750" cy="647700"/>
          </a:xfrm>
          <a:prstGeom prst="rect">
            <a:avLst/>
          </a:prstGeom>
          <a:ln w="9525">
            <a:solidFill>
              <a:srgbClr val="DDE5EF"/>
            </a:solidFill>
            <a:prstDash val="solid"/>
          </a:ln>
        </p:spPr>
      </p:sp>
      <p:sp>
        <p:nvSpPr>
          <p:cNvPr id="18" name="正方形/長方形 17">
            <a:extLst>
              <a:ext uri="{FF2B5EF4-FFF2-40B4-BE49-F238E27FC236}">
                <a16:creationId xmlns:a16="http://schemas.microsoft.com/office/drawing/2014/main" id="{499F3087-202F-47CF-8E49-99CA94CB4649}"/>
              </a:ext>
            </a:extLst>
          </p:cNvPr>
          <p:cNvSpPr>
            <a:spLocks noGrp="1"/>
          </p:cNvSpPr>
          <p:nvPr/>
        </p:nvSpPr>
        <p:spPr>
          <a:xfrm>
            <a:off x="990600" y="31718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Repository variables</a:t>
            </a:r>
          </a:p>
        </p:txBody>
      </p:sp>
      <p:sp>
        <p:nvSpPr>
          <p:cNvPr id="19" name="正方形/長方形 18">
            <a:extLst>
              <a:ext uri="{FF2B5EF4-FFF2-40B4-BE49-F238E27FC236}">
                <a16:creationId xmlns:a16="http://schemas.microsoft.com/office/drawing/2014/main" id="{FBF3CF26-36CA-4904-8839-77064B097DF1}"/>
              </a:ext>
            </a:extLst>
          </p:cNvPr>
          <p:cNvSpPr>
            <a:spLocks noGrp="1"/>
          </p:cNvSpPr>
          <p:nvPr/>
        </p:nvSpPr>
        <p:spPr>
          <a:xfrm>
            <a:off x="4365625" y="3105150"/>
            <a:ext cx="3460750" cy="647700"/>
          </a:xfrm>
          <a:prstGeom prst="rect">
            <a:avLst/>
          </a:prstGeom>
          <a:ln w="9525">
            <a:solidFill>
              <a:srgbClr val="DDE5EF"/>
            </a:solidFill>
            <a:prstDash val="solid"/>
          </a:ln>
        </p:spPr>
      </p:sp>
      <p:sp>
        <p:nvSpPr>
          <p:cNvPr id="20" name="正方形/長方形 19">
            <a:extLst>
              <a:ext uri="{FF2B5EF4-FFF2-40B4-BE49-F238E27FC236}">
                <a16:creationId xmlns:a16="http://schemas.microsoft.com/office/drawing/2014/main" id="{93BBF115-9392-43FF-BAC7-00E893C61F96}"/>
              </a:ext>
            </a:extLst>
          </p:cNvPr>
          <p:cNvSpPr>
            <a:spLocks noGrp="1"/>
          </p:cNvSpPr>
          <p:nvPr/>
        </p:nvSpPr>
        <p:spPr>
          <a:xfrm>
            <a:off x="4451350" y="31718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RESOURCE_GROUP、ACR_NAME、URL、ID</a:t>
            </a:r>
          </a:p>
        </p:txBody>
      </p:sp>
      <p:sp>
        <p:nvSpPr>
          <p:cNvPr id="21" name="正方形/長方形 20">
            <a:extLst>
              <a:ext uri="{FF2B5EF4-FFF2-40B4-BE49-F238E27FC236}">
                <a16:creationId xmlns:a16="http://schemas.microsoft.com/office/drawing/2014/main" id="{DABE9003-F089-421A-9C23-5CF6B68C731F}"/>
              </a:ext>
            </a:extLst>
          </p:cNvPr>
          <p:cNvSpPr>
            <a:spLocks noGrp="1"/>
          </p:cNvSpPr>
          <p:nvPr/>
        </p:nvSpPr>
        <p:spPr>
          <a:xfrm>
            <a:off x="7826375" y="3105150"/>
            <a:ext cx="3460750" cy="647700"/>
          </a:xfrm>
          <a:prstGeom prst="rect">
            <a:avLst/>
          </a:prstGeom>
          <a:ln w="9525">
            <a:solidFill>
              <a:srgbClr val="DDE5EF"/>
            </a:solidFill>
            <a:prstDash val="solid"/>
          </a:ln>
        </p:spPr>
      </p:sp>
      <p:sp>
        <p:nvSpPr>
          <p:cNvPr id="22" name="正方形/長方形 21">
            <a:extLst>
              <a:ext uri="{FF2B5EF4-FFF2-40B4-BE49-F238E27FC236}">
                <a16:creationId xmlns:a16="http://schemas.microsoft.com/office/drawing/2014/main" id="{F3940265-0DC1-48A5-9BD2-76AD7B84AA0E}"/>
              </a:ext>
            </a:extLst>
          </p:cNvPr>
          <p:cNvSpPr>
            <a:spLocks noGrp="1"/>
          </p:cNvSpPr>
          <p:nvPr/>
        </p:nvSpPr>
        <p:spPr>
          <a:xfrm>
            <a:off x="7912100" y="31718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設定値として使う。実環境名や ID は公開時にマスクする。</a:t>
            </a:r>
          </a:p>
        </p:txBody>
      </p:sp>
      <p:sp>
        <p:nvSpPr>
          <p:cNvPr id="23" name="正方形/長方形 22">
            <a:extLst>
              <a:ext uri="{FF2B5EF4-FFF2-40B4-BE49-F238E27FC236}">
                <a16:creationId xmlns:a16="http://schemas.microsoft.com/office/drawing/2014/main" id="{DA8F952C-08DE-4DF0-A4F9-4BC6E7322A4D}"/>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正方形/長方形 25">
            <a:extLst>
              <a:ext uri="{FF2B5EF4-FFF2-40B4-BE49-F238E27FC236}">
                <a16:creationId xmlns:a16="http://schemas.microsoft.com/office/drawing/2014/main" id="{B3117899-F380-4273-BD4E-90798EBBDBC0}"/>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Service Principal の役割</a:t>
            </a:r>
          </a:p>
        </p:txBody>
      </p:sp>
      <p:sp>
        <p:nvSpPr>
          <p:cNvPr id="2" name="正方形/長方形 1">
            <a:extLst>
              <a:ext uri="{FF2B5EF4-FFF2-40B4-BE49-F238E27FC236}">
                <a16:creationId xmlns:a16="http://schemas.microsoft.com/office/drawing/2014/main" id="{63B4FCF0-A7F7-4147-8A8C-C0BD69F261AB}"/>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09 / 48</a:t>
            </a:r>
          </a:p>
        </p:txBody>
      </p:sp>
      <p:sp>
        <p:nvSpPr>
          <p:cNvPr id="3" name="正方形/長方形 2">
            <a:extLst>
              <a:ext uri="{FF2B5EF4-FFF2-40B4-BE49-F238E27FC236}">
                <a16:creationId xmlns:a16="http://schemas.microsoft.com/office/drawing/2014/main" id="{CFBF0AA0-781A-43EE-B6B7-311B829F8BD9}"/>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AB417580-C437-4455-A20C-0857AA488714}"/>
              </a:ext>
            </a:extLst>
          </p:cNvPr>
          <p:cNvSpPr>
            <a:spLocks noGrp="1"/>
          </p:cNvSpPr>
          <p:nvPr/>
        </p:nvSpPr>
        <p:spPr>
          <a:xfrm>
            <a:off x="666750" y="1162050"/>
            <a:ext cx="10096500" cy="552450"/>
          </a:xfrm>
          <a:prstGeom prst="rect">
            <a:avLst/>
          </a:prstGeom>
          <a:ln w="0">
            <a:solidFill>
              <a:srgbClr val="FFFFFF"/>
            </a:solidFill>
            <a:prstDash val="solid"/>
          </a:ln>
        </p:spPr>
        <p:txBody>
          <a:bodyPr lIns="0" tIns="0" rIns="0" bIns="0" anchor="t"/>
          <a:lstStyle/>
          <a:p>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GitHub Actions は人の代わりに Azure を操作します。その Azure 側の ID として Service Principal を使い、RBAC で操作範囲を決めます。</a:t>
            </a:r>
          </a:p>
        </p:txBody>
      </p:sp>
      <p:sp>
        <p:nvSpPr>
          <p:cNvPr id="5" name="正方形/長方形 4">
            <a:extLst>
              <a:ext uri="{FF2B5EF4-FFF2-40B4-BE49-F238E27FC236}">
                <a16:creationId xmlns:a16="http://schemas.microsoft.com/office/drawing/2014/main" id="{50DEA2F6-82DC-42ED-9C69-44A46386BFF6}"/>
              </a:ext>
            </a:extLst>
          </p:cNvPr>
          <p:cNvSpPr>
            <a:spLocks noGrp="1"/>
          </p:cNvSpPr>
          <p:nvPr/>
        </p:nvSpPr>
        <p:spPr>
          <a:xfrm>
            <a:off x="904875" y="1952625"/>
            <a:ext cx="4933950" cy="1762125"/>
          </a:xfrm>
          <a:prstGeom prst="rect">
            <a:avLst/>
          </a:prstGeom>
          <a:ln w="9525">
            <a:solidFill>
              <a:srgbClr val="DBE4EF"/>
            </a:solidFill>
            <a:prstDash val="solid"/>
          </a:ln>
        </p:spPr>
      </p:sp>
      <p:sp>
        <p:nvSpPr>
          <p:cNvPr id="6" name="正方形/長方形 5">
            <a:extLst>
              <a:ext uri="{FF2B5EF4-FFF2-40B4-BE49-F238E27FC236}">
                <a16:creationId xmlns:a16="http://schemas.microsoft.com/office/drawing/2014/main" id="{D7BDB946-CC96-40B7-BF5F-348381A58B9E}"/>
              </a:ext>
            </a:extLst>
          </p:cNvPr>
          <p:cNvSpPr>
            <a:spLocks noGrp="1"/>
          </p:cNvSpPr>
          <p:nvPr/>
        </p:nvSpPr>
        <p:spPr>
          <a:xfrm>
            <a:off x="904875" y="1952625"/>
            <a:ext cx="76200" cy="1762125"/>
          </a:xfrm>
          <a:prstGeom prst="rect">
            <a:avLst/>
          </a:prstGeom>
          <a:ln w="0">
            <a:solidFill>
              <a:srgbClr val="2563EB"/>
            </a:solidFill>
            <a:prstDash val="solid"/>
          </a:ln>
        </p:spPr>
      </p:sp>
      <p:sp>
        <p:nvSpPr>
          <p:cNvPr id="7" name="正方形/長方形 6">
            <a:extLst>
              <a:ext uri="{FF2B5EF4-FFF2-40B4-BE49-F238E27FC236}">
                <a16:creationId xmlns:a16="http://schemas.microsoft.com/office/drawing/2014/main" id="{6B51B62C-27B6-4441-8919-6C928DE11469}"/>
              </a:ext>
            </a:extLst>
          </p:cNvPr>
          <p:cNvSpPr>
            <a:spLocks noGrp="1"/>
          </p:cNvSpPr>
          <p:nvPr/>
        </p:nvSpPr>
        <p:spPr>
          <a:xfrm>
            <a:off x="1133475" y="2124075"/>
            <a:ext cx="4552950" cy="171450"/>
          </a:xfrm>
          <a:prstGeom prst="rect">
            <a:avLst/>
          </a:prstGeom>
          <a:ln w="0">
            <a:solidFill>
              <a:srgbClr val="FFFFFF"/>
            </a:solidFill>
            <a:prstDash val="solid"/>
          </a:ln>
        </p:spPr>
        <p:txBody>
          <a:bodyPr lIns="0" tIns="0" rIns="0" bIns="0" anchor="t"/>
          <a:lstStyle/>
          <a:p>
            <a:pPr algn="l">
              <a:defRPr sz="900" b="1">
                <a:solidFill>
                  <a:srgbClr val="2563EB"/>
                </a:solidFill>
                <a:latin typeface="Yu Gothic"/>
                <a:ea typeface="Yu Gothic"/>
                <a:cs typeface="Yu Gothic"/>
              </a:defRPr>
            </a:pPr>
            <a:r>
              <a:rPr sz="900" b="1">
                <a:solidFill>
                  <a:srgbClr val="2563EB"/>
                </a:solidFill>
                <a:latin typeface="Yu Gothic"/>
                <a:ea typeface="Yu Gothic"/>
                <a:cs typeface="Yu Gothic"/>
              </a:rPr>
              <a:t>Identity</a:t>
            </a:r>
          </a:p>
        </p:txBody>
      </p:sp>
      <p:sp>
        <p:nvSpPr>
          <p:cNvPr id="8" name="正方形/長方形 7">
            <a:extLst>
              <a:ext uri="{FF2B5EF4-FFF2-40B4-BE49-F238E27FC236}">
                <a16:creationId xmlns:a16="http://schemas.microsoft.com/office/drawing/2014/main" id="{94E6BF49-9717-4015-806D-9C71F174ECDD}"/>
              </a:ext>
            </a:extLst>
          </p:cNvPr>
          <p:cNvSpPr>
            <a:spLocks noGrp="1"/>
          </p:cNvSpPr>
          <p:nvPr/>
        </p:nvSpPr>
        <p:spPr>
          <a:xfrm>
            <a:off x="1133475" y="2352675"/>
            <a:ext cx="453390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Azure 側の実行 ID</a:t>
            </a:r>
          </a:p>
        </p:txBody>
      </p:sp>
      <p:sp>
        <p:nvSpPr>
          <p:cNvPr id="9" name="正方形/長方形 8">
            <a:extLst>
              <a:ext uri="{FF2B5EF4-FFF2-40B4-BE49-F238E27FC236}">
                <a16:creationId xmlns:a16="http://schemas.microsoft.com/office/drawing/2014/main" id="{28D346CB-592B-4ED4-8C6A-868B15C81F1C}"/>
              </a:ext>
            </a:extLst>
          </p:cNvPr>
          <p:cNvSpPr>
            <a:spLocks noGrp="1"/>
          </p:cNvSpPr>
          <p:nvPr/>
        </p:nvSpPr>
        <p:spPr>
          <a:xfrm>
            <a:off x="1133475" y="2790825"/>
            <a:ext cx="4533900" cy="8096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workflow が Azure にログインするための ID です。</a:t>
            </a:r>
          </a:p>
        </p:txBody>
      </p:sp>
      <p:sp>
        <p:nvSpPr>
          <p:cNvPr id="10" name="正方形/長方形 9">
            <a:extLst>
              <a:ext uri="{FF2B5EF4-FFF2-40B4-BE49-F238E27FC236}">
                <a16:creationId xmlns:a16="http://schemas.microsoft.com/office/drawing/2014/main" id="{62908B3F-4815-4D30-B8BB-4B49741945B7}"/>
              </a:ext>
            </a:extLst>
          </p:cNvPr>
          <p:cNvSpPr>
            <a:spLocks noGrp="1"/>
          </p:cNvSpPr>
          <p:nvPr/>
        </p:nvSpPr>
        <p:spPr>
          <a:xfrm>
            <a:off x="6067425" y="1952625"/>
            <a:ext cx="4933950" cy="1762125"/>
          </a:xfrm>
          <a:prstGeom prst="rect">
            <a:avLst/>
          </a:prstGeom>
          <a:ln w="9525">
            <a:solidFill>
              <a:srgbClr val="DBE4EF"/>
            </a:solidFill>
            <a:prstDash val="solid"/>
          </a:ln>
        </p:spPr>
      </p:sp>
      <p:sp>
        <p:nvSpPr>
          <p:cNvPr id="11" name="正方形/長方形 10">
            <a:extLst>
              <a:ext uri="{FF2B5EF4-FFF2-40B4-BE49-F238E27FC236}">
                <a16:creationId xmlns:a16="http://schemas.microsoft.com/office/drawing/2014/main" id="{374F7516-E791-4C78-88D2-32AE5097B75B}"/>
              </a:ext>
            </a:extLst>
          </p:cNvPr>
          <p:cNvSpPr>
            <a:spLocks noGrp="1"/>
          </p:cNvSpPr>
          <p:nvPr/>
        </p:nvSpPr>
        <p:spPr>
          <a:xfrm>
            <a:off x="6067425" y="1952625"/>
            <a:ext cx="76200" cy="1762125"/>
          </a:xfrm>
          <a:prstGeom prst="rect">
            <a:avLst/>
          </a:prstGeom>
          <a:ln w="0">
            <a:solidFill>
              <a:srgbClr val="0F766E"/>
            </a:solidFill>
            <a:prstDash val="solid"/>
          </a:ln>
        </p:spPr>
      </p:sp>
      <p:sp>
        <p:nvSpPr>
          <p:cNvPr id="12" name="正方形/長方形 11">
            <a:extLst>
              <a:ext uri="{FF2B5EF4-FFF2-40B4-BE49-F238E27FC236}">
                <a16:creationId xmlns:a16="http://schemas.microsoft.com/office/drawing/2014/main" id="{922D7B46-BB15-4CCF-9FC5-CAC6F419F160}"/>
              </a:ext>
            </a:extLst>
          </p:cNvPr>
          <p:cNvSpPr>
            <a:spLocks noGrp="1"/>
          </p:cNvSpPr>
          <p:nvPr/>
        </p:nvSpPr>
        <p:spPr>
          <a:xfrm>
            <a:off x="6296025" y="2124075"/>
            <a:ext cx="4552950" cy="171450"/>
          </a:xfrm>
          <a:prstGeom prst="rect">
            <a:avLst/>
          </a:prstGeom>
          <a:ln w="0">
            <a:solidFill>
              <a:srgbClr val="FFFFFF"/>
            </a:solidFill>
            <a:prstDash val="solid"/>
          </a:ln>
        </p:spPr>
        <p:txBody>
          <a:bodyPr lIns="0" tIns="0" rIns="0" bIns="0" anchor="t"/>
          <a:lstStyle/>
          <a:p>
            <a:pPr algn="l">
              <a:defRPr sz="900" b="1">
                <a:solidFill>
                  <a:srgbClr val="0F766E"/>
                </a:solidFill>
                <a:latin typeface="Yu Gothic"/>
                <a:ea typeface="Yu Gothic"/>
                <a:cs typeface="Yu Gothic"/>
              </a:defRPr>
            </a:pPr>
            <a:r>
              <a:rPr sz="900" b="1">
                <a:solidFill>
                  <a:srgbClr val="0F766E"/>
                </a:solidFill>
                <a:latin typeface="Yu Gothic"/>
                <a:ea typeface="Yu Gothic"/>
                <a:cs typeface="Yu Gothic"/>
              </a:rPr>
              <a:t>Scope</a:t>
            </a:r>
          </a:p>
        </p:txBody>
      </p:sp>
      <p:sp>
        <p:nvSpPr>
          <p:cNvPr id="13" name="正方形/長方形 12">
            <a:extLst>
              <a:ext uri="{FF2B5EF4-FFF2-40B4-BE49-F238E27FC236}">
                <a16:creationId xmlns:a16="http://schemas.microsoft.com/office/drawing/2014/main" id="{5D4AFD9F-889A-49BF-8B78-311E718DC254}"/>
              </a:ext>
            </a:extLst>
          </p:cNvPr>
          <p:cNvSpPr>
            <a:spLocks noGrp="1"/>
          </p:cNvSpPr>
          <p:nvPr/>
        </p:nvSpPr>
        <p:spPr>
          <a:xfrm>
            <a:off x="6296025" y="2352675"/>
            <a:ext cx="453390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操作範囲</a:t>
            </a:r>
          </a:p>
        </p:txBody>
      </p:sp>
      <p:sp>
        <p:nvSpPr>
          <p:cNvPr id="14" name="正方形/長方形 13">
            <a:extLst>
              <a:ext uri="{FF2B5EF4-FFF2-40B4-BE49-F238E27FC236}">
                <a16:creationId xmlns:a16="http://schemas.microsoft.com/office/drawing/2014/main" id="{D9FA4E9C-EE36-4ED5-9AAA-8FE7A0B437DA}"/>
              </a:ext>
            </a:extLst>
          </p:cNvPr>
          <p:cNvSpPr>
            <a:spLocks noGrp="1"/>
          </p:cNvSpPr>
          <p:nvPr/>
        </p:nvSpPr>
        <p:spPr>
          <a:xfrm>
            <a:off x="6296025" y="2790825"/>
            <a:ext cx="4533900" cy="8096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原則として第5回のリソースグループをスコープにします。</a:t>
            </a:r>
          </a:p>
        </p:txBody>
      </p:sp>
      <p:sp>
        <p:nvSpPr>
          <p:cNvPr id="15" name="正方形/長方形 14">
            <a:extLst>
              <a:ext uri="{FF2B5EF4-FFF2-40B4-BE49-F238E27FC236}">
                <a16:creationId xmlns:a16="http://schemas.microsoft.com/office/drawing/2014/main" id="{6DFDA7D0-6FF3-4FC0-B136-DE41F94FDB2A}"/>
              </a:ext>
            </a:extLst>
          </p:cNvPr>
          <p:cNvSpPr>
            <a:spLocks noGrp="1"/>
          </p:cNvSpPr>
          <p:nvPr/>
        </p:nvSpPr>
        <p:spPr>
          <a:xfrm>
            <a:off x="904875" y="3924300"/>
            <a:ext cx="4933950" cy="1762125"/>
          </a:xfrm>
          <a:prstGeom prst="rect">
            <a:avLst/>
          </a:prstGeom>
          <a:ln w="9525">
            <a:solidFill>
              <a:srgbClr val="DBE4EF"/>
            </a:solidFill>
            <a:prstDash val="solid"/>
          </a:ln>
        </p:spPr>
      </p:sp>
      <p:sp>
        <p:nvSpPr>
          <p:cNvPr id="16" name="正方形/長方形 15">
            <a:extLst>
              <a:ext uri="{FF2B5EF4-FFF2-40B4-BE49-F238E27FC236}">
                <a16:creationId xmlns:a16="http://schemas.microsoft.com/office/drawing/2014/main" id="{5394B7AE-913E-4947-B03F-F7EE61388E45}"/>
              </a:ext>
            </a:extLst>
          </p:cNvPr>
          <p:cNvSpPr>
            <a:spLocks noGrp="1"/>
          </p:cNvSpPr>
          <p:nvPr/>
        </p:nvSpPr>
        <p:spPr>
          <a:xfrm>
            <a:off x="904875" y="3924300"/>
            <a:ext cx="76200" cy="1762125"/>
          </a:xfrm>
          <a:prstGeom prst="rect">
            <a:avLst/>
          </a:prstGeom>
          <a:ln w="0">
            <a:solidFill>
              <a:srgbClr val="EA580C"/>
            </a:solidFill>
            <a:prstDash val="solid"/>
          </a:ln>
        </p:spPr>
      </p:sp>
      <p:sp>
        <p:nvSpPr>
          <p:cNvPr id="17" name="正方形/長方形 16">
            <a:extLst>
              <a:ext uri="{FF2B5EF4-FFF2-40B4-BE49-F238E27FC236}">
                <a16:creationId xmlns:a16="http://schemas.microsoft.com/office/drawing/2014/main" id="{5225E558-7944-4883-8C81-7C5F6FCA33B9}"/>
              </a:ext>
            </a:extLst>
          </p:cNvPr>
          <p:cNvSpPr>
            <a:spLocks noGrp="1"/>
          </p:cNvSpPr>
          <p:nvPr/>
        </p:nvSpPr>
        <p:spPr>
          <a:xfrm>
            <a:off x="1133475" y="4095750"/>
            <a:ext cx="4552950" cy="171450"/>
          </a:xfrm>
          <a:prstGeom prst="rect">
            <a:avLst/>
          </a:prstGeom>
          <a:ln w="0">
            <a:solidFill>
              <a:srgbClr val="FFFFFF"/>
            </a:solidFill>
            <a:prstDash val="solid"/>
          </a:ln>
        </p:spPr>
        <p:txBody>
          <a:bodyPr lIns="0" tIns="0" rIns="0" bIns="0" anchor="t"/>
          <a:lstStyle/>
          <a:p>
            <a:pPr algn="l">
              <a:defRPr sz="900" b="1">
                <a:solidFill>
                  <a:srgbClr val="EA580C"/>
                </a:solidFill>
                <a:latin typeface="Yu Gothic"/>
                <a:ea typeface="Yu Gothic"/>
                <a:cs typeface="Yu Gothic"/>
              </a:defRPr>
            </a:pPr>
            <a:r>
              <a:rPr sz="900" b="1">
                <a:solidFill>
                  <a:srgbClr val="EA580C"/>
                </a:solidFill>
                <a:latin typeface="Yu Gothic"/>
                <a:ea typeface="Yu Gothic"/>
                <a:cs typeface="Yu Gothic"/>
              </a:rPr>
              <a:t>Role</a:t>
            </a:r>
          </a:p>
        </p:txBody>
      </p:sp>
      <p:sp>
        <p:nvSpPr>
          <p:cNvPr id="18" name="正方形/長方形 17">
            <a:extLst>
              <a:ext uri="{FF2B5EF4-FFF2-40B4-BE49-F238E27FC236}">
                <a16:creationId xmlns:a16="http://schemas.microsoft.com/office/drawing/2014/main" id="{BF9C9684-E46E-4796-AA19-8C86D642C0A4}"/>
              </a:ext>
            </a:extLst>
          </p:cNvPr>
          <p:cNvSpPr>
            <a:spLocks noGrp="1"/>
          </p:cNvSpPr>
          <p:nvPr/>
        </p:nvSpPr>
        <p:spPr>
          <a:xfrm>
            <a:off x="1133475" y="4324350"/>
            <a:ext cx="453390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ロール付与</a:t>
            </a:r>
          </a:p>
        </p:txBody>
      </p:sp>
      <p:sp>
        <p:nvSpPr>
          <p:cNvPr id="19" name="正方形/長方形 18">
            <a:extLst>
              <a:ext uri="{FF2B5EF4-FFF2-40B4-BE49-F238E27FC236}">
                <a16:creationId xmlns:a16="http://schemas.microsoft.com/office/drawing/2014/main" id="{1D2E3C29-A4F0-40DA-9A55-A9D416E6F82A}"/>
              </a:ext>
            </a:extLst>
          </p:cNvPr>
          <p:cNvSpPr>
            <a:spLocks noGrp="1"/>
          </p:cNvSpPr>
          <p:nvPr/>
        </p:nvSpPr>
        <p:spPr>
          <a:xfrm>
            <a:off x="1133475" y="4762500"/>
            <a:ext cx="4533900" cy="8096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講師が検証したロールと権限で実行します。</a:t>
            </a:r>
          </a:p>
        </p:txBody>
      </p:sp>
      <p:sp>
        <p:nvSpPr>
          <p:cNvPr id="20" name="正方形/長方形 19">
            <a:extLst>
              <a:ext uri="{FF2B5EF4-FFF2-40B4-BE49-F238E27FC236}">
                <a16:creationId xmlns:a16="http://schemas.microsoft.com/office/drawing/2014/main" id="{9AC40F28-A079-4D1F-B356-D8533ABDC446}"/>
              </a:ext>
            </a:extLst>
          </p:cNvPr>
          <p:cNvSpPr>
            <a:spLocks noGrp="1"/>
          </p:cNvSpPr>
          <p:nvPr/>
        </p:nvSpPr>
        <p:spPr>
          <a:xfrm>
            <a:off x="6067425" y="3924300"/>
            <a:ext cx="4933950" cy="1762125"/>
          </a:xfrm>
          <a:prstGeom prst="rect">
            <a:avLst/>
          </a:prstGeom>
          <a:ln w="9525">
            <a:solidFill>
              <a:srgbClr val="DBE4EF"/>
            </a:solidFill>
            <a:prstDash val="solid"/>
          </a:ln>
        </p:spPr>
      </p:sp>
      <p:sp>
        <p:nvSpPr>
          <p:cNvPr id="21" name="正方形/長方形 20">
            <a:extLst>
              <a:ext uri="{FF2B5EF4-FFF2-40B4-BE49-F238E27FC236}">
                <a16:creationId xmlns:a16="http://schemas.microsoft.com/office/drawing/2014/main" id="{30991F80-3742-4560-AEF5-1C3306E0C372}"/>
              </a:ext>
            </a:extLst>
          </p:cNvPr>
          <p:cNvSpPr>
            <a:spLocks noGrp="1"/>
          </p:cNvSpPr>
          <p:nvPr/>
        </p:nvSpPr>
        <p:spPr>
          <a:xfrm>
            <a:off x="6067425" y="3924300"/>
            <a:ext cx="76200" cy="1762125"/>
          </a:xfrm>
          <a:prstGeom prst="rect">
            <a:avLst/>
          </a:prstGeom>
          <a:ln w="0">
            <a:solidFill>
              <a:srgbClr val="BE185D"/>
            </a:solidFill>
            <a:prstDash val="solid"/>
          </a:ln>
        </p:spPr>
      </p:sp>
      <p:sp>
        <p:nvSpPr>
          <p:cNvPr id="22" name="正方形/長方形 21">
            <a:extLst>
              <a:ext uri="{FF2B5EF4-FFF2-40B4-BE49-F238E27FC236}">
                <a16:creationId xmlns:a16="http://schemas.microsoft.com/office/drawing/2014/main" id="{EA443278-12AA-4DBA-8A40-F59B9C8B3B8B}"/>
              </a:ext>
            </a:extLst>
          </p:cNvPr>
          <p:cNvSpPr>
            <a:spLocks noGrp="1"/>
          </p:cNvSpPr>
          <p:nvPr/>
        </p:nvSpPr>
        <p:spPr>
          <a:xfrm>
            <a:off x="6296025" y="4095750"/>
            <a:ext cx="4552950" cy="171450"/>
          </a:xfrm>
          <a:prstGeom prst="rect">
            <a:avLst/>
          </a:prstGeom>
          <a:ln w="0">
            <a:solidFill>
              <a:srgbClr val="FFFFFF"/>
            </a:solidFill>
            <a:prstDash val="solid"/>
          </a:ln>
        </p:spPr>
        <p:txBody>
          <a:bodyPr lIns="0" tIns="0" rIns="0" bIns="0" anchor="t"/>
          <a:lstStyle/>
          <a:p>
            <a:pPr algn="l">
              <a:defRPr sz="900" b="1">
                <a:solidFill>
                  <a:srgbClr val="BE185D"/>
                </a:solidFill>
                <a:latin typeface="Yu Gothic"/>
                <a:ea typeface="Yu Gothic"/>
                <a:cs typeface="Yu Gothic"/>
              </a:defRPr>
            </a:pPr>
            <a:r>
              <a:rPr sz="900" b="1">
                <a:solidFill>
                  <a:srgbClr val="BE185D"/>
                </a:solidFill>
                <a:latin typeface="Yu Gothic"/>
                <a:ea typeface="Yu Gothic"/>
                <a:cs typeface="Yu Gothic"/>
              </a:rPr>
              <a:t>Secret</a:t>
            </a:r>
          </a:p>
        </p:txBody>
      </p:sp>
      <p:sp>
        <p:nvSpPr>
          <p:cNvPr id="23" name="正方形/長方形 22">
            <a:extLst>
              <a:ext uri="{FF2B5EF4-FFF2-40B4-BE49-F238E27FC236}">
                <a16:creationId xmlns:a16="http://schemas.microsoft.com/office/drawing/2014/main" id="{7F3262BA-85B3-4891-9E83-286D80A9E8BA}"/>
              </a:ext>
            </a:extLst>
          </p:cNvPr>
          <p:cNvSpPr>
            <a:spLocks noGrp="1"/>
          </p:cNvSpPr>
          <p:nvPr/>
        </p:nvSpPr>
        <p:spPr>
          <a:xfrm>
            <a:off x="6296025" y="4324350"/>
            <a:ext cx="453390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JSON を登録</a:t>
            </a:r>
          </a:p>
        </p:txBody>
      </p:sp>
      <p:sp>
        <p:nvSpPr>
          <p:cNvPr id="24" name="正方形/長方形 23">
            <a:extLst>
              <a:ext uri="{FF2B5EF4-FFF2-40B4-BE49-F238E27FC236}">
                <a16:creationId xmlns:a16="http://schemas.microsoft.com/office/drawing/2014/main" id="{D1603EF9-93DE-40BF-83C4-D57C38883CE3}"/>
              </a:ext>
            </a:extLst>
          </p:cNvPr>
          <p:cNvSpPr>
            <a:spLocks noGrp="1"/>
          </p:cNvSpPr>
          <p:nvPr/>
        </p:nvSpPr>
        <p:spPr>
          <a:xfrm>
            <a:off x="6296025" y="4762500"/>
            <a:ext cx="4533900" cy="8096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取得した JSON は GitHub Secret に入れ、画面共有しません。</a:t>
            </a:r>
          </a:p>
        </p:txBody>
      </p:sp>
      <p:sp>
        <p:nvSpPr>
          <p:cNvPr id="25" name="正方形/長方形 24">
            <a:extLst>
              <a:ext uri="{FF2B5EF4-FFF2-40B4-BE49-F238E27FC236}">
                <a16:creationId xmlns:a16="http://schemas.microsoft.com/office/drawing/2014/main" id="{26E901D2-EDCE-4993-9786-2D89A9165C6D}"/>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正方形/長方形 41">
            <a:extLst>
              <a:ext uri="{FF2B5EF4-FFF2-40B4-BE49-F238E27FC236}">
                <a16:creationId xmlns:a16="http://schemas.microsoft.com/office/drawing/2014/main" id="{F920CE2B-C609-48EC-A730-E6906FA198E8}"/>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今日使う値を確認する</a:t>
            </a:r>
          </a:p>
        </p:txBody>
      </p:sp>
      <p:sp>
        <p:nvSpPr>
          <p:cNvPr id="2" name="正方形/長方形 1">
            <a:extLst>
              <a:ext uri="{FF2B5EF4-FFF2-40B4-BE49-F238E27FC236}">
                <a16:creationId xmlns:a16="http://schemas.microsoft.com/office/drawing/2014/main" id="{92B14E91-8354-4C5D-BF55-F60F96A64258}"/>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10 / 48</a:t>
            </a:r>
          </a:p>
        </p:txBody>
      </p:sp>
      <p:sp>
        <p:nvSpPr>
          <p:cNvPr id="3" name="正方形/長方形 2">
            <a:extLst>
              <a:ext uri="{FF2B5EF4-FFF2-40B4-BE49-F238E27FC236}">
                <a16:creationId xmlns:a16="http://schemas.microsoft.com/office/drawing/2014/main" id="{4A32092F-72E7-4B56-961C-9DE6B136891D}"/>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7A7DFDE4-36FF-40FC-84EC-301030BF7786}"/>
              </a:ext>
            </a:extLst>
          </p:cNvPr>
          <p:cNvSpPr>
            <a:spLocks noGrp="1"/>
          </p:cNvSpPr>
          <p:nvPr/>
        </p:nvSpPr>
        <p:spPr>
          <a:xfrm>
            <a:off x="666750" y="1162050"/>
            <a:ext cx="10096500" cy="552450"/>
          </a:xfrm>
          <a:prstGeom prst="rect">
            <a:avLst/>
          </a:prstGeom>
          <a:ln w="0">
            <a:solidFill>
              <a:srgbClr val="FFFFFF"/>
            </a:solidFill>
            <a:prstDash val="solid"/>
          </a:ln>
        </p:spPr>
        <p:txBody>
          <a:bodyPr lIns="0" tIns="0" rIns="0" bIns="0" anchor="t"/>
          <a:lstStyle/>
          <a:p>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第5回の接続情報一覧が、GitHub Actions 設定の入力値になります。Web URL と API URL、ACR 名と login server を取り違えないようにします。</a:t>
            </a:r>
          </a:p>
        </p:txBody>
      </p:sp>
      <p:sp>
        <p:nvSpPr>
          <p:cNvPr id="5" name="正方形/長方形 4">
            <a:extLst>
              <a:ext uri="{FF2B5EF4-FFF2-40B4-BE49-F238E27FC236}">
                <a16:creationId xmlns:a16="http://schemas.microsoft.com/office/drawing/2014/main" id="{9BBB2A0F-D8FA-44AB-9D2D-564E4BBD0507}"/>
              </a:ext>
            </a:extLst>
          </p:cNvPr>
          <p:cNvSpPr>
            <a:spLocks noGrp="1"/>
          </p:cNvSpPr>
          <p:nvPr/>
        </p:nvSpPr>
        <p:spPr>
          <a:xfrm>
            <a:off x="904875" y="1809750"/>
            <a:ext cx="3460750" cy="647700"/>
          </a:xfrm>
          <a:prstGeom prst="rect">
            <a:avLst/>
          </a:prstGeom>
          <a:ln w="9525">
            <a:solidFill>
              <a:srgbClr val="C8D7EF"/>
            </a:solidFill>
            <a:prstDash val="solid"/>
          </a:ln>
        </p:spPr>
      </p:sp>
      <p:sp>
        <p:nvSpPr>
          <p:cNvPr id="6" name="正方形/長方形 5">
            <a:extLst>
              <a:ext uri="{FF2B5EF4-FFF2-40B4-BE49-F238E27FC236}">
                <a16:creationId xmlns:a16="http://schemas.microsoft.com/office/drawing/2014/main" id="{5C0CDBEF-A691-4043-AC84-FE594C67C9F0}"/>
              </a:ext>
            </a:extLst>
          </p:cNvPr>
          <p:cNvSpPr>
            <a:spLocks noGrp="1"/>
          </p:cNvSpPr>
          <p:nvPr/>
        </p:nvSpPr>
        <p:spPr>
          <a:xfrm>
            <a:off x="990600" y="1895475"/>
            <a:ext cx="3289300" cy="533400"/>
          </a:xfrm>
          <a:prstGeom prst="rect">
            <a:avLst/>
          </a:prstGeom>
          <a:ln w="0">
            <a:solidFill>
              <a:srgbClr val="FFFFFF"/>
            </a:solidFill>
            <a:prstDash val="solid"/>
          </a:ln>
        </p:spPr>
        <p:txBody>
          <a:bodyPr lIns="0" tIns="0" rIns="0" bIns="0" anchor="ctr"/>
          <a:lstStyle/>
          <a:p>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項目</a:t>
            </a:r>
          </a:p>
        </p:txBody>
      </p:sp>
      <p:sp>
        <p:nvSpPr>
          <p:cNvPr id="7" name="正方形/長方形 6">
            <a:extLst>
              <a:ext uri="{FF2B5EF4-FFF2-40B4-BE49-F238E27FC236}">
                <a16:creationId xmlns:a16="http://schemas.microsoft.com/office/drawing/2014/main" id="{8969BF43-FC48-45CF-89E9-320683DBB943}"/>
              </a:ext>
            </a:extLst>
          </p:cNvPr>
          <p:cNvSpPr>
            <a:spLocks noGrp="1"/>
          </p:cNvSpPr>
          <p:nvPr/>
        </p:nvSpPr>
        <p:spPr>
          <a:xfrm>
            <a:off x="4365625" y="1809750"/>
            <a:ext cx="3460750" cy="647700"/>
          </a:xfrm>
          <a:prstGeom prst="rect">
            <a:avLst/>
          </a:prstGeom>
          <a:ln w="9525">
            <a:solidFill>
              <a:srgbClr val="C8D7EF"/>
            </a:solidFill>
            <a:prstDash val="solid"/>
          </a:ln>
        </p:spPr>
      </p:sp>
      <p:sp>
        <p:nvSpPr>
          <p:cNvPr id="8" name="正方形/長方形 7">
            <a:extLst>
              <a:ext uri="{FF2B5EF4-FFF2-40B4-BE49-F238E27FC236}">
                <a16:creationId xmlns:a16="http://schemas.microsoft.com/office/drawing/2014/main" id="{E531FCE6-567A-420D-8032-CA1C1C51573A}"/>
              </a:ext>
            </a:extLst>
          </p:cNvPr>
          <p:cNvSpPr>
            <a:spLocks noGrp="1"/>
          </p:cNvSpPr>
          <p:nvPr/>
        </p:nvSpPr>
        <p:spPr>
          <a:xfrm>
            <a:off x="4451350" y="1895475"/>
            <a:ext cx="3289300" cy="533400"/>
          </a:xfrm>
          <a:prstGeom prst="rect">
            <a:avLst/>
          </a:prstGeom>
          <a:ln w="0">
            <a:solidFill>
              <a:srgbClr val="FFFFFF"/>
            </a:solidFill>
            <a:prstDash val="solid"/>
          </a:ln>
        </p:spPr>
        <p:txBody>
          <a:bodyPr lIns="0" tIns="0" rIns="0" bIns="0" anchor="ctr"/>
          <a:lstStyle/>
          <a:p>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使う場所</a:t>
            </a:r>
          </a:p>
        </p:txBody>
      </p:sp>
      <p:sp>
        <p:nvSpPr>
          <p:cNvPr id="9" name="正方形/長方形 8">
            <a:extLst>
              <a:ext uri="{FF2B5EF4-FFF2-40B4-BE49-F238E27FC236}">
                <a16:creationId xmlns:a16="http://schemas.microsoft.com/office/drawing/2014/main" id="{286FEC6F-A3C5-4299-B920-C3719FC41A00}"/>
              </a:ext>
            </a:extLst>
          </p:cNvPr>
          <p:cNvSpPr>
            <a:spLocks noGrp="1"/>
          </p:cNvSpPr>
          <p:nvPr/>
        </p:nvSpPr>
        <p:spPr>
          <a:xfrm>
            <a:off x="7826375" y="1809750"/>
            <a:ext cx="3460750" cy="647700"/>
          </a:xfrm>
          <a:prstGeom prst="rect">
            <a:avLst/>
          </a:prstGeom>
          <a:ln w="9525">
            <a:solidFill>
              <a:srgbClr val="C8D7EF"/>
            </a:solidFill>
            <a:prstDash val="solid"/>
          </a:ln>
        </p:spPr>
      </p:sp>
      <p:sp>
        <p:nvSpPr>
          <p:cNvPr id="10" name="正方形/長方形 9">
            <a:extLst>
              <a:ext uri="{FF2B5EF4-FFF2-40B4-BE49-F238E27FC236}">
                <a16:creationId xmlns:a16="http://schemas.microsoft.com/office/drawing/2014/main" id="{0FA3497E-CB1C-4378-877F-A33DA96797AB}"/>
              </a:ext>
            </a:extLst>
          </p:cNvPr>
          <p:cNvSpPr>
            <a:spLocks noGrp="1"/>
          </p:cNvSpPr>
          <p:nvPr/>
        </p:nvSpPr>
        <p:spPr>
          <a:xfrm>
            <a:off x="7912100" y="1895475"/>
            <a:ext cx="3289300" cy="533400"/>
          </a:xfrm>
          <a:prstGeom prst="rect">
            <a:avLst/>
          </a:prstGeom>
          <a:ln w="0">
            <a:solidFill>
              <a:srgbClr val="FFFFFF"/>
            </a:solidFill>
            <a:prstDash val="solid"/>
          </a:ln>
        </p:spPr>
        <p:txBody>
          <a:bodyPr lIns="0" tIns="0" rIns="0" bIns="0" anchor="ctr"/>
          <a:lstStyle/>
          <a:p>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注意</a:t>
            </a:r>
          </a:p>
        </p:txBody>
      </p:sp>
      <p:sp>
        <p:nvSpPr>
          <p:cNvPr id="11" name="正方形/長方形 10">
            <a:extLst>
              <a:ext uri="{FF2B5EF4-FFF2-40B4-BE49-F238E27FC236}">
                <a16:creationId xmlns:a16="http://schemas.microsoft.com/office/drawing/2014/main" id="{C971719A-6178-4C73-A5BE-743EB9D46EA5}"/>
              </a:ext>
            </a:extLst>
          </p:cNvPr>
          <p:cNvSpPr>
            <a:spLocks noGrp="1"/>
          </p:cNvSpPr>
          <p:nvPr/>
        </p:nvSpPr>
        <p:spPr>
          <a:xfrm>
            <a:off x="904875" y="2457450"/>
            <a:ext cx="3460750" cy="647700"/>
          </a:xfrm>
          <a:prstGeom prst="rect">
            <a:avLst/>
          </a:prstGeom>
          <a:ln w="9525">
            <a:solidFill>
              <a:srgbClr val="DDE5EF"/>
            </a:solidFill>
            <a:prstDash val="solid"/>
          </a:ln>
        </p:spPr>
      </p:sp>
      <p:sp>
        <p:nvSpPr>
          <p:cNvPr id="12" name="正方形/長方形 11">
            <a:extLst>
              <a:ext uri="{FF2B5EF4-FFF2-40B4-BE49-F238E27FC236}">
                <a16:creationId xmlns:a16="http://schemas.microsoft.com/office/drawing/2014/main" id="{AE877297-63C7-4DA3-B978-B439CBDC1E5C}"/>
              </a:ext>
            </a:extLst>
          </p:cNvPr>
          <p:cNvSpPr>
            <a:spLocks noGrp="1"/>
          </p:cNvSpPr>
          <p:nvPr/>
        </p:nvSpPr>
        <p:spPr>
          <a:xfrm>
            <a:off x="990600" y="25241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Resource group</a:t>
            </a:r>
          </a:p>
        </p:txBody>
      </p:sp>
      <p:sp>
        <p:nvSpPr>
          <p:cNvPr id="13" name="正方形/長方形 12">
            <a:extLst>
              <a:ext uri="{FF2B5EF4-FFF2-40B4-BE49-F238E27FC236}">
                <a16:creationId xmlns:a16="http://schemas.microsoft.com/office/drawing/2014/main" id="{8B8517D9-6AF5-4C3D-A34F-C231A9A33B05}"/>
              </a:ext>
            </a:extLst>
          </p:cNvPr>
          <p:cNvSpPr>
            <a:spLocks noGrp="1"/>
          </p:cNvSpPr>
          <p:nvPr/>
        </p:nvSpPr>
        <p:spPr>
          <a:xfrm>
            <a:off x="4365625" y="2457450"/>
            <a:ext cx="3460750" cy="647700"/>
          </a:xfrm>
          <a:prstGeom prst="rect">
            <a:avLst/>
          </a:prstGeom>
          <a:ln w="9525">
            <a:solidFill>
              <a:srgbClr val="DDE5EF"/>
            </a:solidFill>
            <a:prstDash val="solid"/>
          </a:ln>
        </p:spPr>
      </p:sp>
      <p:sp>
        <p:nvSpPr>
          <p:cNvPr id="14" name="正方形/長方形 13">
            <a:extLst>
              <a:ext uri="{FF2B5EF4-FFF2-40B4-BE49-F238E27FC236}">
                <a16:creationId xmlns:a16="http://schemas.microsoft.com/office/drawing/2014/main" id="{FFA224F7-507B-4BBB-9E53-7BF04F4B9A3E}"/>
              </a:ext>
            </a:extLst>
          </p:cNvPr>
          <p:cNvSpPr>
            <a:spLocks noGrp="1"/>
          </p:cNvSpPr>
          <p:nvPr/>
        </p:nvSpPr>
        <p:spPr>
          <a:xfrm>
            <a:off x="4451350" y="2524125"/>
            <a:ext cx="3289300" cy="533400"/>
          </a:xfrm>
          <a:prstGeom prst="rect">
            <a:avLst/>
          </a:prstGeom>
          <a:ln w="0">
            <a:solidFill>
              <a:srgbClr val="FFFFFF"/>
            </a:solidFill>
            <a:prstDash val="solid"/>
          </a:ln>
        </p:spPr>
        <p:txBody>
          <a:bodyPr lIns="0" tIns="0" rIns="0" bIns="0" anchor="ctr"/>
          <a:lstStyle/>
          <a:p>
            <a:pPr algn="l">
              <a:defRPr sz="938" b="0">
                <a:solidFill>
                  <a:srgbClr val="1F2937"/>
                </a:solidFill>
                <a:latin typeface="Yu Gothic"/>
                <a:ea typeface="Yu Gothic"/>
                <a:cs typeface="Yu Gothic"/>
              </a:defRPr>
            </a:pPr>
            <a:r>
              <a:rPr sz="938" b="0">
                <a:solidFill>
                  <a:srgbClr val="1F2937"/>
                </a:solidFill>
                <a:latin typeface="Yu Gothic"/>
                <a:ea typeface="Yu Gothic"/>
                <a:cs typeface="Yu Gothic"/>
              </a:rPr>
              <a:t>Service Principal scope、RESOURCE_GROUP</a:t>
            </a:r>
          </a:p>
        </p:txBody>
      </p:sp>
      <p:sp>
        <p:nvSpPr>
          <p:cNvPr id="15" name="正方形/長方形 14">
            <a:extLst>
              <a:ext uri="{FF2B5EF4-FFF2-40B4-BE49-F238E27FC236}">
                <a16:creationId xmlns:a16="http://schemas.microsoft.com/office/drawing/2014/main" id="{3A40035E-9031-431E-B3E6-FA24334FE6F7}"/>
              </a:ext>
            </a:extLst>
          </p:cNvPr>
          <p:cNvSpPr>
            <a:spLocks noGrp="1"/>
          </p:cNvSpPr>
          <p:nvPr/>
        </p:nvSpPr>
        <p:spPr>
          <a:xfrm>
            <a:off x="7826375" y="2457450"/>
            <a:ext cx="3460750" cy="647700"/>
          </a:xfrm>
          <a:prstGeom prst="rect">
            <a:avLst/>
          </a:prstGeom>
          <a:ln w="9525">
            <a:solidFill>
              <a:srgbClr val="DDE5EF"/>
            </a:solidFill>
            <a:prstDash val="solid"/>
          </a:ln>
        </p:spPr>
      </p:sp>
      <p:sp>
        <p:nvSpPr>
          <p:cNvPr id="16" name="正方形/長方形 15">
            <a:extLst>
              <a:ext uri="{FF2B5EF4-FFF2-40B4-BE49-F238E27FC236}">
                <a16:creationId xmlns:a16="http://schemas.microsoft.com/office/drawing/2014/main" id="{54493AB3-71A3-4C34-B8D0-A372F94A4C07}"/>
              </a:ext>
            </a:extLst>
          </p:cNvPr>
          <p:cNvSpPr>
            <a:spLocks noGrp="1"/>
          </p:cNvSpPr>
          <p:nvPr/>
        </p:nvSpPr>
        <p:spPr>
          <a:xfrm>
            <a:off x="7912100" y="25241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第5回の RG を使う</a:t>
            </a:r>
          </a:p>
        </p:txBody>
      </p:sp>
      <p:sp>
        <p:nvSpPr>
          <p:cNvPr id="17" name="正方形/長方形 16">
            <a:extLst>
              <a:ext uri="{FF2B5EF4-FFF2-40B4-BE49-F238E27FC236}">
                <a16:creationId xmlns:a16="http://schemas.microsoft.com/office/drawing/2014/main" id="{22195EDB-4D4F-4815-9694-2C45139BBB8C}"/>
              </a:ext>
            </a:extLst>
          </p:cNvPr>
          <p:cNvSpPr>
            <a:spLocks noGrp="1"/>
          </p:cNvSpPr>
          <p:nvPr/>
        </p:nvSpPr>
        <p:spPr>
          <a:xfrm>
            <a:off x="904875" y="3105150"/>
            <a:ext cx="3460750" cy="647700"/>
          </a:xfrm>
          <a:prstGeom prst="rect">
            <a:avLst/>
          </a:prstGeom>
          <a:ln w="9525">
            <a:solidFill>
              <a:srgbClr val="DDE5EF"/>
            </a:solidFill>
            <a:prstDash val="solid"/>
          </a:ln>
        </p:spPr>
      </p:sp>
      <p:sp>
        <p:nvSpPr>
          <p:cNvPr id="18" name="正方形/長方形 17">
            <a:extLst>
              <a:ext uri="{FF2B5EF4-FFF2-40B4-BE49-F238E27FC236}">
                <a16:creationId xmlns:a16="http://schemas.microsoft.com/office/drawing/2014/main" id="{9DFF11B9-D8B7-4F35-884E-A334DC0099AF}"/>
              </a:ext>
            </a:extLst>
          </p:cNvPr>
          <p:cNvSpPr>
            <a:spLocks noGrp="1"/>
          </p:cNvSpPr>
          <p:nvPr/>
        </p:nvSpPr>
        <p:spPr>
          <a:xfrm>
            <a:off x="990600" y="31718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ACR name</a:t>
            </a:r>
          </a:p>
        </p:txBody>
      </p:sp>
      <p:sp>
        <p:nvSpPr>
          <p:cNvPr id="19" name="正方形/長方形 18">
            <a:extLst>
              <a:ext uri="{FF2B5EF4-FFF2-40B4-BE49-F238E27FC236}">
                <a16:creationId xmlns:a16="http://schemas.microsoft.com/office/drawing/2014/main" id="{E5D3FAE9-63F1-419F-8D34-D52BDE969649}"/>
              </a:ext>
            </a:extLst>
          </p:cNvPr>
          <p:cNvSpPr>
            <a:spLocks noGrp="1"/>
          </p:cNvSpPr>
          <p:nvPr/>
        </p:nvSpPr>
        <p:spPr>
          <a:xfrm>
            <a:off x="4365625" y="3105150"/>
            <a:ext cx="3460750" cy="647700"/>
          </a:xfrm>
          <a:prstGeom prst="rect">
            <a:avLst/>
          </a:prstGeom>
          <a:ln w="9525">
            <a:solidFill>
              <a:srgbClr val="DDE5EF"/>
            </a:solidFill>
            <a:prstDash val="solid"/>
          </a:ln>
        </p:spPr>
      </p:sp>
      <p:sp>
        <p:nvSpPr>
          <p:cNvPr id="20" name="正方形/長方形 19">
            <a:extLst>
              <a:ext uri="{FF2B5EF4-FFF2-40B4-BE49-F238E27FC236}">
                <a16:creationId xmlns:a16="http://schemas.microsoft.com/office/drawing/2014/main" id="{C2918C0E-1A19-41D0-8F53-00DD2AEF040C}"/>
              </a:ext>
            </a:extLst>
          </p:cNvPr>
          <p:cNvSpPr>
            <a:spLocks noGrp="1"/>
          </p:cNvSpPr>
          <p:nvPr/>
        </p:nvSpPr>
        <p:spPr>
          <a:xfrm>
            <a:off x="4451350" y="31718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ACR_NAME</a:t>
            </a:r>
          </a:p>
        </p:txBody>
      </p:sp>
      <p:sp>
        <p:nvSpPr>
          <p:cNvPr id="21" name="正方形/長方形 20">
            <a:extLst>
              <a:ext uri="{FF2B5EF4-FFF2-40B4-BE49-F238E27FC236}">
                <a16:creationId xmlns:a16="http://schemas.microsoft.com/office/drawing/2014/main" id="{87512C4F-DF34-4392-A1A0-98052CE7105F}"/>
              </a:ext>
            </a:extLst>
          </p:cNvPr>
          <p:cNvSpPr>
            <a:spLocks noGrp="1"/>
          </p:cNvSpPr>
          <p:nvPr/>
        </p:nvSpPr>
        <p:spPr>
          <a:xfrm>
            <a:off x="7826375" y="3105150"/>
            <a:ext cx="3460750" cy="647700"/>
          </a:xfrm>
          <a:prstGeom prst="rect">
            <a:avLst/>
          </a:prstGeom>
          <a:ln w="9525">
            <a:solidFill>
              <a:srgbClr val="DDE5EF"/>
            </a:solidFill>
            <a:prstDash val="solid"/>
          </a:ln>
        </p:spPr>
      </p:sp>
      <p:sp>
        <p:nvSpPr>
          <p:cNvPr id="22" name="正方形/長方形 21">
            <a:extLst>
              <a:ext uri="{FF2B5EF4-FFF2-40B4-BE49-F238E27FC236}">
                <a16:creationId xmlns:a16="http://schemas.microsoft.com/office/drawing/2014/main" id="{C803D9DE-2FE1-4C4D-9F8E-8E0EFCC16428}"/>
              </a:ext>
            </a:extLst>
          </p:cNvPr>
          <p:cNvSpPr>
            <a:spLocks noGrp="1"/>
          </p:cNvSpPr>
          <p:nvPr/>
        </p:nvSpPr>
        <p:spPr>
          <a:xfrm>
            <a:off x="7912100" y="31718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.azurecr.io を含めない</a:t>
            </a:r>
          </a:p>
        </p:txBody>
      </p:sp>
      <p:sp>
        <p:nvSpPr>
          <p:cNvPr id="23" name="正方形/長方形 22">
            <a:extLst>
              <a:ext uri="{FF2B5EF4-FFF2-40B4-BE49-F238E27FC236}">
                <a16:creationId xmlns:a16="http://schemas.microsoft.com/office/drawing/2014/main" id="{C93AF4F8-2800-454D-A9FD-752663E66B15}"/>
              </a:ext>
            </a:extLst>
          </p:cNvPr>
          <p:cNvSpPr>
            <a:spLocks noGrp="1"/>
          </p:cNvSpPr>
          <p:nvPr/>
        </p:nvSpPr>
        <p:spPr>
          <a:xfrm>
            <a:off x="904875" y="3752850"/>
            <a:ext cx="3460750" cy="647700"/>
          </a:xfrm>
          <a:prstGeom prst="rect">
            <a:avLst/>
          </a:prstGeom>
          <a:ln w="9525">
            <a:solidFill>
              <a:srgbClr val="DDE5EF"/>
            </a:solidFill>
            <a:prstDash val="solid"/>
          </a:ln>
        </p:spPr>
      </p:sp>
      <p:sp>
        <p:nvSpPr>
          <p:cNvPr id="24" name="正方形/長方形 23">
            <a:extLst>
              <a:ext uri="{FF2B5EF4-FFF2-40B4-BE49-F238E27FC236}">
                <a16:creationId xmlns:a16="http://schemas.microsoft.com/office/drawing/2014/main" id="{6D0B0A29-6E1E-422E-863C-0A80129A8F47}"/>
              </a:ext>
            </a:extLst>
          </p:cNvPr>
          <p:cNvSpPr>
            <a:spLocks noGrp="1"/>
          </p:cNvSpPr>
          <p:nvPr/>
        </p:nvSpPr>
        <p:spPr>
          <a:xfrm>
            <a:off x="990600" y="38195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PostgreSQL FQDN</a:t>
            </a:r>
          </a:p>
        </p:txBody>
      </p:sp>
      <p:sp>
        <p:nvSpPr>
          <p:cNvPr id="25" name="正方形/長方形 24">
            <a:extLst>
              <a:ext uri="{FF2B5EF4-FFF2-40B4-BE49-F238E27FC236}">
                <a16:creationId xmlns:a16="http://schemas.microsoft.com/office/drawing/2014/main" id="{45043ECD-9458-4FAF-BC66-8E8DC5CB710D}"/>
              </a:ext>
            </a:extLst>
          </p:cNvPr>
          <p:cNvSpPr>
            <a:spLocks noGrp="1"/>
          </p:cNvSpPr>
          <p:nvPr/>
        </p:nvSpPr>
        <p:spPr>
          <a:xfrm>
            <a:off x="4365625" y="3752850"/>
            <a:ext cx="3460750" cy="647700"/>
          </a:xfrm>
          <a:prstGeom prst="rect">
            <a:avLst/>
          </a:prstGeom>
          <a:ln w="9525">
            <a:solidFill>
              <a:srgbClr val="DDE5EF"/>
            </a:solidFill>
            <a:prstDash val="solid"/>
          </a:ln>
        </p:spPr>
      </p:sp>
      <p:sp>
        <p:nvSpPr>
          <p:cNvPr id="26" name="正方形/長方形 25">
            <a:extLst>
              <a:ext uri="{FF2B5EF4-FFF2-40B4-BE49-F238E27FC236}">
                <a16:creationId xmlns:a16="http://schemas.microsoft.com/office/drawing/2014/main" id="{6B3B163D-CA0E-4C86-B849-A45B62EFE889}"/>
              </a:ext>
            </a:extLst>
          </p:cNvPr>
          <p:cNvSpPr>
            <a:spLocks noGrp="1"/>
          </p:cNvSpPr>
          <p:nvPr/>
        </p:nvSpPr>
        <p:spPr>
          <a:xfrm>
            <a:off x="4451350" y="38195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POSTGRES_SERVER</a:t>
            </a:r>
          </a:p>
        </p:txBody>
      </p:sp>
      <p:sp>
        <p:nvSpPr>
          <p:cNvPr id="27" name="正方形/長方形 26">
            <a:extLst>
              <a:ext uri="{FF2B5EF4-FFF2-40B4-BE49-F238E27FC236}">
                <a16:creationId xmlns:a16="http://schemas.microsoft.com/office/drawing/2014/main" id="{69CBB1BC-0C7D-4D8A-A375-C4EF92109A2B}"/>
              </a:ext>
            </a:extLst>
          </p:cNvPr>
          <p:cNvSpPr>
            <a:spLocks noGrp="1"/>
          </p:cNvSpPr>
          <p:nvPr/>
        </p:nvSpPr>
        <p:spPr>
          <a:xfrm>
            <a:off x="7826375" y="3752850"/>
            <a:ext cx="3460750" cy="647700"/>
          </a:xfrm>
          <a:prstGeom prst="rect">
            <a:avLst/>
          </a:prstGeom>
          <a:ln w="9525">
            <a:solidFill>
              <a:srgbClr val="DDE5EF"/>
            </a:solidFill>
            <a:prstDash val="solid"/>
          </a:ln>
        </p:spPr>
      </p:sp>
      <p:sp>
        <p:nvSpPr>
          <p:cNvPr id="28" name="正方形/長方形 27">
            <a:extLst>
              <a:ext uri="{FF2B5EF4-FFF2-40B4-BE49-F238E27FC236}">
                <a16:creationId xmlns:a16="http://schemas.microsoft.com/office/drawing/2014/main" id="{D6A4E376-EC5C-47FA-A9DE-ED2AF239F11B}"/>
              </a:ext>
            </a:extLst>
          </p:cNvPr>
          <p:cNvSpPr>
            <a:spLocks noGrp="1"/>
          </p:cNvSpPr>
          <p:nvPr/>
        </p:nvSpPr>
        <p:spPr>
          <a:xfrm>
            <a:off x="7912100" y="38195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サーバー名だけでなく FQDN を使う</a:t>
            </a:r>
          </a:p>
        </p:txBody>
      </p:sp>
      <p:sp>
        <p:nvSpPr>
          <p:cNvPr id="29" name="正方形/長方形 28">
            <a:extLst>
              <a:ext uri="{FF2B5EF4-FFF2-40B4-BE49-F238E27FC236}">
                <a16:creationId xmlns:a16="http://schemas.microsoft.com/office/drawing/2014/main" id="{884B7266-22A8-4878-890C-D3E42A7594FB}"/>
              </a:ext>
            </a:extLst>
          </p:cNvPr>
          <p:cNvSpPr>
            <a:spLocks noGrp="1"/>
          </p:cNvSpPr>
          <p:nvPr/>
        </p:nvSpPr>
        <p:spPr>
          <a:xfrm>
            <a:off x="904875" y="4400550"/>
            <a:ext cx="3460750" cy="647700"/>
          </a:xfrm>
          <a:prstGeom prst="rect">
            <a:avLst/>
          </a:prstGeom>
          <a:ln w="9525">
            <a:solidFill>
              <a:srgbClr val="DDE5EF"/>
            </a:solidFill>
            <a:prstDash val="solid"/>
          </a:ln>
        </p:spPr>
      </p:sp>
      <p:sp>
        <p:nvSpPr>
          <p:cNvPr id="30" name="正方形/長方形 29">
            <a:extLst>
              <a:ext uri="{FF2B5EF4-FFF2-40B4-BE49-F238E27FC236}">
                <a16:creationId xmlns:a16="http://schemas.microsoft.com/office/drawing/2014/main" id="{1BF759B1-906D-4599-A86C-0ED20DFBC797}"/>
              </a:ext>
            </a:extLst>
          </p:cNvPr>
          <p:cNvSpPr>
            <a:spLocks noGrp="1"/>
          </p:cNvSpPr>
          <p:nvPr/>
        </p:nvSpPr>
        <p:spPr>
          <a:xfrm>
            <a:off x="990600" y="44672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Web URL</a:t>
            </a:r>
          </a:p>
        </p:txBody>
      </p:sp>
      <p:sp>
        <p:nvSpPr>
          <p:cNvPr id="31" name="正方形/長方形 30">
            <a:extLst>
              <a:ext uri="{FF2B5EF4-FFF2-40B4-BE49-F238E27FC236}">
                <a16:creationId xmlns:a16="http://schemas.microsoft.com/office/drawing/2014/main" id="{7295CE57-C8A0-44D4-887B-C521EA2A856C}"/>
              </a:ext>
            </a:extLst>
          </p:cNvPr>
          <p:cNvSpPr>
            <a:spLocks noGrp="1"/>
          </p:cNvSpPr>
          <p:nvPr/>
        </p:nvSpPr>
        <p:spPr>
          <a:xfrm>
            <a:off x="4365625" y="4400550"/>
            <a:ext cx="3460750" cy="647700"/>
          </a:xfrm>
          <a:prstGeom prst="rect">
            <a:avLst/>
          </a:prstGeom>
          <a:ln w="9525">
            <a:solidFill>
              <a:srgbClr val="DDE5EF"/>
            </a:solidFill>
            <a:prstDash val="solid"/>
          </a:ln>
        </p:spPr>
      </p:sp>
      <p:sp>
        <p:nvSpPr>
          <p:cNvPr id="32" name="正方形/長方形 31">
            <a:extLst>
              <a:ext uri="{FF2B5EF4-FFF2-40B4-BE49-F238E27FC236}">
                <a16:creationId xmlns:a16="http://schemas.microsoft.com/office/drawing/2014/main" id="{AFE0DE9A-EA8D-48B2-85D2-B9093ADD059A}"/>
              </a:ext>
            </a:extLst>
          </p:cNvPr>
          <p:cNvSpPr>
            <a:spLocks noGrp="1"/>
          </p:cNvSpPr>
          <p:nvPr/>
        </p:nvSpPr>
        <p:spPr>
          <a:xfrm>
            <a:off x="4451350" y="44672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AZURE_REDIRECT_URI</a:t>
            </a:r>
          </a:p>
        </p:txBody>
      </p:sp>
      <p:sp>
        <p:nvSpPr>
          <p:cNvPr id="33" name="正方形/長方形 32">
            <a:extLst>
              <a:ext uri="{FF2B5EF4-FFF2-40B4-BE49-F238E27FC236}">
                <a16:creationId xmlns:a16="http://schemas.microsoft.com/office/drawing/2014/main" id="{D64D500D-E295-442D-A72D-CBBB5B594564}"/>
              </a:ext>
            </a:extLst>
          </p:cNvPr>
          <p:cNvSpPr>
            <a:spLocks noGrp="1"/>
          </p:cNvSpPr>
          <p:nvPr/>
        </p:nvSpPr>
        <p:spPr>
          <a:xfrm>
            <a:off x="7826375" y="4400550"/>
            <a:ext cx="3460750" cy="647700"/>
          </a:xfrm>
          <a:prstGeom prst="rect">
            <a:avLst/>
          </a:prstGeom>
          <a:ln w="9525">
            <a:solidFill>
              <a:srgbClr val="DDE5EF"/>
            </a:solidFill>
            <a:prstDash val="solid"/>
          </a:ln>
        </p:spPr>
      </p:sp>
      <p:sp>
        <p:nvSpPr>
          <p:cNvPr id="34" name="正方形/長方形 33">
            <a:extLst>
              <a:ext uri="{FF2B5EF4-FFF2-40B4-BE49-F238E27FC236}">
                <a16:creationId xmlns:a16="http://schemas.microsoft.com/office/drawing/2014/main" id="{5F9D2728-BD5F-4C5E-93A9-D03E05F92260}"/>
              </a:ext>
            </a:extLst>
          </p:cNvPr>
          <p:cNvSpPr>
            <a:spLocks noGrp="1"/>
          </p:cNvSpPr>
          <p:nvPr/>
        </p:nvSpPr>
        <p:spPr>
          <a:xfrm>
            <a:off x="7912100" y="44672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Entra ID redirect URI と一致</a:t>
            </a:r>
          </a:p>
        </p:txBody>
      </p:sp>
      <p:sp>
        <p:nvSpPr>
          <p:cNvPr id="35" name="正方形/長方形 34">
            <a:extLst>
              <a:ext uri="{FF2B5EF4-FFF2-40B4-BE49-F238E27FC236}">
                <a16:creationId xmlns:a16="http://schemas.microsoft.com/office/drawing/2014/main" id="{0E06B165-BC5D-406F-B38A-1555F1E104B1}"/>
              </a:ext>
            </a:extLst>
          </p:cNvPr>
          <p:cNvSpPr>
            <a:spLocks noGrp="1"/>
          </p:cNvSpPr>
          <p:nvPr/>
        </p:nvSpPr>
        <p:spPr>
          <a:xfrm>
            <a:off x="904875" y="5048250"/>
            <a:ext cx="3460750" cy="647700"/>
          </a:xfrm>
          <a:prstGeom prst="rect">
            <a:avLst/>
          </a:prstGeom>
          <a:ln w="9525">
            <a:solidFill>
              <a:srgbClr val="DDE5EF"/>
            </a:solidFill>
            <a:prstDash val="solid"/>
          </a:ln>
        </p:spPr>
      </p:sp>
      <p:sp>
        <p:nvSpPr>
          <p:cNvPr id="36" name="正方形/長方形 35">
            <a:extLst>
              <a:ext uri="{FF2B5EF4-FFF2-40B4-BE49-F238E27FC236}">
                <a16:creationId xmlns:a16="http://schemas.microsoft.com/office/drawing/2014/main" id="{A1E0D4D0-F9C9-462F-B370-6773B920F569}"/>
              </a:ext>
            </a:extLst>
          </p:cNvPr>
          <p:cNvSpPr>
            <a:spLocks noGrp="1"/>
          </p:cNvSpPr>
          <p:nvPr/>
        </p:nvSpPr>
        <p:spPr>
          <a:xfrm>
            <a:off x="990600" y="51149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API URL</a:t>
            </a:r>
          </a:p>
        </p:txBody>
      </p:sp>
      <p:sp>
        <p:nvSpPr>
          <p:cNvPr id="37" name="正方形/長方形 36">
            <a:extLst>
              <a:ext uri="{FF2B5EF4-FFF2-40B4-BE49-F238E27FC236}">
                <a16:creationId xmlns:a16="http://schemas.microsoft.com/office/drawing/2014/main" id="{90E5F12E-5796-4EAF-8092-4BD6D497A3F3}"/>
              </a:ext>
            </a:extLst>
          </p:cNvPr>
          <p:cNvSpPr>
            <a:spLocks noGrp="1"/>
          </p:cNvSpPr>
          <p:nvPr/>
        </p:nvSpPr>
        <p:spPr>
          <a:xfrm>
            <a:off x="4365625" y="5048250"/>
            <a:ext cx="3460750" cy="647700"/>
          </a:xfrm>
          <a:prstGeom prst="rect">
            <a:avLst/>
          </a:prstGeom>
          <a:ln w="9525">
            <a:solidFill>
              <a:srgbClr val="DDE5EF"/>
            </a:solidFill>
            <a:prstDash val="solid"/>
          </a:ln>
        </p:spPr>
      </p:sp>
      <p:sp>
        <p:nvSpPr>
          <p:cNvPr id="38" name="正方形/長方形 37">
            <a:extLst>
              <a:ext uri="{FF2B5EF4-FFF2-40B4-BE49-F238E27FC236}">
                <a16:creationId xmlns:a16="http://schemas.microsoft.com/office/drawing/2014/main" id="{6A8AC63F-CA77-4703-A2E0-2F9A9C7B728C}"/>
              </a:ext>
            </a:extLst>
          </p:cNvPr>
          <p:cNvSpPr>
            <a:spLocks noGrp="1"/>
          </p:cNvSpPr>
          <p:nvPr/>
        </p:nvSpPr>
        <p:spPr>
          <a:xfrm>
            <a:off x="4451350" y="51149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API_PROXY_TARGET</a:t>
            </a:r>
          </a:p>
        </p:txBody>
      </p:sp>
      <p:sp>
        <p:nvSpPr>
          <p:cNvPr id="39" name="正方形/長方形 38">
            <a:extLst>
              <a:ext uri="{FF2B5EF4-FFF2-40B4-BE49-F238E27FC236}">
                <a16:creationId xmlns:a16="http://schemas.microsoft.com/office/drawing/2014/main" id="{154E4057-A70A-42DA-89E2-B4629334434E}"/>
              </a:ext>
            </a:extLst>
          </p:cNvPr>
          <p:cNvSpPr>
            <a:spLocks noGrp="1"/>
          </p:cNvSpPr>
          <p:nvPr/>
        </p:nvSpPr>
        <p:spPr>
          <a:xfrm>
            <a:off x="7826375" y="5048250"/>
            <a:ext cx="3460750" cy="647700"/>
          </a:xfrm>
          <a:prstGeom prst="rect">
            <a:avLst/>
          </a:prstGeom>
          <a:ln w="9525">
            <a:solidFill>
              <a:srgbClr val="DDE5EF"/>
            </a:solidFill>
            <a:prstDash val="solid"/>
          </a:ln>
        </p:spPr>
      </p:sp>
      <p:sp>
        <p:nvSpPr>
          <p:cNvPr id="40" name="正方形/長方形 39">
            <a:extLst>
              <a:ext uri="{FF2B5EF4-FFF2-40B4-BE49-F238E27FC236}">
                <a16:creationId xmlns:a16="http://schemas.microsoft.com/office/drawing/2014/main" id="{44F2FE8A-2669-4D3D-868F-986FDFC33B12}"/>
              </a:ext>
            </a:extLst>
          </p:cNvPr>
          <p:cNvSpPr>
            <a:spLocks noGrp="1"/>
          </p:cNvSpPr>
          <p:nvPr/>
        </p:nvSpPr>
        <p:spPr>
          <a:xfrm>
            <a:off x="7912100" y="51149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内部 API URL を使う</a:t>
            </a:r>
          </a:p>
        </p:txBody>
      </p:sp>
      <p:sp>
        <p:nvSpPr>
          <p:cNvPr id="41" name="正方形/長方形 40">
            <a:extLst>
              <a:ext uri="{FF2B5EF4-FFF2-40B4-BE49-F238E27FC236}">
                <a16:creationId xmlns:a16="http://schemas.microsoft.com/office/drawing/2014/main" id="{5AFE3F0F-E637-4120-A486-59C95A51DDD8}"/>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C173288E-D988-4995-B542-706A541D3A59}"/>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PostgreSQL を再開する</a:t>
            </a:r>
          </a:p>
        </p:txBody>
      </p:sp>
      <p:sp>
        <p:nvSpPr>
          <p:cNvPr id="2" name="正方形/長方形 1">
            <a:extLst>
              <a:ext uri="{FF2B5EF4-FFF2-40B4-BE49-F238E27FC236}">
                <a16:creationId xmlns:a16="http://schemas.microsoft.com/office/drawing/2014/main" id="{C0807826-D9A0-4411-8706-EAD66AEB30EB}"/>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11 / 48</a:t>
            </a:r>
          </a:p>
        </p:txBody>
      </p:sp>
      <p:sp>
        <p:nvSpPr>
          <p:cNvPr id="3" name="正方形/長方形 2">
            <a:extLst>
              <a:ext uri="{FF2B5EF4-FFF2-40B4-BE49-F238E27FC236}">
                <a16:creationId xmlns:a16="http://schemas.microsoft.com/office/drawing/2014/main" id="{D35CA223-794B-4695-BB0B-758C5F515FB0}"/>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3A20F209-30BA-4E66-9EE3-89EA41FF8FFD}"/>
              </a:ext>
            </a:extLst>
          </p:cNvPr>
          <p:cNvSpPr>
            <a:spLocks noGrp="1"/>
          </p:cNvSpPr>
          <p:nvPr/>
        </p:nvSpPr>
        <p:spPr>
          <a:xfrm>
            <a:off x="666750" y="1123950"/>
            <a:ext cx="10287000" cy="476250"/>
          </a:xfrm>
          <a:prstGeom prst="rect">
            <a:avLst/>
          </a:prstGeom>
          <a:ln w="0">
            <a:solidFill>
              <a:srgbClr val="FFFFFF"/>
            </a:solidFill>
            <a:prstDash val="solid"/>
          </a:ln>
        </p:spPr>
        <p:txBody>
          <a:bodyPr lIns="0" tIns="0" rIns="0" bIns="0" anchor="t"/>
          <a:lstStyle/>
          <a:p>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前回停止した PostgreSQL を、デプロイ後の動作確認に向けて Running に戻します。Start 後の完了を待ってから次へ進みます。</a:t>
            </a:r>
          </a:p>
        </p:txBody>
      </p:sp>
      <p:sp>
        <p:nvSpPr>
          <p:cNvPr id="5" name="正方形/長方形 4">
            <a:extLst>
              <a:ext uri="{FF2B5EF4-FFF2-40B4-BE49-F238E27FC236}">
                <a16:creationId xmlns:a16="http://schemas.microsoft.com/office/drawing/2014/main" id="{AF451472-4A1F-4699-9B12-356647AABB13}"/>
              </a:ext>
            </a:extLst>
          </p:cNvPr>
          <p:cNvSpPr>
            <a:spLocks noGrp="1"/>
          </p:cNvSpPr>
          <p:nvPr/>
        </p:nvSpPr>
        <p:spPr>
          <a:xfrm>
            <a:off x="904875" y="1866900"/>
            <a:ext cx="4972050" cy="3429000"/>
          </a:xfrm>
          <a:prstGeom prst="rect">
            <a:avLst/>
          </a:prstGeom>
          <a:ln w="9525">
            <a:solidFill>
              <a:srgbClr val="CAD5E4"/>
            </a:solidFill>
            <a:prstDash val="solid"/>
          </a:ln>
        </p:spPr>
      </p:sp>
      <p:pic>
        <p:nvPicPr>
          <p:cNvPr id="6" name="図 5"/>
          <p:cNvPicPr>
            <a:picLocks noChangeAspect="1"/>
          </p:cNvPicPr>
          <p:nvPr/>
        </p:nvPicPr>
        <p:blipFill>
          <a:blip r:embed="rId3"/>
          <a:stretch/>
        </p:blipFill>
        <p:spPr>
          <a:xfrm>
            <a:off x="1019175" y="2113955"/>
            <a:ext cx="4743450" cy="2668191"/>
          </a:xfrm>
          <a:prstGeom prst="rect">
            <a:avLst/>
          </a:prstGeom>
        </p:spPr>
      </p:pic>
      <p:sp>
        <p:nvSpPr>
          <p:cNvPr id="7" name="正方形/長方形 6">
            <a:extLst>
              <a:ext uri="{FF2B5EF4-FFF2-40B4-BE49-F238E27FC236}">
                <a16:creationId xmlns:a16="http://schemas.microsoft.com/office/drawing/2014/main" id="{419F1796-FF23-4F20-97C6-F9D3A30A431F}"/>
              </a:ext>
            </a:extLst>
          </p:cNvPr>
          <p:cNvSpPr>
            <a:spLocks noGrp="1"/>
          </p:cNvSpPr>
          <p:nvPr/>
        </p:nvSpPr>
        <p:spPr>
          <a:xfrm>
            <a:off x="1057275" y="4972050"/>
            <a:ext cx="4667250" cy="228600"/>
          </a:xfrm>
          <a:prstGeom prst="rect">
            <a:avLst/>
          </a:prstGeom>
          <a:ln w="0">
            <a:solidFill>
              <a:srgbClr val="FFFFFF"/>
            </a:solidFill>
            <a:prstDash val="solid"/>
          </a:ln>
        </p:spPr>
        <p:txBody>
          <a:bodyPr lIns="0" tIns="0" rIns="0" bIns="0" anchor="t"/>
          <a:lstStyle/>
          <a:p>
            <a:pPr algn="ctr">
              <a:defRPr sz="938" b="0">
                <a:solidFill>
                  <a:srgbClr val="64748B"/>
                </a:solidFill>
                <a:latin typeface="Yu Gothic"/>
                <a:ea typeface="Yu Gothic"/>
                <a:cs typeface="Yu Gothic"/>
              </a:defRPr>
            </a:pPr>
            <a:r>
              <a:rPr sz="938" b="0">
                <a:solidFill>
                  <a:srgbClr val="64748B"/>
                </a:solidFill>
                <a:latin typeface="Yu Gothic"/>
                <a:ea typeface="Yu Gothic"/>
                <a:cs typeface="Yu Gothic"/>
              </a:rPr>
              <a:t>Start 操作を実行する</a:t>
            </a:r>
          </a:p>
        </p:txBody>
      </p:sp>
      <p:sp>
        <p:nvSpPr>
          <p:cNvPr id="8" name="正方形/長方形 7">
            <a:extLst>
              <a:ext uri="{FF2B5EF4-FFF2-40B4-BE49-F238E27FC236}">
                <a16:creationId xmlns:a16="http://schemas.microsoft.com/office/drawing/2014/main" id="{21740C5B-CC7F-4287-86B6-4790D2387FA3}"/>
              </a:ext>
            </a:extLst>
          </p:cNvPr>
          <p:cNvSpPr>
            <a:spLocks noGrp="1"/>
          </p:cNvSpPr>
          <p:nvPr/>
        </p:nvSpPr>
        <p:spPr>
          <a:xfrm>
            <a:off x="6334125" y="1866900"/>
            <a:ext cx="4972050" cy="3429000"/>
          </a:xfrm>
          <a:prstGeom prst="rect">
            <a:avLst/>
          </a:prstGeom>
          <a:ln w="9525">
            <a:solidFill>
              <a:srgbClr val="CAD5E4"/>
            </a:solidFill>
            <a:prstDash val="solid"/>
          </a:ln>
        </p:spPr>
      </p:sp>
      <p:pic>
        <p:nvPicPr>
          <p:cNvPr id="9" name="図 8"/>
          <p:cNvPicPr>
            <a:picLocks noChangeAspect="1"/>
          </p:cNvPicPr>
          <p:nvPr/>
        </p:nvPicPr>
        <p:blipFill>
          <a:blip r:embed="rId4"/>
          <a:stretch/>
        </p:blipFill>
        <p:spPr>
          <a:xfrm>
            <a:off x="6448425" y="2113955"/>
            <a:ext cx="4743450" cy="2668191"/>
          </a:xfrm>
          <a:prstGeom prst="rect">
            <a:avLst/>
          </a:prstGeom>
        </p:spPr>
      </p:pic>
      <p:sp>
        <p:nvSpPr>
          <p:cNvPr id="10" name="正方形/長方形 9">
            <a:extLst>
              <a:ext uri="{FF2B5EF4-FFF2-40B4-BE49-F238E27FC236}">
                <a16:creationId xmlns:a16="http://schemas.microsoft.com/office/drawing/2014/main" id="{A8FE36AA-4901-48CE-A966-51E4648537A6}"/>
              </a:ext>
            </a:extLst>
          </p:cNvPr>
          <p:cNvSpPr>
            <a:spLocks noGrp="1"/>
          </p:cNvSpPr>
          <p:nvPr/>
        </p:nvSpPr>
        <p:spPr>
          <a:xfrm>
            <a:off x="6486525" y="4972050"/>
            <a:ext cx="4667250" cy="228600"/>
          </a:xfrm>
          <a:prstGeom prst="rect">
            <a:avLst/>
          </a:prstGeom>
          <a:ln w="0">
            <a:solidFill>
              <a:srgbClr val="FFFFFF"/>
            </a:solidFill>
            <a:prstDash val="solid"/>
          </a:ln>
        </p:spPr>
        <p:txBody>
          <a:bodyPr lIns="0" tIns="0" rIns="0" bIns="0" anchor="t"/>
          <a:lstStyle/>
          <a:p>
            <a:pPr algn="ctr">
              <a:defRPr sz="938" b="0">
                <a:solidFill>
                  <a:srgbClr val="64748B"/>
                </a:solidFill>
                <a:latin typeface="Yu Gothic"/>
                <a:ea typeface="Yu Gothic"/>
                <a:cs typeface="Yu Gothic"/>
              </a:defRPr>
            </a:pPr>
            <a:r>
              <a:rPr sz="938" b="0">
                <a:solidFill>
                  <a:srgbClr val="64748B"/>
                </a:solidFill>
                <a:latin typeface="Yu Gothic"/>
                <a:ea typeface="Yu Gothic"/>
                <a:cs typeface="Yu Gothic"/>
              </a:rPr>
              <a:t>Running 状態を確認する</a:t>
            </a:r>
          </a:p>
        </p:txBody>
      </p:sp>
      <p:sp>
        <p:nvSpPr>
          <p:cNvPr id="11" name="正方形/長方形 10">
            <a:extLst>
              <a:ext uri="{FF2B5EF4-FFF2-40B4-BE49-F238E27FC236}">
                <a16:creationId xmlns:a16="http://schemas.microsoft.com/office/drawing/2014/main" id="{739E0974-037F-40F6-96EF-5D8F30C6BD42}"/>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D18DE066-4D50-4C89-A3FC-0CEA878E6EB4}"/>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テンプレートからリポジトリを作成する</a:t>
            </a:r>
          </a:p>
        </p:txBody>
      </p:sp>
      <p:sp>
        <p:nvSpPr>
          <p:cNvPr id="2" name="正方形/長方形 1">
            <a:extLst>
              <a:ext uri="{FF2B5EF4-FFF2-40B4-BE49-F238E27FC236}">
                <a16:creationId xmlns:a16="http://schemas.microsoft.com/office/drawing/2014/main" id="{D4226F8B-D4D6-4E4C-BFD8-68B8E48B8E22}"/>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12 / 48</a:t>
            </a:r>
          </a:p>
        </p:txBody>
      </p:sp>
      <p:sp>
        <p:nvSpPr>
          <p:cNvPr id="3" name="正方形/長方形 2">
            <a:extLst>
              <a:ext uri="{FF2B5EF4-FFF2-40B4-BE49-F238E27FC236}">
                <a16:creationId xmlns:a16="http://schemas.microsoft.com/office/drawing/2014/main" id="{73665EF1-2ACD-4B7A-9BEB-A59E56D36E0C}"/>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8678F49F-E778-4F9E-A993-6BD04BF36F90}"/>
              </a:ext>
            </a:extLst>
          </p:cNvPr>
          <p:cNvSpPr>
            <a:spLocks noGrp="1"/>
          </p:cNvSpPr>
          <p:nvPr/>
        </p:nvSpPr>
        <p:spPr>
          <a:xfrm>
            <a:off x="666750" y="1123950"/>
            <a:ext cx="10287000" cy="476250"/>
          </a:xfrm>
          <a:prstGeom prst="rect">
            <a:avLst/>
          </a:prstGeom>
          <a:ln w="0">
            <a:solidFill>
              <a:srgbClr val="FFFFFF"/>
            </a:solidFill>
            <a:prstDash val="solid"/>
          </a:ln>
        </p:spPr>
        <p:txBody>
          <a:bodyPr lIns="0" tIns="0" rIns="0" bIns="0" anchor="t"/>
          <a:lstStyle/>
          <a:p>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元ガイドに従い、テンプレートリポジトリから受講者用の Todo アプリリポジトリを作成します。</a:t>
            </a:r>
          </a:p>
        </p:txBody>
      </p:sp>
      <p:sp>
        <p:nvSpPr>
          <p:cNvPr id="5" name="正方形/長方形 4">
            <a:extLst>
              <a:ext uri="{FF2B5EF4-FFF2-40B4-BE49-F238E27FC236}">
                <a16:creationId xmlns:a16="http://schemas.microsoft.com/office/drawing/2014/main" id="{717A53AB-04A5-4C03-AB13-3EEC81713EBA}"/>
              </a:ext>
            </a:extLst>
          </p:cNvPr>
          <p:cNvSpPr>
            <a:spLocks noGrp="1"/>
          </p:cNvSpPr>
          <p:nvPr/>
        </p:nvSpPr>
        <p:spPr>
          <a:xfrm>
            <a:off x="5095875" y="1695450"/>
            <a:ext cx="6286500" cy="4095750"/>
          </a:xfrm>
          <a:prstGeom prst="rect">
            <a:avLst/>
          </a:prstGeom>
          <a:ln w="9525">
            <a:solidFill>
              <a:srgbClr val="CAD5E4"/>
            </a:solidFill>
            <a:prstDash val="solid"/>
          </a:ln>
        </p:spPr>
      </p:sp>
      <p:pic>
        <p:nvPicPr>
          <p:cNvPr id="6" name="図 5"/>
          <p:cNvPicPr>
            <a:picLocks noChangeAspect="1"/>
          </p:cNvPicPr>
          <p:nvPr/>
        </p:nvPicPr>
        <p:blipFill>
          <a:blip r:embed="rId3"/>
          <a:stretch/>
        </p:blipFill>
        <p:spPr>
          <a:xfrm>
            <a:off x="5238750" y="1922264"/>
            <a:ext cx="6000750" cy="3375422"/>
          </a:xfrm>
          <a:prstGeom prst="rect">
            <a:avLst/>
          </a:prstGeom>
        </p:spPr>
      </p:pic>
      <p:sp>
        <p:nvSpPr>
          <p:cNvPr id="7" name="正方形/長方形 6">
            <a:extLst>
              <a:ext uri="{FF2B5EF4-FFF2-40B4-BE49-F238E27FC236}">
                <a16:creationId xmlns:a16="http://schemas.microsoft.com/office/drawing/2014/main" id="{0DDB8AC7-89AD-451E-B9A2-FA82ACC0C8BB}"/>
              </a:ext>
            </a:extLst>
          </p:cNvPr>
          <p:cNvSpPr>
            <a:spLocks noGrp="1"/>
          </p:cNvSpPr>
          <p:nvPr/>
        </p:nvSpPr>
        <p:spPr>
          <a:xfrm>
            <a:off x="5286375" y="5429250"/>
            <a:ext cx="5905500" cy="228600"/>
          </a:xfrm>
          <a:prstGeom prst="rect">
            <a:avLst/>
          </a:prstGeom>
          <a:ln w="0">
            <a:solidFill>
              <a:srgbClr val="FFFFFF"/>
            </a:solidFill>
            <a:prstDash val="solid"/>
          </a:ln>
        </p:spPr>
        <p:txBody>
          <a:bodyPr lIns="0" tIns="0" rIns="0" bIns="0" anchor="t"/>
          <a:lstStyle/>
          <a:p>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テンプレートリポジトリを開く</a:t>
            </a:r>
          </a:p>
        </p:txBody>
      </p:sp>
      <p:sp>
        <p:nvSpPr>
          <p:cNvPr id="8" name="正方形/長方形 7">
            <a:extLst>
              <a:ext uri="{FF2B5EF4-FFF2-40B4-BE49-F238E27FC236}">
                <a16:creationId xmlns:a16="http://schemas.microsoft.com/office/drawing/2014/main" id="{0D53928D-658D-4BD9-AAE3-B63D17CBF5D3}"/>
              </a:ext>
            </a:extLst>
          </p:cNvPr>
          <p:cNvSpPr>
            <a:spLocks noGrp="1"/>
          </p:cNvSpPr>
          <p:nvPr/>
        </p:nvSpPr>
        <p:spPr>
          <a:xfrm>
            <a:off x="904875" y="2095500"/>
            <a:ext cx="3714750" cy="1952625"/>
          </a:xfrm>
          <a:prstGeom prst="rect">
            <a:avLst/>
          </a:prstGeom>
          <a:ln w="9525">
            <a:solidFill>
              <a:srgbClr val="DBE4EF"/>
            </a:solidFill>
            <a:prstDash val="solid"/>
          </a:ln>
        </p:spPr>
      </p:sp>
      <p:sp>
        <p:nvSpPr>
          <p:cNvPr id="9" name="正方形/長方形 8">
            <a:extLst>
              <a:ext uri="{FF2B5EF4-FFF2-40B4-BE49-F238E27FC236}">
                <a16:creationId xmlns:a16="http://schemas.microsoft.com/office/drawing/2014/main" id="{B5BBB8F1-E09A-4D45-A01E-17FA47E2CB6A}"/>
              </a:ext>
            </a:extLst>
          </p:cNvPr>
          <p:cNvSpPr>
            <a:spLocks noGrp="1"/>
          </p:cNvSpPr>
          <p:nvPr/>
        </p:nvSpPr>
        <p:spPr>
          <a:xfrm>
            <a:off x="904875" y="2095500"/>
            <a:ext cx="76200" cy="1952625"/>
          </a:xfrm>
          <a:prstGeom prst="rect">
            <a:avLst/>
          </a:prstGeom>
          <a:ln w="0">
            <a:solidFill>
              <a:srgbClr val="2563EB"/>
            </a:solidFill>
            <a:prstDash val="solid"/>
          </a:ln>
        </p:spPr>
      </p:sp>
      <p:sp>
        <p:nvSpPr>
          <p:cNvPr id="10" name="正方形/長方形 9">
            <a:extLst>
              <a:ext uri="{FF2B5EF4-FFF2-40B4-BE49-F238E27FC236}">
                <a16:creationId xmlns:a16="http://schemas.microsoft.com/office/drawing/2014/main" id="{B854C79D-7979-4B7A-8195-9CAE08640DAE}"/>
              </a:ext>
            </a:extLst>
          </p:cNvPr>
          <p:cNvSpPr>
            <a:spLocks noGrp="1"/>
          </p:cNvSpPr>
          <p:nvPr/>
        </p:nvSpPr>
        <p:spPr>
          <a:xfrm>
            <a:off x="1133475" y="2266950"/>
            <a:ext cx="3333750" cy="171450"/>
          </a:xfrm>
          <a:prstGeom prst="rect">
            <a:avLst/>
          </a:prstGeom>
          <a:ln w="0">
            <a:solidFill>
              <a:srgbClr val="FFFFFF"/>
            </a:solidFill>
            <a:prstDash val="solid"/>
          </a:ln>
        </p:spPr>
        <p:txBody>
          <a:bodyPr lIns="0" tIns="0" rIns="0" bIns="0" anchor="t"/>
          <a:lstStyle/>
          <a:p>
            <a:pPr algn="l">
              <a:defRPr sz="900" b="1">
                <a:solidFill>
                  <a:srgbClr val="2563EB"/>
                </a:solidFill>
                <a:latin typeface="Yu Gothic"/>
                <a:ea typeface="Yu Gothic"/>
                <a:cs typeface="Yu Gothic"/>
              </a:defRPr>
            </a:pPr>
            <a:r>
              <a:rPr sz="900" b="1">
                <a:solidFill>
                  <a:srgbClr val="2563EB"/>
                </a:solidFill>
                <a:latin typeface="Yu Gothic"/>
                <a:ea typeface="Yu Gothic"/>
                <a:cs typeface="Yu Gothic"/>
              </a:rPr>
              <a:t>確認ポイント</a:t>
            </a:r>
          </a:p>
        </p:txBody>
      </p:sp>
      <p:sp>
        <p:nvSpPr>
          <p:cNvPr id="11" name="正方形/長方形 10">
            <a:extLst>
              <a:ext uri="{FF2B5EF4-FFF2-40B4-BE49-F238E27FC236}">
                <a16:creationId xmlns:a16="http://schemas.microsoft.com/office/drawing/2014/main" id="{9027097C-FC7C-47B9-A5DB-CB4C0E35139B}"/>
              </a:ext>
            </a:extLst>
          </p:cNvPr>
          <p:cNvSpPr>
            <a:spLocks noGrp="1"/>
          </p:cNvSpPr>
          <p:nvPr/>
        </p:nvSpPr>
        <p:spPr>
          <a:xfrm>
            <a:off x="1133475" y="2495550"/>
            <a:ext cx="331470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GitHub</a:t>
            </a:r>
          </a:p>
        </p:txBody>
      </p:sp>
      <p:sp>
        <p:nvSpPr>
          <p:cNvPr id="12" name="正方形/長方形 11">
            <a:extLst>
              <a:ext uri="{FF2B5EF4-FFF2-40B4-BE49-F238E27FC236}">
                <a16:creationId xmlns:a16="http://schemas.microsoft.com/office/drawing/2014/main" id="{0EABC1B7-13E5-4402-BE5B-BCEE58FB5D15}"/>
              </a:ext>
            </a:extLst>
          </p:cNvPr>
          <p:cNvSpPr>
            <a:spLocks noGrp="1"/>
          </p:cNvSpPr>
          <p:nvPr/>
        </p:nvSpPr>
        <p:spPr>
          <a:xfrm>
            <a:off x="1133475" y="2933700"/>
            <a:ext cx="3314700" cy="10001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テンプレートから受講者用リポジトリを作成します。</a:t>
            </a:r>
          </a:p>
        </p:txBody>
      </p:sp>
      <p:sp>
        <p:nvSpPr>
          <p:cNvPr id="13" name="正方形/長方形 12">
            <a:extLst>
              <a:ext uri="{FF2B5EF4-FFF2-40B4-BE49-F238E27FC236}">
                <a16:creationId xmlns:a16="http://schemas.microsoft.com/office/drawing/2014/main" id="{E99A1B4D-136B-45C8-9741-56A022B99D52}"/>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13DCB4D0-FD58-49D6-9A12-4E0AA2D0990C}"/>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リポジトリを作成する</a:t>
            </a:r>
          </a:p>
        </p:txBody>
      </p:sp>
      <p:sp>
        <p:nvSpPr>
          <p:cNvPr id="2" name="正方形/長方形 1">
            <a:extLst>
              <a:ext uri="{FF2B5EF4-FFF2-40B4-BE49-F238E27FC236}">
                <a16:creationId xmlns:a16="http://schemas.microsoft.com/office/drawing/2014/main" id="{871B0477-2421-430A-B7A8-EB35C201B586}"/>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13 / 48</a:t>
            </a:r>
          </a:p>
        </p:txBody>
      </p:sp>
      <p:sp>
        <p:nvSpPr>
          <p:cNvPr id="3" name="正方形/長方形 2">
            <a:extLst>
              <a:ext uri="{FF2B5EF4-FFF2-40B4-BE49-F238E27FC236}">
                <a16:creationId xmlns:a16="http://schemas.microsoft.com/office/drawing/2014/main" id="{CDE4A37D-8E11-4DF6-926C-FE6BE7E646B8}"/>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9C9CC95A-89AE-44CC-A3CD-21506B4F51B7}"/>
              </a:ext>
            </a:extLst>
          </p:cNvPr>
          <p:cNvSpPr>
            <a:spLocks noGrp="1"/>
          </p:cNvSpPr>
          <p:nvPr/>
        </p:nvSpPr>
        <p:spPr>
          <a:xfrm>
            <a:off x="666750" y="1123950"/>
            <a:ext cx="10287000" cy="476250"/>
          </a:xfrm>
          <a:prstGeom prst="rect">
            <a:avLst/>
          </a:prstGeom>
          <a:ln w="0">
            <a:solidFill>
              <a:srgbClr val="FFFFFF"/>
            </a:solidFill>
            <a:prstDash val="solid"/>
          </a:ln>
        </p:spPr>
        <p:txBody>
          <a:bodyPr lIns="0" tIns="0" rIns="0" bIns="0" anchor="t"/>
          <a:lstStyle/>
          <a:p>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Repository name は受講者番号などで識別しやすくします。元ガイドの初心者向けフローでは Public を想定します。</a:t>
            </a:r>
          </a:p>
        </p:txBody>
      </p:sp>
      <p:sp>
        <p:nvSpPr>
          <p:cNvPr id="5" name="正方形/長方形 4">
            <a:extLst>
              <a:ext uri="{FF2B5EF4-FFF2-40B4-BE49-F238E27FC236}">
                <a16:creationId xmlns:a16="http://schemas.microsoft.com/office/drawing/2014/main" id="{8288421F-A110-418B-9125-7FCB7B30B5F4}"/>
              </a:ext>
            </a:extLst>
          </p:cNvPr>
          <p:cNvSpPr>
            <a:spLocks noGrp="1"/>
          </p:cNvSpPr>
          <p:nvPr/>
        </p:nvSpPr>
        <p:spPr>
          <a:xfrm>
            <a:off x="5095875" y="1695450"/>
            <a:ext cx="6286500" cy="4095750"/>
          </a:xfrm>
          <a:prstGeom prst="rect">
            <a:avLst/>
          </a:prstGeom>
          <a:ln w="9525">
            <a:solidFill>
              <a:srgbClr val="CAD5E4"/>
            </a:solidFill>
            <a:prstDash val="solid"/>
          </a:ln>
        </p:spPr>
      </p:sp>
      <p:pic>
        <p:nvPicPr>
          <p:cNvPr id="6" name="図 5"/>
          <p:cNvPicPr>
            <a:picLocks noChangeAspect="1"/>
          </p:cNvPicPr>
          <p:nvPr/>
        </p:nvPicPr>
        <p:blipFill>
          <a:blip r:embed="rId3"/>
          <a:stretch/>
        </p:blipFill>
        <p:spPr>
          <a:xfrm>
            <a:off x="5389245" y="1828800"/>
            <a:ext cx="5699760" cy="3562350"/>
          </a:xfrm>
          <a:prstGeom prst="rect">
            <a:avLst/>
          </a:prstGeom>
        </p:spPr>
      </p:pic>
      <p:sp>
        <p:nvSpPr>
          <p:cNvPr id="7" name="正方形/長方形 6">
            <a:extLst>
              <a:ext uri="{FF2B5EF4-FFF2-40B4-BE49-F238E27FC236}">
                <a16:creationId xmlns:a16="http://schemas.microsoft.com/office/drawing/2014/main" id="{726B2678-C142-48CB-B010-369C92116D2C}"/>
              </a:ext>
            </a:extLst>
          </p:cNvPr>
          <p:cNvSpPr>
            <a:spLocks noGrp="1"/>
          </p:cNvSpPr>
          <p:nvPr/>
        </p:nvSpPr>
        <p:spPr>
          <a:xfrm>
            <a:off x="5286375" y="5429250"/>
            <a:ext cx="5905500" cy="228600"/>
          </a:xfrm>
          <a:prstGeom prst="rect">
            <a:avLst/>
          </a:prstGeom>
          <a:ln w="0">
            <a:solidFill>
              <a:srgbClr val="FFFFFF"/>
            </a:solidFill>
            <a:prstDash val="solid"/>
          </a:ln>
        </p:spPr>
        <p:txBody>
          <a:bodyPr lIns="0" tIns="0" rIns="0" bIns="0" anchor="t"/>
          <a:lstStyle/>
          <a:p>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リポジトリ名と Public を指定する</a:t>
            </a:r>
          </a:p>
        </p:txBody>
      </p:sp>
      <p:sp>
        <p:nvSpPr>
          <p:cNvPr id="8" name="正方形/長方形 7">
            <a:extLst>
              <a:ext uri="{FF2B5EF4-FFF2-40B4-BE49-F238E27FC236}">
                <a16:creationId xmlns:a16="http://schemas.microsoft.com/office/drawing/2014/main" id="{A5629B6E-D7C6-4FAB-86D2-00FA31174EF8}"/>
              </a:ext>
            </a:extLst>
          </p:cNvPr>
          <p:cNvSpPr>
            <a:spLocks noGrp="1"/>
          </p:cNvSpPr>
          <p:nvPr/>
        </p:nvSpPr>
        <p:spPr>
          <a:xfrm>
            <a:off x="904875" y="2095500"/>
            <a:ext cx="3714750" cy="1952625"/>
          </a:xfrm>
          <a:prstGeom prst="rect">
            <a:avLst/>
          </a:prstGeom>
          <a:ln w="9525">
            <a:solidFill>
              <a:srgbClr val="DBE4EF"/>
            </a:solidFill>
            <a:prstDash val="solid"/>
          </a:ln>
        </p:spPr>
      </p:sp>
      <p:sp>
        <p:nvSpPr>
          <p:cNvPr id="9" name="正方形/長方形 8">
            <a:extLst>
              <a:ext uri="{FF2B5EF4-FFF2-40B4-BE49-F238E27FC236}">
                <a16:creationId xmlns:a16="http://schemas.microsoft.com/office/drawing/2014/main" id="{4F6BE132-6B2D-4322-BE8D-7CDACDD0407C}"/>
              </a:ext>
            </a:extLst>
          </p:cNvPr>
          <p:cNvSpPr>
            <a:spLocks noGrp="1"/>
          </p:cNvSpPr>
          <p:nvPr/>
        </p:nvSpPr>
        <p:spPr>
          <a:xfrm>
            <a:off x="904875" y="2095500"/>
            <a:ext cx="76200" cy="1952625"/>
          </a:xfrm>
          <a:prstGeom prst="rect">
            <a:avLst/>
          </a:prstGeom>
          <a:ln w="0">
            <a:solidFill>
              <a:srgbClr val="2563EB"/>
            </a:solidFill>
            <a:prstDash val="solid"/>
          </a:ln>
        </p:spPr>
      </p:sp>
      <p:sp>
        <p:nvSpPr>
          <p:cNvPr id="10" name="正方形/長方形 9">
            <a:extLst>
              <a:ext uri="{FF2B5EF4-FFF2-40B4-BE49-F238E27FC236}">
                <a16:creationId xmlns:a16="http://schemas.microsoft.com/office/drawing/2014/main" id="{5F57A599-2ACC-4C99-B783-651F66195F0E}"/>
              </a:ext>
            </a:extLst>
          </p:cNvPr>
          <p:cNvSpPr>
            <a:spLocks noGrp="1"/>
          </p:cNvSpPr>
          <p:nvPr/>
        </p:nvSpPr>
        <p:spPr>
          <a:xfrm>
            <a:off x="1133475" y="2266950"/>
            <a:ext cx="3333750" cy="171450"/>
          </a:xfrm>
          <a:prstGeom prst="rect">
            <a:avLst/>
          </a:prstGeom>
          <a:ln w="0">
            <a:solidFill>
              <a:srgbClr val="FFFFFF"/>
            </a:solidFill>
            <a:prstDash val="solid"/>
          </a:ln>
        </p:spPr>
        <p:txBody>
          <a:bodyPr lIns="0" tIns="0" rIns="0" bIns="0" anchor="t"/>
          <a:lstStyle/>
          <a:p>
            <a:pPr algn="l">
              <a:defRPr sz="900" b="1">
                <a:solidFill>
                  <a:srgbClr val="2563EB"/>
                </a:solidFill>
                <a:latin typeface="Yu Gothic"/>
                <a:ea typeface="Yu Gothic"/>
                <a:cs typeface="Yu Gothic"/>
              </a:defRPr>
            </a:pPr>
            <a:r>
              <a:rPr sz="900" b="1">
                <a:solidFill>
                  <a:srgbClr val="2563EB"/>
                </a:solidFill>
                <a:latin typeface="Yu Gothic"/>
                <a:ea typeface="Yu Gothic"/>
                <a:cs typeface="Yu Gothic"/>
              </a:rPr>
              <a:t>確認ポイント</a:t>
            </a:r>
          </a:p>
        </p:txBody>
      </p:sp>
      <p:sp>
        <p:nvSpPr>
          <p:cNvPr id="11" name="正方形/長方形 10">
            <a:extLst>
              <a:ext uri="{FF2B5EF4-FFF2-40B4-BE49-F238E27FC236}">
                <a16:creationId xmlns:a16="http://schemas.microsoft.com/office/drawing/2014/main" id="{8B4B40D2-F84A-4EAB-ABAC-8EDB8157D7EF}"/>
              </a:ext>
            </a:extLst>
          </p:cNvPr>
          <p:cNvSpPr>
            <a:spLocks noGrp="1"/>
          </p:cNvSpPr>
          <p:nvPr/>
        </p:nvSpPr>
        <p:spPr>
          <a:xfrm>
            <a:off x="1133475" y="2495550"/>
            <a:ext cx="331470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Repository</a:t>
            </a:r>
          </a:p>
        </p:txBody>
      </p:sp>
      <p:sp>
        <p:nvSpPr>
          <p:cNvPr id="12" name="正方形/長方形 11">
            <a:extLst>
              <a:ext uri="{FF2B5EF4-FFF2-40B4-BE49-F238E27FC236}">
                <a16:creationId xmlns:a16="http://schemas.microsoft.com/office/drawing/2014/main" id="{60B4E739-DB93-47C1-9688-2C33CAC87CBE}"/>
              </a:ext>
            </a:extLst>
          </p:cNvPr>
          <p:cNvSpPr>
            <a:spLocks noGrp="1"/>
          </p:cNvSpPr>
          <p:nvPr/>
        </p:nvSpPr>
        <p:spPr>
          <a:xfrm>
            <a:off x="1133475" y="2933700"/>
            <a:ext cx="3314700" cy="10001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Public 想定で作成し、Repository URL を記録します。</a:t>
            </a:r>
          </a:p>
        </p:txBody>
      </p:sp>
      <p:sp>
        <p:nvSpPr>
          <p:cNvPr id="13" name="正方形/長方形 12">
            <a:extLst>
              <a:ext uri="{FF2B5EF4-FFF2-40B4-BE49-F238E27FC236}">
                <a16:creationId xmlns:a16="http://schemas.microsoft.com/office/drawing/2014/main" id="{8A5C320E-B241-4746-B227-359BE0956D1A}"/>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0E693D25-6094-4A3D-B1E4-89529511DC95}"/>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作成したリポジトリを確認する</a:t>
            </a:r>
          </a:p>
        </p:txBody>
      </p:sp>
      <p:sp>
        <p:nvSpPr>
          <p:cNvPr id="2" name="正方形/長方形 1">
            <a:extLst>
              <a:ext uri="{FF2B5EF4-FFF2-40B4-BE49-F238E27FC236}">
                <a16:creationId xmlns:a16="http://schemas.microsoft.com/office/drawing/2014/main" id="{9AF540B5-87BC-4E89-8A0E-09027A02129F}"/>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14 / 48</a:t>
            </a:r>
          </a:p>
        </p:txBody>
      </p:sp>
      <p:sp>
        <p:nvSpPr>
          <p:cNvPr id="3" name="正方形/長方形 2">
            <a:extLst>
              <a:ext uri="{FF2B5EF4-FFF2-40B4-BE49-F238E27FC236}">
                <a16:creationId xmlns:a16="http://schemas.microsoft.com/office/drawing/2014/main" id="{EB192B92-340E-43ED-9ADB-7A378C2BBD81}"/>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CF83DBE3-F464-48B1-9EB5-508FDC405AAE}"/>
              </a:ext>
            </a:extLst>
          </p:cNvPr>
          <p:cNvSpPr>
            <a:spLocks noGrp="1"/>
          </p:cNvSpPr>
          <p:nvPr/>
        </p:nvSpPr>
        <p:spPr>
          <a:xfrm>
            <a:off x="666750" y="1123950"/>
            <a:ext cx="10287000" cy="476250"/>
          </a:xfrm>
          <a:prstGeom prst="rect">
            <a:avLst/>
          </a:prstGeom>
          <a:ln w="0">
            <a:solidFill>
              <a:srgbClr val="FFFFFF"/>
            </a:solidFill>
            <a:prstDash val="solid"/>
          </a:ln>
        </p:spPr>
        <p:txBody>
          <a:bodyPr lIns="0" tIns="0" rIns="0" bIns="0" anchor="t"/>
          <a:lstStyle/>
          <a:p>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作成したリポジトリが、第6回の作業場所になります。Actions と Settings に移動できることを確認します。</a:t>
            </a:r>
          </a:p>
        </p:txBody>
      </p:sp>
      <p:sp>
        <p:nvSpPr>
          <p:cNvPr id="5" name="正方形/長方形 4">
            <a:extLst>
              <a:ext uri="{FF2B5EF4-FFF2-40B4-BE49-F238E27FC236}">
                <a16:creationId xmlns:a16="http://schemas.microsoft.com/office/drawing/2014/main" id="{8CC1F248-98E8-4B65-B123-DEBA8EC8E3AF}"/>
              </a:ext>
            </a:extLst>
          </p:cNvPr>
          <p:cNvSpPr>
            <a:spLocks noGrp="1"/>
          </p:cNvSpPr>
          <p:nvPr/>
        </p:nvSpPr>
        <p:spPr>
          <a:xfrm>
            <a:off x="5095875" y="1695450"/>
            <a:ext cx="6286500" cy="4095750"/>
          </a:xfrm>
          <a:prstGeom prst="rect">
            <a:avLst/>
          </a:prstGeom>
          <a:ln w="9525">
            <a:solidFill>
              <a:srgbClr val="CAD5E4"/>
            </a:solidFill>
            <a:prstDash val="solid"/>
          </a:ln>
        </p:spPr>
      </p:sp>
      <p:pic>
        <p:nvPicPr>
          <p:cNvPr id="6" name="図 5"/>
          <p:cNvPicPr>
            <a:picLocks noChangeAspect="1"/>
          </p:cNvPicPr>
          <p:nvPr/>
        </p:nvPicPr>
        <p:blipFill>
          <a:blip r:embed="rId3"/>
          <a:stretch/>
        </p:blipFill>
        <p:spPr>
          <a:xfrm>
            <a:off x="5238750" y="1922264"/>
            <a:ext cx="6000750" cy="3375422"/>
          </a:xfrm>
          <a:prstGeom prst="rect">
            <a:avLst/>
          </a:prstGeom>
        </p:spPr>
      </p:pic>
      <p:sp>
        <p:nvSpPr>
          <p:cNvPr id="7" name="正方形/長方形 6">
            <a:extLst>
              <a:ext uri="{FF2B5EF4-FFF2-40B4-BE49-F238E27FC236}">
                <a16:creationId xmlns:a16="http://schemas.microsoft.com/office/drawing/2014/main" id="{C029F795-B511-48DE-BC38-741C649F37EA}"/>
              </a:ext>
            </a:extLst>
          </p:cNvPr>
          <p:cNvSpPr>
            <a:spLocks noGrp="1"/>
          </p:cNvSpPr>
          <p:nvPr/>
        </p:nvSpPr>
        <p:spPr>
          <a:xfrm>
            <a:off x="5286375" y="5429250"/>
            <a:ext cx="5905500" cy="228600"/>
          </a:xfrm>
          <a:prstGeom prst="rect">
            <a:avLst/>
          </a:prstGeom>
          <a:ln w="0">
            <a:solidFill>
              <a:srgbClr val="FFFFFF"/>
            </a:solidFill>
            <a:prstDash val="solid"/>
          </a:ln>
        </p:spPr>
        <p:txBody>
          <a:bodyPr lIns="0" tIns="0" rIns="0" bIns="0" anchor="t"/>
          <a:lstStyle/>
          <a:p>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作成済みリポジトリを確認する</a:t>
            </a:r>
          </a:p>
        </p:txBody>
      </p:sp>
      <p:sp>
        <p:nvSpPr>
          <p:cNvPr id="8" name="正方形/長方形 7">
            <a:extLst>
              <a:ext uri="{FF2B5EF4-FFF2-40B4-BE49-F238E27FC236}">
                <a16:creationId xmlns:a16="http://schemas.microsoft.com/office/drawing/2014/main" id="{8E86699F-413C-495D-9BEA-97C788E830F7}"/>
              </a:ext>
            </a:extLst>
          </p:cNvPr>
          <p:cNvSpPr>
            <a:spLocks noGrp="1"/>
          </p:cNvSpPr>
          <p:nvPr/>
        </p:nvSpPr>
        <p:spPr>
          <a:xfrm>
            <a:off x="904875" y="2095500"/>
            <a:ext cx="3714750" cy="1952625"/>
          </a:xfrm>
          <a:prstGeom prst="rect">
            <a:avLst/>
          </a:prstGeom>
          <a:ln w="9525">
            <a:solidFill>
              <a:srgbClr val="DBE4EF"/>
            </a:solidFill>
            <a:prstDash val="solid"/>
          </a:ln>
        </p:spPr>
      </p:sp>
      <p:sp>
        <p:nvSpPr>
          <p:cNvPr id="9" name="正方形/長方形 8">
            <a:extLst>
              <a:ext uri="{FF2B5EF4-FFF2-40B4-BE49-F238E27FC236}">
                <a16:creationId xmlns:a16="http://schemas.microsoft.com/office/drawing/2014/main" id="{2B0062EE-200B-433C-A378-EE29EDF21989}"/>
              </a:ext>
            </a:extLst>
          </p:cNvPr>
          <p:cNvSpPr>
            <a:spLocks noGrp="1"/>
          </p:cNvSpPr>
          <p:nvPr/>
        </p:nvSpPr>
        <p:spPr>
          <a:xfrm>
            <a:off x="904875" y="2095500"/>
            <a:ext cx="76200" cy="1952625"/>
          </a:xfrm>
          <a:prstGeom prst="rect">
            <a:avLst/>
          </a:prstGeom>
          <a:ln w="0">
            <a:solidFill>
              <a:srgbClr val="15803D"/>
            </a:solidFill>
            <a:prstDash val="solid"/>
          </a:ln>
        </p:spPr>
      </p:sp>
      <p:sp>
        <p:nvSpPr>
          <p:cNvPr id="10" name="正方形/長方形 9">
            <a:extLst>
              <a:ext uri="{FF2B5EF4-FFF2-40B4-BE49-F238E27FC236}">
                <a16:creationId xmlns:a16="http://schemas.microsoft.com/office/drawing/2014/main" id="{4FBAA952-FAFE-4107-BC2A-A90D501F3C2A}"/>
              </a:ext>
            </a:extLst>
          </p:cNvPr>
          <p:cNvSpPr>
            <a:spLocks noGrp="1"/>
          </p:cNvSpPr>
          <p:nvPr/>
        </p:nvSpPr>
        <p:spPr>
          <a:xfrm>
            <a:off x="1133475" y="2266950"/>
            <a:ext cx="3333750" cy="171450"/>
          </a:xfrm>
          <a:prstGeom prst="rect">
            <a:avLst/>
          </a:prstGeom>
          <a:ln w="0">
            <a:solidFill>
              <a:srgbClr val="FFFFFF"/>
            </a:solidFill>
            <a:prstDash val="solid"/>
          </a:ln>
        </p:spPr>
        <p:txBody>
          <a:bodyPr lIns="0" tIns="0" rIns="0" bIns="0" anchor="t"/>
          <a:lstStyle/>
          <a:p>
            <a:pPr algn="l">
              <a:defRPr sz="900" b="1">
                <a:solidFill>
                  <a:srgbClr val="15803D"/>
                </a:solidFill>
                <a:latin typeface="Yu Gothic"/>
                <a:ea typeface="Yu Gothic"/>
                <a:cs typeface="Yu Gothic"/>
              </a:defRPr>
            </a:pPr>
            <a:r>
              <a:rPr sz="900" b="1">
                <a:solidFill>
                  <a:srgbClr val="15803D"/>
                </a:solidFill>
                <a:latin typeface="Yu Gothic"/>
                <a:ea typeface="Yu Gothic"/>
                <a:cs typeface="Yu Gothic"/>
              </a:rPr>
              <a:t>確認ポイント</a:t>
            </a:r>
          </a:p>
        </p:txBody>
      </p:sp>
      <p:sp>
        <p:nvSpPr>
          <p:cNvPr id="11" name="正方形/長方形 10">
            <a:extLst>
              <a:ext uri="{FF2B5EF4-FFF2-40B4-BE49-F238E27FC236}">
                <a16:creationId xmlns:a16="http://schemas.microsoft.com/office/drawing/2014/main" id="{BBEFE6AE-261A-4C70-8E4B-62C5A9852A7B}"/>
              </a:ext>
            </a:extLst>
          </p:cNvPr>
          <p:cNvSpPr>
            <a:spLocks noGrp="1"/>
          </p:cNvSpPr>
          <p:nvPr/>
        </p:nvSpPr>
        <p:spPr>
          <a:xfrm>
            <a:off x="1133475" y="2495550"/>
            <a:ext cx="331470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作業場所</a:t>
            </a:r>
          </a:p>
        </p:txBody>
      </p:sp>
      <p:sp>
        <p:nvSpPr>
          <p:cNvPr id="12" name="正方形/長方形 11">
            <a:extLst>
              <a:ext uri="{FF2B5EF4-FFF2-40B4-BE49-F238E27FC236}">
                <a16:creationId xmlns:a16="http://schemas.microsoft.com/office/drawing/2014/main" id="{6E6F0D94-1556-4251-9852-3697A0928FE1}"/>
              </a:ext>
            </a:extLst>
          </p:cNvPr>
          <p:cNvSpPr>
            <a:spLocks noGrp="1"/>
          </p:cNvSpPr>
          <p:nvPr/>
        </p:nvSpPr>
        <p:spPr>
          <a:xfrm>
            <a:off x="1133475" y="2933700"/>
            <a:ext cx="3314700" cy="10001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Settings と Actions に移動できることを確認します。</a:t>
            </a:r>
          </a:p>
        </p:txBody>
      </p:sp>
      <p:sp>
        <p:nvSpPr>
          <p:cNvPr id="13" name="正方形/長方形 12">
            <a:extLst>
              <a:ext uri="{FF2B5EF4-FFF2-40B4-BE49-F238E27FC236}">
                <a16:creationId xmlns:a16="http://schemas.microsoft.com/office/drawing/2014/main" id="{D75ABED9-23CA-496E-824B-6990D248B5C6}"/>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2C48CE4C-6390-46BA-8B66-E7310A8496F0}"/>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Cloud Shell を開く</a:t>
            </a:r>
          </a:p>
        </p:txBody>
      </p:sp>
      <p:sp>
        <p:nvSpPr>
          <p:cNvPr id="2" name="正方形/長方形 1">
            <a:extLst>
              <a:ext uri="{FF2B5EF4-FFF2-40B4-BE49-F238E27FC236}">
                <a16:creationId xmlns:a16="http://schemas.microsoft.com/office/drawing/2014/main" id="{729A55B7-D0D2-4B8D-A3FD-8095716A58A0}"/>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15 / 48</a:t>
            </a:r>
          </a:p>
        </p:txBody>
      </p:sp>
      <p:sp>
        <p:nvSpPr>
          <p:cNvPr id="3" name="正方形/長方形 2">
            <a:extLst>
              <a:ext uri="{FF2B5EF4-FFF2-40B4-BE49-F238E27FC236}">
                <a16:creationId xmlns:a16="http://schemas.microsoft.com/office/drawing/2014/main" id="{38A4F528-FE6B-40D9-90EF-F14F2AE0FDB2}"/>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DE5C8044-E9D5-406F-86D6-09E0E8EE4DC6}"/>
              </a:ext>
            </a:extLst>
          </p:cNvPr>
          <p:cNvSpPr>
            <a:spLocks noGrp="1"/>
          </p:cNvSpPr>
          <p:nvPr/>
        </p:nvSpPr>
        <p:spPr>
          <a:xfrm>
            <a:off x="666750" y="1123950"/>
            <a:ext cx="10287000" cy="476250"/>
          </a:xfrm>
          <a:prstGeom prst="rect">
            <a:avLst/>
          </a:prstGeom>
          <a:ln w="0">
            <a:solidFill>
              <a:srgbClr val="FFFFFF"/>
            </a:solidFill>
            <a:prstDash val="solid"/>
          </a:ln>
        </p:spPr>
        <p:txBody>
          <a:bodyPr lIns="0" tIns="0" rIns="0" bIns="0" anchor="t"/>
          <a:lstStyle/>
          <a:p>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Service Principal 作成と workflow 有効化は、講師指示に従い Azure Cloud Shell で行います。ローカル端末の Azure CLI は使いません。</a:t>
            </a:r>
          </a:p>
        </p:txBody>
      </p:sp>
      <p:sp>
        <p:nvSpPr>
          <p:cNvPr id="5" name="正方形/長方形 4">
            <a:extLst>
              <a:ext uri="{FF2B5EF4-FFF2-40B4-BE49-F238E27FC236}">
                <a16:creationId xmlns:a16="http://schemas.microsoft.com/office/drawing/2014/main" id="{320F4EA0-22AF-4A0C-9A18-09FE7144A1E1}"/>
              </a:ext>
            </a:extLst>
          </p:cNvPr>
          <p:cNvSpPr>
            <a:spLocks noGrp="1"/>
          </p:cNvSpPr>
          <p:nvPr/>
        </p:nvSpPr>
        <p:spPr>
          <a:xfrm>
            <a:off x="904875" y="1866900"/>
            <a:ext cx="4972050" cy="3429000"/>
          </a:xfrm>
          <a:prstGeom prst="rect">
            <a:avLst/>
          </a:prstGeom>
          <a:ln w="9525">
            <a:solidFill>
              <a:srgbClr val="CAD5E4"/>
            </a:solidFill>
            <a:prstDash val="solid"/>
          </a:ln>
        </p:spPr>
      </p:sp>
      <p:pic>
        <p:nvPicPr>
          <p:cNvPr id="6" name="図 5"/>
          <p:cNvPicPr>
            <a:picLocks noChangeAspect="1"/>
          </p:cNvPicPr>
          <p:nvPr/>
        </p:nvPicPr>
        <p:blipFill>
          <a:blip r:embed="rId3"/>
          <a:stretch/>
        </p:blipFill>
        <p:spPr>
          <a:xfrm>
            <a:off x="1019175" y="2159403"/>
            <a:ext cx="4743450" cy="2577295"/>
          </a:xfrm>
          <a:prstGeom prst="rect">
            <a:avLst/>
          </a:prstGeom>
        </p:spPr>
      </p:pic>
      <p:sp>
        <p:nvSpPr>
          <p:cNvPr id="7" name="正方形/長方形 6">
            <a:extLst>
              <a:ext uri="{FF2B5EF4-FFF2-40B4-BE49-F238E27FC236}">
                <a16:creationId xmlns:a16="http://schemas.microsoft.com/office/drawing/2014/main" id="{F8BDD446-FC78-4A19-B495-837445991108}"/>
              </a:ext>
            </a:extLst>
          </p:cNvPr>
          <p:cNvSpPr>
            <a:spLocks noGrp="1"/>
          </p:cNvSpPr>
          <p:nvPr/>
        </p:nvSpPr>
        <p:spPr>
          <a:xfrm>
            <a:off x="1057275" y="4972050"/>
            <a:ext cx="4667250" cy="228600"/>
          </a:xfrm>
          <a:prstGeom prst="rect">
            <a:avLst/>
          </a:prstGeom>
          <a:ln w="0">
            <a:solidFill>
              <a:srgbClr val="FFFFFF"/>
            </a:solidFill>
            <a:prstDash val="solid"/>
          </a:ln>
        </p:spPr>
        <p:txBody>
          <a:bodyPr lIns="0" tIns="0" rIns="0" bIns="0" anchor="t"/>
          <a:lstStyle/>
          <a:p>
            <a:pPr algn="ctr">
              <a:defRPr sz="938" b="0">
                <a:solidFill>
                  <a:srgbClr val="64748B"/>
                </a:solidFill>
                <a:latin typeface="Yu Gothic"/>
                <a:ea typeface="Yu Gothic"/>
                <a:cs typeface="Yu Gothic"/>
              </a:defRPr>
            </a:pPr>
            <a:r>
              <a:rPr sz="938" b="0">
                <a:solidFill>
                  <a:srgbClr val="64748B"/>
                </a:solidFill>
                <a:latin typeface="Yu Gothic"/>
                <a:ea typeface="Yu Gothic"/>
                <a:cs typeface="Yu Gothic"/>
              </a:rPr>
              <a:t>Cloud Shell を開く</a:t>
            </a:r>
          </a:p>
        </p:txBody>
      </p:sp>
      <p:sp>
        <p:nvSpPr>
          <p:cNvPr id="8" name="正方形/長方形 7">
            <a:extLst>
              <a:ext uri="{FF2B5EF4-FFF2-40B4-BE49-F238E27FC236}">
                <a16:creationId xmlns:a16="http://schemas.microsoft.com/office/drawing/2014/main" id="{858C1FEF-04AD-4311-9678-AAF42691BE0A}"/>
              </a:ext>
            </a:extLst>
          </p:cNvPr>
          <p:cNvSpPr>
            <a:spLocks noGrp="1"/>
          </p:cNvSpPr>
          <p:nvPr/>
        </p:nvSpPr>
        <p:spPr>
          <a:xfrm>
            <a:off x="6334125" y="1866900"/>
            <a:ext cx="4972050" cy="3429000"/>
          </a:xfrm>
          <a:prstGeom prst="rect">
            <a:avLst/>
          </a:prstGeom>
          <a:ln w="9525">
            <a:solidFill>
              <a:srgbClr val="CAD5E4"/>
            </a:solidFill>
            <a:prstDash val="solid"/>
          </a:ln>
        </p:spPr>
      </p:sp>
      <p:pic>
        <p:nvPicPr>
          <p:cNvPr id="9" name="図 8"/>
          <p:cNvPicPr>
            <a:picLocks noChangeAspect="1"/>
          </p:cNvPicPr>
          <p:nvPr/>
        </p:nvPicPr>
        <p:blipFill>
          <a:blip r:embed="rId4"/>
          <a:stretch/>
        </p:blipFill>
        <p:spPr>
          <a:xfrm>
            <a:off x="6448425" y="2113955"/>
            <a:ext cx="4743450" cy="2668191"/>
          </a:xfrm>
          <a:prstGeom prst="rect">
            <a:avLst/>
          </a:prstGeom>
        </p:spPr>
      </p:pic>
      <p:sp>
        <p:nvSpPr>
          <p:cNvPr id="10" name="正方形/長方形 9">
            <a:extLst>
              <a:ext uri="{FF2B5EF4-FFF2-40B4-BE49-F238E27FC236}">
                <a16:creationId xmlns:a16="http://schemas.microsoft.com/office/drawing/2014/main" id="{A2A69982-12E8-495F-A02B-82A34F3A7A09}"/>
              </a:ext>
            </a:extLst>
          </p:cNvPr>
          <p:cNvSpPr>
            <a:spLocks noGrp="1"/>
          </p:cNvSpPr>
          <p:nvPr/>
        </p:nvSpPr>
        <p:spPr>
          <a:xfrm>
            <a:off x="6486525" y="4972050"/>
            <a:ext cx="4667250" cy="228600"/>
          </a:xfrm>
          <a:prstGeom prst="rect">
            <a:avLst/>
          </a:prstGeom>
          <a:ln w="0">
            <a:solidFill>
              <a:srgbClr val="FFFFFF"/>
            </a:solidFill>
            <a:prstDash val="solid"/>
          </a:ln>
        </p:spPr>
        <p:txBody>
          <a:bodyPr lIns="0" tIns="0" rIns="0" bIns="0" anchor="t"/>
          <a:lstStyle/>
          <a:p>
            <a:pPr algn="ctr">
              <a:defRPr sz="938" b="0">
                <a:solidFill>
                  <a:srgbClr val="64748B"/>
                </a:solidFill>
                <a:latin typeface="Yu Gothic"/>
                <a:ea typeface="Yu Gothic"/>
                <a:cs typeface="Yu Gothic"/>
              </a:defRPr>
            </a:pPr>
            <a:r>
              <a:rPr sz="938" b="0">
                <a:solidFill>
                  <a:srgbClr val="64748B"/>
                </a:solidFill>
                <a:latin typeface="Yu Gothic"/>
                <a:ea typeface="Yu Gothic"/>
                <a:cs typeface="Yu Gothic"/>
              </a:rPr>
              <a:t>対象サブスクリプションを確認する</a:t>
            </a:r>
          </a:p>
        </p:txBody>
      </p:sp>
      <p:sp>
        <p:nvSpPr>
          <p:cNvPr id="11" name="正方形/長方形 10">
            <a:extLst>
              <a:ext uri="{FF2B5EF4-FFF2-40B4-BE49-F238E27FC236}">
                <a16:creationId xmlns:a16="http://schemas.microsoft.com/office/drawing/2014/main" id="{373F951D-D787-44F0-A0FE-90DBB4E02ED1}"/>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EA098207-18CD-40E0-9BC5-D4437D49167D}"/>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Service Principal を作成する</a:t>
            </a:r>
          </a:p>
        </p:txBody>
      </p:sp>
      <p:sp>
        <p:nvSpPr>
          <p:cNvPr id="2" name="正方形/長方形 1">
            <a:extLst>
              <a:ext uri="{FF2B5EF4-FFF2-40B4-BE49-F238E27FC236}">
                <a16:creationId xmlns:a16="http://schemas.microsoft.com/office/drawing/2014/main" id="{F65C2807-4749-4C77-A35D-9E86A3F2F2F3}"/>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16 / 48</a:t>
            </a:r>
          </a:p>
        </p:txBody>
      </p:sp>
      <p:sp>
        <p:nvSpPr>
          <p:cNvPr id="3" name="正方形/長方形 2">
            <a:extLst>
              <a:ext uri="{FF2B5EF4-FFF2-40B4-BE49-F238E27FC236}">
                <a16:creationId xmlns:a16="http://schemas.microsoft.com/office/drawing/2014/main" id="{43165F04-DC98-4EBF-B2E1-CA88CE20DF69}"/>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A8290E07-4EDB-48D9-839B-354805817919}"/>
              </a:ext>
            </a:extLst>
          </p:cNvPr>
          <p:cNvSpPr>
            <a:spLocks noGrp="1"/>
          </p:cNvSpPr>
          <p:nvPr/>
        </p:nvSpPr>
        <p:spPr>
          <a:xfrm>
            <a:off x="666750" y="1123950"/>
            <a:ext cx="10287000" cy="476250"/>
          </a:xfrm>
          <a:prstGeom prst="rect">
            <a:avLst/>
          </a:prstGeom>
          <a:ln w="0">
            <a:solidFill>
              <a:srgbClr val="FFFFFF"/>
            </a:solidFill>
            <a:prstDash val="solid"/>
          </a:ln>
        </p:spPr>
        <p:txBody>
          <a:bodyPr lIns="0" tIns="0" rIns="0" bIns="0" anchor="t"/>
          <a:lstStyle/>
          <a:p>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GitHub Actions が Azure にログインするための資格情報を作成します。出力 JSON には secret が含まれるため、スクリーンショットや資料に残しません。</a:t>
            </a:r>
          </a:p>
        </p:txBody>
      </p:sp>
      <p:sp>
        <p:nvSpPr>
          <p:cNvPr id="5" name="正方形/長方形 4">
            <a:extLst>
              <a:ext uri="{FF2B5EF4-FFF2-40B4-BE49-F238E27FC236}">
                <a16:creationId xmlns:a16="http://schemas.microsoft.com/office/drawing/2014/main" id="{1ECBE4E6-BD73-4471-A99B-F61CE62DBDE9}"/>
              </a:ext>
            </a:extLst>
          </p:cNvPr>
          <p:cNvSpPr>
            <a:spLocks noGrp="1"/>
          </p:cNvSpPr>
          <p:nvPr/>
        </p:nvSpPr>
        <p:spPr>
          <a:xfrm>
            <a:off x="5095875" y="1695450"/>
            <a:ext cx="6286500" cy="4095750"/>
          </a:xfrm>
          <a:prstGeom prst="rect">
            <a:avLst/>
          </a:prstGeom>
          <a:ln w="9525">
            <a:solidFill>
              <a:srgbClr val="CAD5E4"/>
            </a:solidFill>
            <a:prstDash val="solid"/>
          </a:ln>
        </p:spPr>
      </p:sp>
      <p:pic>
        <p:nvPicPr>
          <p:cNvPr id="6" name="図 5"/>
          <p:cNvPicPr>
            <a:picLocks noChangeAspect="1"/>
          </p:cNvPicPr>
          <p:nvPr/>
        </p:nvPicPr>
        <p:blipFill>
          <a:blip r:embed="rId3"/>
          <a:stretch/>
        </p:blipFill>
        <p:spPr>
          <a:xfrm>
            <a:off x="5238750" y="1979758"/>
            <a:ext cx="6000750" cy="3260433"/>
          </a:xfrm>
          <a:prstGeom prst="rect">
            <a:avLst/>
          </a:prstGeom>
        </p:spPr>
      </p:pic>
      <p:sp>
        <p:nvSpPr>
          <p:cNvPr id="7" name="正方形/長方形 6">
            <a:extLst>
              <a:ext uri="{FF2B5EF4-FFF2-40B4-BE49-F238E27FC236}">
                <a16:creationId xmlns:a16="http://schemas.microsoft.com/office/drawing/2014/main" id="{4A778EAF-3B11-4005-BAB6-9CD43A170834}"/>
              </a:ext>
            </a:extLst>
          </p:cNvPr>
          <p:cNvSpPr>
            <a:spLocks noGrp="1"/>
          </p:cNvSpPr>
          <p:nvPr/>
        </p:nvSpPr>
        <p:spPr>
          <a:xfrm>
            <a:off x="5286375" y="5429250"/>
            <a:ext cx="5905500" cy="228600"/>
          </a:xfrm>
          <a:prstGeom prst="rect">
            <a:avLst/>
          </a:prstGeom>
          <a:ln w="0">
            <a:solidFill>
              <a:srgbClr val="FFFFFF"/>
            </a:solidFill>
            <a:prstDash val="solid"/>
          </a:ln>
        </p:spPr>
        <p:txBody>
          <a:bodyPr lIns="0" tIns="0" rIns="0" bIns="0" anchor="t"/>
          <a:lstStyle/>
          <a:p>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Service Principal 作成コマンドを実行する</a:t>
            </a:r>
          </a:p>
        </p:txBody>
      </p:sp>
      <p:sp>
        <p:nvSpPr>
          <p:cNvPr id="8" name="正方形/長方形 7">
            <a:extLst>
              <a:ext uri="{FF2B5EF4-FFF2-40B4-BE49-F238E27FC236}">
                <a16:creationId xmlns:a16="http://schemas.microsoft.com/office/drawing/2014/main" id="{BF7AA439-CD9F-40CC-9E07-043B48D48640}"/>
              </a:ext>
            </a:extLst>
          </p:cNvPr>
          <p:cNvSpPr>
            <a:spLocks noGrp="1"/>
          </p:cNvSpPr>
          <p:nvPr/>
        </p:nvSpPr>
        <p:spPr>
          <a:xfrm>
            <a:off x="904875" y="2095500"/>
            <a:ext cx="3714750" cy="1952625"/>
          </a:xfrm>
          <a:prstGeom prst="rect">
            <a:avLst/>
          </a:prstGeom>
          <a:ln w="9525">
            <a:solidFill>
              <a:srgbClr val="DBE4EF"/>
            </a:solidFill>
            <a:prstDash val="solid"/>
          </a:ln>
        </p:spPr>
      </p:sp>
      <p:sp>
        <p:nvSpPr>
          <p:cNvPr id="9" name="正方形/長方形 8">
            <a:extLst>
              <a:ext uri="{FF2B5EF4-FFF2-40B4-BE49-F238E27FC236}">
                <a16:creationId xmlns:a16="http://schemas.microsoft.com/office/drawing/2014/main" id="{F3AC15FC-5C4C-427F-B8F4-DA5E3853A1CB}"/>
              </a:ext>
            </a:extLst>
          </p:cNvPr>
          <p:cNvSpPr>
            <a:spLocks noGrp="1"/>
          </p:cNvSpPr>
          <p:nvPr/>
        </p:nvSpPr>
        <p:spPr>
          <a:xfrm>
            <a:off x="904875" y="2095500"/>
            <a:ext cx="76200" cy="1952625"/>
          </a:xfrm>
          <a:prstGeom prst="rect">
            <a:avLst/>
          </a:prstGeom>
          <a:ln w="0">
            <a:solidFill>
              <a:srgbClr val="EA580C"/>
            </a:solidFill>
            <a:prstDash val="solid"/>
          </a:ln>
        </p:spPr>
      </p:sp>
      <p:sp>
        <p:nvSpPr>
          <p:cNvPr id="10" name="正方形/長方形 9">
            <a:extLst>
              <a:ext uri="{FF2B5EF4-FFF2-40B4-BE49-F238E27FC236}">
                <a16:creationId xmlns:a16="http://schemas.microsoft.com/office/drawing/2014/main" id="{777CA711-C2DF-49F0-B347-EC904D54C130}"/>
              </a:ext>
            </a:extLst>
          </p:cNvPr>
          <p:cNvSpPr>
            <a:spLocks noGrp="1"/>
          </p:cNvSpPr>
          <p:nvPr/>
        </p:nvSpPr>
        <p:spPr>
          <a:xfrm>
            <a:off x="1133475" y="2266950"/>
            <a:ext cx="3333750" cy="171450"/>
          </a:xfrm>
          <a:prstGeom prst="rect">
            <a:avLst/>
          </a:prstGeom>
          <a:ln w="0">
            <a:solidFill>
              <a:srgbClr val="FFFFFF"/>
            </a:solidFill>
            <a:prstDash val="solid"/>
          </a:ln>
        </p:spPr>
        <p:txBody>
          <a:bodyPr lIns="0" tIns="0" rIns="0" bIns="0" anchor="t"/>
          <a:lstStyle/>
          <a:p>
            <a:pPr algn="l">
              <a:defRPr sz="900" b="1">
                <a:solidFill>
                  <a:srgbClr val="EA580C"/>
                </a:solidFill>
                <a:latin typeface="Yu Gothic"/>
                <a:ea typeface="Yu Gothic"/>
                <a:cs typeface="Yu Gothic"/>
              </a:defRPr>
            </a:pPr>
            <a:r>
              <a:rPr sz="900" b="1">
                <a:solidFill>
                  <a:srgbClr val="EA580C"/>
                </a:solidFill>
                <a:latin typeface="Yu Gothic"/>
                <a:ea typeface="Yu Gothic"/>
                <a:cs typeface="Yu Gothic"/>
              </a:rPr>
              <a:t>確認ポイント</a:t>
            </a:r>
          </a:p>
        </p:txBody>
      </p:sp>
      <p:sp>
        <p:nvSpPr>
          <p:cNvPr id="11" name="正方形/長方形 10">
            <a:extLst>
              <a:ext uri="{FF2B5EF4-FFF2-40B4-BE49-F238E27FC236}">
                <a16:creationId xmlns:a16="http://schemas.microsoft.com/office/drawing/2014/main" id="{7809795F-5C94-413C-846B-07BCDBC10068}"/>
              </a:ext>
            </a:extLst>
          </p:cNvPr>
          <p:cNvSpPr>
            <a:spLocks noGrp="1"/>
          </p:cNvSpPr>
          <p:nvPr/>
        </p:nvSpPr>
        <p:spPr>
          <a:xfrm>
            <a:off x="1133475" y="2495550"/>
            <a:ext cx="331470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Secret JSON</a:t>
            </a:r>
          </a:p>
        </p:txBody>
      </p:sp>
      <p:sp>
        <p:nvSpPr>
          <p:cNvPr id="12" name="正方形/長方形 11">
            <a:extLst>
              <a:ext uri="{FF2B5EF4-FFF2-40B4-BE49-F238E27FC236}">
                <a16:creationId xmlns:a16="http://schemas.microsoft.com/office/drawing/2014/main" id="{25B7F45A-1A0E-4FC1-B58B-24DB1638C7C3}"/>
              </a:ext>
            </a:extLst>
          </p:cNvPr>
          <p:cNvSpPr>
            <a:spLocks noGrp="1"/>
          </p:cNvSpPr>
          <p:nvPr/>
        </p:nvSpPr>
        <p:spPr>
          <a:xfrm>
            <a:off x="1133475" y="2933700"/>
            <a:ext cx="3314700" cy="10001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Service Principal の出力 JSON は資料や画面共有に残しません。</a:t>
            </a:r>
          </a:p>
        </p:txBody>
      </p:sp>
      <p:sp>
        <p:nvSpPr>
          <p:cNvPr id="13" name="正方形/長方形 12">
            <a:extLst>
              <a:ext uri="{FF2B5EF4-FFF2-40B4-BE49-F238E27FC236}">
                <a16:creationId xmlns:a16="http://schemas.microsoft.com/office/drawing/2014/main" id="{A3100CF8-491E-4195-B33A-EFB080389F7F}"/>
              </a:ext>
            </a:extLst>
          </p:cNvPr>
          <p:cNvSpPr>
            <a:spLocks noGrp="1"/>
          </p:cNvSpPr>
          <p:nvPr/>
        </p:nvSpPr>
        <p:spPr>
          <a:xfrm>
            <a:off x="952500" y="4305300"/>
            <a:ext cx="3619500" cy="666750"/>
          </a:xfrm>
          <a:prstGeom prst="rect">
            <a:avLst/>
          </a:prstGeom>
          <a:ln w="0">
            <a:solidFill>
              <a:srgbClr val="FFFFFF"/>
            </a:solidFill>
            <a:prstDash val="solid"/>
          </a:ln>
        </p:spPr>
        <p:txBody>
          <a:bodyPr lIns="0" tIns="0" rIns="0" bIns="0" anchor="t"/>
          <a:lstStyle/>
          <a:p>
            <a:pPr algn="l">
              <a:defRPr sz="1125" b="0">
                <a:solidFill>
                  <a:srgbClr val="64748B"/>
                </a:solidFill>
                <a:latin typeface="Yu Gothic"/>
                <a:ea typeface="Yu Gothic"/>
                <a:cs typeface="Yu Gothic"/>
              </a:defRPr>
            </a:pPr>
            <a:r>
              <a:rPr sz="1125" b="0">
                <a:solidFill>
                  <a:srgbClr val="64748B"/>
                </a:solidFill>
                <a:latin typeface="Yu Gothic"/>
                <a:ea typeface="Yu Gothic"/>
                <a:cs typeface="Yu Gothic"/>
              </a:rPr>
              <a:t>Secret、ID、URL、ユーザー情報は、既存のマスク状態を変えずに扱います。</a:t>
            </a:r>
          </a:p>
        </p:txBody>
      </p:sp>
      <p:sp>
        <p:nvSpPr>
          <p:cNvPr id="14" name="正方形/長方形 13">
            <a:extLst>
              <a:ext uri="{FF2B5EF4-FFF2-40B4-BE49-F238E27FC236}">
                <a16:creationId xmlns:a16="http://schemas.microsoft.com/office/drawing/2014/main" id="{30B3567F-C23D-4855-BC96-FD336ABE967C}"/>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94589F00-FA8D-4EDE-BADB-C6DCE0995DC8}"/>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Actions 設定画面を開く</a:t>
            </a:r>
          </a:p>
        </p:txBody>
      </p:sp>
      <p:sp>
        <p:nvSpPr>
          <p:cNvPr id="2" name="正方形/長方形 1">
            <a:extLst>
              <a:ext uri="{FF2B5EF4-FFF2-40B4-BE49-F238E27FC236}">
                <a16:creationId xmlns:a16="http://schemas.microsoft.com/office/drawing/2014/main" id="{E2224394-1B16-4204-9ABC-88A8BB9AEC54}"/>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17 / 48</a:t>
            </a:r>
          </a:p>
        </p:txBody>
      </p:sp>
      <p:sp>
        <p:nvSpPr>
          <p:cNvPr id="3" name="正方形/長方形 2">
            <a:extLst>
              <a:ext uri="{FF2B5EF4-FFF2-40B4-BE49-F238E27FC236}">
                <a16:creationId xmlns:a16="http://schemas.microsoft.com/office/drawing/2014/main" id="{8869D3C5-680A-4DE3-9794-B3EEBBF48479}"/>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24D9E1F7-03B7-4D9A-B78C-4EECC5B3DB9E}"/>
              </a:ext>
            </a:extLst>
          </p:cNvPr>
          <p:cNvSpPr>
            <a:spLocks noGrp="1"/>
          </p:cNvSpPr>
          <p:nvPr/>
        </p:nvSpPr>
        <p:spPr>
          <a:xfrm>
            <a:off x="666750" y="1123950"/>
            <a:ext cx="10287000" cy="476250"/>
          </a:xfrm>
          <a:prstGeom prst="rect">
            <a:avLst/>
          </a:prstGeom>
          <a:ln w="0">
            <a:solidFill>
              <a:srgbClr val="FFFFFF"/>
            </a:solidFill>
            <a:prstDash val="solid"/>
          </a:ln>
        </p:spPr>
        <p:txBody>
          <a:bodyPr lIns="0" tIns="0" rIns="0" bIns="0" anchor="t"/>
          <a:lstStyle/>
          <a:p>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GitHub リポジトリの Settings から、Actions 用の Secrets と Variables を設定する画面へ移動します。</a:t>
            </a:r>
          </a:p>
        </p:txBody>
      </p:sp>
      <p:sp>
        <p:nvSpPr>
          <p:cNvPr id="5" name="正方形/長方形 4">
            <a:extLst>
              <a:ext uri="{FF2B5EF4-FFF2-40B4-BE49-F238E27FC236}">
                <a16:creationId xmlns:a16="http://schemas.microsoft.com/office/drawing/2014/main" id="{A845A0F8-A088-4493-92A8-B33E83C16D40}"/>
              </a:ext>
            </a:extLst>
          </p:cNvPr>
          <p:cNvSpPr>
            <a:spLocks noGrp="1"/>
          </p:cNvSpPr>
          <p:nvPr/>
        </p:nvSpPr>
        <p:spPr>
          <a:xfrm>
            <a:off x="5095875" y="1695450"/>
            <a:ext cx="6286500" cy="4095750"/>
          </a:xfrm>
          <a:prstGeom prst="rect">
            <a:avLst/>
          </a:prstGeom>
          <a:ln w="9525">
            <a:solidFill>
              <a:srgbClr val="CAD5E4"/>
            </a:solidFill>
            <a:prstDash val="solid"/>
          </a:ln>
        </p:spPr>
      </p:sp>
      <p:pic>
        <p:nvPicPr>
          <p:cNvPr id="6" name="図 5"/>
          <p:cNvPicPr>
            <a:picLocks noChangeAspect="1"/>
          </p:cNvPicPr>
          <p:nvPr/>
        </p:nvPicPr>
        <p:blipFill>
          <a:blip r:embed="rId3"/>
          <a:stretch/>
        </p:blipFill>
        <p:spPr>
          <a:xfrm>
            <a:off x="5238750" y="1922264"/>
            <a:ext cx="6000750" cy="3375422"/>
          </a:xfrm>
          <a:prstGeom prst="rect">
            <a:avLst/>
          </a:prstGeom>
        </p:spPr>
      </p:pic>
      <p:sp>
        <p:nvSpPr>
          <p:cNvPr id="7" name="正方形/長方形 6">
            <a:extLst>
              <a:ext uri="{FF2B5EF4-FFF2-40B4-BE49-F238E27FC236}">
                <a16:creationId xmlns:a16="http://schemas.microsoft.com/office/drawing/2014/main" id="{FA6722A4-A73F-491F-8B58-46246A71DB92}"/>
              </a:ext>
            </a:extLst>
          </p:cNvPr>
          <p:cNvSpPr>
            <a:spLocks noGrp="1"/>
          </p:cNvSpPr>
          <p:nvPr/>
        </p:nvSpPr>
        <p:spPr>
          <a:xfrm>
            <a:off x="5286375" y="5429250"/>
            <a:ext cx="5905500" cy="228600"/>
          </a:xfrm>
          <a:prstGeom prst="rect">
            <a:avLst/>
          </a:prstGeom>
          <a:ln w="0">
            <a:solidFill>
              <a:srgbClr val="FFFFFF"/>
            </a:solidFill>
            <a:prstDash val="solid"/>
          </a:ln>
        </p:spPr>
        <p:txBody>
          <a:bodyPr lIns="0" tIns="0" rIns="0" bIns="0" anchor="t"/>
          <a:lstStyle/>
          <a:p>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Secrets and variables の入口</a:t>
            </a:r>
          </a:p>
        </p:txBody>
      </p:sp>
      <p:sp>
        <p:nvSpPr>
          <p:cNvPr id="8" name="正方形/長方形 7">
            <a:extLst>
              <a:ext uri="{FF2B5EF4-FFF2-40B4-BE49-F238E27FC236}">
                <a16:creationId xmlns:a16="http://schemas.microsoft.com/office/drawing/2014/main" id="{C758D10F-AB54-40FC-92DD-42546428EEC9}"/>
              </a:ext>
            </a:extLst>
          </p:cNvPr>
          <p:cNvSpPr>
            <a:spLocks noGrp="1"/>
          </p:cNvSpPr>
          <p:nvPr/>
        </p:nvSpPr>
        <p:spPr>
          <a:xfrm>
            <a:off x="904875" y="2095500"/>
            <a:ext cx="3714750" cy="1952625"/>
          </a:xfrm>
          <a:prstGeom prst="rect">
            <a:avLst/>
          </a:prstGeom>
          <a:ln w="9525">
            <a:solidFill>
              <a:srgbClr val="DBE4EF"/>
            </a:solidFill>
            <a:prstDash val="solid"/>
          </a:ln>
        </p:spPr>
      </p:sp>
      <p:sp>
        <p:nvSpPr>
          <p:cNvPr id="9" name="正方形/長方形 8">
            <a:extLst>
              <a:ext uri="{FF2B5EF4-FFF2-40B4-BE49-F238E27FC236}">
                <a16:creationId xmlns:a16="http://schemas.microsoft.com/office/drawing/2014/main" id="{E64519F7-7932-4A40-A3F7-E61BAFE86C94}"/>
              </a:ext>
            </a:extLst>
          </p:cNvPr>
          <p:cNvSpPr>
            <a:spLocks noGrp="1"/>
          </p:cNvSpPr>
          <p:nvPr/>
        </p:nvSpPr>
        <p:spPr>
          <a:xfrm>
            <a:off x="904875" y="2095500"/>
            <a:ext cx="76200" cy="1952625"/>
          </a:xfrm>
          <a:prstGeom prst="rect">
            <a:avLst/>
          </a:prstGeom>
          <a:ln w="0">
            <a:solidFill>
              <a:srgbClr val="7C3AED"/>
            </a:solidFill>
            <a:prstDash val="solid"/>
          </a:ln>
        </p:spPr>
      </p:sp>
      <p:sp>
        <p:nvSpPr>
          <p:cNvPr id="10" name="正方形/長方形 9">
            <a:extLst>
              <a:ext uri="{FF2B5EF4-FFF2-40B4-BE49-F238E27FC236}">
                <a16:creationId xmlns:a16="http://schemas.microsoft.com/office/drawing/2014/main" id="{F4A8A4D0-D7D2-40AD-8D53-4E096A7DE9CE}"/>
              </a:ext>
            </a:extLst>
          </p:cNvPr>
          <p:cNvSpPr>
            <a:spLocks noGrp="1"/>
          </p:cNvSpPr>
          <p:nvPr/>
        </p:nvSpPr>
        <p:spPr>
          <a:xfrm>
            <a:off x="1133475" y="2266950"/>
            <a:ext cx="3333750" cy="171450"/>
          </a:xfrm>
          <a:prstGeom prst="rect">
            <a:avLst/>
          </a:prstGeom>
          <a:ln w="0">
            <a:solidFill>
              <a:srgbClr val="FFFFFF"/>
            </a:solidFill>
            <a:prstDash val="solid"/>
          </a:ln>
        </p:spPr>
        <p:txBody>
          <a:bodyPr lIns="0" tIns="0" rIns="0" bIns="0" anchor="t"/>
          <a:lstStyle/>
          <a:p>
            <a:pPr algn="l">
              <a:defRPr sz="900" b="1">
                <a:solidFill>
                  <a:srgbClr val="7C3AED"/>
                </a:solidFill>
                <a:latin typeface="Yu Gothic"/>
                <a:ea typeface="Yu Gothic"/>
                <a:cs typeface="Yu Gothic"/>
              </a:defRPr>
            </a:pPr>
            <a:r>
              <a:rPr sz="900" b="1">
                <a:solidFill>
                  <a:srgbClr val="7C3AED"/>
                </a:solidFill>
                <a:latin typeface="Yu Gothic"/>
                <a:ea typeface="Yu Gothic"/>
                <a:cs typeface="Yu Gothic"/>
              </a:rPr>
              <a:t>確認ポイント</a:t>
            </a:r>
          </a:p>
        </p:txBody>
      </p:sp>
      <p:sp>
        <p:nvSpPr>
          <p:cNvPr id="11" name="正方形/長方形 10">
            <a:extLst>
              <a:ext uri="{FF2B5EF4-FFF2-40B4-BE49-F238E27FC236}">
                <a16:creationId xmlns:a16="http://schemas.microsoft.com/office/drawing/2014/main" id="{C4891198-F937-4C3B-A3C1-7E50D699FBA5}"/>
              </a:ext>
            </a:extLst>
          </p:cNvPr>
          <p:cNvSpPr>
            <a:spLocks noGrp="1"/>
          </p:cNvSpPr>
          <p:nvPr/>
        </p:nvSpPr>
        <p:spPr>
          <a:xfrm>
            <a:off x="1133475" y="2495550"/>
            <a:ext cx="331470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Settings</a:t>
            </a:r>
          </a:p>
        </p:txBody>
      </p:sp>
      <p:sp>
        <p:nvSpPr>
          <p:cNvPr id="12" name="正方形/長方形 11">
            <a:extLst>
              <a:ext uri="{FF2B5EF4-FFF2-40B4-BE49-F238E27FC236}">
                <a16:creationId xmlns:a16="http://schemas.microsoft.com/office/drawing/2014/main" id="{C8383A61-A24D-478A-B430-6E5164E1F888}"/>
              </a:ext>
            </a:extLst>
          </p:cNvPr>
          <p:cNvSpPr>
            <a:spLocks noGrp="1"/>
          </p:cNvSpPr>
          <p:nvPr/>
        </p:nvSpPr>
        <p:spPr>
          <a:xfrm>
            <a:off x="1133475" y="2933700"/>
            <a:ext cx="3314700" cy="10001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Secrets と Variables のタブを見分けます。</a:t>
            </a:r>
          </a:p>
        </p:txBody>
      </p:sp>
      <p:sp>
        <p:nvSpPr>
          <p:cNvPr id="13" name="正方形/長方形 12">
            <a:extLst>
              <a:ext uri="{FF2B5EF4-FFF2-40B4-BE49-F238E27FC236}">
                <a16:creationId xmlns:a16="http://schemas.microsoft.com/office/drawing/2014/main" id="{0F36EA5D-2611-4453-A2AA-847771273100}"/>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122DC3AA-2C24-4122-B9DF-B409BD636CC3}"/>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AZURE_CREDENTIALS を登録する</a:t>
            </a:r>
          </a:p>
        </p:txBody>
      </p:sp>
      <p:sp>
        <p:nvSpPr>
          <p:cNvPr id="2" name="正方形/長方形 1">
            <a:extLst>
              <a:ext uri="{FF2B5EF4-FFF2-40B4-BE49-F238E27FC236}">
                <a16:creationId xmlns:a16="http://schemas.microsoft.com/office/drawing/2014/main" id="{86877BC7-4835-441D-9793-9C2090E62D0E}"/>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18 / 48</a:t>
            </a:r>
          </a:p>
        </p:txBody>
      </p:sp>
      <p:sp>
        <p:nvSpPr>
          <p:cNvPr id="3" name="正方形/長方形 2">
            <a:extLst>
              <a:ext uri="{FF2B5EF4-FFF2-40B4-BE49-F238E27FC236}">
                <a16:creationId xmlns:a16="http://schemas.microsoft.com/office/drawing/2014/main" id="{DF75609D-0F6C-4134-A9C3-D62C4E9E9F45}"/>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2CD488D9-0155-4A1B-8A22-6280526A3F11}"/>
              </a:ext>
            </a:extLst>
          </p:cNvPr>
          <p:cNvSpPr>
            <a:spLocks noGrp="1"/>
          </p:cNvSpPr>
          <p:nvPr/>
        </p:nvSpPr>
        <p:spPr>
          <a:xfrm>
            <a:off x="666750" y="1123950"/>
            <a:ext cx="10287000" cy="476250"/>
          </a:xfrm>
          <a:prstGeom prst="rect">
            <a:avLst/>
          </a:prstGeom>
          <a:ln w="0">
            <a:solidFill>
              <a:srgbClr val="FFFFFF"/>
            </a:solidFill>
            <a:prstDash val="solid"/>
          </a:ln>
        </p:spPr>
        <p:txBody>
          <a:bodyPr lIns="0" tIns="0" rIns="0" bIns="0" anchor="t"/>
          <a:lstStyle/>
          <a:p>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Service Principal の JSON 全体を GitHub Actions Secret として登録します。名前のスペルと JSON 全体のコピー漏れに注意します。</a:t>
            </a:r>
          </a:p>
        </p:txBody>
      </p:sp>
      <p:sp>
        <p:nvSpPr>
          <p:cNvPr id="5" name="正方形/長方形 4">
            <a:extLst>
              <a:ext uri="{FF2B5EF4-FFF2-40B4-BE49-F238E27FC236}">
                <a16:creationId xmlns:a16="http://schemas.microsoft.com/office/drawing/2014/main" id="{5CF5E434-5250-4DFE-AC2F-889D051FF8F3}"/>
              </a:ext>
            </a:extLst>
          </p:cNvPr>
          <p:cNvSpPr>
            <a:spLocks noGrp="1"/>
          </p:cNvSpPr>
          <p:nvPr/>
        </p:nvSpPr>
        <p:spPr>
          <a:xfrm>
            <a:off x="5095875" y="1695450"/>
            <a:ext cx="6286500" cy="4095750"/>
          </a:xfrm>
          <a:prstGeom prst="rect">
            <a:avLst/>
          </a:prstGeom>
          <a:ln w="9525">
            <a:solidFill>
              <a:srgbClr val="CAD5E4"/>
            </a:solidFill>
            <a:prstDash val="solid"/>
          </a:ln>
        </p:spPr>
      </p:sp>
      <p:pic>
        <p:nvPicPr>
          <p:cNvPr id="6" name="図 5"/>
          <p:cNvPicPr>
            <a:picLocks noChangeAspect="1"/>
          </p:cNvPicPr>
          <p:nvPr/>
        </p:nvPicPr>
        <p:blipFill>
          <a:blip r:embed="rId3"/>
          <a:stretch/>
        </p:blipFill>
        <p:spPr>
          <a:xfrm>
            <a:off x="5238750" y="1922264"/>
            <a:ext cx="6000750" cy="3375422"/>
          </a:xfrm>
          <a:prstGeom prst="rect">
            <a:avLst/>
          </a:prstGeom>
        </p:spPr>
      </p:pic>
      <p:sp>
        <p:nvSpPr>
          <p:cNvPr id="7" name="正方形/長方形 6">
            <a:extLst>
              <a:ext uri="{FF2B5EF4-FFF2-40B4-BE49-F238E27FC236}">
                <a16:creationId xmlns:a16="http://schemas.microsoft.com/office/drawing/2014/main" id="{58B1ABAD-8CA0-4DDA-88CC-4BF599ADAB54}"/>
              </a:ext>
            </a:extLst>
          </p:cNvPr>
          <p:cNvSpPr>
            <a:spLocks noGrp="1"/>
          </p:cNvSpPr>
          <p:nvPr/>
        </p:nvSpPr>
        <p:spPr>
          <a:xfrm>
            <a:off x="5286375" y="5429250"/>
            <a:ext cx="5905500" cy="228600"/>
          </a:xfrm>
          <a:prstGeom prst="rect">
            <a:avLst/>
          </a:prstGeom>
          <a:ln w="0">
            <a:solidFill>
              <a:srgbClr val="FFFFFF"/>
            </a:solidFill>
            <a:prstDash val="solid"/>
          </a:ln>
        </p:spPr>
        <p:txBody>
          <a:bodyPr lIns="0" tIns="0" rIns="0" bIns="0" anchor="t"/>
          <a:lstStyle/>
          <a:p>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AZURE_CREDENTIALS Secret を追加する</a:t>
            </a:r>
          </a:p>
        </p:txBody>
      </p:sp>
      <p:sp>
        <p:nvSpPr>
          <p:cNvPr id="8" name="正方形/長方形 7">
            <a:extLst>
              <a:ext uri="{FF2B5EF4-FFF2-40B4-BE49-F238E27FC236}">
                <a16:creationId xmlns:a16="http://schemas.microsoft.com/office/drawing/2014/main" id="{9DBE27F2-AD46-4F0D-BFA3-A0D8E330C861}"/>
              </a:ext>
            </a:extLst>
          </p:cNvPr>
          <p:cNvSpPr>
            <a:spLocks noGrp="1"/>
          </p:cNvSpPr>
          <p:nvPr/>
        </p:nvSpPr>
        <p:spPr>
          <a:xfrm>
            <a:off x="904875" y="2095500"/>
            <a:ext cx="3714750" cy="1952625"/>
          </a:xfrm>
          <a:prstGeom prst="rect">
            <a:avLst/>
          </a:prstGeom>
          <a:ln w="9525">
            <a:solidFill>
              <a:srgbClr val="DBE4EF"/>
            </a:solidFill>
            <a:prstDash val="solid"/>
          </a:ln>
        </p:spPr>
      </p:sp>
      <p:sp>
        <p:nvSpPr>
          <p:cNvPr id="9" name="正方形/長方形 8">
            <a:extLst>
              <a:ext uri="{FF2B5EF4-FFF2-40B4-BE49-F238E27FC236}">
                <a16:creationId xmlns:a16="http://schemas.microsoft.com/office/drawing/2014/main" id="{81892827-C9BA-4F42-AD99-7EDC421B2C81}"/>
              </a:ext>
            </a:extLst>
          </p:cNvPr>
          <p:cNvSpPr>
            <a:spLocks noGrp="1"/>
          </p:cNvSpPr>
          <p:nvPr/>
        </p:nvSpPr>
        <p:spPr>
          <a:xfrm>
            <a:off x="904875" y="2095500"/>
            <a:ext cx="76200" cy="1952625"/>
          </a:xfrm>
          <a:prstGeom prst="rect">
            <a:avLst/>
          </a:prstGeom>
          <a:ln w="0">
            <a:solidFill>
              <a:srgbClr val="BE185D"/>
            </a:solidFill>
            <a:prstDash val="solid"/>
          </a:ln>
        </p:spPr>
      </p:sp>
      <p:sp>
        <p:nvSpPr>
          <p:cNvPr id="10" name="正方形/長方形 9">
            <a:extLst>
              <a:ext uri="{FF2B5EF4-FFF2-40B4-BE49-F238E27FC236}">
                <a16:creationId xmlns:a16="http://schemas.microsoft.com/office/drawing/2014/main" id="{77D0899D-9895-4ADC-B26B-631BB036CB36}"/>
              </a:ext>
            </a:extLst>
          </p:cNvPr>
          <p:cNvSpPr>
            <a:spLocks noGrp="1"/>
          </p:cNvSpPr>
          <p:nvPr/>
        </p:nvSpPr>
        <p:spPr>
          <a:xfrm>
            <a:off x="1133475" y="2266950"/>
            <a:ext cx="3333750" cy="171450"/>
          </a:xfrm>
          <a:prstGeom prst="rect">
            <a:avLst/>
          </a:prstGeom>
          <a:ln w="0">
            <a:solidFill>
              <a:srgbClr val="FFFFFF"/>
            </a:solidFill>
            <a:prstDash val="solid"/>
          </a:ln>
        </p:spPr>
        <p:txBody>
          <a:bodyPr lIns="0" tIns="0" rIns="0" bIns="0" anchor="t"/>
          <a:lstStyle/>
          <a:p>
            <a:pPr algn="l">
              <a:defRPr sz="900" b="1">
                <a:solidFill>
                  <a:srgbClr val="BE185D"/>
                </a:solidFill>
                <a:latin typeface="Yu Gothic"/>
                <a:ea typeface="Yu Gothic"/>
                <a:cs typeface="Yu Gothic"/>
              </a:defRPr>
            </a:pPr>
            <a:r>
              <a:rPr sz="900" b="1">
                <a:solidFill>
                  <a:srgbClr val="BE185D"/>
                </a:solidFill>
                <a:latin typeface="Yu Gothic"/>
                <a:ea typeface="Yu Gothic"/>
                <a:cs typeface="Yu Gothic"/>
              </a:rPr>
              <a:t>確認ポイント</a:t>
            </a:r>
          </a:p>
        </p:txBody>
      </p:sp>
      <p:sp>
        <p:nvSpPr>
          <p:cNvPr id="11" name="正方形/長方形 10">
            <a:extLst>
              <a:ext uri="{FF2B5EF4-FFF2-40B4-BE49-F238E27FC236}">
                <a16:creationId xmlns:a16="http://schemas.microsoft.com/office/drawing/2014/main" id="{24630A69-98D2-4086-92C8-80E904BCCD36}"/>
              </a:ext>
            </a:extLst>
          </p:cNvPr>
          <p:cNvSpPr>
            <a:spLocks noGrp="1"/>
          </p:cNvSpPr>
          <p:nvPr/>
        </p:nvSpPr>
        <p:spPr>
          <a:xfrm>
            <a:off x="1133475" y="2495550"/>
            <a:ext cx="331470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AZURE_CREDENTIALS</a:t>
            </a:r>
          </a:p>
        </p:txBody>
      </p:sp>
      <p:sp>
        <p:nvSpPr>
          <p:cNvPr id="12" name="正方形/長方形 11">
            <a:extLst>
              <a:ext uri="{FF2B5EF4-FFF2-40B4-BE49-F238E27FC236}">
                <a16:creationId xmlns:a16="http://schemas.microsoft.com/office/drawing/2014/main" id="{4BC5D651-B380-40F5-99BF-F1E359114D9D}"/>
              </a:ext>
            </a:extLst>
          </p:cNvPr>
          <p:cNvSpPr>
            <a:spLocks noGrp="1"/>
          </p:cNvSpPr>
          <p:nvPr/>
        </p:nvSpPr>
        <p:spPr>
          <a:xfrm>
            <a:off x="1133475" y="2933700"/>
            <a:ext cx="3314700" cy="10001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Secret value は登録後に再表示できません。コピー漏れに注意します。</a:t>
            </a:r>
          </a:p>
        </p:txBody>
      </p:sp>
      <p:sp>
        <p:nvSpPr>
          <p:cNvPr id="13" name="正方形/長方形 12">
            <a:extLst>
              <a:ext uri="{FF2B5EF4-FFF2-40B4-BE49-F238E27FC236}">
                <a16:creationId xmlns:a16="http://schemas.microsoft.com/office/drawing/2014/main" id="{AE4E8244-9AEC-45D8-BBE5-90E9A0C46C78}"/>
              </a:ext>
            </a:extLst>
          </p:cNvPr>
          <p:cNvSpPr>
            <a:spLocks noGrp="1"/>
          </p:cNvSpPr>
          <p:nvPr/>
        </p:nvSpPr>
        <p:spPr>
          <a:xfrm>
            <a:off x="952500" y="4305300"/>
            <a:ext cx="3619500" cy="666750"/>
          </a:xfrm>
          <a:prstGeom prst="rect">
            <a:avLst/>
          </a:prstGeom>
          <a:ln w="0">
            <a:solidFill>
              <a:srgbClr val="FFFFFF"/>
            </a:solidFill>
            <a:prstDash val="solid"/>
          </a:ln>
        </p:spPr>
        <p:txBody>
          <a:bodyPr lIns="0" tIns="0" rIns="0" bIns="0" anchor="t"/>
          <a:lstStyle/>
          <a:p>
            <a:pPr algn="l">
              <a:defRPr sz="1125" b="0">
                <a:solidFill>
                  <a:srgbClr val="64748B"/>
                </a:solidFill>
                <a:latin typeface="Yu Gothic"/>
                <a:ea typeface="Yu Gothic"/>
                <a:cs typeface="Yu Gothic"/>
              </a:defRPr>
            </a:pPr>
            <a:r>
              <a:rPr sz="1125" b="0">
                <a:solidFill>
                  <a:srgbClr val="64748B"/>
                </a:solidFill>
                <a:latin typeface="Yu Gothic"/>
                <a:ea typeface="Yu Gothic"/>
                <a:cs typeface="Yu Gothic"/>
              </a:rPr>
              <a:t>Secret、ID、URL、ユーザー情報は、既存のマスク状態を変えずに扱います。</a:t>
            </a:r>
          </a:p>
        </p:txBody>
      </p:sp>
      <p:sp>
        <p:nvSpPr>
          <p:cNvPr id="14" name="正方形/長方形 13">
            <a:extLst>
              <a:ext uri="{FF2B5EF4-FFF2-40B4-BE49-F238E27FC236}">
                <a16:creationId xmlns:a16="http://schemas.microsoft.com/office/drawing/2014/main" id="{F24802D4-73A1-4BDB-BBD4-F874F142515A}"/>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A1A909A5-A8B8-4EC0-8E18-849436C86C48}"/>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Repository variables の全体</a:t>
            </a:r>
          </a:p>
        </p:txBody>
      </p:sp>
      <p:sp>
        <p:nvSpPr>
          <p:cNvPr id="2" name="正方形/長方形 1">
            <a:extLst>
              <a:ext uri="{FF2B5EF4-FFF2-40B4-BE49-F238E27FC236}">
                <a16:creationId xmlns:a16="http://schemas.microsoft.com/office/drawing/2014/main" id="{C2D33D72-21D7-492D-901C-5FB08B6AC209}"/>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19 / 48</a:t>
            </a:r>
          </a:p>
        </p:txBody>
      </p:sp>
      <p:sp>
        <p:nvSpPr>
          <p:cNvPr id="3" name="正方形/長方形 2">
            <a:extLst>
              <a:ext uri="{FF2B5EF4-FFF2-40B4-BE49-F238E27FC236}">
                <a16:creationId xmlns:a16="http://schemas.microsoft.com/office/drawing/2014/main" id="{0E682300-B414-49B9-8D32-50E59205AB24}"/>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E8AD7531-A3DB-419D-948D-2D55C02462DB}"/>
              </a:ext>
            </a:extLst>
          </p:cNvPr>
          <p:cNvSpPr>
            <a:spLocks noGrp="1"/>
          </p:cNvSpPr>
          <p:nvPr/>
        </p:nvSpPr>
        <p:spPr>
          <a:xfrm>
            <a:off x="666750" y="1123950"/>
            <a:ext cx="10287000" cy="476250"/>
          </a:xfrm>
          <a:prstGeom prst="rect">
            <a:avLst/>
          </a:prstGeom>
          <a:ln w="0">
            <a:solidFill>
              <a:srgbClr val="FFFFFF"/>
            </a:solidFill>
            <a:prstDash val="solid"/>
          </a:ln>
        </p:spPr>
        <p:txBody>
          <a:bodyPr lIns="0" tIns="0" rIns="0" bIns="0" anchor="t"/>
          <a:lstStyle/>
          <a:p>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デプロイ先リソース名やアプリ設定値は variables として登録します。Secret とは違い、設定値として読み取られます。</a:t>
            </a:r>
          </a:p>
        </p:txBody>
      </p:sp>
      <p:sp>
        <p:nvSpPr>
          <p:cNvPr id="5" name="正方形/長方形 4">
            <a:extLst>
              <a:ext uri="{FF2B5EF4-FFF2-40B4-BE49-F238E27FC236}">
                <a16:creationId xmlns:a16="http://schemas.microsoft.com/office/drawing/2014/main" id="{B8FB4506-46EA-411D-AA6B-A85267D526DC}"/>
              </a:ext>
            </a:extLst>
          </p:cNvPr>
          <p:cNvSpPr>
            <a:spLocks noGrp="1"/>
          </p:cNvSpPr>
          <p:nvPr/>
        </p:nvSpPr>
        <p:spPr>
          <a:xfrm>
            <a:off x="5095875" y="1695450"/>
            <a:ext cx="6286500" cy="4095750"/>
          </a:xfrm>
          <a:prstGeom prst="rect">
            <a:avLst/>
          </a:prstGeom>
          <a:ln w="9525">
            <a:solidFill>
              <a:srgbClr val="CAD5E4"/>
            </a:solidFill>
            <a:prstDash val="solid"/>
          </a:ln>
        </p:spPr>
      </p:sp>
      <p:pic>
        <p:nvPicPr>
          <p:cNvPr id="6" name="図 5"/>
          <p:cNvPicPr>
            <a:picLocks noChangeAspect="1"/>
          </p:cNvPicPr>
          <p:nvPr/>
        </p:nvPicPr>
        <p:blipFill>
          <a:blip r:embed="rId3"/>
          <a:stretch/>
        </p:blipFill>
        <p:spPr>
          <a:xfrm>
            <a:off x="6903244" y="1828800"/>
            <a:ext cx="2671763" cy="3562350"/>
          </a:xfrm>
          <a:prstGeom prst="rect">
            <a:avLst/>
          </a:prstGeom>
        </p:spPr>
      </p:pic>
      <p:sp>
        <p:nvSpPr>
          <p:cNvPr id="7" name="正方形/長方形 6">
            <a:extLst>
              <a:ext uri="{FF2B5EF4-FFF2-40B4-BE49-F238E27FC236}">
                <a16:creationId xmlns:a16="http://schemas.microsoft.com/office/drawing/2014/main" id="{BA9B7F7D-43F9-4075-9CE9-E6E6F3692AEB}"/>
              </a:ext>
            </a:extLst>
          </p:cNvPr>
          <p:cNvSpPr>
            <a:spLocks noGrp="1"/>
          </p:cNvSpPr>
          <p:nvPr/>
        </p:nvSpPr>
        <p:spPr>
          <a:xfrm>
            <a:off x="5286375" y="5429250"/>
            <a:ext cx="5905500" cy="228600"/>
          </a:xfrm>
          <a:prstGeom prst="rect">
            <a:avLst/>
          </a:prstGeom>
          <a:ln w="0">
            <a:solidFill>
              <a:srgbClr val="FFFFFF"/>
            </a:solidFill>
            <a:prstDash val="solid"/>
          </a:ln>
        </p:spPr>
        <p:txBody>
          <a:bodyPr lIns="0" tIns="0" rIns="0" bIns="0" anchor="t"/>
          <a:lstStyle/>
          <a:p>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Repository variables タブを開く</a:t>
            </a:r>
          </a:p>
        </p:txBody>
      </p:sp>
      <p:sp>
        <p:nvSpPr>
          <p:cNvPr id="8" name="正方形/長方形 7">
            <a:extLst>
              <a:ext uri="{FF2B5EF4-FFF2-40B4-BE49-F238E27FC236}">
                <a16:creationId xmlns:a16="http://schemas.microsoft.com/office/drawing/2014/main" id="{8112ADDE-C687-49B8-AB6C-4389CB5610E8}"/>
              </a:ext>
            </a:extLst>
          </p:cNvPr>
          <p:cNvSpPr>
            <a:spLocks noGrp="1"/>
          </p:cNvSpPr>
          <p:nvPr/>
        </p:nvSpPr>
        <p:spPr>
          <a:xfrm>
            <a:off x="904875" y="2095500"/>
            <a:ext cx="3714750" cy="1952625"/>
          </a:xfrm>
          <a:prstGeom prst="rect">
            <a:avLst/>
          </a:prstGeom>
          <a:ln w="9525">
            <a:solidFill>
              <a:srgbClr val="DBE4EF"/>
            </a:solidFill>
            <a:prstDash val="solid"/>
          </a:ln>
        </p:spPr>
      </p:sp>
      <p:sp>
        <p:nvSpPr>
          <p:cNvPr id="9" name="正方形/長方形 8">
            <a:extLst>
              <a:ext uri="{FF2B5EF4-FFF2-40B4-BE49-F238E27FC236}">
                <a16:creationId xmlns:a16="http://schemas.microsoft.com/office/drawing/2014/main" id="{634D16BB-362F-4B25-9533-96B4F9112FCE}"/>
              </a:ext>
            </a:extLst>
          </p:cNvPr>
          <p:cNvSpPr>
            <a:spLocks noGrp="1"/>
          </p:cNvSpPr>
          <p:nvPr/>
        </p:nvSpPr>
        <p:spPr>
          <a:xfrm>
            <a:off x="904875" y="2095500"/>
            <a:ext cx="76200" cy="1952625"/>
          </a:xfrm>
          <a:prstGeom prst="rect">
            <a:avLst/>
          </a:prstGeom>
          <a:ln w="0">
            <a:solidFill>
              <a:srgbClr val="15803D"/>
            </a:solidFill>
            <a:prstDash val="solid"/>
          </a:ln>
        </p:spPr>
      </p:sp>
      <p:sp>
        <p:nvSpPr>
          <p:cNvPr id="10" name="正方形/長方形 9">
            <a:extLst>
              <a:ext uri="{FF2B5EF4-FFF2-40B4-BE49-F238E27FC236}">
                <a16:creationId xmlns:a16="http://schemas.microsoft.com/office/drawing/2014/main" id="{ED55374C-8E0E-463B-834E-06C8D8E76EDF}"/>
              </a:ext>
            </a:extLst>
          </p:cNvPr>
          <p:cNvSpPr>
            <a:spLocks noGrp="1"/>
          </p:cNvSpPr>
          <p:nvPr/>
        </p:nvSpPr>
        <p:spPr>
          <a:xfrm>
            <a:off x="1133475" y="2266950"/>
            <a:ext cx="3333750" cy="171450"/>
          </a:xfrm>
          <a:prstGeom prst="rect">
            <a:avLst/>
          </a:prstGeom>
          <a:ln w="0">
            <a:solidFill>
              <a:srgbClr val="FFFFFF"/>
            </a:solidFill>
            <a:prstDash val="solid"/>
          </a:ln>
        </p:spPr>
        <p:txBody>
          <a:bodyPr lIns="0" tIns="0" rIns="0" bIns="0" anchor="t"/>
          <a:lstStyle/>
          <a:p>
            <a:pPr algn="l">
              <a:defRPr sz="900" b="1">
                <a:solidFill>
                  <a:srgbClr val="15803D"/>
                </a:solidFill>
                <a:latin typeface="Yu Gothic"/>
                <a:ea typeface="Yu Gothic"/>
                <a:cs typeface="Yu Gothic"/>
              </a:defRPr>
            </a:pPr>
            <a:r>
              <a:rPr sz="900" b="1">
                <a:solidFill>
                  <a:srgbClr val="15803D"/>
                </a:solidFill>
                <a:latin typeface="Yu Gothic"/>
                <a:ea typeface="Yu Gothic"/>
                <a:cs typeface="Yu Gothic"/>
              </a:rPr>
              <a:t>確認ポイント</a:t>
            </a:r>
          </a:p>
        </p:txBody>
      </p:sp>
      <p:sp>
        <p:nvSpPr>
          <p:cNvPr id="11" name="正方形/長方形 10">
            <a:extLst>
              <a:ext uri="{FF2B5EF4-FFF2-40B4-BE49-F238E27FC236}">
                <a16:creationId xmlns:a16="http://schemas.microsoft.com/office/drawing/2014/main" id="{D6E8D9DF-E7A1-43C6-A70F-A6A02D0541B2}"/>
              </a:ext>
            </a:extLst>
          </p:cNvPr>
          <p:cNvSpPr>
            <a:spLocks noGrp="1"/>
          </p:cNvSpPr>
          <p:nvPr/>
        </p:nvSpPr>
        <p:spPr>
          <a:xfrm>
            <a:off x="1133475" y="2495550"/>
            <a:ext cx="331470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Variables</a:t>
            </a:r>
          </a:p>
        </p:txBody>
      </p:sp>
      <p:sp>
        <p:nvSpPr>
          <p:cNvPr id="12" name="正方形/長方形 11">
            <a:extLst>
              <a:ext uri="{FF2B5EF4-FFF2-40B4-BE49-F238E27FC236}">
                <a16:creationId xmlns:a16="http://schemas.microsoft.com/office/drawing/2014/main" id="{C8E55DAB-98A9-4A93-BF1B-C1472BC05522}"/>
              </a:ext>
            </a:extLst>
          </p:cNvPr>
          <p:cNvSpPr>
            <a:spLocks noGrp="1"/>
          </p:cNvSpPr>
          <p:nvPr/>
        </p:nvSpPr>
        <p:spPr>
          <a:xfrm>
            <a:off x="1133475" y="2933700"/>
            <a:ext cx="3314700" cy="10001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第5回の接続情報一覧を元に設定します。URL と ID は公開時にマスクします。</a:t>
            </a:r>
          </a:p>
        </p:txBody>
      </p:sp>
      <p:sp>
        <p:nvSpPr>
          <p:cNvPr id="13" name="正方形/長方形 12">
            <a:extLst>
              <a:ext uri="{FF2B5EF4-FFF2-40B4-BE49-F238E27FC236}">
                <a16:creationId xmlns:a16="http://schemas.microsoft.com/office/drawing/2014/main" id="{BF745706-9DF7-4D1C-B58E-C8A1349F00BB}"/>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正方形/長方形 35">
            <a:extLst>
              <a:ext uri="{FF2B5EF4-FFF2-40B4-BE49-F238E27FC236}">
                <a16:creationId xmlns:a16="http://schemas.microsoft.com/office/drawing/2014/main" id="{1B1EA782-8291-47D3-AE24-426C113C33D7}"/>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Azure リソース系の変数</a:t>
            </a:r>
          </a:p>
        </p:txBody>
      </p:sp>
      <p:sp>
        <p:nvSpPr>
          <p:cNvPr id="2" name="正方形/長方形 1">
            <a:extLst>
              <a:ext uri="{FF2B5EF4-FFF2-40B4-BE49-F238E27FC236}">
                <a16:creationId xmlns:a16="http://schemas.microsoft.com/office/drawing/2014/main" id="{64FD509F-B9EB-4523-BE74-5636D9859136}"/>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20 / 48</a:t>
            </a:r>
          </a:p>
        </p:txBody>
      </p:sp>
      <p:sp>
        <p:nvSpPr>
          <p:cNvPr id="3" name="正方形/長方形 2">
            <a:extLst>
              <a:ext uri="{FF2B5EF4-FFF2-40B4-BE49-F238E27FC236}">
                <a16:creationId xmlns:a16="http://schemas.microsoft.com/office/drawing/2014/main" id="{00AF2C5C-AF43-449B-A98F-AF6C3374828A}"/>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9332AE44-7A8F-4F50-83B1-980EAF1311C8}"/>
              </a:ext>
            </a:extLst>
          </p:cNvPr>
          <p:cNvSpPr>
            <a:spLocks noGrp="1"/>
          </p:cNvSpPr>
          <p:nvPr/>
        </p:nvSpPr>
        <p:spPr>
          <a:xfrm>
            <a:off x="666750" y="1162050"/>
            <a:ext cx="10096500" cy="552450"/>
          </a:xfrm>
          <a:prstGeom prst="rect">
            <a:avLst/>
          </a:prstGeom>
          <a:ln w="0">
            <a:solidFill>
              <a:srgbClr val="FFFFFF"/>
            </a:solidFill>
            <a:prstDash val="solid"/>
          </a:ln>
        </p:spPr>
        <p:txBody>
          <a:bodyPr lIns="0" tIns="0" rIns="0" bIns="0" anchor="t"/>
          <a:lstStyle/>
          <a:p>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Resource Group、ACR、Container Apps Environment は、workflow がどの Azure リソースを更新するかを示します。</a:t>
            </a:r>
          </a:p>
        </p:txBody>
      </p:sp>
      <p:sp>
        <p:nvSpPr>
          <p:cNvPr id="5" name="正方形/長方形 4">
            <a:extLst>
              <a:ext uri="{FF2B5EF4-FFF2-40B4-BE49-F238E27FC236}">
                <a16:creationId xmlns:a16="http://schemas.microsoft.com/office/drawing/2014/main" id="{DE39C3B2-C2B1-495D-BA3D-C3A943AB7B29}"/>
              </a:ext>
            </a:extLst>
          </p:cNvPr>
          <p:cNvSpPr>
            <a:spLocks noGrp="1"/>
          </p:cNvSpPr>
          <p:nvPr/>
        </p:nvSpPr>
        <p:spPr>
          <a:xfrm>
            <a:off x="904875" y="1809750"/>
            <a:ext cx="3460750" cy="647700"/>
          </a:xfrm>
          <a:prstGeom prst="rect">
            <a:avLst/>
          </a:prstGeom>
          <a:ln w="9525">
            <a:solidFill>
              <a:srgbClr val="C8D7EF"/>
            </a:solidFill>
            <a:prstDash val="solid"/>
          </a:ln>
        </p:spPr>
      </p:sp>
      <p:sp>
        <p:nvSpPr>
          <p:cNvPr id="6" name="正方形/長方形 5">
            <a:extLst>
              <a:ext uri="{FF2B5EF4-FFF2-40B4-BE49-F238E27FC236}">
                <a16:creationId xmlns:a16="http://schemas.microsoft.com/office/drawing/2014/main" id="{A72F1D19-DAB7-4C03-AF94-A96998C743DD}"/>
              </a:ext>
            </a:extLst>
          </p:cNvPr>
          <p:cNvSpPr>
            <a:spLocks noGrp="1"/>
          </p:cNvSpPr>
          <p:nvPr/>
        </p:nvSpPr>
        <p:spPr>
          <a:xfrm>
            <a:off x="990600" y="1895475"/>
            <a:ext cx="3289300" cy="533400"/>
          </a:xfrm>
          <a:prstGeom prst="rect">
            <a:avLst/>
          </a:prstGeom>
          <a:ln w="0">
            <a:solidFill>
              <a:srgbClr val="FFFFFF"/>
            </a:solidFill>
            <a:prstDash val="solid"/>
          </a:ln>
        </p:spPr>
        <p:txBody>
          <a:bodyPr lIns="0" tIns="0" rIns="0" bIns="0" anchor="ctr"/>
          <a:lstStyle/>
          <a:p>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変数名</a:t>
            </a:r>
          </a:p>
        </p:txBody>
      </p:sp>
      <p:sp>
        <p:nvSpPr>
          <p:cNvPr id="7" name="正方形/長方形 6">
            <a:extLst>
              <a:ext uri="{FF2B5EF4-FFF2-40B4-BE49-F238E27FC236}">
                <a16:creationId xmlns:a16="http://schemas.microsoft.com/office/drawing/2014/main" id="{4E56E9FE-98CF-45F8-A4EC-F844B56DDF32}"/>
              </a:ext>
            </a:extLst>
          </p:cNvPr>
          <p:cNvSpPr>
            <a:spLocks noGrp="1"/>
          </p:cNvSpPr>
          <p:nvPr/>
        </p:nvSpPr>
        <p:spPr>
          <a:xfrm>
            <a:off x="4365625" y="1809750"/>
            <a:ext cx="3460750" cy="647700"/>
          </a:xfrm>
          <a:prstGeom prst="rect">
            <a:avLst/>
          </a:prstGeom>
          <a:ln w="9525">
            <a:solidFill>
              <a:srgbClr val="C8D7EF"/>
            </a:solidFill>
            <a:prstDash val="solid"/>
          </a:ln>
        </p:spPr>
      </p:sp>
      <p:sp>
        <p:nvSpPr>
          <p:cNvPr id="8" name="正方形/長方形 7">
            <a:extLst>
              <a:ext uri="{FF2B5EF4-FFF2-40B4-BE49-F238E27FC236}">
                <a16:creationId xmlns:a16="http://schemas.microsoft.com/office/drawing/2014/main" id="{8AF135FA-BC66-45E2-815C-4AD1A94B3F7A}"/>
              </a:ext>
            </a:extLst>
          </p:cNvPr>
          <p:cNvSpPr>
            <a:spLocks noGrp="1"/>
          </p:cNvSpPr>
          <p:nvPr/>
        </p:nvSpPr>
        <p:spPr>
          <a:xfrm>
            <a:off x="4451350" y="1895475"/>
            <a:ext cx="3289300" cy="533400"/>
          </a:xfrm>
          <a:prstGeom prst="rect">
            <a:avLst/>
          </a:prstGeom>
          <a:ln w="0">
            <a:solidFill>
              <a:srgbClr val="FFFFFF"/>
            </a:solidFill>
            <a:prstDash val="solid"/>
          </a:ln>
        </p:spPr>
        <p:txBody>
          <a:bodyPr lIns="0" tIns="0" rIns="0" bIns="0" anchor="ctr"/>
          <a:lstStyle/>
          <a:p>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値</a:t>
            </a:r>
          </a:p>
        </p:txBody>
      </p:sp>
      <p:sp>
        <p:nvSpPr>
          <p:cNvPr id="9" name="正方形/長方形 8">
            <a:extLst>
              <a:ext uri="{FF2B5EF4-FFF2-40B4-BE49-F238E27FC236}">
                <a16:creationId xmlns:a16="http://schemas.microsoft.com/office/drawing/2014/main" id="{57D0C014-55C9-4BD4-8549-637B877944F1}"/>
              </a:ext>
            </a:extLst>
          </p:cNvPr>
          <p:cNvSpPr>
            <a:spLocks noGrp="1"/>
          </p:cNvSpPr>
          <p:nvPr/>
        </p:nvSpPr>
        <p:spPr>
          <a:xfrm>
            <a:off x="7826375" y="1809750"/>
            <a:ext cx="3460750" cy="647700"/>
          </a:xfrm>
          <a:prstGeom prst="rect">
            <a:avLst/>
          </a:prstGeom>
          <a:ln w="9525">
            <a:solidFill>
              <a:srgbClr val="C8D7EF"/>
            </a:solidFill>
            <a:prstDash val="solid"/>
          </a:ln>
        </p:spPr>
      </p:sp>
      <p:sp>
        <p:nvSpPr>
          <p:cNvPr id="10" name="正方形/長方形 9">
            <a:extLst>
              <a:ext uri="{FF2B5EF4-FFF2-40B4-BE49-F238E27FC236}">
                <a16:creationId xmlns:a16="http://schemas.microsoft.com/office/drawing/2014/main" id="{4DC485FA-CF44-4841-A499-1154CB3956FB}"/>
              </a:ext>
            </a:extLst>
          </p:cNvPr>
          <p:cNvSpPr>
            <a:spLocks noGrp="1"/>
          </p:cNvSpPr>
          <p:nvPr/>
        </p:nvSpPr>
        <p:spPr>
          <a:xfrm>
            <a:off x="7912100" y="1895475"/>
            <a:ext cx="3289300" cy="533400"/>
          </a:xfrm>
          <a:prstGeom prst="rect">
            <a:avLst/>
          </a:prstGeom>
          <a:ln w="0">
            <a:solidFill>
              <a:srgbClr val="FFFFFF"/>
            </a:solidFill>
            <a:prstDash val="solid"/>
          </a:ln>
        </p:spPr>
        <p:txBody>
          <a:bodyPr lIns="0" tIns="0" rIns="0" bIns="0" anchor="ctr"/>
          <a:lstStyle/>
          <a:p>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注意</a:t>
            </a:r>
          </a:p>
        </p:txBody>
      </p:sp>
      <p:sp>
        <p:nvSpPr>
          <p:cNvPr id="11" name="正方形/長方形 10">
            <a:extLst>
              <a:ext uri="{FF2B5EF4-FFF2-40B4-BE49-F238E27FC236}">
                <a16:creationId xmlns:a16="http://schemas.microsoft.com/office/drawing/2014/main" id="{44610206-585B-47D0-98FF-4F1C4A92E8B4}"/>
              </a:ext>
            </a:extLst>
          </p:cNvPr>
          <p:cNvSpPr>
            <a:spLocks noGrp="1"/>
          </p:cNvSpPr>
          <p:nvPr/>
        </p:nvSpPr>
        <p:spPr>
          <a:xfrm>
            <a:off x="904875" y="2457450"/>
            <a:ext cx="3460750" cy="647700"/>
          </a:xfrm>
          <a:prstGeom prst="rect">
            <a:avLst/>
          </a:prstGeom>
          <a:ln w="9525">
            <a:solidFill>
              <a:srgbClr val="DDE5EF"/>
            </a:solidFill>
            <a:prstDash val="solid"/>
          </a:ln>
        </p:spPr>
      </p:sp>
      <p:sp>
        <p:nvSpPr>
          <p:cNvPr id="12" name="正方形/長方形 11">
            <a:extLst>
              <a:ext uri="{FF2B5EF4-FFF2-40B4-BE49-F238E27FC236}">
                <a16:creationId xmlns:a16="http://schemas.microsoft.com/office/drawing/2014/main" id="{23F2271F-C52D-4714-BCE3-2C8524775AED}"/>
              </a:ext>
            </a:extLst>
          </p:cNvPr>
          <p:cNvSpPr>
            <a:spLocks noGrp="1"/>
          </p:cNvSpPr>
          <p:nvPr/>
        </p:nvSpPr>
        <p:spPr>
          <a:xfrm>
            <a:off x="990600" y="25241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RESOURCE_GROUP</a:t>
            </a:r>
          </a:p>
        </p:txBody>
      </p:sp>
      <p:sp>
        <p:nvSpPr>
          <p:cNvPr id="13" name="正方形/長方形 12">
            <a:extLst>
              <a:ext uri="{FF2B5EF4-FFF2-40B4-BE49-F238E27FC236}">
                <a16:creationId xmlns:a16="http://schemas.microsoft.com/office/drawing/2014/main" id="{721F0DC6-BEBC-4917-85BD-45ABAB4BB5CF}"/>
              </a:ext>
            </a:extLst>
          </p:cNvPr>
          <p:cNvSpPr>
            <a:spLocks noGrp="1"/>
          </p:cNvSpPr>
          <p:nvPr/>
        </p:nvSpPr>
        <p:spPr>
          <a:xfrm>
            <a:off x="4365625" y="2457450"/>
            <a:ext cx="3460750" cy="647700"/>
          </a:xfrm>
          <a:prstGeom prst="rect">
            <a:avLst/>
          </a:prstGeom>
          <a:ln w="9525">
            <a:solidFill>
              <a:srgbClr val="DDE5EF"/>
            </a:solidFill>
            <a:prstDash val="solid"/>
          </a:ln>
        </p:spPr>
      </p:sp>
      <p:sp>
        <p:nvSpPr>
          <p:cNvPr id="14" name="正方形/長方形 13">
            <a:extLst>
              <a:ext uri="{FF2B5EF4-FFF2-40B4-BE49-F238E27FC236}">
                <a16:creationId xmlns:a16="http://schemas.microsoft.com/office/drawing/2014/main" id="{4E00B01B-9FA2-4355-84E5-46CC95ABFCCF}"/>
              </a:ext>
            </a:extLst>
          </p:cNvPr>
          <p:cNvSpPr>
            <a:spLocks noGrp="1"/>
          </p:cNvSpPr>
          <p:nvPr/>
        </p:nvSpPr>
        <p:spPr>
          <a:xfrm>
            <a:off x="4451350" y="25241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第5回の Resource group 名</a:t>
            </a:r>
          </a:p>
        </p:txBody>
      </p:sp>
      <p:sp>
        <p:nvSpPr>
          <p:cNvPr id="15" name="正方形/長方形 14">
            <a:extLst>
              <a:ext uri="{FF2B5EF4-FFF2-40B4-BE49-F238E27FC236}">
                <a16:creationId xmlns:a16="http://schemas.microsoft.com/office/drawing/2014/main" id="{1C42FB55-F33D-4B4C-AC4A-E44B11034FAA}"/>
              </a:ext>
            </a:extLst>
          </p:cNvPr>
          <p:cNvSpPr>
            <a:spLocks noGrp="1"/>
          </p:cNvSpPr>
          <p:nvPr/>
        </p:nvSpPr>
        <p:spPr>
          <a:xfrm>
            <a:off x="7826375" y="2457450"/>
            <a:ext cx="3460750" cy="647700"/>
          </a:xfrm>
          <a:prstGeom prst="rect">
            <a:avLst/>
          </a:prstGeom>
          <a:ln w="9525">
            <a:solidFill>
              <a:srgbClr val="DDE5EF"/>
            </a:solidFill>
            <a:prstDash val="solid"/>
          </a:ln>
        </p:spPr>
      </p:sp>
      <p:sp>
        <p:nvSpPr>
          <p:cNvPr id="16" name="正方形/長方形 15">
            <a:extLst>
              <a:ext uri="{FF2B5EF4-FFF2-40B4-BE49-F238E27FC236}">
                <a16:creationId xmlns:a16="http://schemas.microsoft.com/office/drawing/2014/main" id="{86D8667A-B540-40B1-95CA-CE2648E6A71F}"/>
              </a:ext>
            </a:extLst>
          </p:cNvPr>
          <p:cNvSpPr>
            <a:spLocks noGrp="1"/>
          </p:cNvSpPr>
          <p:nvPr/>
        </p:nvSpPr>
        <p:spPr>
          <a:xfrm>
            <a:off x="7912100" y="2524125"/>
            <a:ext cx="3289300" cy="533400"/>
          </a:xfrm>
          <a:prstGeom prst="rect">
            <a:avLst/>
          </a:prstGeom>
          <a:ln w="0">
            <a:solidFill>
              <a:srgbClr val="FFFFFF"/>
            </a:solidFill>
            <a:prstDash val="solid"/>
          </a:ln>
        </p:spPr>
        <p:txBody>
          <a:bodyPr lIns="0" tIns="0" rIns="0" bIns="0" anchor="ctr"/>
          <a:lstStyle/>
          <a:p>
            <a:pPr algn="l">
              <a:defRPr sz="938" b="0">
                <a:solidFill>
                  <a:srgbClr val="1F2937"/>
                </a:solidFill>
                <a:latin typeface="Yu Gothic"/>
                <a:ea typeface="Yu Gothic"/>
                <a:cs typeface="Yu Gothic"/>
              </a:defRPr>
            </a:pPr>
            <a:r>
              <a:rPr sz="938" b="0">
                <a:solidFill>
                  <a:srgbClr val="1F2937"/>
                </a:solidFill>
                <a:latin typeface="Yu Gothic"/>
                <a:ea typeface="Yu Gothic"/>
                <a:cs typeface="Yu Gothic"/>
              </a:rPr>
              <a:t>Service Principal の scope と合わせる</a:t>
            </a:r>
          </a:p>
        </p:txBody>
      </p:sp>
      <p:sp>
        <p:nvSpPr>
          <p:cNvPr id="17" name="正方形/長方形 16">
            <a:extLst>
              <a:ext uri="{FF2B5EF4-FFF2-40B4-BE49-F238E27FC236}">
                <a16:creationId xmlns:a16="http://schemas.microsoft.com/office/drawing/2014/main" id="{03180BF1-E272-46DA-9EE1-FA0E89634CEA}"/>
              </a:ext>
            </a:extLst>
          </p:cNvPr>
          <p:cNvSpPr>
            <a:spLocks noGrp="1"/>
          </p:cNvSpPr>
          <p:nvPr/>
        </p:nvSpPr>
        <p:spPr>
          <a:xfrm>
            <a:off x="904875" y="3105150"/>
            <a:ext cx="3460750" cy="647700"/>
          </a:xfrm>
          <a:prstGeom prst="rect">
            <a:avLst/>
          </a:prstGeom>
          <a:ln w="9525">
            <a:solidFill>
              <a:srgbClr val="DDE5EF"/>
            </a:solidFill>
            <a:prstDash val="solid"/>
          </a:ln>
        </p:spPr>
      </p:sp>
      <p:sp>
        <p:nvSpPr>
          <p:cNvPr id="18" name="正方形/長方形 17">
            <a:extLst>
              <a:ext uri="{FF2B5EF4-FFF2-40B4-BE49-F238E27FC236}">
                <a16:creationId xmlns:a16="http://schemas.microsoft.com/office/drawing/2014/main" id="{1E4B320D-EBD1-4459-B285-58DA1C20D3FC}"/>
              </a:ext>
            </a:extLst>
          </p:cNvPr>
          <p:cNvSpPr>
            <a:spLocks noGrp="1"/>
          </p:cNvSpPr>
          <p:nvPr/>
        </p:nvSpPr>
        <p:spPr>
          <a:xfrm>
            <a:off x="990600" y="31718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ACR_NAME</a:t>
            </a:r>
          </a:p>
        </p:txBody>
      </p:sp>
      <p:sp>
        <p:nvSpPr>
          <p:cNvPr id="19" name="正方形/長方形 18">
            <a:extLst>
              <a:ext uri="{FF2B5EF4-FFF2-40B4-BE49-F238E27FC236}">
                <a16:creationId xmlns:a16="http://schemas.microsoft.com/office/drawing/2014/main" id="{22478DA5-94E4-4D84-9111-568A77480E93}"/>
              </a:ext>
            </a:extLst>
          </p:cNvPr>
          <p:cNvSpPr>
            <a:spLocks noGrp="1"/>
          </p:cNvSpPr>
          <p:nvPr/>
        </p:nvSpPr>
        <p:spPr>
          <a:xfrm>
            <a:off x="4365625" y="3105150"/>
            <a:ext cx="3460750" cy="647700"/>
          </a:xfrm>
          <a:prstGeom prst="rect">
            <a:avLst/>
          </a:prstGeom>
          <a:ln w="9525">
            <a:solidFill>
              <a:srgbClr val="DDE5EF"/>
            </a:solidFill>
            <a:prstDash val="solid"/>
          </a:ln>
        </p:spPr>
      </p:sp>
      <p:sp>
        <p:nvSpPr>
          <p:cNvPr id="20" name="正方形/長方形 19">
            <a:extLst>
              <a:ext uri="{FF2B5EF4-FFF2-40B4-BE49-F238E27FC236}">
                <a16:creationId xmlns:a16="http://schemas.microsoft.com/office/drawing/2014/main" id="{38C4564C-07A0-411F-91B1-13D7FB25C723}"/>
              </a:ext>
            </a:extLst>
          </p:cNvPr>
          <p:cNvSpPr>
            <a:spLocks noGrp="1"/>
          </p:cNvSpPr>
          <p:nvPr/>
        </p:nvSpPr>
        <p:spPr>
          <a:xfrm>
            <a:off x="4451350" y="31718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ACR 名</a:t>
            </a:r>
          </a:p>
        </p:txBody>
      </p:sp>
      <p:sp>
        <p:nvSpPr>
          <p:cNvPr id="21" name="正方形/長方形 20">
            <a:extLst>
              <a:ext uri="{FF2B5EF4-FFF2-40B4-BE49-F238E27FC236}">
                <a16:creationId xmlns:a16="http://schemas.microsoft.com/office/drawing/2014/main" id="{CF9D2F23-1EDA-41D9-85CD-FB7DE6AE19CE}"/>
              </a:ext>
            </a:extLst>
          </p:cNvPr>
          <p:cNvSpPr>
            <a:spLocks noGrp="1"/>
          </p:cNvSpPr>
          <p:nvPr/>
        </p:nvSpPr>
        <p:spPr>
          <a:xfrm>
            <a:off x="7826375" y="3105150"/>
            <a:ext cx="3460750" cy="647700"/>
          </a:xfrm>
          <a:prstGeom prst="rect">
            <a:avLst/>
          </a:prstGeom>
          <a:ln w="9525">
            <a:solidFill>
              <a:srgbClr val="DDE5EF"/>
            </a:solidFill>
            <a:prstDash val="solid"/>
          </a:ln>
        </p:spPr>
      </p:sp>
      <p:sp>
        <p:nvSpPr>
          <p:cNvPr id="22" name="正方形/長方形 21">
            <a:extLst>
              <a:ext uri="{FF2B5EF4-FFF2-40B4-BE49-F238E27FC236}">
                <a16:creationId xmlns:a16="http://schemas.microsoft.com/office/drawing/2014/main" id="{09223C92-84E9-4C62-A82D-8A622D485F43}"/>
              </a:ext>
            </a:extLst>
          </p:cNvPr>
          <p:cNvSpPr>
            <a:spLocks noGrp="1"/>
          </p:cNvSpPr>
          <p:nvPr/>
        </p:nvSpPr>
        <p:spPr>
          <a:xfrm>
            <a:off x="7912100" y="31718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.azurecr.io は含めない</a:t>
            </a:r>
          </a:p>
        </p:txBody>
      </p:sp>
      <p:sp>
        <p:nvSpPr>
          <p:cNvPr id="23" name="正方形/長方形 22">
            <a:extLst>
              <a:ext uri="{FF2B5EF4-FFF2-40B4-BE49-F238E27FC236}">
                <a16:creationId xmlns:a16="http://schemas.microsoft.com/office/drawing/2014/main" id="{2C928628-D43E-44B7-AA1E-85837F4CA676}"/>
              </a:ext>
            </a:extLst>
          </p:cNvPr>
          <p:cNvSpPr>
            <a:spLocks noGrp="1"/>
          </p:cNvSpPr>
          <p:nvPr/>
        </p:nvSpPr>
        <p:spPr>
          <a:xfrm>
            <a:off x="904875" y="3752850"/>
            <a:ext cx="3460750" cy="647700"/>
          </a:xfrm>
          <a:prstGeom prst="rect">
            <a:avLst/>
          </a:prstGeom>
          <a:ln w="9525">
            <a:solidFill>
              <a:srgbClr val="DDE5EF"/>
            </a:solidFill>
            <a:prstDash val="solid"/>
          </a:ln>
        </p:spPr>
      </p:sp>
      <p:sp>
        <p:nvSpPr>
          <p:cNvPr id="24" name="正方形/長方形 23">
            <a:extLst>
              <a:ext uri="{FF2B5EF4-FFF2-40B4-BE49-F238E27FC236}">
                <a16:creationId xmlns:a16="http://schemas.microsoft.com/office/drawing/2014/main" id="{78FC8D7B-4C94-4557-8E51-383BDCA24038}"/>
              </a:ext>
            </a:extLst>
          </p:cNvPr>
          <p:cNvSpPr>
            <a:spLocks noGrp="1"/>
          </p:cNvSpPr>
          <p:nvPr/>
        </p:nvSpPr>
        <p:spPr>
          <a:xfrm>
            <a:off x="990600" y="38195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CONTAINER_APP_ENVIRONMENT</a:t>
            </a:r>
          </a:p>
        </p:txBody>
      </p:sp>
      <p:sp>
        <p:nvSpPr>
          <p:cNvPr id="25" name="正方形/長方形 24">
            <a:extLst>
              <a:ext uri="{FF2B5EF4-FFF2-40B4-BE49-F238E27FC236}">
                <a16:creationId xmlns:a16="http://schemas.microsoft.com/office/drawing/2014/main" id="{91487E64-B3F4-4C8A-BA69-72CE3B425844}"/>
              </a:ext>
            </a:extLst>
          </p:cNvPr>
          <p:cNvSpPr>
            <a:spLocks noGrp="1"/>
          </p:cNvSpPr>
          <p:nvPr/>
        </p:nvSpPr>
        <p:spPr>
          <a:xfrm>
            <a:off x="4365625" y="3752850"/>
            <a:ext cx="3460750" cy="647700"/>
          </a:xfrm>
          <a:prstGeom prst="rect">
            <a:avLst/>
          </a:prstGeom>
          <a:ln w="9525">
            <a:solidFill>
              <a:srgbClr val="DDE5EF"/>
            </a:solidFill>
            <a:prstDash val="solid"/>
          </a:ln>
        </p:spPr>
      </p:sp>
      <p:sp>
        <p:nvSpPr>
          <p:cNvPr id="26" name="正方形/長方形 25">
            <a:extLst>
              <a:ext uri="{FF2B5EF4-FFF2-40B4-BE49-F238E27FC236}">
                <a16:creationId xmlns:a16="http://schemas.microsoft.com/office/drawing/2014/main" id="{28D5A00C-A77D-423E-81CB-AEC98DE91563}"/>
              </a:ext>
            </a:extLst>
          </p:cNvPr>
          <p:cNvSpPr>
            <a:spLocks noGrp="1"/>
          </p:cNvSpPr>
          <p:nvPr/>
        </p:nvSpPr>
        <p:spPr>
          <a:xfrm>
            <a:off x="4451350" y="38195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Container Apps Environment 名</a:t>
            </a:r>
          </a:p>
        </p:txBody>
      </p:sp>
      <p:sp>
        <p:nvSpPr>
          <p:cNvPr id="27" name="正方形/長方形 26">
            <a:extLst>
              <a:ext uri="{FF2B5EF4-FFF2-40B4-BE49-F238E27FC236}">
                <a16:creationId xmlns:a16="http://schemas.microsoft.com/office/drawing/2014/main" id="{DA472FFB-86EE-4633-9C7E-BD3C77C01005}"/>
              </a:ext>
            </a:extLst>
          </p:cNvPr>
          <p:cNvSpPr>
            <a:spLocks noGrp="1"/>
          </p:cNvSpPr>
          <p:nvPr/>
        </p:nvSpPr>
        <p:spPr>
          <a:xfrm>
            <a:off x="7826375" y="3752850"/>
            <a:ext cx="3460750" cy="647700"/>
          </a:xfrm>
          <a:prstGeom prst="rect">
            <a:avLst/>
          </a:prstGeom>
          <a:ln w="9525">
            <a:solidFill>
              <a:srgbClr val="DDE5EF"/>
            </a:solidFill>
            <a:prstDash val="solid"/>
          </a:ln>
        </p:spPr>
      </p:sp>
      <p:sp>
        <p:nvSpPr>
          <p:cNvPr id="28" name="正方形/長方形 27">
            <a:extLst>
              <a:ext uri="{FF2B5EF4-FFF2-40B4-BE49-F238E27FC236}">
                <a16:creationId xmlns:a16="http://schemas.microsoft.com/office/drawing/2014/main" id="{EF3D0BB8-A205-4960-9266-2B70AD886428}"/>
              </a:ext>
            </a:extLst>
          </p:cNvPr>
          <p:cNvSpPr>
            <a:spLocks noGrp="1"/>
          </p:cNvSpPr>
          <p:nvPr/>
        </p:nvSpPr>
        <p:spPr>
          <a:xfrm>
            <a:off x="7912100" y="38195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第5回で作成済み</a:t>
            </a:r>
          </a:p>
        </p:txBody>
      </p:sp>
      <p:sp>
        <p:nvSpPr>
          <p:cNvPr id="29" name="正方形/長方形 28">
            <a:extLst>
              <a:ext uri="{FF2B5EF4-FFF2-40B4-BE49-F238E27FC236}">
                <a16:creationId xmlns:a16="http://schemas.microsoft.com/office/drawing/2014/main" id="{638375FD-6669-44DA-B022-FFC956590B96}"/>
              </a:ext>
            </a:extLst>
          </p:cNvPr>
          <p:cNvSpPr>
            <a:spLocks noGrp="1"/>
          </p:cNvSpPr>
          <p:nvPr/>
        </p:nvSpPr>
        <p:spPr>
          <a:xfrm>
            <a:off x="904875" y="4400550"/>
            <a:ext cx="3460750" cy="647700"/>
          </a:xfrm>
          <a:prstGeom prst="rect">
            <a:avLst/>
          </a:prstGeom>
          <a:ln w="9525">
            <a:solidFill>
              <a:srgbClr val="DDE5EF"/>
            </a:solidFill>
            <a:prstDash val="solid"/>
          </a:ln>
        </p:spPr>
      </p:sp>
      <p:sp>
        <p:nvSpPr>
          <p:cNvPr id="30" name="正方形/長方形 29">
            <a:extLst>
              <a:ext uri="{FF2B5EF4-FFF2-40B4-BE49-F238E27FC236}">
                <a16:creationId xmlns:a16="http://schemas.microsoft.com/office/drawing/2014/main" id="{FB485DCF-EA12-49A3-BA28-D8F75FE13691}"/>
              </a:ext>
            </a:extLst>
          </p:cNvPr>
          <p:cNvSpPr>
            <a:spLocks noGrp="1"/>
          </p:cNvSpPr>
          <p:nvPr/>
        </p:nvSpPr>
        <p:spPr>
          <a:xfrm>
            <a:off x="990600" y="44672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REPOSITORY</a:t>
            </a:r>
          </a:p>
        </p:txBody>
      </p:sp>
      <p:sp>
        <p:nvSpPr>
          <p:cNvPr id="31" name="正方形/長方形 30">
            <a:extLst>
              <a:ext uri="{FF2B5EF4-FFF2-40B4-BE49-F238E27FC236}">
                <a16:creationId xmlns:a16="http://schemas.microsoft.com/office/drawing/2014/main" id="{C7E4DCA7-52DD-4C12-B855-B5E3A2D7F814}"/>
              </a:ext>
            </a:extLst>
          </p:cNvPr>
          <p:cNvSpPr>
            <a:spLocks noGrp="1"/>
          </p:cNvSpPr>
          <p:nvPr/>
        </p:nvSpPr>
        <p:spPr>
          <a:xfrm>
            <a:off x="4365625" y="4400550"/>
            <a:ext cx="3460750" cy="647700"/>
          </a:xfrm>
          <a:prstGeom prst="rect">
            <a:avLst/>
          </a:prstGeom>
          <a:ln w="9525">
            <a:solidFill>
              <a:srgbClr val="DDE5EF"/>
            </a:solidFill>
            <a:prstDash val="solid"/>
          </a:ln>
        </p:spPr>
      </p:sp>
      <p:sp>
        <p:nvSpPr>
          <p:cNvPr id="32" name="正方形/長方形 31">
            <a:extLst>
              <a:ext uri="{FF2B5EF4-FFF2-40B4-BE49-F238E27FC236}">
                <a16:creationId xmlns:a16="http://schemas.microsoft.com/office/drawing/2014/main" id="{D0E7069F-D38E-4FF6-A290-386F75F72A26}"/>
              </a:ext>
            </a:extLst>
          </p:cNvPr>
          <p:cNvSpPr>
            <a:spLocks noGrp="1"/>
          </p:cNvSpPr>
          <p:nvPr/>
        </p:nvSpPr>
        <p:spPr>
          <a:xfrm>
            <a:off x="4451350" y="44672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GitHub repository URL</a:t>
            </a:r>
          </a:p>
        </p:txBody>
      </p:sp>
      <p:sp>
        <p:nvSpPr>
          <p:cNvPr id="33" name="正方形/長方形 32">
            <a:extLst>
              <a:ext uri="{FF2B5EF4-FFF2-40B4-BE49-F238E27FC236}">
                <a16:creationId xmlns:a16="http://schemas.microsoft.com/office/drawing/2014/main" id="{DF1C8DCD-B935-4E92-99CF-254B8FF6395F}"/>
              </a:ext>
            </a:extLst>
          </p:cNvPr>
          <p:cNvSpPr>
            <a:spLocks noGrp="1"/>
          </p:cNvSpPr>
          <p:nvPr/>
        </p:nvSpPr>
        <p:spPr>
          <a:xfrm>
            <a:off x="7826375" y="4400550"/>
            <a:ext cx="3460750" cy="647700"/>
          </a:xfrm>
          <a:prstGeom prst="rect">
            <a:avLst/>
          </a:prstGeom>
          <a:ln w="9525">
            <a:solidFill>
              <a:srgbClr val="DDE5EF"/>
            </a:solidFill>
            <a:prstDash val="solid"/>
          </a:ln>
        </p:spPr>
      </p:sp>
      <p:sp>
        <p:nvSpPr>
          <p:cNvPr id="34" name="正方形/長方形 33">
            <a:extLst>
              <a:ext uri="{FF2B5EF4-FFF2-40B4-BE49-F238E27FC236}">
                <a16:creationId xmlns:a16="http://schemas.microsoft.com/office/drawing/2014/main" id="{BB07E678-23F9-4175-B228-9443BCCAD05A}"/>
              </a:ext>
            </a:extLst>
          </p:cNvPr>
          <p:cNvSpPr>
            <a:spLocks noGrp="1"/>
          </p:cNvSpPr>
          <p:nvPr/>
        </p:nvSpPr>
        <p:spPr>
          <a:xfrm>
            <a:off x="7912100" y="44672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受講者の repo を指定</a:t>
            </a:r>
          </a:p>
        </p:txBody>
      </p:sp>
      <p:sp>
        <p:nvSpPr>
          <p:cNvPr id="35" name="正方形/長方形 34">
            <a:extLst>
              <a:ext uri="{FF2B5EF4-FFF2-40B4-BE49-F238E27FC236}">
                <a16:creationId xmlns:a16="http://schemas.microsoft.com/office/drawing/2014/main" id="{3C41A10A-A4CB-4717-AB34-D5135657FE2D}"/>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正方形/長方形 35">
            <a:extLst>
              <a:ext uri="{FF2B5EF4-FFF2-40B4-BE49-F238E27FC236}">
                <a16:creationId xmlns:a16="http://schemas.microsoft.com/office/drawing/2014/main" id="{376A59CD-21CB-4FC4-961D-20D89CDD4A25}"/>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PostgreSQL 系の変数</a:t>
            </a:r>
          </a:p>
        </p:txBody>
      </p:sp>
      <p:sp>
        <p:nvSpPr>
          <p:cNvPr id="2" name="正方形/長方形 1">
            <a:extLst>
              <a:ext uri="{FF2B5EF4-FFF2-40B4-BE49-F238E27FC236}">
                <a16:creationId xmlns:a16="http://schemas.microsoft.com/office/drawing/2014/main" id="{CD8CA4DD-754D-488F-9719-9A4D19248AB0}"/>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21 / 48</a:t>
            </a:r>
          </a:p>
        </p:txBody>
      </p:sp>
      <p:sp>
        <p:nvSpPr>
          <p:cNvPr id="3" name="正方形/長方形 2">
            <a:extLst>
              <a:ext uri="{FF2B5EF4-FFF2-40B4-BE49-F238E27FC236}">
                <a16:creationId xmlns:a16="http://schemas.microsoft.com/office/drawing/2014/main" id="{74C23079-5B3A-4571-8697-42D03E743EBE}"/>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1C016A9E-3E07-428E-AF39-4204FD4374E9}"/>
              </a:ext>
            </a:extLst>
          </p:cNvPr>
          <p:cNvSpPr>
            <a:spLocks noGrp="1"/>
          </p:cNvSpPr>
          <p:nvPr/>
        </p:nvSpPr>
        <p:spPr>
          <a:xfrm>
            <a:off x="666750" y="1162050"/>
            <a:ext cx="10096500" cy="552450"/>
          </a:xfrm>
          <a:prstGeom prst="rect">
            <a:avLst/>
          </a:prstGeom>
          <a:ln w="0">
            <a:solidFill>
              <a:srgbClr val="FFFFFF"/>
            </a:solidFill>
            <a:prstDash val="solid"/>
          </a:ln>
        </p:spPr>
        <p:txBody>
          <a:bodyPr lIns="0" tIns="0" rIns="0" bIns="0" anchor="t"/>
          <a:lstStyle/>
          <a:p>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API が DB に接続するため、PostgreSQL のサーバー、DB 名、ユーザー相当の値を設定します。</a:t>
            </a:r>
          </a:p>
        </p:txBody>
      </p:sp>
      <p:sp>
        <p:nvSpPr>
          <p:cNvPr id="5" name="正方形/長方形 4">
            <a:extLst>
              <a:ext uri="{FF2B5EF4-FFF2-40B4-BE49-F238E27FC236}">
                <a16:creationId xmlns:a16="http://schemas.microsoft.com/office/drawing/2014/main" id="{CC7261A1-4106-4F38-82E6-3D41ECFD0033}"/>
              </a:ext>
            </a:extLst>
          </p:cNvPr>
          <p:cNvSpPr>
            <a:spLocks noGrp="1"/>
          </p:cNvSpPr>
          <p:nvPr/>
        </p:nvSpPr>
        <p:spPr>
          <a:xfrm>
            <a:off x="904875" y="1809750"/>
            <a:ext cx="3460750" cy="647700"/>
          </a:xfrm>
          <a:prstGeom prst="rect">
            <a:avLst/>
          </a:prstGeom>
          <a:ln w="9525">
            <a:solidFill>
              <a:srgbClr val="C8D7EF"/>
            </a:solidFill>
            <a:prstDash val="solid"/>
          </a:ln>
        </p:spPr>
      </p:sp>
      <p:sp>
        <p:nvSpPr>
          <p:cNvPr id="6" name="正方形/長方形 5">
            <a:extLst>
              <a:ext uri="{FF2B5EF4-FFF2-40B4-BE49-F238E27FC236}">
                <a16:creationId xmlns:a16="http://schemas.microsoft.com/office/drawing/2014/main" id="{12A2D08A-07C6-4A0D-B480-EEF496FA1444}"/>
              </a:ext>
            </a:extLst>
          </p:cNvPr>
          <p:cNvSpPr>
            <a:spLocks noGrp="1"/>
          </p:cNvSpPr>
          <p:nvPr/>
        </p:nvSpPr>
        <p:spPr>
          <a:xfrm>
            <a:off x="990600" y="1895475"/>
            <a:ext cx="3289300" cy="533400"/>
          </a:xfrm>
          <a:prstGeom prst="rect">
            <a:avLst/>
          </a:prstGeom>
          <a:ln w="0">
            <a:solidFill>
              <a:srgbClr val="FFFFFF"/>
            </a:solidFill>
            <a:prstDash val="solid"/>
          </a:ln>
        </p:spPr>
        <p:txBody>
          <a:bodyPr lIns="0" tIns="0" rIns="0" bIns="0" anchor="ctr"/>
          <a:lstStyle/>
          <a:p>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変数名</a:t>
            </a:r>
          </a:p>
        </p:txBody>
      </p:sp>
      <p:sp>
        <p:nvSpPr>
          <p:cNvPr id="7" name="正方形/長方形 6">
            <a:extLst>
              <a:ext uri="{FF2B5EF4-FFF2-40B4-BE49-F238E27FC236}">
                <a16:creationId xmlns:a16="http://schemas.microsoft.com/office/drawing/2014/main" id="{2C747745-1209-41D6-B8AF-DC9B48D1F875}"/>
              </a:ext>
            </a:extLst>
          </p:cNvPr>
          <p:cNvSpPr>
            <a:spLocks noGrp="1"/>
          </p:cNvSpPr>
          <p:nvPr/>
        </p:nvSpPr>
        <p:spPr>
          <a:xfrm>
            <a:off x="4365625" y="1809750"/>
            <a:ext cx="3460750" cy="647700"/>
          </a:xfrm>
          <a:prstGeom prst="rect">
            <a:avLst/>
          </a:prstGeom>
          <a:ln w="9525">
            <a:solidFill>
              <a:srgbClr val="C8D7EF"/>
            </a:solidFill>
            <a:prstDash val="solid"/>
          </a:ln>
        </p:spPr>
      </p:sp>
      <p:sp>
        <p:nvSpPr>
          <p:cNvPr id="8" name="正方形/長方形 7">
            <a:extLst>
              <a:ext uri="{FF2B5EF4-FFF2-40B4-BE49-F238E27FC236}">
                <a16:creationId xmlns:a16="http://schemas.microsoft.com/office/drawing/2014/main" id="{A8C4B505-960F-4234-B12F-86701B52DDDB}"/>
              </a:ext>
            </a:extLst>
          </p:cNvPr>
          <p:cNvSpPr>
            <a:spLocks noGrp="1"/>
          </p:cNvSpPr>
          <p:nvPr/>
        </p:nvSpPr>
        <p:spPr>
          <a:xfrm>
            <a:off x="4451350" y="1895475"/>
            <a:ext cx="3289300" cy="533400"/>
          </a:xfrm>
          <a:prstGeom prst="rect">
            <a:avLst/>
          </a:prstGeom>
          <a:ln w="0">
            <a:solidFill>
              <a:srgbClr val="FFFFFF"/>
            </a:solidFill>
            <a:prstDash val="solid"/>
          </a:ln>
        </p:spPr>
        <p:txBody>
          <a:bodyPr lIns="0" tIns="0" rIns="0" bIns="0" anchor="ctr"/>
          <a:lstStyle/>
          <a:p>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値</a:t>
            </a:r>
          </a:p>
        </p:txBody>
      </p:sp>
      <p:sp>
        <p:nvSpPr>
          <p:cNvPr id="9" name="正方形/長方形 8">
            <a:extLst>
              <a:ext uri="{FF2B5EF4-FFF2-40B4-BE49-F238E27FC236}">
                <a16:creationId xmlns:a16="http://schemas.microsoft.com/office/drawing/2014/main" id="{AD6F6ADC-2085-4D40-8FCB-12FF6588CB44}"/>
              </a:ext>
            </a:extLst>
          </p:cNvPr>
          <p:cNvSpPr>
            <a:spLocks noGrp="1"/>
          </p:cNvSpPr>
          <p:nvPr/>
        </p:nvSpPr>
        <p:spPr>
          <a:xfrm>
            <a:off x="7826375" y="1809750"/>
            <a:ext cx="3460750" cy="647700"/>
          </a:xfrm>
          <a:prstGeom prst="rect">
            <a:avLst/>
          </a:prstGeom>
          <a:ln w="9525">
            <a:solidFill>
              <a:srgbClr val="C8D7EF"/>
            </a:solidFill>
            <a:prstDash val="solid"/>
          </a:ln>
        </p:spPr>
      </p:sp>
      <p:sp>
        <p:nvSpPr>
          <p:cNvPr id="10" name="正方形/長方形 9">
            <a:extLst>
              <a:ext uri="{FF2B5EF4-FFF2-40B4-BE49-F238E27FC236}">
                <a16:creationId xmlns:a16="http://schemas.microsoft.com/office/drawing/2014/main" id="{42C9DF01-6285-4164-B6C1-EAA2DBF54929}"/>
              </a:ext>
            </a:extLst>
          </p:cNvPr>
          <p:cNvSpPr>
            <a:spLocks noGrp="1"/>
          </p:cNvSpPr>
          <p:nvPr/>
        </p:nvSpPr>
        <p:spPr>
          <a:xfrm>
            <a:off x="7912100" y="1895475"/>
            <a:ext cx="3289300" cy="533400"/>
          </a:xfrm>
          <a:prstGeom prst="rect">
            <a:avLst/>
          </a:prstGeom>
          <a:ln w="0">
            <a:solidFill>
              <a:srgbClr val="FFFFFF"/>
            </a:solidFill>
            <a:prstDash val="solid"/>
          </a:ln>
        </p:spPr>
        <p:txBody>
          <a:bodyPr lIns="0" tIns="0" rIns="0" bIns="0" anchor="ctr"/>
          <a:lstStyle/>
          <a:p>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注意</a:t>
            </a:r>
          </a:p>
        </p:txBody>
      </p:sp>
      <p:sp>
        <p:nvSpPr>
          <p:cNvPr id="11" name="正方形/長方形 10">
            <a:extLst>
              <a:ext uri="{FF2B5EF4-FFF2-40B4-BE49-F238E27FC236}">
                <a16:creationId xmlns:a16="http://schemas.microsoft.com/office/drawing/2014/main" id="{50BECBE1-F6A3-4D0D-9B64-DECD5CC415B3}"/>
              </a:ext>
            </a:extLst>
          </p:cNvPr>
          <p:cNvSpPr>
            <a:spLocks noGrp="1"/>
          </p:cNvSpPr>
          <p:nvPr/>
        </p:nvSpPr>
        <p:spPr>
          <a:xfrm>
            <a:off x="904875" y="2457450"/>
            <a:ext cx="3460750" cy="647700"/>
          </a:xfrm>
          <a:prstGeom prst="rect">
            <a:avLst/>
          </a:prstGeom>
          <a:ln w="9525">
            <a:solidFill>
              <a:srgbClr val="DDE5EF"/>
            </a:solidFill>
            <a:prstDash val="solid"/>
          </a:ln>
        </p:spPr>
      </p:sp>
      <p:sp>
        <p:nvSpPr>
          <p:cNvPr id="12" name="正方形/長方形 11">
            <a:extLst>
              <a:ext uri="{FF2B5EF4-FFF2-40B4-BE49-F238E27FC236}">
                <a16:creationId xmlns:a16="http://schemas.microsoft.com/office/drawing/2014/main" id="{3557F055-C646-44FC-B0C0-5643E7825070}"/>
              </a:ext>
            </a:extLst>
          </p:cNvPr>
          <p:cNvSpPr>
            <a:spLocks noGrp="1"/>
          </p:cNvSpPr>
          <p:nvPr/>
        </p:nvSpPr>
        <p:spPr>
          <a:xfrm>
            <a:off x="990600" y="25241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POSTGRES_SERVER</a:t>
            </a:r>
          </a:p>
        </p:txBody>
      </p:sp>
      <p:sp>
        <p:nvSpPr>
          <p:cNvPr id="13" name="正方形/長方形 12">
            <a:extLst>
              <a:ext uri="{FF2B5EF4-FFF2-40B4-BE49-F238E27FC236}">
                <a16:creationId xmlns:a16="http://schemas.microsoft.com/office/drawing/2014/main" id="{F48A940B-845C-4906-BDFF-AE2EC548CDAD}"/>
              </a:ext>
            </a:extLst>
          </p:cNvPr>
          <p:cNvSpPr>
            <a:spLocks noGrp="1"/>
          </p:cNvSpPr>
          <p:nvPr/>
        </p:nvSpPr>
        <p:spPr>
          <a:xfrm>
            <a:off x="4365625" y="2457450"/>
            <a:ext cx="3460750" cy="647700"/>
          </a:xfrm>
          <a:prstGeom prst="rect">
            <a:avLst/>
          </a:prstGeom>
          <a:ln w="9525">
            <a:solidFill>
              <a:srgbClr val="DDE5EF"/>
            </a:solidFill>
            <a:prstDash val="solid"/>
          </a:ln>
        </p:spPr>
      </p:sp>
      <p:sp>
        <p:nvSpPr>
          <p:cNvPr id="14" name="正方形/長方形 13">
            <a:extLst>
              <a:ext uri="{FF2B5EF4-FFF2-40B4-BE49-F238E27FC236}">
                <a16:creationId xmlns:a16="http://schemas.microsoft.com/office/drawing/2014/main" id="{6C7ED379-56A3-4DDE-8699-CB9B020067DA}"/>
              </a:ext>
            </a:extLst>
          </p:cNvPr>
          <p:cNvSpPr>
            <a:spLocks noGrp="1"/>
          </p:cNvSpPr>
          <p:nvPr/>
        </p:nvSpPr>
        <p:spPr>
          <a:xfrm>
            <a:off x="4451350" y="25241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PostgreSQL サーバー FQDN</a:t>
            </a:r>
          </a:p>
        </p:txBody>
      </p:sp>
      <p:sp>
        <p:nvSpPr>
          <p:cNvPr id="15" name="正方形/長方形 14">
            <a:extLst>
              <a:ext uri="{FF2B5EF4-FFF2-40B4-BE49-F238E27FC236}">
                <a16:creationId xmlns:a16="http://schemas.microsoft.com/office/drawing/2014/main" id="{1DBABE39-2119-4725-8D1A-F9C5560FE6E3}"/>
              </a:ext>
            </a:extLst>
          </p:cNvPr>
          <p:cNvSpPr>
            <a:spLocks noGrp="1"/>
          </p:cNvSpPr>
          <p:nvPr/>
        </p:nvSpPr>
        <p:spPr>
          <a:xfrm>
            <a:off x="7826375" y="2457450"/>
            <a:ext cx="3460750" cy="647700"/>
          </a:xfrm>
          <a:prstGeom prst="rect">
            <a:avLst/>
          </a:prstGeom>
          <a:ln w="9525">
            <a:solidFill>
              <a:srgbClr val="DDE5EF"/>
            </a:solidFill>
            <a:prstDash val="solid"/>
          </a:ln>
        </p:spPr>
      </p:sp>
      <p:sp>
        <p:nvSpPr>
          <p:cNvPr id="16" name="正方形/長方形 15">
            <a:extLst>
              <a:ext uri="{FF2B5EF4-FFF2-40B4-BE49-F238E27FC236}">
                <a16:creationId xmlns:a16="http://schemas.microsoft.com/office/drawing/2014/main" id="{6DA5BB31-B9AB-4646-86A4-D5258EF3955D}"/>
              </a:ext>
            </a:extLst>
          </p:cNvPr>
          <p:cNvSpPr>
            <a:spLocks noGrp="1"/>
          </p:cNvSpPr>
          <p:nvPr/>
        </p:nvSpPr>
        <p:spPr>
          <a:xfrm>
            <a:off x="7912100" y="25241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FQDN を使う</a:t>
            </a:r>
          </a:p>
        </p:txBody>
      </p:sp>
      <p:sp>
        <p:nvSpPr>
          <p:cNvPr id="17" name="正方形/長方形 16">
            <a:extLst>
              <a:ext uri="{FF2B5EF4-FFF2-40B4-BE49-F238E27FC236}">
                <a16:creationId xmlns:a16="http://schemas.microsoft.com/office/drawing/2014/main" id="{38B05616-A74E-48D5-AB8A-6C6EC88D793E}"/>
              </a:ext>
            </a:extLst>
          </p:cNvPr>
          <p:cNvSpPr>
            <a:spLocks noGrp="1"/>
          </p:cNvSpPr>
          <p:nvPr/>
        </p:nvSpPr>
        <p:spPr>
          <a:xfrm>
            <a:off x="904875" y="3105150"/>
            <a:ext cx="3460750" cy="647700"/>
          </a:xfrm>
          <a:prstGeom prst="rect">
            <a:avLst/>
          </a:prstGeom>
          <a:ln w="9525">
            <a:solidFill>
              <a:srgbClr val="DDE5EF"/>
            </a:solidFill>
            <a:prstDash val="solid"/>
          </a:ln>
        </p:spPr>
      </p:sp>
      <p:sp>
        <p:nvSpPr>
          <p:cNvPr id="18" name="正方形/長方形 17">
            <a:extLst>
              <a:ext uri="{FF2B5EF4-FFF2-40B4-BE49-F238E27FC236}">
                <a16:creationId xmlns:a16="http://schemas.microsoft.com/office/drawing/2014/main" id="{72B6FE2E-2239-4DE1-873A-EEABAB4B12BA}"/>
              </a:ext>
            </a:extLst>
          </p:cNvPr>
          <p:cNvSpPr>
            <a:spLocks noGrp="1"/>
          </p:cNvSpPr>
          <p:nvPr/>
        </p:nvSpPr>
        <p:spPr>
          <a:xfrm>
            <a:off x="990600" y="31718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POSTGRES_DB</a:t>
            </a:r>
          </a:p>
        </p:txBody>
      </p:sp>
      <p:sp>
        <p:nvSpPr>
          <p:cNvPr id="19" name="正方形/長方形 18">
            <a:extLst>
              <a:ext uri="{FF2B5EF4-FFF2-40B4-BE49-F238E27FC236}">
                <a16:creationId xmlns:a16="http://schemas.microsoft.com/office/drawing/2014/main" id="{1A4A873C-9CCB-465C-B81E-3DCD636CD209}"/>
              </a:ext>
            </a:extLst>
          </p:cNvPr>
          <p:cNvSpPr>
            <a:spLocks noGrp="1"/>
          </p:cNvSpPr>
          <p:nvPr/>
        </p:nvSpPr>
        <p:spPr>
          <a:xfrm>
            <a:off x="4365625" y="3105150"/>
            <a:ext cx="3460750" cy="647700"/>
          </a:xfrm>
          <a:prstGeom prst="rect">
            <a:avLst/>
          </a:prstGeom>
          <a:ln w="9525">
            <a:solidFill>
              <a:srgbClr val="DDE5EF"/>
            </a:solidFill>
            <a:prstDash val="solid"/>
          </a:ln>
        </p:spPr>
      </p:sp>
      <p:sp>
        <p:nvSpPr>
          <p:cNvPr id="20" name="正方形/長方形 19">
            <a:extLst>
              <a:ext uri="{FF2B5EF4-FFF2-40B4-BE49-F238E27FC236}">
                <a16:creationId xmlns:a16="http://schemas.microsoft.com/office/drawing/2014/main" id="{C0A2D140-66D7-44B1-BF82-43C66B816F83}"/>
              </a:ext>
            </a:extLst>
          </p:cNvPr>
          <p:cNvSpPr>
            <a:spLocks noGrp="1"/>
          </p:cNvSpPr>
          <p:nvPr/>
        </p:nvSpPr>
        <p:spPr>
          <a:xfrm>
            <a:off x="4451350" y="31718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tododb</a:t>
            </a:r>
          </a:p>
        </p:txBody>
      </p:sp>
      <p:sp>
        <p:nvSpPr>
          <p:cNvPr id="21" name="正方形/長方形 20">
            <a:extLst>
              <a:ext uri="{FF2B5EF4-FFF2-40B4-BE49-F238E27FC236}">
                <a16:creationId xmlns:a16="http://schemas.microsoft.com/office/drawing/2014/main" id="{E684CE19-5043-4BEA-8ED5-F76C73E87F43}"/>
              </a:ext>
            </a:extLst>
          </p:cNvPr>
          <p:cNvSpPr>
            <a:spLocks noGrp="1"/>
          </p:cNvSpPr>
          <p:nvPr/>
        </p:nvSpPr>
        <p:spPr>
          <a:xfrm>
            <a:off x="7826375" y="3105150"/>
            <a:ext cx="3460750" cy="647700"/>
          </a:xfrm>
          <a:prstGeom prst="rect">
            <a:avLst/>
          </a:prstGeom>
          <a:ln w="9525">
            <a:solidFill>
              <a:srgbClr val="DDE5EF"/>
            </a:solidFill>
            <a:prstDash val="solid"/>
          </a:ln>
        </p:spPr>
      </p:sp>
      <p:sp>
        <p:nvSpPr>
          <p:cNvPr id="22" name="正方形/長方形 21">
            <a:extLst>
              <a:ext uri="{FF2B5EF4-FFF2-40B4-BE49-F238E27FC236}">
                <a16:creationId xmlns:a16="http://schemas.microsoft.com/office/drawing/2014/main" id="{DFD7F375-98A8-421B-96C3-61CBC304EBCB}"/>
              </a:ext>
            </a:extLst>
          </p:cNvPr>
          <p:cNvSpPr>
            <a:spLocks noGrp="1"/>
          </p:cNvSpPr>
          <p:nvPr/>
        </p:nvSpPr>
        <p:spPr>
          <a:xfrm>
            <a:off x="7912100" y="31718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元ガイドに合わせる</a:t>
            </a:r>
          </a:p>
        </p:txBody>
      </p:sp>
      <p:sp>
        <p:nvSpPr>
          <p:cNvPr id="23" name="正方形/長方形 22">
            <a:extLst>
              <a:ext uri="{FF2B5EF4-FFF2-40B4-BE49-F238E27FC236}">
                <a16:creationId xmlns:a16="http://schemas.microsoft.com/office/drawing/2014/main" id="{9A6BD6AC-7E66-4439-AE37-8E85F9F230DD}"/>
              </a:ext>
            </a:extLst>
          </p:cNvPr>
          <p:cNvSpPr>
            <a:spLocks noGrp="1"/>
          </p:cNvSpPr>
          <p:nvPr/>
        </p:nvSpPr>
        <p:spPr>
          <a:xfrm>
            <a:off x="904875" y="3752850"/>
            <a:ext cx="3460750" cy="647700"/>
          </a:xfrm>
          <a:prstGeom prst="rect">
            <a:avLst/>
          </a:prstGeom>
          <a:ln w="9525">
            <a:solidFill>
              <a:srgbClr val="DDE5EF"/>
            </a:solidFill>
            <a:prstDash val="solid"/>
          </a:ln>
        </p:spPr>
      </p:sp>
      <p:sp>
        <p:nvSpPr>
          <p:cNvPr id="24" name="正方形/長方形 23">
            <a:extLst>
              <a:ext uri="{FF2B5EF4-FFF2-40B4-BE49-F238E27FC236}">
                <a16:creationId xmlns:a16="http://schemas.microsoft.com/office/drawing/2014/main" id="{533A3328-5195-4F35-BB57-FA4BDA09F9C3}"/>
              </a:ext>
            </a:extLst>
          </p:cNvPr>
          <p:cNvSpPr>
            <a:spLocks noGrp="1"/>
          </p:cNvSpPr>
          <p:nvPr/>
        </p:nvSpPr>
        <p:spPr>
          <a:xfrm>
            <a:off x="990600" y="38195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POSTGRES_USER</a:t>
            </a:r>
          </a:p>
        </p:txBody>
      </p:sp>
      <p:sp>
        <p:nvSpPr>
          <p:cNvPr id="25" name="正方形/長方形 24">
            <a:extLst>
              <a:ext uri="{FF2B5EF4-FFF2-40B4-BE49-F238E27FC236}">
                <a16:creationId xmlns:a16="http://schemas.microsoft.com/office/drawing/2014/main" id="{FC62A8B4-E837-49D2-B45A-0CDC2E35D923}"/>
              </a:ext>
            </a:extLst>
          </p:cNvPr>
          <p:cNvSpPr>
            <a:spLocks noGrp="1"/>
          </p:cNvSpPr>
          <p:nvPr/>
        </p:nvSpPr>
        <p:spPr>
          <a:xfrm>
            <a:off x="4365625" y="3752850"/>
            <a:ext cx="3460750" cy="647700"/>
          </a:xfrm>
          <a:prstGeom prst="rect">
            <a:avLst/>
          </a:prstGeom>
          <a:ln w="9525">
            <a:solidFill>
              <a:srgbClr val="DDE5EF"/>
            </a:solidFill>
            <a:prstDash val="solid"/>
          </a:ln>
        </p:spPr>
      </p:sp>
      <p:sp>
        <p:nvSpPr>
          <p:cNvPr id="26" name="正方形/長方形 25">
            <a:extLst>
              <a:ext uri="{FF2B5EF4-FFF2-40B4-BE49-F238E27FC236}">
                <a16:creationId xmlns:a16="http://schemas.microsoft.com/office/drawing/2014/main" id="{608DACDE-3517-46F1-AE27-36258E882E05}"/>
              </a:ext>
            </a:extLst>
          </p:cNvPr>
          <p:cNvSpPr>
            <a:spLocks noGrp="1"/>
          </p:cNvSpPr>
          <p:nvPr/>
        </p:nvSpPr>
        <p:spPr>
          <a:xfrm>
            <a:off x="4451350" y="38195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Managed Identity 名</a:t>
            </a:r>
          </a:p>
        </p:txBody>
      </p:sp>
      <p:sp>
        <p:nvSpPr>
          <p:cNvPr id="27" name="正方形/長方形 26">
            <a:extLst>
              <a:ext uri="{FF2B5EF4-FFF2-40B4-BE49-F238E27FC236}">
                <a16:creationId xmlns:a16="http://schemas.microsoft.com/office/drawing/2014/main" id="{DC51887A-9196-4417-A215-0F00DDC850EF}"/>
              </a:ext>
            </a:extLst>
          </p:cNvPr>
          <p:cNvSpPr>
            <a:spLocks noGrp="1"/>
          </p:cNvSpPr>
          <p:nvPr/>
        </p:nvSpPr>
        <p:spPr>
          <a:xfrm>
            <a:off x="7826375" y="3752850"/>
            <a:ext cx="3460750" cy="647700"/>
          </a:xfrm>
          <a:prstGeom prst="rect">
            <a:avLst/>
          </a:prstGeom>
          <a:ln w="9525">
            <a:solidFill>
              <a:srgbClr val="DDE5EF"/>
            </a:solidFill>
            <a:prstDash val="solid"/>
          </a:ln>
        </p:spPr>
      </p:sp>
      <p:sp>
        <p:nvSpPr>
          <p:cNvPr id="28" name="正方形/長方形 27">
            <a:extLst>
              <a:ext uri="{FF2B5EF4-FFF2-40B4-BE49-F238E27FC236}">
                <a16:creationId xmlns:a16="http://schemas.microsoft.com/office/drawing/2014/main" id="{2CC7D569-61B4-4A32-8D64-F480FEF9DC87}"/>
              </a:ext>
            </a:extLst>
          </p:cNvPr>
          <p:cNvSpPr>
            <a:spLocks noGrp="1"/>
          </p:cNvSpPr>
          <p:nvPr/>
        </p:nvSpPr>
        <p:spPr>
          <a:xfrm>
            <a:off x="7912100" y="38195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postgres ではない</a:t>
            </a:r>
          </a:p>
        </p:txBody>
      </p:sp>
      <p:sp>
        <p:nvSpPr>
          <p:cNvPr id="29" name="正方形/長方形 28">
            <a:extLst>
              <a:ext uri="{FF2B5EF4-FFF2-40B4-BE49-F238E27FC236}">
                <a16:creationId xmlns:a16="http://schemas.microsoft.com/office/drawing/2014/main" id="{823B6A57-C746-4FE7-A657-B2E35D692EE0}"/>
              </a:ext>
            </a:extLst>
          </p:cNvPr>
          <p:cNvSpPr>
            <a:spLocks noGrp="1"/>
          </p:cNvSpPr>
          <p:nvPr/>
        </p:nvSpPr>
        <p:spPr>
          <a:xfrm>
            <a:off x="904875" y="4400550"/>
            <a:ext cx="3460750" cy="647700"/>
          </a:xfrm>
          <a:prstGeom prst="rect">
            <a:avLst/>
          </a:prstGeom>
          <a:ln w="9525">
            <a:solidFill>
              <a:srgbClr val="DDE5EF"/>
            </a:solidFill>
            <a:prstDash val="solid"/>
          </a:ln>
        </p:spPr>
      </p:sp>
      <p:sp>
        <p:nvSpPr>
          <p:cNvPr id="30" name="正方形/長方形 29">
            <a:extLst>
              <a:ext uri="{FF2B5EF4-FFF2-40B4-BE49-F238E27FC236}">
                <a16:creationId xmlns:a16="http://schemas.microsoft.com/office/drawing/2014/main" id="{F429D3FE-A7A6-4640-A5E6-39C890FB34BB}"/>
              </a:ext>
            </a:extLst>
          </p:cNvPr>
          <p:cNvSpPr>
            <a:spLocks noGrp="1"/>
          </p:cNvSpPr>
          <p:nvPr/>
        </p:nvSpPr>
        <p:spPr>
          <a:xfrm>
            <a:off x="990600" y="44672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DATABASE_TYPE</a:t>
            </a:r>
          </a:p>
        </p:txBody>
      </p:sp>
      <p:sp>
        <p:nvSpPr>
          <p:cNvPr id="31" name="正方形/長方形 30">
            <a:extLst>
              <a:ext uri="{FF2B5EF4-FFF2-40B4-BE49-F238E27FC236}">
                <a16:creationId xmlns:a16="http://schemas.microsoft.com/office/drawing/2014/main" id="{A995A335-A8BB-47F5-8C13-69D98FCEBA24}"/>
              </a:ext>
            </a:extLst>
          </p:cNvPr>
          <p:cNvSpPr>
            <a:spLocks noGrp="1"/>
          </p:cNvSpPr>
          <p:nvPr/>
        </p:nvSpPr>
        <p:spPr>
          <a:xfrm>
            <a:off x="4365625" y="4400550"/>
            <a:ext cx="3460750" cy="647700"/>
          </a:xfrm>
          <a:prstGeom prst="rect">
            <a:avLst/>
          </a:prstGeom>
          <a:ln w="9525">
            <a:solidFill>
              <a:srgbClr val="DDE5EF"/>
            </a:solidFill>
            <a:prstDash val="solid"/>
          </a:ln>
        </p:spPr>
      </p:sp>
      <p:sp>
        <p:nvSpPr>
          <p:cNvPr id="32" name="正方形/長方形 31">
            <a:extLst>
              <a:ext uri="{FF2B5EF4-FFF2-40B4-BE49-F238E27FC236}">
                <a16:creationId xmlns:a16="http://schemas.microsoft.com/office/drawing/2014/main" id="{3FF9E53C-A566-4B37-BCB4-B88AA034F203}"/>
              </a:ext>
            </a:extLst>
          </p:cNvPr>
          <p:cNvSpPr>
            <a:spLocks noGrp="1"/>
          </p:cNvSpPr>
          <p:nvPr/>
        </p:nvSpPr>
        <p:spPr>
          <a:xfrm>
            <a:off x="4451350" y="44672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postgresql</a:t>
            </a:r>
          </a:p>
        </p:txBody>
      </p:sp>
      <p:sp>
        <p:nvSpPr>
          <p:cNvPr id="33" name="正方形/長方形 32">
            <a:extLst>
              <a:ext uri="{FF2B5EF4-FFF2-40B4-BE49-F238E27FC236}">
                <a16:creationId xmlns:a16="http://schemas.microsoft.com/office/drawing/2014/main" id="{7FFDAB7E-41AB-44C3-AF5E-BC7FC5EEA12C}"/>
              </a:ext>
            </a:extLst>
          </p:cNvPr>
          <p:cNvSpPr>
            <a:spLocks noGrp="1"/>
          </p:cNvSpPr>
          <p:nvPr/>
        </p:nvSpPr>
        <p:spPr>
          <a:xfrm>
            <a:off x="7826375" y="4400550"/>
            <a:ext cx="3460750" cy="647700"/>
          </a:xfrm>
          <a:prstGeom prst="rect">
            <a:avLst/>
          </a:prstGeom>
          <a:ln w="9525">
            <a:solidFill>
              <a:srgbClr val="DDE5EF"/>
            </a:solidFill>
            <a:prstDash val="solid"/>
          </a:ln>
        </p:spPr>
      </p:sp>
      <p:sp>
        <p:nvSpPr>
          <p:cNvPr id="34" name="正方形/長方形 33">
            <a:extLst>
              <a:ext uri="{FF2B5EF4-FFF2-40B4-BE49-F238E27FC236}">
                <a16:creationId xmlns:a16="http://schemas.microsoft.com/office/drawing/2014/main" id="{F840BF59-5684-431F-AA25-9D792F0F5D8D}"/>
              </a:ext>
            </a:extLst>
          </p:cNvPr>
          <p:cNvSpPr>
            <a:spLocks noGrp="1"/>
          </p:cNvSpPr>
          <p:nvPr/>
        </p:nvSpPr>
        <p:spPr>
          <a:xfrm>
            <a:off x="7912100" y="44672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固定値</a:t>
            </a:r>
          </a:p>
        </p:txBody>
      </p:sp>
      <p:sp>
        <p:nvSpPr>
          <p:cNvPr id="35" name="正方形/長方形 34">
            <a:extLst>
              <a:ext uri="{FF2B5EF4-FFF2-40B4-BE49-F238E27FC236}">
                <a16:creationId xmlns:a16="http://schemas.microsoft.com/office/drawing/2014/main" id="{5A54EEE1-54A2-45DB-9754-31240D0C93F8}"/>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正方形/長方形 41">
            <a:extLst>
              <a:ext uri="{FF2B5EF4-FFF2-40B4-BE49-F238E27FC236}">
                <a16:creationId xmlns:a16="http://schemas.microsoft.com/office/drawing/2014/main" id="{E2461D4D-0ADE-4323-9912-3B81F35D514A}"/>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Entra ID と URL の変数</a:t>
            </a:r>
          </a:p>
        </p:txBody>
      </p:sp>
      <p:sp>
        <p:nvSpPr>
          <p:cNvPr id="2" name="正方形/長方形 1">
            <a:extLst>
              <a:ext uri="{FF2B5EF4-FFF2-40B4-BE49-F238E27FC236}">
                <a16:creationId xmlns:a16="http://schemas.microsoft.com/office/drawing/2014/main" id="{899ABDDE-EEDA-4A80-B662-A450C36AD991}"/>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22 / 48</a:t>
            </a:r>
          </a:p>
        </p:txBody>
      </p:sp>
      <p:sp>
        <p:nvSpPr>
          <p:cNvPr id="3" name="正方形/長方形 2">
            <a:extLst>
              <a:ext uri="{FF2B5EF4-FFF2-40B4-BE49-F238E27FC236}">
                <a16:creationId xmlns:a16="http://schemas.microsoft.com/office/drawing/2014/main" id="{8F96BB54-050F-4943-BE21-58511B77E318}"/>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7BE70C74-57D7-40BB-8A86-53C057576D16}"/>
              </a:ext>
            </a:extLst>
          </p:cNvPr>
          <p:cNvSpPr>
            <a:spLocks noGrp="1"/>
          </p:cNvSpPr>
          <p:nvPr/>
        </p:nvSpPr>
        <p:spPr>
          <a:xfrm>
            <a:off x="666750" y="1162050"/>
            <a:ext cx="10096500" cy="552450"/>
          </a:xfrm>
          <a:prstGeom prst="rect">
            <a:avLst/>
          </a:prstGeom>
          <a:ln w="0">
            <a:solidFill>
              <a:srgbClr val="FFFFFF"/>
            </a:solidFill>
            <a:prstDash val="solid"/>
          </a:ln>
        </p:spPr>
        <p:txBody>
          <a:bodyPr lIns="0" tIns="0" rIns="0" bIns="0" anchor="t"/>
          <a:lstStyle/>
          <a:p>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Web サインインと Web/API 連携では、Entra ID の Client ID、Tenant ID、Web URL、API URL を正しく対応させます。</a:t>
            </a:r>
          </a:p>
        </p:txBody>
      </p:sp>
      <p:sp>
        <p:nvSpPr>
          <p:cNvPr id="5" name="正方形/長方形 4">
            <a:extLst>
              <a:ext uri="{FF2B5EF4-FFF2-40B4-BE49-F238E27FC236}">
                <a16:creationId xmlns:a16="http://schemas.microsoft.com/office/drawing/2014/main" id="{26B76F91-6665-4ABA-B630-4FF1E511F20B}"/>
              </a:ext>
            </a:extLst>
          </p:cNvPr>
          <p:cNvSpPr>
            <a:spLocks noGrp="1"/>
          </p:cNvSpPr>
          <p:nvPr/>
        </p:nvSpPr>
        <p:spPr>
          <a:xfrm>
            <a:off x="904875" y="1809750"/>
            <a:ext cx="3460750" cy="647700"/>
          </a:xfrm>
          <a:prstGeom prst="rect">
            <a:avLst/>
          </a:prstGeom>
          <a:ln w="9525">
            <a:solidFill>
              <a:srgbClr val="C8D7EF"/>
            </a:solidFill>
            <a:prstDash val="solid"/>
          </a:ln>
        </p:spPr>
      </p:sp>
      <p:sp>
        <p:nvSpPr>
          <p:cNvPr id="6" name="正方形/長方形 5">
            <a:extLst>
              <a:ext uri="{FF2B5EF4-FFF2-40B4-BE49-F238E27FC236}">
                <a16:creationId xmlns:a16="http://schemas.microsoft.com/office/drawing/2014/main" id="{12DC4C59-F51F-4C18-B33F-A6E243287546}"/>
              </a:ext>
            </a:extLst>
          </p:cNvPr>
          <p:cNvSpPr>
            <a:spLocks noGrp="1"/>
          </p:cNvSpPr>
          <p:nvPr/>
        </p:nvSpPr>
        <p:spPr>
          <a:xfrm>
            <a:off x="990600" y="1895475"/>
            <a:ext cx="3289300" cy="533400"/>
          </a:xfrm>
          <a:prstGeom prst="rect">
            <a:avLst/>
          </a:prstGeom>
          <a:ln w="0">
            <a:solidFill>
              <a:srgbClr val="FFFFFF"/>
            </a:solidFill>
            <a:prstDash val="solid"/>
          </a:ln>
        </p:spPr>
        <p:txBody>
          <a:bodyPr lIns="0" tIns="0" rIns="0" bIns="0" anchor="ctr"/>
          <a:lstStyle/>
          <a:p>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変数名</a:t>
            </a:r>
          </a:p>
        </p:txBody>
      </p:sp>
      <p:sp>
        <p:nvSpPr>
          <p:cNvPr id="7" name="正方形/長方形 6">
            <a:extLst>
              <a:ext uri="{FF2B5EF4-FFF2-40B4-BE49-F238E27FC236}">
                <a16:creationId xmlns:a16="http://schemas.microsoft.com/office/drawing/2014/main" id="{0E1D2F39-12F4-4D22-8FFB-A31472F00BB1}"/>
              </a:ext>
            </a:extLst>
          </p:cNvPr>
          <p:cNvSpPr>
            <a:spLocks noGrp="1"/>
          </p:cNvSpPr>
          <p:nvPr/>
        </p:nvSpPr>
        <p:spPr>
          <a:xfrm>
            <a:off x="4365625" y="1809750"/>
            <a:ext cx="3460750" cy="647700"/>
          </a:xfrm>
          <a:prstGeom prst="rect">
            <a:avLst/>
          </a:prstGeom>
          <a:ln w="9525">
            <a:solidFill>
              <a:srgbClr val="C8D7EF"/>
            </a:solidFill>
            <a:prstDash val="solid"/>
          </a:ln>
        </p:spPr>
      </p:sp>
      <p:sp>
        <p:nvSpPr>
          <p:cNvPr id="8" name="正方形/長方形 7">
            <a:extLst>
              <a:ext uri="{FF2B5EF4-FFF2-40B4-BE49-F238E27FC236}">
                <a16:creationId xmlns:a16="http://schemas.microsoft.com/office/drawing/2014/main" id="{371021D2-7A94-4A9F-AA35-117E82007EA1}"/>
              </a:ext>
            </a:extLst>
          </p:cNvPr>
          <p:cNvSpPr>
            <a:spLocks noGrp="1"/>
          </p:cNvSpPr>
          <p:nvPr/>
        </p:nvSpPr>
        <p:spPr>
          <a:xfrm>
            <a:off x="4451350" y="1895475"/>
            <a:ext cx="3289300" cy="533400"/>
          </a:xfrm>
          <a:prstGeom prst="rect">
            <a:avLst/>
          </a:prstGeom>
          <a:ln w="0">
            <a:solidFill>
              <a:srgbClr val="FFFFFF"/>
            </a:solidFill>
            <a:prstDash val="solid"/>
          </a:ln>
        </p:spPr>
        <p:txBody>
          <a:bodyPr lIns="0" tIns="0" rIns="0" bIns="0" anchor="ctr"/>
          <a:lstStyle/>
          <a:p>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値</a:t>
            </a:r>
          </a:p>
        </p:txBody>
      </p:sp>
      <p:sp>
        <p:nvSpPr>
          <p:cNvPr id="9" name="正方形/長方形 8">
            <a:extLst>
              <a:ext uri="{FF2B5EF4-FFF2-40B4-BE49-F238E27FC236}">
                <a16:creationId xmlns:a16="http://schemas.microsoft.com/office/drawing/2014/main" id="{FA203C91-994E-41FA-9412-6C22266FD869}"/>
              </a:ext>
            </a:extLst>
          </p:cNvPr>
          <p:cNvSpPr>
            <a:spLocks noGrp="1"/>
          </p:cNvSpPr>
          <p:nvPr/>
        </p:nvSpPr>
        <p:spPr>
          <a:xfrm>
            <a:off x="7826375" y="1809750"/>
            <a:ext cx="3460750" cy="647700"/>
          </a:xfrm>
          <a:prstGeom prst="rect">
            <a:avLst/>
          </a:prstGeom>
          <a:ln w="9525">
            <a:solidFill>
              <a:srgbClr val="C8D7EF"/>
            </a:solidFill>
            <a:prstDash val="solid"/>
          </a:ln>
        </p:spPr>
      </p:sp>
      <p:sp>
        <p:nvSpPr>
          <p:cNvPr id="10" name="正方形/長方形 9">
            <a:extLst>
              <a:ext uri="{FF2B5EF4-FFF2-40B4-BE49-F238E27FC236}">
                <a16:creationId xmlns:a16="http://schemas.microsoft.com/office/drawing/2014/main" id="{10B98D80-9007-4AF7-BFDB-8A2D2D608A80}"/>
              </a:ext>
            </a:extLst>
          </p:cNvPr>
          <p:cNvSpPr>
            <a:spLocks noGrp="1"/>
          </p:cNvSpPr>
          <p:nvPr/>
        </p:nvSpPr>
        <p:spPr>
          <a:xfrm>
            <a:off x="7912100" y="1895475"/>
            <a:ext cx="3289300" cy="533400"/>
          </a:xfrm>
          <a:prstGeom prst="rect">
            <a:avLst/>
          </a:prstGeom>
          <a:ln w="0">
            <a:solidFill>
              <a:srgbClr val="FFFFFF"/>
            </a:solidFill>
            <a:prstDash val="solid"/>
          </a:ln>
        </p:spPr>
        <p:txBody>
          <a:bodyPr lIns="0" tIns="0" rIns="0" bIns="0" anchor="ctr"/>
          <a:lstStyle/>
          <a:p>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注意</a:t>
            </a:r>
          </a:p>
        </p:txBody>
      </p:sp>
      <p:sp>
        <p:nvSpPr>
          <p:cNvPr id="11" name="正方形/長方形 10">
            <a:extLst>
              <a:ext uri="{FF2B5EF4-FFF2-40B4-BE49-F238E27FC236}">
                <a16:creationId xmlns:a16="http://schemas.microsoft.com/office/drawing/2014/main" id="{1366B63D-7A57-4EC0-B8B9-476EB310B888}"/>
              </a:ext>
            </a:extLst>
          </p:cNvPr>
          <p:cNvSpPr>
            <a:spLocks noGrp="1"/>
          </p:cNvSpPr>
          <p:nvPr/>
        </p:nvSpPr>
        <p:spPr>
          <a:xfrm>
            <a:off x="904875" y="2457450"/>
            <a:ext cx="3460750" cy="647700"/>
          </a:xfrm>
          <a:prstGeom prst="rect">
            <a:avLst/>
          </a:prstGeom>
          <a:ln w="9525">
            <a:solidFill>
              <a:srgbClr val="DDE5EF"/>
            </a:solidFill>
            <a:prstDash val="solid"/>
          </a:ln>
        </p:spPr>
      </p:sp>
      <p:sp>
        <p:nvSpPr>
          <p:cNvPr id="12" name="正方形/長方形 11">
            <a:extLst>
              <a:ext uri="{FF2B5EF4-FFF2-40B4-BE49-F238E27FC236}">
                <a16:creationId xmlns:a16="http://schemas.microsoft.com/office/drawing/2014/main" id="{CBF3AE92-E87C-4609-9A65-13BA7711395A}"/>
              </a:ext>
            </a:extLst>
          </p:cNvPr>
          <p:cNvSpPr>
            <a:spLocks noGrp="1"/>
          </p:cNvSpPr>
          <p:nvPr/>
        </p:nvSpPr>
        <p:spPr>
          <a:xfrm>
            <a:off x="990600" y="25241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AZURE_CLIENT_ID</a:t>
            </a:r>
          </a:p>
        </p:txBody>
      </p:sp>
      <p:sp>
        <p:nvSpPr>
          <p:cNvPr id="13" name="正方形/長方形 12">
            <a:extLst>
              <a:ext uri="{FF2B5EF4-FFF2-40B4-BE49-F238E27FC236}">
                <a16:creationId xmlns:a16="http://schemas.microsoft.com/office/drawing/2014/main" id="{00467616-1B10-4A78-8A7C-F959F9819F9F}"/>
              </a:ext>
            </a:extLst>
          </p:cNvPr>
          <p:cNvSpPr>
            <a:spLocks noGrp="1"/>
          </p:cNvSpPr>
          <p:nvPr/>
        </p:nvSpPr>
        <p:spPr>
          <a:xfrm>
            <a:off x="4365625" y="2457450"/>
            <a:ext cx="3460750" cy="647700"/>
          </a:xfrm>
          <a:prstGeom prst="rect">
            <a:avLst/>
          </a:prstGeom>
          <a:ln w="9525">
            <a:solidFill>
              <a:srgbClr val="DDE5EF"/>
            </a:solidFill>
            <a:prstDash val="solid"/>
          </a:ln>
        </p:spPr>
      </p:sp>
      <p:sp>
        <p:nvSpPr>
          <p:cNvPr id="14" name="正方形/長方形 13">
            <a:extLst>
              <a:ext uri="{FF2B5EF4-FFF2-40B4-BE49-F238E27FC236}">
                <a16:creationId xmlns:a16="http://schemas.microsoft.com/office/drawing/2014/main" id="{CD0B4D71-6221-4FA5-A1BD-92C2E9DF4024}"/>
              </a:ext>
            </a:extLst>
          </p:cNvPr>
          <p:cNvSpPr>
            <a:spLocks noGrp="1"/>
          </p:cNvSpPr>
          <p:nvPr/>
        </p:nvSpPr>
        <p:spPr>
          <a:xfrm>
            <a:off x="4451350" y="2524125"/>
            <a:ext cx="3289300" cy="533400"/>
          </a:xfrm>
          <a:prstGeom prst="rect">
            <a:avLst/>
          </a:prstGeom>
          <a:ln w="0">
            <a:solidFill>
              <a:srgbClr val="FFFFFF"/>
            </a:solidFill>
            <a:prstDash val="solid"/>
          </a:ln>
        </p:spPr>
        <p:txBody>
          <a:bodyPr lIns="0" tIns="0" rIns="0" bIns="0" anchor="ctr"/>
          <a:lstStyle/>
          <a:p>
            <a:pPr algn="l">
              <a:defRPr sz="938" b="0">
                <a:solidFill>
                  <a:srgbClr val="1F2937"/>
                </a:solidFill>
                <a:latin typeface="Yu Gothic"/>
                <a:ea typeface="Yu Gothic"/>
                <a:cs typeface="Yu Gothic"/>
              </a:defRPr>
            </a:pPr>
            <a:r>
              <a:rPr sz="938" b="0">
                <a:solidFill>
                  <a:srgbClr val="1F2937"/>
                </a:solidFill>
                <a:latin typeface="Yu Gothic"/>
                <a:ea typeface="Yu Gothic"/>
                <a:cs typeface="Yu Gothic"/>
              </a:rPr>
              <a:t>Web サインイン用 App registration の Client ID</a:t>
            </a:r>
          </a:p>
        </p:txBody>
      </p:sp>
      <p:sp>
        <p:nvSpPr>
          <p:cNvPr id="15" name="正方形/長方形 14">
            <a:extLst>
              <a:ext uri="{FF2B5EF4-FFF2-40B4-BE49-F238E27FC236}">
                <a16:creationId xmlns:a16="http://schemas.microsoft.com/office/drawing/2014/main" id="{5F062C69-779A-485C-9B71-D8D2072185FA}"/>
              </a:ext>
            </a:extLst>
          </p:cNvPr>
          <p:cNvSpPr>
            <a:spLocks noGrp="1"/>
          </p:cNvSpPr>
          <p:nvPr/>
        </p:nvSpPr>
        <p:spPr>
          <a:xfrm>
            <a:off x="7826375" y="2457450"/>
            <a:ext cx="3460750" cy="647700"/>
          </a:xfrm>
          <a:prstGeom prst="rect">
            <a:avLst/>
          </a:prstGeom>
          <a:ln w="9525">
            <a:solidFill>
              <a:srgbClr val="DDE5EF"/>
            </a:solidFill>
            <a:prstDash val="solid"/>
          </a:ln>
        </p:spPr>
      </p:sp>
      <p:sp>
        <p:nvSpPr>
          <p:cNvPr id="16" name="正方形/長方形 15">
            <a:extLst>
              <a:ext uri="{FF2B5EF4-FFF2-40B4-BE49-F238E27FC236}">
                <a16:creationId xmlns:a16="http://schemas.microsoft.com/office/drawing/2014/main" id="{46EB440A-C920-4D08-86E1-A9343DA73692}"/>
              </a:ext>
            </a:extLst>
          </p:cNvPr>
          <p:cNvSpPr>
            <a:spLocks noGrp="1"/>
          </p:cNvSpPr>
          <p:nvPr/>
        </p:nvSpPr>
        <p:spPr>
          <a:xfrm>
            <a:off x="7912100" y="25241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GitHub Actions 用 SP ではない</a:t>
            </a:r>
          </a:p>
        </p:txBody>
      </p:sp>
      <p:sp>
        <p:nvSpPr>
          <p:cNvPr id="17" name="正方形/長方形 16">
            <a:extLst>
              <a:ext uri="{FF2B5EF4-FFF2-40B4-BE49-F238E27FC236}">
                <a16:creationId xmlns:a16="http://schemas.microsoft.com/office/drawing/2014/main" id="{C5F89BA6-5AB0-4E0F-8C6D-C4ECB94EE2E1}"/>
              </a:ext>
            </a:extLst>
          </p:cNvPr>
          <p:cNvSpPr>
            <a:spLocks noGrp="1"/>
          </p:cNvSpPr>
          <p:nvPr/>
        </p:nvSpPr>
        <p:spPr>
          <a:xfrm>
            <a:off x="904875" y="3105150"/>
            <a:ext cx="3460750" cy="647700"/>
          </a:xfrm>
          <a:prstGeom prst="rect">
            <a:avLst/>
          </a:prstGeom>
          <a:ln w="9525">
            <a:solidFill>
              <a:srgbClr val="DDE5EF"/>
            </a:solidFill>
            <a:prstDash val="solid"/>
          </a:ln>
        </p:spPr>
      </p:sp>
      <p:sp>
        <p:nvSpPr>
          <p:cNvPr id="18" name="正方形/長方形 17">
            <a:extLst>
              <a:ext uri="{FF2B5EF4-FFF2-40B4-BE49-F238E27FC236}">
                <a16:creationId xmlns:a16="http://schemas.microsoft.com/office/drawing/2014/main" id="{49639A5C-6744-4EFE-9CA7-1BD4B76E3C4A}"/>
              </a:ext>
            </a:extLst>
          </p:cNvPr>
          <p:cNvSpPr>
            <a:spLocks noGrp="1"/>
          </p:cNvSpPr>
          <p:nvPr/>
        </p:nvSpPr>
        <p:spPr>
          <a:xfrm>
            <a:off x="990600" y="31718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AZURE_TENANT_ID</a:t>
            </a:r>
          </a:p>
        </p:txBody>
      </p:sp>
      <p:sp>
        <p:nvSpPr>
          <p:cNvPr id="19" name="正方形/長方形 18">
            <a:extLst>
              <a:ext uri="{FF2B5EF4-FFF2-40B4-BE49-F238E27FC236}">
                <a16:creationId xmlns:a16="http://schemas.microsoft.com/office/drawing/2014/main" id="{8A7C35B4-8953-4710-B726-FF3548347CD6}"/>
              </a:ext>
            </a:extLst>
          </p:cNvPr>
          <p:cNvSpPr>
            <a:spLocks noGrp="1"/>
          </p:cNvSpPr>
          <p:nvPr/>
        </p:nvSpPr>
        <p:spPr>
          <a:xfrm>
            <a:off x="4365625" y="3105150"/>
            <a:ext cx="3460750" cy="647700"/>
          </a:xfrm>
          <a:prstGeom prst="rect">
            <a:avLst/>
          </a:prstGeom>
          <a:ln w="9525">
            <a:solidFill>
              <a:srgbClr val="DDE5EF"/>
            </a:solidFill>
            <a:prstDash val="solid"/>
          </a:ln>
        </p:spPr>
      </p:sp>
      <p:sp>
        <p:nvSpPr>
          <p:cNvPr id="20" name="正方形/長方形 19">
            <a:extLst>
              <a:ext uri="{FF2B5EF4-FFF2-40B4-BE49-F238E27FC236}">
                <a16:creationId xmlns:a16="http://schemas.microsoft.com/office/drawing/2014/main" id="{C998D82D-8924-44BA-A090-20A77F425570}"/>
              </a:ext>
            </a:extLst>
          </p:cNvPr>
          <p:cNvSpPr>
            <a:spLocks noGrp="1"/>
          </p:cNvSpPr>
          <p:nvPr/>
        </p:nvSpPr>
        <p:spPr>
          <a:xfrm>
            <a:off x="4451350" y="31718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Tenant ID</a:t>
            </a:r>
          </a:p>
        </p:txBody>
      </p:sp>
      <p:sp>
        <p:nvSpPr>
          <p:cNvPr id="21" name="正方形/長方形 20">
            <a:extLst>
              <a:ext uri="{FF2B5EF4-FFF2-40B4-BE49-F238E27FC236}">
                <a16:creationId xmlns:a16="http://schemas.microsoft.com/office/drawing/2014/main" id="{C261FEE9-1C5D-405E-AB64-1AD3B256A177}"/>
              </a:ext>
            </a:extLst>
          </p:cNvPr>
          <p:cNvSpPr>
            <a:spLocks noGrp="1"/>
          </p:cNvSpPr>
          <p:nvPr/>
        </p:nvSpPr>
        <p:spPr>
          <a:xfrm>
            <a:off x="7826375" y="3105150"/>
            <a:ext cx="3460750" cy="647700"/>
          </a:xfrm>
          <a:prstGeom prst="rect">
            <a:avLst/>
          </a:prstGeom>
          <a:ln w="9525">
            <a:solidFill>
              <a:srgbClr val="DDE5EF"/>
            </a:solidFill>
            <a:prstDash val="solid"/>
          </a:ln>
        </p:spPr>
      </p:sp>
      <p:sp>
        <p:nvSpPr>
          <p:cNvPr id="22" name="正方形/長方形 21">
            <a:extLst>
              <a:ext uri="{FF2B5EF4-FFF2-40B4-BE49-F238E27FC236}">
                <a16:creationId xmlns:a16="http://schemas.microsoft.com/office/drawing/2014/main" id="{FA24E136-9828-4FA9-9BE5-F3F07234F3FC}"/>
              </a:ext>
            </a:extLst>
          </p:cNvPr>
          <p:cNvSpPr>
            <a:spLocks noGrp="1"/>
          </p:cNvSpPr>
          <p:nvPr/>
        </p:nvSpPr>
        <p:spPr>
          <a:xfrm>
            <a:off x="7912100" y="31718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公開時はマスク</a:t>
            </a:r>
          </a:p>
        </p:txBody>
      </p:sp>
      <p:sp>
        <p:nvSpPr>
          <p:cNvPr id="23" name="正方形/長方形 22">
            <a:extLst>
              <a:ext uri="{FF2B5EF4-FFF2-40B4-BE49-F238E27FC236}">
                <a16:creationId xmlns:a16="http://schemas.microsoft.com/office/drawing/2014/main" id="{84B6BA11-D0CC-417F-A87C-763DE43D2F79}"/>
              </a:ext>
            </a:extLst>
          </p:cNvPr>
          <p:cNvSpPr>
            <a:spLocks noGrp="1"/>
          </p:cNvSpPr>
          <p:nvPr/>
        </p:nvSpPr>
        <p:spPr>
          <a:xfrm>
            <a:off x="904875" y="3752850"/>
            <a:ext cx="3460750" cy="647700"/>
          </a:xfrm>
          <a:prstGeom prst="rect">
            <a:avLst/>
          </a:prstGeom>
          <a:ln w="9525">
            <a:solidFill>
              <a:srgbClr val="DDE5EF"/>
            </a:solidFill>
            <a:prstDash val="solid"/>
          </a:ln>
        </p:spPr>
      </p:sp>
      <p:sp>
        <p:nvSpPr>
          <p:cNvPr id="24" name="正方形/長方形 23">
            <a:extLst>
              <a:ext uri="{FF2B5EF4-FFF2-40B4-BE49-F238E27FC236}">
                <a16:creationId xmlns:a16="http://schemas.microsoft.com/office/drawing/2014/main" id="{560B0A7B-CDCA-454F-B9F7-9BB5D87DAEC8}"/>
              </a:ext>
            </a:extLst>
          </p:cNvPr>
          <p:cNvSpPr>
            <a:spLocks noGrp="1"/>
          </p:cNvSpPr>
          <p:nvPr/>
        </p:nvSpPr>
        <p:spPr>
          <a:xfrm>
            <a:off x="990600" y="3819525"/>
            <a:ext cx="3289300" cy="533400"/>
          </a:xfrm>
          <a:prstGeom prst="rect">
            <a:avLst/>
          </a:prstGeom>
          <a:ln w="0">
            <a:solidFill>
              <a:srgbClr val="FFFFFF"/>
            </a:solidFill>
            <a:prstDash val="solid"/>
          </a:ln>
        </p:spPr>
        <p:txBody>
          <a:bodyPr lIns="0" tIns="0" rIns="0" bIns="0" anchor="ctr"/>
          <a:lstStyle/>
          <a:p>
            <a:pPr algn="l">
              <a:defRPr sz="938" b="0">
                <a:solidFill>
                  <a:srgbClr val="1F2937"/>
                </a:solidFill>
                <a:latin typeface="Yu Gothic"/>
                <a:ea typeface="Yu Gothic"/>
                <a:cs typeface="Yu Gothic"/>
              </a:defRPr>
            </a:pPr>
            <a:r>
              <a:rPr sz="938" b="0">
                <a:solidFill>
                  <a:srgbClr val="1F2937"/>
                </a:solidFill>
                <a:latin typeface="Yu Gothic"/>
                <a:ea typeface="Yu Gothic"/>
                <a:cs typeface="Yu Gothic"/>
              </a:rPr>
              <a:t>USER_ASSIGNED_IDENTITY_CLIENT_ID</a:t>
            </a:r>
          </a:p>
        </p:txBody>
      </p:sp>
      <p:sp>
        <p:nvSpPr>
          <p:cNvPr id="25" name="正方形/長方形 24">
            <a:extLst>
              <a:ext uri="{FF2B5EF4-FFF2-40B4-BE49-F238E27FC236}">
                <a16:creationId xmlns:a16="http://schemas.microsoft.com/office/drawing/2014/main" id="{3C329CF1-743D-4BC9-BD11-2658772CC87C}"/>
              </a:ext>
            </a:extLst>
          </p:cNvPr>
          <p:cNvSpPr>
            <a:spLocks noGrp="1"/>
          </p:cNvSpPr>
          <p:nvPr/>
        </p:nvSpPr>
        <p:spPr>
          <a:xfrm>
            <a:off x="4365625" y="3752850"/>
            <a:ext cx="3460750" cy="647700"/>
          </a:xfrm>
          <a:prstGeom prst="rect">
            <a:avLst/>
          </a:prstGeom>
          <a:ln w="9525">
            <a:solidFill>
              <a:srgbClr val="DDE5EF"/>
            </a:solidFill>
            <a:prstDash val="solid"/>
          </a:ln>
        </p:spPr>
      </p:sp>
      <p:sp>
        <p:nvSpPr>
          <p:cNvPr id="26" name="正方形/長方形 25">
            <a:extLst>
              <a:ext uri="{FF2B5EF4-FFF2-40B4-BE49-F238E27FC236}">
                <a16:creationId xmlns:a16="http://schemas.microsoft.com/office/drawing/2014/main" id="{995D26EE-D8A3-4DE1-807F-532B8C6F58E9}"/>
              </a:ext>
            </a:extLst>
          </p:cNvPr>
          <p:cNvSpPr>
            <a:spLocks noGrp="1"/>
          </p:cNvSpPr>
          <p:nvPr/>
        </p:nvSpPr>
        <p:spPr>
          <a:xfrm>
            <a:off x="4451350" y="38195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Managed Identity client ID</a:t>
            </a:r>
          </a:p>
        </p:txBody>
      </p:sp>
      <p:sp>
        <p:nvSpPr>
          <p:cNvPr id="27" name="正方形/長方形 26">
            <a:extLst>
              <a:ext uri="{FF2B5EF4-FFF2-40B4-BE49-F238E27FC236}">
                <a16:creationId xmlns:a16="http://schemas.microsoft.com/office/drawing/2014/main" id="{DAE5C647-8E3E-457F-8A2F-B49CDD6CE979}"/>
              </a:ext>
            </a:extLst>
          </p:cNvPr>
          <p:cNvSpPr>
            <a:spLocks noGrp="1"/>
          </p:cNvSpPr>
          <p:nvPr/>
        </p:nvSpPr>
        <p:spPr>
          <a:xfrm>
            <a:off x="7826375" y="3752850"/>
            <a:ext cx="3460750" cy="647700"/>
          </a:xfrm>
          <a:prstGeom prst="rect">
            <a:avLst/>
          </a:prstGeom>
          <a:ln w="9525">
            <a:solidFill>
              <a:srgbClr val="DDE5EF"/>
            </a:solidFill>
            <a:prstDash val="solid"/>
          </a:ln>
        </p:spPr>
      </p:sp>
      <p:sp>
        <p:nvSpPr>
          <p:cNvPr id="28" name="正方形/長方形 27">
            <a:extLst>
              <a:ext uri="{FF2B5EF4-FFF2-40B4-BE49-F238E27FC236}">
                <a16:creationId xmlns:a16="http://schemas.microsoft.com/office/drawing/2014/main" id="{E5FC1459-3EC6-42C1-A501-515C7A030839}"/>
              </a:ext>
            </a:extLst>
          </p:cNvPr>
          <p:cNvSpPr>
            <a:spLocks noGrp="1"/>
          </p:cNvSpPr>
          <p:nvPr/>
        </p:nvSpPr>
        <p:spPr>
          <a:xfrm>
            <a:off x="7912100" y="38195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公開時はマスク</a:t>
            </a:r>
          </a:p>
        </p:txBody>
      </p:sp>
      <p:sp>
        <p:nvSpPr>
          <p:cNvPr id="29" name="正方形/長方形 28">
            <a:extLst>
              <a:ext uri="{FF2B5EF4-FFF2-40B4-BE49-F238E27FC236}">
                <a16:creationId xmlns:a16="http://schemas.microsoft.com/office/drawing/2014/main" id="{AEF1E247-DF07-4E00-83D3-D8A17641FF77}"/>
              </a:ext>
            </a:extLst>
          </p:cNvPr>
          <p:cNvSpPr>
            <a:spLocks noGrp="1"/>
          </p:cNvSpPr>
          <p:nvPr/>
        </p:nvSpPr>
        <p:spPr>
          <a:xfrm>
            <a:off x="904875" y="4400550"/>
            <a:ext cx="3460750" cy="647700"/>
          </a:xfrm>
          <a:prstGeom prst="rect">
            <a:avLst/>
          </a:prstGeom>
          <a:ln w="9525">
            <a:solidFill>
              <a:srgbClr val="DDE5EF"/>
            </a:solidFill>
            <a:prstDash val="solid"/>
          </a:ln>
        </p:spPr>
      </p:sp>
      <p:sp>
        <p:nvSpPr>
          <p:cNvPr id="30" name="正方形/長方形 29">
            <a:extLst>
              <a:ext uri="{FF2B5EF4-FFF2-40B4-BE49-F238E27FC236}">
                <a16:creationId xmlns:a16="http://schemas.microsoft.com/office/drawing/2014/main" id="{8BFE2529-6365-46B1-850A-5B65FE2BDBB5}"/>
              </a:ext>
            </a:extLst>
          </p:cNvPr>
          <p:cNvSpPr>
            <a:spLocks noGrp="1"/>
          </p:cNvSpPr>
          <p:nvPr/>
        </p:nvSpPr>
        <p:spPr>
          <a:xfrm>
            <a:off x="990600" y="44672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AZURE_REDIRECT_URI</a:t>
            </a:r>
          </a:p>
        </p:txBody>
      </p:sp>
      <p:sp>
        <p:nvSpPr>
          <p:cNvPr id="31" name="正方形/長方形 30">
            <a:extLst>
              <a:ext uri="{FF2B5EF4-FFF2-40B4-BE49-F238E27FC236}">
                <a16:creationId xmlns:a16="http://schemas.microsoft.com/office/drawing/2014/main" id="{CBF58BF4-7B53-44EB-9DB6-ADDB1E2C6189}"/>
              </a:ext>
            </a:extLst>
          </p:cNvPr>
          <p:cNvSpPr>
            <a:spLocks noGrp="1"/>
          </p:cNvSpPr>
          <p:nvPr/>
        </p:nvSpPr>
        <p:spPr>
          <a:xfrm>
            <a:off x="4365625" y="4400550"/>
            <a:ext cx="3460750" cy="647700"/>
          </a:xfrm>
          <a:prstGeom prst="rect">
            <a:avLst/>
          </a:prstGeom>
          <a:ln w="9525">
            <a:solidFill>
              <a:srgbClr val="DDE5EF"/>
            </a:solidFill>
            <a:prstDash val="solid"/>
          </a:ln>
        </p:spPr>
      </p:sp>
      <p:sp>
        <p:nvSpPr>
          <p:cNvPr id="32" name="正方形/長方形 31">
            <a:extLst>
              <a:ext uri="{FF2B5EF4-FFF2-40B4-BE49-F238E27FC236}">
                <a16:creationId xmlns:a16="http://schemas.microsoft.com/office/drawing/2014/main" id="{79468291-469F-46BE-8F87-66A11980DDC6}"/>
              </a:ext>
            </a:extLst>
          </p:cNvPr>
          <p:cNvSpPr>
            <a:spLocks noGrp="1"/>
          </p:cNvSpPr>
          <p:nvPr/>
        </p:nvSpPr>
        <p:spPr>
          <a:xfrm>
            <a:off x="4451350" y="44672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Web Container App URL</a:t>
            </a:r>
          </a:p>
        </p:txBody>
      </p:sp>
      <p:sp>
        <p:nvSpPr>
          <p:cNvPr id="33" name="正方形/長方形 32">
            <a:extLst>
              <a:ext uri="{FF2B5EF4-FFF2-40B4-BE49-F238E27FC236}">
                <a16:creationId xmlns:a16="http://schemas.microsoft.com/office/drawing/2014/main" id="{A6C96AAC-4D3E-4BFF-9E2F-A93D142E9551}"/>
              </a:ext>
            </a:extLst>
          </p:cNvPr>
          <p:cNvSpPr>
            <a:spLocks noGrp="1"/>
          </p:cNvSpPr>
          <p:nvPr/>
        </p:nvSpPr>
        <p:spPr>
          <a:xfrm>
            <a:off x="7826375" y="4400550"/>
            <a:ext cx="3460750" cy="647700"/>
          </a:xfrm>
          <a:prstGeom prst="rect">
            <a:avLst/>
          </a:prstGeom>
          <a:ln w="9525">
            <a:solidFill>
              <a:srgbClr val="DDE5EF"/>
            </a:solidFill>
            <a:prstDash val="solid"/>
          </a:ln>
        </p:spPr>
      </p:sp>
      <p:sp>
        <p:nvSpPr>
          <p:cNvPr id="34" name="正方形/長方形 33">
            <a:extLst>
              <a:ext uri="{FF2B5EF4-FFF2-40B4-BE49-F238E27FC236}">
                <a16:creationId xmlns:a16="http://schemas.microsoft.com/office/drawing/2014/main" id="{C59738A6-CEBE-4218-8CE7-18874F5CEDDE}"/>
              </a:ext>
            </a:extLst>
          </p:cNvPr>
          <p:cNvSpPr>
            <a:spLocks noGrp="1"/>
          </p:cNvSpPr>
          <p:nvPr/>
        </p:nvSpPr>
        <p:spPr>
          <a:xfrm>
            <a:off x="7912100" y="44672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/callback は付けない</a:t>
            </a:r>
          </a:p>
        </p:txBody>
      </p:sp>
      <p:sp>
        <p:nvSpPr>
          <p:cNvPr id="35" name="正方形/長方形 34">
            <a:extLst>
              <a:ext uri="{FF2B5EF4-FFF2-40B4-BE49-F238E27FC236}">
                <a16:creationId xmlns:a16="http://schemas.microsoft.com/office/drawing/2014/main" id="{1218926C-40DD-49A6-89FD-EC68AF8768B8}"/>
              </a:ext>
            </a:extLst>
          </p:cNvPr>
          <p:cNvSpPr>
            <a:spLocks noGrp="1"/>
          </p:cNvSpPr>
          <p:nvPr/>
        </p:nvSpPr>
        <p:spPr>
          <a:xfrm>
            <a:off x="904875" y="5048250"/>
            <a:ext cx="3460750" cy="647700"/>
          </a:xfrm>
          <a:prstGeom prst="rect">
            <a:avLst/>
          </a:prstGeom>
          <a:ln w="9525">
            <a:solidFill>
              <a:srgbClr val="DDE5EF"/>
            </a:solidFill>
            <a:prstDash val="solid"/>
          </a:ln>
        </p:spPr>
      </p:sp>
      <p:sp>
        <p:nvSpPr>
          <p:cNvPr id="36" name="正方形/長方形 35">
            <a:extLst>
              <a:ext uri="{FF2B5EF4-FFF2-40B4-BE49-F238E27FC236}">
                <a16:creationId xmlns:a16="http://schemas.microsoft.com/office/drawing/2014/main" id="{3BF6FAC7-B07E-43EA-B46D-EDEB3F53B8C0}"/>
              </a:ext>
            </a:extLst>
          </p:cNvPr>
          <p:cNvSpPr>
            <a:spLocks noGrp="1"/>
          </p:cNvSpPr>
          <p:nvPr/>
        </p:nvSpPr>
        <p:spPr>
          <a:xfrm>
            <a:off x="990600" y="51149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API_PROXY_TARGET</a:t>
            </a:r>
          </a:p>
        </p:txBody>
      </p:sp>
      <p:sp>
        <p:nvSpPr>
          <p:cNvPr id="37" name="正方形/長方形 36">
            <a:extLst>
              <a:ext uri="{FF2B5EF4-FFF2-40B4-BE49-F238E27FC236}">
                <a16:creationId xmlns:a16="http://schemas.microsoft.com/office/drawing/2014/main" id="{D8F56CEC-60E0-4FC2-99B5-0D65F31E8E2C}"/>
              </a:ext>
            </a:extLst>
          </p:cNvPr>
          <p:cNvSpPr>
            <a:spLocks noGrp="1"/>
          </p:cNvSpPr>
          <p:nvPr/>
        </p:nvSpPr>
        <p:spPr>
          <a:xfrm>
            <a:off x="4365625" y="5048250"/>
            <a:ext cx="3460750" cy="647700"/>
          </a:xfrm>
          <a:prstGeom prst="rect">
            <a:avLst/>
          </a:prstGeom>
          <a:ln w="9525">
            <a:solidFill>
              <a:srgbClr val="DDE5EF"/>
            </a:solidFill>
            <a:prstDash val="solid"/>
          </a:ln>
        </p:spPr>
      </p:sp>
      <p:sp>
        <p:nvSpPr>
          <p:cNvPr id="38" name="正方形/長方形 37">
            <a:extLst>
              <a:ext uri="{FF2B5EF4-FFF2-40B4-BE49-F238E27FC236}">
                <a16:creationId xmlns:a16="http://schemas.microsoft.com/office/drawing/2014/main" id="{1551BDC1-64EB-4AAC-A5C6-0FE0C906BC26}"/>
              </a:ext>
            </a:extLst>
          </p:cNvPr>
          <p:cNvSpPr>
            <a:spLocks noGrp="1"/>
          </p:cNvSpPr>
          <p:nvPr/>
        </p:nvSpPr>
        <p:spPr>
          <a:xfrm>
            <a:off x="4451350" y="51149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API Container App URL</a:t>
            </a:r>
          </a:p>
        </p:txBody>
      </p:sp>
      <p:sp>
        <p:nvSpPr>
          <p:cNvPr id="39" name="正方形/長方形 38">
            <a:extLst>
              <a:ext uri="{FF2B5EF4-FFF2-40B4-BE49-F238E27FC236}">
                <a16:creationId xmlns:a16="http://schemas.microsoft.com/office/drawing/2014/main" id="{F6506E5C-C87B-4040-81D1-BB12F165183E}"/>
              </a:ext>
            </a:extLst>
          </p:cNvPr>
          <p:cNvSpPr>
            <a:spLocks noGrp="1"/>
          </p:cNvSpPr>
          <p:nvPr/>
        </p:nvSpPr>
        <p:spPr>
          <a:xfrm>
            <a:off x="7826375" y="5048250"/>
            <a:ext cx="3460750" cy="647700"/>
          </a:xfrm>
          <a:prstGeom prst="rect">
            <a:avLst/>
          </a:prstGeom>
          <a:ln w="9525">
            <a:solidFill>
              <a:srgbClr val="DDE5EF"/>
            </a:solidFill>
            <a:prstDash val="solid"/>
          </a:ln>
        </p:spPr>
      </p:sp>
      <p:sp>
        <p:nvSpPr>
          <p:cNvPr id="40" name="正方形/長方形 39">
            <a:extLst>
              <a:ext uri="{FF2B5EF4-FFF2-40B4-BE49-F238E27FC236}">
                <a16:creationId xmlns:a16="http://schemas.microsoft.com/office/drawing/2014/main" id="{7E4E4839-CCDD-46E0-BA61-5A827FCF0844}"/>
              </a:ext>
            </a:extLst>
          </p:cNvPr>
          <p:cNvSpPr>
            <a:spLocks noGrp="1"/>
          </p:cNvSpPr>
          <p:nvPr/>
        </p:nvSpPr>
        <p:spPr>
          <a:xfrm>
            <a:off x="7912100" y="51149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Web URL と取り違えない</a:t>
            </a:r>
          </a:p>
        </p:txBody>
      </p:sp>
      <p:sp>
        <p:nvSpPr>
          <p:cNvPr id="41" name="正方形/長方形 40">
            <a:extLst>
              <a:ext uri="{FF2B5EF4-FFF2-40B4-BE49-F238E27FC236}">
                <a16:creationId xmlns:a16="http://schemas.microsoft.com/office/drawing/2014/main" id="{923BBF56-A4E6-406B-B86A-7BDF2E159FD6}"/>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324E86EC-43F8-455A-BA20-979D8B933C7B}"/>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ワークフローファイルを確認する</a:t>
            </a:r>
          </a:p>
        </p:txBody>
      </p:sp>
      <p:sp>
        <p:nvSpPr>
          <p:cNvPr id="2" name="正方形/長方形 1">
            <a:extLst>
              <a:ext uri="{FF2B5EF4-FFF2-40B4-BE49-F238E27FC236}">
                <a16:creationId xmlns:a16="http://schemas.microsoft.com/office/drawing/2014/main" id="{E887536E-80A7-461F-9AA7-A2EA92FD1D3E}"/>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23 / 48</a:t>
            </a:r>
          </a:p>
        </p:txBody>
      </p:sp>
      <p:sp>
        <p:nvSpPr>
          <p:cNvPr id="3" name="正方形/長方形 2">
            <a:extLst>
              <a:ext uri="{FF2B5EF4-FFF2-40B4-BE49-F238E27FC236}">
                <a16:creationId xmlns:a16="http://schemas.microsoft.com/office/drawing/2014/main" id="{453AEBC5-1599-4836-95C3-2DE5AFF619E8}"/>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F7668DF8-A1E5-4257-8B89-2FDE79CF7BE2}"/>
              </a:ext>
            </a:extLst>
          </p:cNvPr>
          <p:cNvSpPr>
            <a:spLocks noGrp="1"/>
          </p:cNvSpPr>
          <p:nvPr/>
        </p:nvSpPr>
        <p:spPr>
          <a:xfrm>
            <a:off x="666750" y="1123950"/>
            <a:ext cx="10287000" cy="476250"/>
          </a:xfrm>
          <a:prstGeom prst="rect">
            <a:avLst/>
          </a:prstGeom>
          <a:ln w="0">
            <a:solidFill>
              <a:srgbClr val="FFFFFF"/>
            </a:solidFill>
            <a:prstDash val="solid"/>
          </a:ln>
        </p:spPr>
        <p:txBody>
          <a:bodyPr lIns="0" tIns="0" rIns="0" bIns="0" anchor="t"/>
          <a:lstStyle/>
          <a:p>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テンプレートでは workflow が実行対象になっていない場合があります。API と Web の workflow ファイルを有効化する準備をします。</a:t>
            </a:r>
          </a:p>
        </p:txBody>
      </p:sp>
      <p:sp>
        <p:nvSpPr>
          <p:cNvPr id="5" name="正方形/長方形 4">
            <a:extLst>
              <a:ext uri="{FF2B5EF4-FFF2-40B4-BE49-F238E27FC236}">
                <a16:creationId xmlns:a16="http://schemas.microsoft.com/office/drawing/2014/main" id="{136A7653-8BF1-4DC9-9579-0913460B0741}"/>
              </a:ext>
            </a:extLst>
          </p:cNvPr>
          <p:cNvSpPr>
            <a:spLocks noGrp="1"/>
          </p:cNvSpPr>
          <p:nvPr/>
        </p:nvSpPr>
        <p:spPr>
          <a:xfrm>
            <a:off x="5095875" y="1695450"/>
            <a:ext cx="6286500" cy="4095750"/>
          </a:xfrm>
          <a:prstGeom prst="rect">
            <a:avLst/>
          </a:prstGeom>
          <a:ln w="9525">
            <a:solidFill>
              <a:srgbClr val="CAD5E4"/>
            </a:solidFill>
            <a:prstDash val="solid"/>
          </a:ln>
        </p:spPr>
      </p:sp>
      <p:pic>
        <p:nvPicPr>
          <p:cNvPr id="6" name="図 5"/>
          <p:cNvPicPr>
            <a:picLocks noChangeAspect="1"/>
          </p:cNvPicPr>
          <p:nvPr/>
        </p:nvPicPr>
        <p:blipFill>
          <a:blip r:embed="rId3"/>
          <a:stretch/>
        </p:blipFill>
        <p:spPr>
          <a:xfrm>
            <a:off x="5238750" y="1979758"/>
            <a:ext cx="6000750" cy="3260433"/>
          </a:xfrm>
          <a:prstGeom prst="rect">
            <a:avLst/>
          </a:prstGeom>
        </p:spPr>
      </p:pic>
      <p:sp>
        <p:nvSpPr>
          <p:cNvPr id="7" name="正方形/長方形 6">
            <a:extLst>
              <a:ext uri="{FF2B5EF4-FFF2-40B4-BE49-F238E27FC236}">
                <a16:creationId xmlns:a16="http://schemas.microsoft.com/office/drawing/2014/main" id="{3DB474A6-B96F-468D-AF28-8543AFA4EA77}"/>
              </a:ext>
            </a:extLst>
          </p:cNvPr>
          <p:cNvSpPr>
            <a:spLocks noGrp="1"/>
          </p:cNvSpPr>
          <p:nvPr/>
        </p:nvSpPr>
        <p:spPr>
          <a:xfrm>
            <a:off x="5286375" y="5429250"/>
            <a:ext cx="5905500" cy="228600"/>
          </a:xfrm>
          <a:prstGeom prst="rect">
            <a:avLst/>
          </a:prstGeom>
          <a:ln w="0">
            <a:solidFill>
              <a:srgbClr val="FFFFFF"/>
            </a:solidFill>
            <a:prstDash val="solid"/>
          </a:ln>
        </p:spPr>
        <p:txBody>
          <a:bodyPr lIns="0" tIns="0" rIns="0" bIns="0" anchor="t"/>
          <a:lstStyle/>
          <a:p>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workflow テンプレートファイルを確認する</a:t>
            </a:r>
          </a:p>
        </p:txBody>
      </p:sp>
      <p:sp>
        <p:nvSpPr>
          <p:cNvPr id="8" name="正方形/長方形 7">
            <a:extLst>
              <a:ext uri="{FF2B5EF4-FFF2-40B4-BE49-F238E27FC236}">
                <a16:creationId xmlns:a16="http://schemas.microsoft.com/office/drawing/2014/main" id="{56FB7067-109C-415C-8A50-793CE26C3C78}"/>
              </a:ext>
            </a:extLst>
          </p:cNvPr>
          <p:cNvSpPr>
            <a:spLocks noGrp="1"/>
          </p:cNvSpPr>
          <p:nvPr/>
        </p:nvSpPr>
        <p:spPr>
          <a:xfrm>
            <a:off x="904875" y="2095500"/>
            <a:ext cx="3714750" cy="1952625"/>
          </a:xfrm>
          <a:prstGeom prst="rect">
            <a:avLst/>
          </a:prstGeom>
          <a:ln w="9525">
            <a:solidFill>
              <a:srgbClr val="DBE4EF"/>
            </a:solidFill>
            <a:prstDash val="solid"/>
          </a:ln>
        </p:spPr>
      </p:sp>
      <p:sp>
        <p:nvSpPr>
          <p:cNvPr id="9" name="正方形/長方形 8">
            <a:extLst>
              <a:ext uri="{FF2B5EF4-FFF2-40B4-BE49-F238E27FC236}">
                <a16:creationId xmlns:a16="http://schemas.microsoft.com/office/drawing/2014/main" id="{BCFAC5BC-EAD1-4322-B4C9-ECF5B633DFF5}"/>
              </a:ext>
            </a:extLst>
          </p:cNvPr>
          <p:cNvSpPr>
            <a:spLocks noGrp="1"/>
          </p:cNvSpPr>
          <p:nvPr/>
        </p:nvSpPr>
        <p:spPr>
          <a:xfrm>
            <a:off x="904875" y="2095500"/>
            <a:ext cx="76200" cy="1952625"/>
          </a:xfrm>
          <a:prstGeom prst="rect">
            <a:avLst/>
          </a:prstGeom>
          <a:ln w="0">
            <a:solidFill>
              <a:srgbClr val="2563EB"/>
            </a:solidFill>
            <a:prstDash val="solid"/>
          </a:ln>
        </p:spPr>
      </p:sp>
      <p:sp>
        <p:nvSpPr>
          <p:cNvPr id="10" name="正方形/長方形 9">
            <a:extLst>
              <a:ext uri="{FF2B5EF4-FFF2-40B4-BE49-F238E27FC236}">
                <a16:creationId xmlns:a16="http://schemas.microsoft.com/office/drawing/2014/main" id="{32C0093D-5E83-4B05-B9CF-9A2BB48CAFAC}"/>
              </a:ext>
            </a:extLst>
          </p:cNvPr>
          <p:cNvSpPr>
            <a:spLocks noGrp="1"/>
          </p:cNvSpPr>
          <p:nvPr/>
        </p:nvSpPr>
        <p:spPr>
          <a:xfrm>
            <a:off x="1133475" y="2266950"/>
            <a:ext cx="3333750" cy="171450"/>
          </a:xfrm>
          <a:prstGeom prst="rect">
            <a:avLst/>
          </a:prstGeom>
          <a:ln w="0">
            <a:solidFill>
              <a:srgbClr val="FFFFFF"/>
            </a:solidFill>
            <a:prstDash val="solid"/>
          </a:ln>
        </p:spPr>
        <p:txBody>
          <a:bodyPr lIns="0" tIns="0" rIns="0" bIns="0" anchor="t"/>
          <a:lstStyle/>
          <a:p>
            <a:pPr algn="l">
              <a:defRPr sz="900" b="1">
                <a:solidFill>
                  <a:srgbClr val="2563EB"/>
                </a:solidFill>
                <a:latin typeface="Yu Gothic"/>
                <a:ea typeface="Yu Gothic"/>
                <a:cs typeface="Yu Gothic"/>
              </a:defRPr>
            </a:pPr>
            <a:r>
              <a:rPr sz="900" b="1">
                <a:solidFill>
                  <a:srgbClr val="2563EB"/>
                </a:solidFill>
                <a:latin typeface="Yu Gothic"/>
                <a:ea typeface="Yu Gothic"/>
                <a:cs typeface="Yu Gothic"/>
              </a:rPr>
              <a:t>確認ポイント</a:t>
            </a:r>
          </a:p>
        </p:txBody>
      </p:sp>
      <p:sp>
        <p:nvSpPr>
          <p:cNvPr id="11" name="正方形/長方形 10">
            <a:extLst>
              <a:ext uri="{FF2B5EF4-FFF2-40B4-BE49-F238E27FC236}">
                <a16:creationId xmlns:a16="http://schemas.microsoft.com/office/drawing/2014/main" id="{FB9B9D38-8C75-480A-84DE-B0D8EF94CC75}"/>
              </a:ext>
            </a:extLst>
          </p:cNvPr>
          <p:cNvSpPr>
            <a:spLocks noGrp="1"/>
          </p:cNvSpPr>
          <p:nvPr/>
        </p:nvSpPr>
        <p:spPr>
          <a:xfrm>
            <a:off x="1133475" y="2495550"/>
            <a:ext cx="331470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Workflow</a:t>
            </a:r>
          </a:p>
        </p:txBody>
      </p:sp>
      <p:sp>
        <p:nvSpPr>
          <p:cNvPr id="12" name="正方形/長方形 11">
            <a:extLst>
              <a:ext uri="{FF2B5EF4-FFF2-40B4-BE49-F238E27FC236}">
                <a16:creationId xmlns:a16="http://schemas.microsoft.com/office/drawing/2014/main" id="{54B344E7-D4F9-40EA-8EA4-4EC20C9ABE28}"/>
              </a:ext>
            </a:extLst>
          </p:cNvPr>
          <p:cNvSpPr>
            <a:spLocks noGrp="1"/>
          </p:cNvSpPr>
          <p:nvPr/>
        </p:nvSpPr>
        <p:spPr>
          <a:xfrm>
            <a:off x="1133475" y="2933700"/>
            <a:ext cx="3314700" cy="10001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API と Web の workflow ファイルを有効化する準備をします。</a:t>
            </a:r>
          </a:p>
        </p:txBody>
      </p:sp>
      <p:sp>
        <p:nvSpPr>
          <p:cNvPr id="13" name="正方形/長方形 12">
            <a:extLst>
              <a:ext uri="{FF2B5EF4-FFF2-40B4-BE49-F238E27FC236}">
                <a16:creationId xmlns:a16="http://schemas.microsoft.com/office/drawing/2014/main" id="{65B2F81D-56E1-4127-98FE-F8EA2EA8270B}"/>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6543629D-EB57-4FAC-AE15-B0B61DB1B7A3}"/>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ワークフローを有効化する</a:t>
            </a:r>
          </a:p>
        </p:txBody>
      </p:sp>
      <p:sp>
        <p:nvSpPr>
          <p:cNvPr id="2" name="正方形/長方形 1">
            <a:extLst>
              <a:ext uri="{FF2B5EF4-FFF2-40B4-BE49-F238E27FC236}">
                <a16:creationId xmlns:a16="http://schemas.microsoft.com/office/drawing/2014/main" id="{905668D4-E6AB-4876-A1BD-D0263CD9D991}"/>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24 / 48</a:t>
            </a:r>
          </a:p>
        </p:txBody>
      </p:sp>
      <p:sp>
        <p:nvSpPr>
          <p:cNvPr id="3" name="正方形/長方形 2">
            <a:extLst>
              <a:ext uri="{FF2B5EF4-FFF2-40B4-BE49-F238E27FC236}">
                <a16:creationId xmlns:a16="http://schemas.microsoft.com/office/drawing/2014/main" id="{10489A23-52FB-44B9-AF60-E683CEA50B6E}"/>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71AD940F-634F-41CA-A269-001EF408D03F}"/>
              </a:ext>
            </a:extLst>
          </p:cNvPr>
          <p:cNvSpPr>
            <a:spLocks noGrp="1"/>
          </p:cNvSpPr>
          <p:nvPr/>
        </p:nvSpPr>
        <p:spPr>
          <a:xfrm>
            <a:off x="666750" y="1123950"/>
            <a:ext cx="10287000" cy="476250"/>
          </a:xfrm>
          <a:prstGeom prst="rect">
            <a:avLst/>
          </a:prstGeom>
          <a:ln w="0">
            <a:solidFill>
              <a:srgbClr val="FFFFFF"/>
            </a:solidFill>
            <a:prstDash val="solid"/>
          </a:ln>
        </p:spPr>
        <p:txBody>
          <a:bodyPr lIns="0" tIns="0" rIns="0" bIns="0" anchor="t"/>
          <a:lstStyle/>
          <a:p>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Azure Cloud Shell でリポジトリを clone し、テンプレートファイルを実行対象の YAML として配置して commit/push します。</a:t>
            </a:r>
          </a:p>
        </p:txBody>
      </p:sp>
      <p:sp>
        <p:nvSpPr>
          <p:cNvPr id="5" name="正方形/長方形 4">
            <a:extLst>
              <a:ext uri="{FF2B5EF4-FFF2-40B4-BE49-F238E27FC236}">
                <a16:creationId xmlns:a16="http://schemas.microsoft.com/office/drawing/2014/main" id="{ECD9B320-15DC-4240-B89E-EDFC5B053E07}"/>
              </a:ext>
            </a:extLst>
          </p:cNvPr>
          <p:cNvSpPr>
            <a:spLocks noGrp="1"/>
          </p:cNvSpPr>
          <p:nvPr/>
        </p:nvSpPr>
        <p:spPr>
          <a:xfrm>
            <a:off x="904875" y="1866900"/>
            <a:ext cx="4972050" cy="3429000"/>
          </a:xfrm>
          <a:prstGeom prst="rect">
            <a:avLst/>
          </a:prstGeom>
          <a:ln w="9525">
            <a:solidFill>
              <a:srgbClr val="CAD5E4"/>
            </a:solidFill>
            <a:prstDash val="solid"/>
          </a:ln>
        </p:spPr>
      </p:sp>
      <p:pic>
        <p:nvPicPr>
          <p:cNvPr id="6" name="図 5"/>
          <p:cNvPicPr>
            <a:picLocks noChangeAspect="1"/>
          </p:cNvPicPr>
          <p:nvPr/>
        </p:nvPicPr>
        <p:blipFill>
          <a:blip r:embed="rId3"/>
          <a:stretch/>
        </p:blipFill>
        <p:spPr>
          <a:xfrm>
            <a:off x="1019175" y="2159403"/>
            <a:ext cx="4743450" cy="2577295"/>
          </a:xfrm>
          <a:prstGeom prst="rect">
            <a:avLst/>
          </a:prstGeom>
        </p:spPr>
      </p:pic>
      <p:sp>
        <p:nvSpPr>
          <p:cNvPr id="7" name="正方形/長方形 6">
            <a:extLst>
              <a:ext uri="{FF2B5EF4-FFF2-40B4-BE49-F238E27FC236}">
                <a16:creationId xmlns:a16="http://schemas.microsoft.com/office/drawing/2014/main" id="{012078B7-0257-4797-B406-1C6765C67749}"/>
              </a:ext>
            </a:extLst>
          </p:cNvPr>
          <p:cNvSpPr>
            <a:spLocks noGrp="1"/>
          </p:cNvSpPr>
          <p:nvPr/>
        </p:nvSpPr>
        <p:spPr>
          <a:xfrm>
            <a:off x="1057275" y="4972050"/>
            <a:ext cx="4667250" cy="228600"/>
          </a:xfrm>
          <a:prstGeom prst="rect">
            <a:avLst/>
          </a:prstGeom>
          <a:ln w="0">
            <a:solidFill>
              <a:srgbClr val="FFFFFF"/>
            </a:solidFill>
            <a:prstDash val="solid"/>
          </a:ln>
        </p:spPr>
        <p:txBody>
          <a:bodyPr lIns="0" tIns="0" rIns="0" bIns="0" anchor="t"/>
          <a:lstStyle/>
          <a:p>
            <a:pPr algn="ctr">
              <a:defRPr sz="938" b="0">
                <a:solidFill>
                  <a:srgbClr val="64748B"/>
                </a:solidFill>
                <a:latin typeface="Yu Gothic"/>
                <a:ea typeface="Yu Gothic"/>
                <a:cs typeface="Yu Gothic"/>
              </a:defRPr>
            </a:pPr>
            <a:r>
              <a:rPr sz="938" b="0">
                <a:solidFill>
                  <a:srgbClr val="64748B"/>
                </a:solidFill>
                <a:latin typeface="Yu Gothic"/>
                <a:ea typeface="Yu Gothic"/>
                <a:cs typeface="Yu Gothic"/>
              </a:rPr>
              <a:t>workflow ファイルをコピーする</a:t>
            </a:r>
          </a:p>
        </p:txBody>
      </p:sp>
      <p:sp>
        <p:nvSpPr>
          <p:cNvPr id="8" name="正方形/長方形 7">
            <a:extLst>
              <a:ext uri="{FF2B5EF4-FFF2-40B4-BE49-F238E27FC236}">
                <a16:creationId xmlns:a16="http://schemas.microsoft.com/office/drawing/2014/main" id="{06453276-ABDC-405F-880C-30EFBE8EDF97}"/>
              </a:ext>
            </a:extLst>
          </p:cNvPr>
          <p:cNvSpPr>
            <a:spLocks noGrp="1"/>
          </p:cNvSpPr>
          <p:nvPr/>
        </p:nvSpPr>
        <p:spPr>
          <a:xfrm>
            <a:off x="6334125" y="1866900"/>
            <a:ext cx="4972050" cy="3429000"/>
          </a:xfrm>
          <a:prstGeom prst="rect">
            <a:avLst/>
          </a:prstGeom>
          <a:ln w="9525">
            <a:solidFill>
              <a:srgbClr val="CAD5E4"/>
            </a:solidFill>
            <a:prstDash val="solid"/>
          </a:ln>
        </p:spPr>
      </p:sp>
      <p:pic>
        <p:nvPicPr>
          <p:cNvPr id="9" name="図 8"/>
          <p:cNvPicPr>
            <a:picLocks noChangeAspect="1"/>
          </p:cNvPicPr>
          <p:nvPr/>
        </p:nvPicPr>
        <p:blipFill>
          <a:blip r:embed="rId4"/>
          <a:stretch/>
        </p:blipFill>
        <p:spPr>
          <a:xfrm>
            <a:off x="6448425" y="2159403"/>
            <a:ext cx="4743450" cy="2577295"/>
          </a:xfrm>
          <a:prstGeom prst="rect">
            <a:avLst/>
          </a:prstGeom>
        </p:spPr>
      </p:pic>
      <p:sp>
        <p:nvSpPr>
          <p:cNvPr id="10" name="正方形/長方形 9">
            <a:extLst>
              <a:ext uri="{FF2B5EF4-FFF2-40B4-BE49-F238E27FC236}">
                <a16:creationId xmlns:a16="http://schemas.microsoft.com/office/drawing/2014/main" id="{B10186BC-3E0E-4D94-80E0-CF77F29D0FBA}"/>
              </a:ext>
            </a:extLst>
          </p:cNvPr>
          <p:cNvSpPr>
            <a:spLocks noGrp="1"/>
          </p:cNvSpPr>
          <p:nvPr/>
        </p:nvSpPr>
        <p:spPr>
          <a:xfrm>
            <a:off x="6486525" y="4972050"/>
            <a:ext cx="4667250" cy="228600"/>
          </a:xfrm>
          <a:prstGeom prst="rect">
            <a:avLst/>
          </a:prstGeom>
          <a:ln w="0">
            <a:solidFill>
              <a:srgbClr val="FFFFFF"/>
            </a:solidFill>
            <a:prstDash val="solid"/>
          </a:ln>
        </p:spPr>
        <p:txBody>
          <a:bodyPr lIns="0" tIns="0" rIns="0" bIns="0" anchor="t"/>
          <a:lstStyle/>
          <a:p>
            <a:pPr algn="ctr">
              <a:defRPr sz="938" b="0">
                <a:solidFill>
                  <a:srgbClr val="64748B"/>
                </a:solidFill>
                <a:latin typeface="Yu Gothic"/>
                <a:ea typeface="Yu Gothic"/>
                <a:cs typeface="Yu Gothic"/>
              </a:defRPr>
            </a:pPr>
            <a:r>
              <a:rPr sz="938" b="0">
                <a:solidFill>
                  <a:srgbClr val="64748B"/>
                </a:solidFill>
                <a:latin typeface="Yu Gothic"/>
                <a:ea typeface="Yu Gothic"/>
                <a:cs typeface="Yu Gothic"/>
              </a:rPr>
              <a:t>commit/push で反映する</a:t>
            </a:r>
          </a:p>
        </p:txBody>
      </p:sp>
      <p:sp>
        <p:nvSpPr>
          <p:cNvPr id="11" name="正方形/長方形 10">
            <a:extLst>
              <a:ext uri="{FF2B5EF4-FFF2-40B4-BE49-F238E27FC236}">
                <a16:creationId xmlns:a16="http://schemas.microsoft.com/office/drawing/2014/main" id="{9342AD3F-5D47-4B91-AFEE-0978775AE93D}"/>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4E3D267D-0F20-4C3E-8795-F2B0BDCC5CB5}"/>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Actions タブを確認する</a:t>
            </a:r>
          </a:p>
        </p:txBody>
      </p:sp>
      <p:sp>
        <p:nvSpPr>
          <p:cNvPr id="2" name="正方形/長方形 1">
            <a:extLst>
              <a:ext uri="{FF2B5EF4-FFF2-40B4-BE49-F238E27FC236}">
                <a16:creationId xmlns:a16="http://schemas.microsoft.com/office/drawing/2014/main" id="{A5B157C2-EDFC-40FA-9410-2E5BBC901AA0}"/>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25 / 48</a:t>
            </a:r>
          </a:p>
        </p:txBody>
      </p:sp>
      <p:sp>
        <p:nvSpPr>
          <p:cNvPr id="3" name="正方形/長方形 2">
            <a:extLst>
              <a:ext uri="{FF2B5EF4-FFF2-40B4-BE49-F238E27FC236}">
                <a16:creationId xmlns:a16="http://schemas.microsoft.com/office/drawing/2014/main" id="{230B0B9F-AE35-4495-BE5D-10C862F7AAEB}"/>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D6C72976-5063-42B9-B18A-4DC74FBB788B}"/>
              </a:ext>
            </a:extLst>
          </p:cNvPr>
          <p:cNvSpPr>
            <a:spLocks noGrp="1"/>
          </p:cNvSpPr>
          <p:nvPr/>
        </p:nvSpPr>
        <p:spPr>
          <a:xfrm>
            <a:off x="666750" y="1123950"/>
            <a:ext cx="10287000" cy="476250"/>
          </a:xfrm>
          <a:prstGeom prst="rect">
            <a:avLst/>
          </a:prstGeom>
          <a:ln w="0">
            <a:solidFill>
              <a:srgbClr val="FFFFFF"/>
            </a:solidFill>
            <a:prstDash val="solid"/>
          </a:ln>
        </p:spPr>
        <p:txBody>
          <a:bodyPr lIns="0" tIns="0" rIns="0" bIns="0" anchor="t"/>
          <a:lstStyle/>
          <a:p>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push 後に、API と Web の workflow が Actions タブに表示されることを確認します。表示されない場合はファイル名と配置先を見直します。</a:t>
            </a:r>
          </a:p>
        </p:txBody>
      </p:sp>
      <p:sp>
        <p:nvSpPr>
          <p:cNvPr id="5" name="正方形/長方形 4">
            <a:extLst>
              <a:ext uri="{FF2B5EF4-FFF2-40B4-BE49-F238E27FC236}">
                <a16:creationId xmlns:a16="http://schemas.microsoft.com/office/drawing/2014/main" id="{F13A80CD-166E-49C9-A568-ACD50089CF88}"/>
              </a:ext>
            </a:extLst>
          </p:cNvPr>
          <p:cNvSpPr>
            <a:spLocks noGrp="1"/>
          </p:cNvSpPr>
          <p:nvPr/>
        </p:nvSpPr>
        <p:spPr>
          <a:xfrm>
            <a:off x="5095875" y="1695450"/>
            <a:ext cx="6286500" cy="4095750"/>
          </a:xfrm>
          <a:prstGeom prst="rect">
            <a:avLst/>
          </a:prstGeom>
          <a:ln w="9525">
            <a:solidFill>
              <a:srgbClr val="CAD5E4"/>
            </a:solidFill>
            <a:prstDash val="solid"/>
          </a:ln>
        </p:spPr>
      </p:sp>
      <p:pic>
        <p:nvPicPr>
          <p:cNvPr id="6" name="図 5"/>
          <p:cNvPicPr>
            <a:picLocks noChangeAspect="1"/>
          </p:cNvPicPr>
          <p:nvPr/>
        </p:nvPicPr>
        <p:blipFill>
          <a:blip r:embed="rId3"/>
          <a:stretch/>
        </p:blipFill>
        <p:spPr>
          <a:xfrm>
            <a:off x="5238750" y="1922264"/>
            <a:ext cx="6000750" cy="3375422"/>
          </a:xfrm>
          <a:prstGeom prst="rect">
            <a:avLst/>
          </a:prstGeom>
        </p:spPr>
      </p:pic>
      <p:sp>
        <p:nvSpPr>
          <p:cNvPr id="7" name="正方形/長方形 6">
            <a:extLst>
              <a:ext uri="{FF2B5EF4-FFF2-40B4-BE49-F238E27FC236}">
                <a16:creationId xmlns:a16="http://schemas.microsoft.com/office/drawing/2014/main" id="{C0B74147-DCB7-49C9-9FAA-FD8C26A7DDB9}"/>
              </a:ext>
            </a:extLst>
          </p:cNvPr>
          <p:cNvSpPr>
            <a:spLocks noGrp="1"/>
          </p:cNvSpPr>
          <p:nvPr/>
        </p:nvSpPr>
        <p:spPr>
          <a:xfrm>
            <a:off x="5286375" y="5429250"/>
            <a:ext cx="5905500" cy="228600"/>
          </a:xfrm>
          <a:prstGeom prst="rect">
            <a:avLst/>
          </a:prstGeom>
          <a:ln w="0">
            <a:solidFill>
              <a:srgbClr val="FFFFFF"/>
            </a:solidFill>
            <a:prstDash val="solid"/>
          </a:ln>
        </p:spPr>
        <p:txBody>
          <a:bodyPr lIns="0" tIns="0" rIns="0" bIns="0" anchor="t"/>
          <a:lstStyle/>
          <a:p>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Actions タブで workflow を確認する</a:t>
            </a:r>
          </a:p>
        </p:txBody>
      </p:sp>
      <p:sp>
        <p:nvSpPr>
          <p:cNvPr id="8" name="正方形/長方形 7">
            <a:extLst>
              <a:ext uri="{FF2B5EF4-FFF2-40B4-BE49-F238E27FC236}">
                <a16:creationId xmlns:a16="http://schemas.microsoft.com/office/drawing/2014/main" id="{0969AE71-7514-4150-BC7D-87801CEF841E}"/>
              </a:ext>
            </a:extLst>
          </p:cNvPr>
          <p:cNvSpPr>
            <a:spLocks noGrp="1"/>
          </p:cNvSpPr>
          <p:nvPr/>
        </p:nvSpPr>
        <p:spPr>
          <a:xfrm>
            <a:off x="904875" y="2095500"/>
            <a:ext cx="3714750" cy="1952625"/>
          </a:xfrm>
          <a:prstGeom prst="rect">
            <a:avLst/>
          </a:prstGeom>
          <a:ln w="9525">
            <a:solidFill>
              <a:srgbClr val="DBE4EF"/>
            </a:solidFill>
            <a:prstDash val="solid"/>
          </a:ln>
        </p:spPr>
      </p:sp>
      <p:sp>
        <p:nvSpPr>
          <p:cNvPr id="9" name="正方形/長方形 8">
            <a:extLst>
              <a:ext uri="{FF2B5EF4-FFF2-40B4-BE49-F238E27FC236}">
                <a16:creationId xmlns:a16="http://schemas.microsoft.com/office/drawing/2014/main" id="{69C0E527-4966-4D15-8C25-97DDF8D477C1}"/>
              </a:ext>
            </a:extLst>
          </p:cNvPr>
          <p:cNvSpPr>
            <a:spLocks noGrp="1"/>
          </p:cNvSpPr>
          <p:nvPr/>
        </p:nvSpPr>
        <p:spPr>
          <a:xfrm>
            <a:off x="904875" y="2095500"/>
            <a:ext cx="76200" cy="1952625"/>
          </a:xfrm>
          <a:prstGeom prst="rect">
            <a:avLst/>
          </a:prstGeom>
          <a:ln w="0">
            <a:solidFill>
              <a:srgbClr val="7C3AED"/>
            </a:solidFill>
            <a:prstDash val="solid"/>
          </a:ln>
        </p:spPr>
      </p:sp>
      <p:sp>
        <p:nvSpPr>
          <p:cNvPr id="10" name="正方形/長方形 9">
            <a:extLst>
              <a:ext uri="{FF2B5EF4-FFF2-40B4-BE49-F238E27FC236}">
                <a16:creationId xmlns:a16="http://schemas.microsoft.com/office/drawing/2014/main" id="{7B0E819C-2B8A-4988-AEED-BF6081A5DBD4}"/>
              </a:ext>
            </a:extLst>
          </p:cNvPr>
          <p:cNvSpPr>
            <a:spLocks noGrp="1"/>
          </p:cNvSpPr>
          <p:nvPr/>
        </p:nvSpPr>
        <p:spPr>
          <a:xfrm>
            <a:off x="1133475" y="2266950"/>
            <a:ext cx="3333750" cy="171450"/>
          </a:xfrm>
          <a:prstGeom prst="rect">
            <a:avLst/>
          </a:prstGeom>
          <a:ln w="0">
            <a:solidFill>
              <a:srgbClr val="FFFFFF"/>
            </a:solidFill>
            <a:prstDash val="solid"/>
          </a:ln>
        </p:spPr>
        <p:txBody>
          <a:bodyPr lIns="0" tIns="0" rIns="0" bIns="0" anchor="t"/>
          <a:lstStyle/>
          <a:p>
            <a:pPr algn="l">
              <a:defRPr sz="900" b="1">
                <a:solidFill>
                  <a:srgbClr val="7C3AED"/>
                </a:solidFill>
                <a:latin typeface="Yu Gothic"/>
                <a:ea typeface="Yu Gothic"/>
                <a:cs typeface="Yu Gothic"/>
              </a:defRPr>
            </a:pPr>
            <a:r>
              <a:rPr sz="900" b="1">
                <a:solidFill>
                  <a:srgbClr val="7C3AED"/>
                </a:solidFill>
                <a:latin typeface="Yu Gothic"/>
                <a:ea typeface="Yu Gothic"/>
                <a:cs typeface="Yu Gothic"/>
              </a:rPr>
              <a:t>確認ポイント</a:t>
            </a:r>
          </a:p>
        </p:txBody>
      </p:sp>
      <p:sp>
        <p:nvSpPr>
          <p:cNvPr id="11" name="正方形/長方形 10">
            <a:extLst>
              <a:ext uri="{FF2B5EF4-FFF2-40B4-BE49-F238E27FC236}">
                <a16:creationId xmlns:a16="http://schemas.microsoft.com/office/drawing/2014/main" id="{D5D34CCB-E55B-4386-97DD-FC39BBF36135}"/>
              </a:ext>
            </a:extLst>
          </p:cNvPr>
          <p:cNvSpPr>
            <a:spLocks noGrp="1"/>
          </p:cNvSpPr>
          <p:nvPr/>
        </p:nvSpPr>
        <p:spPr>
          <a:xfrm>
            <a:off x="1133475" y="2495550"/>
            <a:ext cx="331470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Actions</a:t>
            </a:r>
          </a:p>
        </p:txBody>
      </p:sp>
      <p:sp>
        <p:nvSpPr>
          <p:cNvPr id="12" name="正方形/長方形 11">
            <a:extLst>
              <a:ext uri="{FF2B5EF4-FFF2-40B4-BE49-F238E27FC236}">
                <a16:creationId xmlns:a16="http://schemas.microsoft.com/office/drawing/2014/main" id="{728476CD-67EA-47C3-BFC2-3D4F8E61F5E5}"/>
              </a:ext>
            </a:extLst>
          </p:cNvPr>
          <p:cNvSpPr>
            <a:spLocks noGrp="1"/>
          </p:cNvSpPr>
          <p:nvPr/>
        </p:nvSpPr>
        <p:spPr>
          <a:xfrm>
            <a:off x="1133475" y="2933700"/>
            <a:ext cx="3314700" cy="10001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API と Web の workflow が表示されることを確認します。</a:t>
            </a:r>
          </a:p>
        </p:txBody>
      </p:sp>
      <p:sp>
        <p:nvSpPr>
          <p:cNvPr id="13" name="正方形/長方形 12">
            <a:extLst>
              <a:ext uri="{FF2B5EF4-FFF2-40B4-BE49-F238E27FC236}">
                <a16:creationId xmlns:a16="http://schemas.microsoft.com/office/drawing/2014/main" id="{1807800D-C9BD-4991-A9EA-1722FA7D8802}"/>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B9DB94ED-FD43-490D-8A17-AFC3CBDB76B9}"/>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ワークフロー実行を監視する</a:t>
            </a:r>
          </a:p>
        </p:txBody>
      </p:sp>
      <p:sp>
        <p:nvSpPr>
          <p:cNvPr id="2" name="正方形/長方形 1">
            <a:extLst>
              <a:ext uri="{FF2B5EF4-FFF2-40B4-BE49-F238E27FC236}">
                <a16:creationId xmlns:a16="http://schemas.microsoft.com/office/drawing/2014/main" id="{E974BF71-84FE-4F63-8B91-4333CD071398}"/>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26 / 48</a:t>
            </a:r>
          </a:p>
        </p:txBody>
      </p:sp>
      <p:sp>
        <p:nvSpPr>
          <p:cNvPr id="3" name="正方形/長方形 2">
            <a:extLst>
              <a:ext uri="{FF2B5EF4-FFF2-40B4-BE49-F238E27FC236}">
                <a16:creationId xmlns:a16="http://schemas.microsoft.com/office/drawing/2014/main" id="{FD99AFD9-D17E-4587-AF6C-BD088F53D68A}"/>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C70DD989-2916-4877-A9CC-CB30EF0E5D8A}"/>
              </a:ext>
            </a:extLst>
          </p:cNvPr>
          <p:cNvSpPr>
            <a:spLocks noGrp="1"/>
          </p:cNvSpPr>
          <p:nvPr/>
        </p:nvSpPr>
        <p:spPr>
          <a:xfrm>
            <a:off x="666750" y="1123950"/>
            <a:ext cx="10287000" cy="476250"/>
          </a:xfrm>
          <a:prstGeom prst="rect">
            <a:avLst/>
          </a:prstGeom>
          <a:ln w="0">
            <a:solidFill>
              <a:srgbClr val="FFFFFF"/>
            </a:solidFill>
            <a:prstDash val="solid"/>
          </a:ln>
        </p:spPr>
        <p:txBody>
          <a:bodyPr lIns="0" tIns="0" rIns="0" bIns="0" anchor="t"/>
          <a:lstStyle/>
          <a:p>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失敗時は Portal だけでなく、まず GitHub Actions の job log を確認します。Secret や variables のミスはここに現れます。</a:t>
            </a:r>
          </a:p>
        </p:txBody>
      </p:sp>
      <p:sp>
        <p:nvSpPr>
          <p:cNvPr id="5" name="正方形/長方形 4">
            <a:extLst>
              <a:ext uri="{FF2B5EF4-FFF2-40B4-BE49-F238E27FC236}">
                <a16:creationId xmlns:a16="http://schemas.microsoft.com/office/drawing/2014/main" id="{F2D65AC5-FC02-41DA-8510-86F191037CF8}"/>
              </a:ext>
            </a:extLst>
          </p:cNvPr>
          <p:cNvSpPr>
            <a:spLocks noGrp="1"/>
          </p:cNvSpPr>
          <p:nvPr/>
        </p:nvSpPr>
        <p:spPr>
          <a:xfrm>
            <a:off x="5095875" y="1695450"/>
            <a:ext cx="6286500" cy="4095750"/>
          </a:xfrm>
          <a:prstGeom prst="rect">
            <a:avLst/>
          </a:prstGeom>
          <a:ln w="9525">
            <a:solidFill>
              <a:srgbClr val="CAD5E4"/>
            </a:solidFill>
            <a:prstDash val="solid"/>
          </a:ln>
        </p:spPr>
      </p:sp>
      <p:pic>
        <p:nvPicPr>
          <p:cNvPr id="6" name="図 5"/>
          <p:cNvPicPr>
            <a:picLocks noChangeAspect="1"/>
          </p:cNvPicPr>
          <p:nvPr/>
        </p:nvPicPr>
        <p:blipFill>
          <a:blip r:embed="rId3"/>
          <a:stretch/>
        </p:blipFill>
        <p:spPr>
          <a:xfrm>
            <a:off x="5238750" y="1922264"/>
            <a:ext cx="6000750" cy="3375422"/>
          </a:xfrm>
          <a:prstGeom prst="rect">
            <a:avLst/>
          </a:prstGeom>
        </p:spPr>
      </p:pic>
      <p:sp>
        <p:nvSpPr>
          <p:cNvPr id="7" name="正方形/長方形 6">
            <a:extLst>
              <a:ext uri="{FF2B5EF4-FFF2-40B4-BE49-F238E27FC236}">
                <a16:creationId xmlns:a16="http://schemas.microsoft.com/office/drawing/2014/main" id="{F497EC98-5D6B-4812-89CC-8F808F77F68C}"/>
              </a:ext>
            </a:extLst>
          </p:cNvPr>
          <p:cNvSpPr>
            <a:spLocks noGrp="1"/>
          </p:cNvSpPr>
          <p:nvPr/>
        </p:nvSpPr>
        <p:spPr>
          <a:xfrm>
            <a:off x="5286375" y="5429250"/>
            <a:ext cx="5905500" cy="228600"/>
          </a:xfrm>
          <a:prstGeom prst="rect">
            <a:avLst/>
          </a:prstGeom>
          <a:ln w="0">
            <a:solidFill>
              <a:srgbClr val="FFFFFF"/>
            </a:solidFill>
            <a:prstDash val="solid"/>
          </a:ln>
        </p:spPr>
        <p:txBody>
          <a:bodyPr lIns="0" tIns="0" rIns="0" bIns="0" anchor="t"/>
          <a:lstStyle/>
          <a:p>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workflow 実行を監視する</a:t>
            </a:r>
          </a:p>
        </p:txBody>
      </p:sp>
      <p:sp>
        <p:nvSpPr>
          <p:cNvPr id="8" name="正方形/長方形 7">
            <a:extLst>
              <a:ext uri="{FF2B5EF4-FFF2-40B4-BE49-F238E27FC236}">
                <a16:creationId xmlns:a16="http://schemas.microsoft.com/office/drawing/2014/main" id="{1FEF81D4-5D3E-44E5-8748-51AE7CA045A0}"/>
              </a:ext>
            </a:extLst>
          </p:cNvPr>
          <p:cNvSpPr>
            <a:spLocks noGrp="1"/>
          </p:cNvSpPr>
          <p:nvPr/>
        </p:nvSpPr>
        <p:spPr>
          <a:xfrm>
            <a:off x="904875" y="2095500"/>
            <a:ext cx="3714750" cy="1952625"/>
          </a:xfrm>
          <a:prstGeom prst="rect">
            <a:avLst/>
          </a:prstGeom>
          <a:ln w="9525">
            <a:solidFill>
              <a:srgbClr val="DBE4EF"/>
            </a:solidFill>
            <a:prstDash val="solid"/>
          </a:ln>
        </p:spPr>
      </p:sp>
      <p:sp>
        <p:nvSpPr>
          <p:cNvPr id="9" name="正方形/長方形 8">
            <a:extLst>
              <a:ext uri="{FF2B5EF4-FFF2-40B4-BE49-F238E27FC236}">
                <a16:creationId xmlns:a16="http://schemas.microsoft.com/office/drawing/2014/main" id="{A8617B4E-AA96-420C-89D5-D2235A4B987A}"/>
              </a:ext>
            </a:extLst>
          </p:cNvPr>
          <p:cNvSpPr>
            <a:spLocks noGrp="1"/>
          </p:cNvSpPr>
          <p:nvPr/>
        </p:nvSpPr>
        <p:spPr>
          <a:xfrm>
            <a:off x="904875" y="2095500"/>
            <a:ext cx="76200" cy="1952625"/>
          </a:xfrm>
          <a:prstGeom prst="rect">
            <a:avLst/>
          </a:prstGeom>
          <a:ln w="0">
            <a:solidFill>
              <a:srgbClr val="EA580C"/>
            </a:solidFill>
            <a:prstDash val="solid"/>
          </a:ln>
        </p:spPr>
      </p:sp>
      <p:sp>
        <p:nvSpPr>
          <p:cNvPr id="10" name="正方形/長方形 9">
            <a:extLst>
              <a:ext uri="{FF2B5EF4-FFF2-40B4-BE49-F238E27FC236}">
                <a16:creationId xmlns:a16="http://schemas.microsoft.com/office/drawing/2014/main" id="{4DCE9FE1-E24F-41F0-845B-119459A19744}"/>
              </a:ext>
            </a:extLst>
          </p:cNvPr>
          <p:cNvSpPr>
            <a:spLocks noGrp="1"/>
          </p:cNvSpPr>
          <p:nvPr/>
        </p:nvSpPr>
        <p:spPr>
          <a:xfrm>
            <a:off x="1133475" y="2266950"/>
            <a:ext cx="3333750" cy="171450"/>
          </a:xfrm>
          <a:prstGeom prst="rect">
            <a:avLst/>
          </a:prstGeom>
          <a:ln w="0">
            <a:solidFill>
              <a:srgbClr val="FFFFFF"/>
            </a:solidFill>
            <a:prstDash val="solid"/>
          </a:ln>
        </p:spPr>
        <p:txBody>
          <a:bodyPr lIns="0" tIns="0" rIns="0" bIns="0" anchor="t"/>
          <a:lstStyle/>
          <a:p>
            <a:pPr algn="l">
              <a:defRPr sz="900" b="1">
                <a:solidFill>
                  <a:srgbClr val="EA580C"/>
                </a:solidFill>
                <a:latin typeface="Yu Gothic"/>
                <a:ea typeface="Yu Gothic"/>
                <a:cs typeface="Yu Gothic"/>
              </a:defRPr>
            </a:pPr>
            <a:r>
              <a:rPr sz="900" b="1">
                <a:solidFill>
                  <a:srgbClr val="EA580C"/>
                </a:solidFill>
                <a:latin typeface="Yu Gothic"/>
                <a:ea typeface="Yu Gothic"/>
                <a:cs typeface="Yu Gothic"/>
              </a:rPr>
              <a:t>確認ポイント</a:t>
            </a:r>
          </a:p>
        </p:txBody>
      </p:sp>
      <p:sp>
        <p:nvSpPr>
          <p:cNvPr id="11" name="正方形/長方形 10">
            <a:extLst>
              <a:ext uri="{FF2B5EF4-FFF2-40B4-BE49-F238E27FC236}">
                <a16:creationId xmlns:a16="http://schemas.microsoft.com/office/drawing/2014/main" id="{08A5ECD4-9AE2-4F41-8E6B-7B5E91071F13}"/>
              </a:ext>
            </a:extLst>
          </p:cNvPr>
          <p:cNvSpPr>
            <a:spLocks noGrp="1"/>
          </p:cNvSpPr>
          <p:nvPr/>
        </p:nvSpPr>
        <p:spPr>
          <a:xfrm>
            <a:off x="1133475" y="2495550"/>
            <a:ext cx="331470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ログ確認</a:t>
            </a:r>
          </a:p>
        </p:txBody>
      </p:sp>
      <p:sp>
        <p:nvSpPr>
          <p:cNvPr id="12" name="正方形/長方形 11">
            <a:extLst>
              <a:ext uri="{FF2B5EF4-FFF2-40B4-BE49-F238E27FC236}">
                <a16:creationId xmlns:a16="http://schemas.microsoft.com/office/drawing/2014/main" id="{F9E09E84-4746-45ED-B13F-ACFDE15AA694}"/>
              </a:ext>
            </a:extLst>
          </p:cNvPr>
          <p:cNvSpPr>
            <a:spLocks noGrp="1"/>
          </p:cNvSpPr>
          <p:nvPr/>
        </p:nvSpPr>
        <p:spPr>
          <a:xfrm>
            <a:off x="1133475" y="2933700"/>
            <a:ext cx="3314700" cy="10001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失敗時は Portal より先に Actions の job log を確認します。</a:t>
            </a:r>
          </a:p>
        </p:txBody>
      </p:sp>
      <p:sp>
        <p:nvSpPr>
          <p:cNvPr id="13" name="正方形/長方形 12">
            <a:extLst>
              <a:ext uri="{FF2B5EF4-FFF2-40B4-BE49-F238E27FC236}">
                <a16:creationId xmlns:a16="http://schemas.microsoft.com/office/drawing/2014/main" id="{9D14D86A-71AB-4209-9441-D4F160BCA44C}"/>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A8D1D5D3-2961-487C-8585-73971C81E87E}"/>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ワークフロー成功を確認する</a:t>
            </a:r>
          </a:p>
        </p:txBody>
      </p:sp>
      <p:sp>
        <p:nvSpPr>
          <p:cNvPr id="2" name="正方形/長方形 1">
            <a:extLst>
              <a:ext uri="{FF2B5EF4-FFF2-40B4-BE49-F238E27FC236}">
                <a16:creationId xmlns:a16="http://schemas.microsoft.com/office/drawing/2014/main" id="{F283EB0C-1D74-4012-AC64-0E1D6713769B}"/>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27 / 48</a:t>
            </a:r>
          </a:p>
        </p:txBody>
      </p:sp>
      <p:sp>
        <p:nvSpPr>
          <p:cNvPr id="3" name="正方形/長方形 2">
            <a:extLst>
              <a:ext uri="{FF2B5EF4-FFF2-40B4-BE49-F238E27FC236}">
                <a16:creationId xmlns:a16="http://schemas.microsoft.com/office/drawing/2014/main" id="{9A04C7B7-7732-49EA-839B-57B60527915D}"/>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334880F2-0A64-41D4-A151-5A2B27A39C4C}"/>
              </a:ext>
            </a:extLst>
          </p:cNvPr>
          <p:cNvSpPr>
            <a:spLocks noGrp="1"/>
          </p:cNvSpPr>
          <p:nvPr/>
        </p:nvSpPr>
        <p:spPr>
          <a:xfrm>
            <a:off x="666750" y="1123950"/>
            <a:ext cx="10287000" cy="476250"/>
          </a:xfrm>
          <a:prstGeom prst="rect">
            <a:avLst/>
          </a:prstGeom>
          <a:ln w="0">
            <a:solidFill>
              <a:srgbClr val="FFFFFF"/>
            </a:solidFill>
            <a:prstDash val="solid"/>
          </a:ln>
        </p:spPr>
        <p:txBody>
          <a:bodyPr lIns="0" tIns="0" rIns="0" bIns="0" anchor="t"/>
          <a:lstStyle/>
          <a:p>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API と Web の workflow が成功すると、ACR にイメージが作成され、Container Apps の revision が更新されます。</a:t>
            </a:r>
          </a:p>
        </p:txBody>
      </p:sp>
      <p:sp>
        <p:nvSpPr>
          <p:cNvPr id="5" name="正方形/長方形 4">
            <a:extLst>
              <a:ext uri="{FF2B5EF4-FFF2-40B4-BE49-F238E27FC236}">
                <a16:creationId xmlns:a16="http://schemas.microsoft.com/office/drawing/2014/main" id="{18D538C5-862F-4777-A593-DF56965C3E30}"/>
              </a:ext>
            </a:extLst>
          </p:cNvPr>
          <p:cNvSpPr>
            <a:spLocks noGrp="1"/>
          </p:cNvSpPr>
          <p:nvPr/>
        </p:nvSpPr>
        <p:spPr>
          <a:xfrm>
            <a:off x="5095875" y="1695450"/>
            <a:ext cx="6286500" cy="4095750"/>
          </a:xfrm>
          <a:prstGeom prst="rect">
            <a:avLst/>
          </a:prstGeom>
          <a:ln w="9525">
            <a:solidFill>
              <a:srgbClr val="CAD5E4"/>
            </a:solidFill>
            <a:prstDash val="solid"/>
          </a:ln>
        </p:spPr>
      </p:sp>
      <p:pic>
        <p:nvPicPr>
          <p:cNvPr id="6" name="図 5"/>
          <p:cNvPicPr>
            <a:picLocks noChangeAspect="1"/>
          </p:cNvPicPr>
          <p:nvPr/>
        </p:nvPicPr>
        <p:blipFill>
          <a:blip r:embed="rId3"/>
          <a:stretch/>
        </p:blipFill>
        <p:spPr>
          <a:xfrm>
            <a:off x="5238750" y="1922264"/>
            <a:ext cx="6000750" cy="3375422"/>
          </a:xfrm>
          <a:prstGeom prst="rect">
            <a:avLst/>
          </a:prstGeom>
        </p:spPr>
      </p:pic>
      <p:sp>
        <p:nvSpPr>
          <p:cNvPr id="7" name="正方形/長方形 6">
            <a:extLst>
              <a:ext uri="{FF2B5EF4-FFF2-40B4-BE49-F238E27FC236}">
                <a16:creationId xmlns:a16="http://schemas.microsoft.com/office/drawing/2014/main" id="{5A803AD5-B151-49AB-AF60-4A3C2BF4F292}"/>
              </a:ext>
            </a:extLst>
          </p:cNvPr>
          <p:cNvSpPr>
            <a:spLocks noGrp="1"/>
          </p:cNvSpPr>
          <p:nvPr/>
        </p:nvSpPr>
        <p:spPr>
          <a:xfrm>
            <a:off x="5286375" y="5429250"/>
            <a:ext cx="5905500" cy="228600"/>
          </a:xfrm>
          <a:prstGeom prst="rect">
            <a:avLst/>
          </a:prstGeom>
          <a:ln w="0">
            <a:solidFill>
              <a:srgbClr val="FFFFFF"/>
            </a:solidFill>
            <a:prstDash val="solid"/>
          </a:ln>
        </p:spPr>
        <p:txBody>
          <a:bodyPr lIns="0" tIns="0" rIns="0" bIns="0" anchor="t"/>
          <a:lstStyle/>
          <a:p>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workflow 成功を確認する</a:t>
            </a:r>
          </a:p>
        </p:txBody>
      </p:sp>
      <p:sp>
        <p:nvSpPr>
          <p:cNvPr id="8" name="正方形/長方形 7">
            <a:extLst>
              <a:ext uri="{FF2B5EF4-FFF2-40B4-BE49-F238E27FC236}">
                <a16:creationId xmlns:a16="http://schemas.microsoft.com/office/drawing/2014/main" id="{306E8917-8B19-473C-8B94-F3578BD7C7CF}"/>
              </a:ext>
            </a:extLst>
          </p:cNvPr>
          <p:cNvSpPr>
            <a:spLocks noGrp="1"/>
          </p:cNvSpPr>
          <p:nvPr/>
        </p:nvSpPr>
        <p:spPr>
          <a:xfrm>
            <a:off x="904875" y="2095500"/>
            <a:ext cx="3714750" cy="1952625"/>
          </a:xfrm>
          <a:prstGeom prst="rect">
            <a:avLst/>
          </a:prstGeom>
          <a:ln w="9525">
            <a:solidFill>
              <a:srgbClr val="DBE4EF"/>
            </a:solidFill>
            <a:prstDash val="solid"/>
          </a:ln>
        </p:spPr>
      </p:sp>
      <p:sp>
        <p:nvSpPr>
          <p:cNvPr id="9" name="正方形/長方形 8">
            <a:extLst>
              <a:ext uri="{FF2B5EF4-FFF2-40B4-BE49-F238E27FC236}">
                <a16:creationId xmlns:a16="http://schemas.microsoft.com/office/drawing/2014/main" id="{6483B9B1-6D38-4568-87C3-4BC793BEC757}"/>
              </a:ext>
            </a:extLst>
          </p:cNvPr>
          <p:cNvSpPr>
            <a:spLocks noGrp="1"/>
          </p:cNvSpPr>
          <p:nvPr/>
        </p:nvSpPr>
        <p:spPr>
          <a:xfrm>
            <a:off x="904875" y="2095500"/>
            <a:ext cx="76200" cy="1952625"/>
          </a:xfrm>
          <a:prstGeom prst="rect">
            <a:avLst/>
          </a:prstGeom>
          <a:ln w="0">
            <a:solidFill>
              <a:srgbClr val="15803D"/>
            </a:solidFill>
            <a:prstDash val="solid"/>
          </a:ln>
        </p:spPr>
      </p:sp>
      <p:sp>
        <p:nvSpPr>
          <p:cNvPr id="10" name="正方形/長方形 9">
            <a:extLst>
              <a:ext uri="{FF2B5EF4-FFF2-40B4-BE49-F238E27FC236}">
                <a16:creationId xmlns:a16="http://schemas.microsoft.com/office/drawing/2014/main" id="{8D989DE1-3C0A-4F8D-BB2B-36A8769161B2}"/>
              </a:ext>
            </a:extLst>
          </p:cNvPr>
          <p:cNvSpPr>
            <a:spLocks noGrp="1"/>
          </p:cNvSpPr>
          <p:nvPr/>
        </p:nvSpPr>
        <p:spPr>
          <a:xfrm>
            <a:off x="1133475" y="2266950"/>
            <a:ext cx="3333750" cy="171450"/>
          </a:xfrm>
          <a:prstGeom prst="rect">
            <a:avLst/>
          </a:prstGeom>
          <a:ln w="0">
            <a:solidFill>
              <a:srgbClr val="FFFFFF"/>
            </a:solidFill>
            <a:prstDash val="solid"/>
          </a:ln>
        </p:spPr>
        <p:txBody>
          <a:bodyPr lIns="0" tIns="0" rIns="0" bIns="0" anchor="t"/>
          <a:lstStyle/>
          <a:p>
            <a:pPr algn="l">
              <a:defRPr sz="900" b="1">
                <a:solidFill>
                  <a:srgbClr val="15803D"/>
                </a:solidFill>
                <a:latin typeface="Yu Gothic"/>
                <a:ea typeface="Yu Gothic"/>
                <a:cs typeface="Yu Gothic"/>
              </a:defRPr>
            </a:pPr>
            <a:r>
              <a:rPr sz="900" b="1">
                <a:solidFill>
                  <a:srgbClr val="15803D"/>
                </a:solidFill>
                <a:latin typeface="Yu Gothic"/>
                <a:ea typeface="Yu Gothic"/>
                <a:cs typeface="Yu Gothic"/>
              </a:rPr>
              <a:t>確認ポイント</a:t>
            </a:r>
          </a:p>
        </p:txBody>
      </p:sp>
      <p:sp>
        <p:nvSpPr>
          <p:cNvPr id="11" name="正方形/長方形 10">
            <a:extLst>
              <a:ext uri="{FF2B5EF4-FFF2-40B4-BE49-F238E27FC236}">
                <a16:creationId xmlns:a16="http://schemas.microsoft.com/office/drawing/2014/main" id="{F14E1742-800D-45A8-BDDF-27369BBFC09B}"/>
              </a:ext>
            </a:extLst>
          </p:cNvPr>
          <p:cNvSpPr>
            <a:spLocks noGrp="1"/>
          </p:cNvSpPr>
          <p:nvPr/>
        </p:nvSpPr>
        <p:spPr>
          <a:xfrm>
            <a:off x="1133475" y="2495550"/>
            <a:ext cx="331470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Success</a:t>
            </a:r>
          </a:p>
        </p:txBody>
      </p:sp>
      <p:sp>
        <p:nvSpPr>
          <p:cNvPr id="12" name="正方形/長方形 11">
            <a:extLst>
              <a:ext uri="{FF2B5EF4-FFF2-40B4-BE49-F238E27FC236}">
                <a16:creationId xmlns:a16="http://schemas.microsoft.com/office/drawing/2014/main" id="{60C5DB63-0E3A-4EF7-8CA1-FC370549CC59}"/>
              </a:ext>
            </a:extLst>
          </p:cNvPr>
          <p:cNvSpPr>
            <a:spLocks noGrp="1"/>
          </p:cNvSpPr>
          <p:nvPr/>
        </p:nvSpPr>
        <p:spPr>
          <a:xfrm>
            <a:off x="1133475" y="2933700"/>
            <a:ext cx="3314700" cy="10001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成功後に ACR と Container Apps の確認へ進みます。</a:t>
            </a:r>
          </a:p>
        </p:txBody>
      </p:sp>
      <p:sp>
        <p:nvSpPr>
          <p:cNvPr id="13" name="正方形/長方形 12">
            <a:extLst>
              <a:ext uri="{FF2B5EF4-FFF2-40B4-BE49-F238E27FC236}">
                <a16:creationId xmlns:a16="http://schemas.microsoft.com/office/drawing/2014/main" id="{4DB64F0B-FBFF-4B07-A373-6A3CB26F4DB3}"/>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78E7D2BD-FFC3-4FFA-A90A-B53C1E9B36B0}"/>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ACR の Repositories を確認する</a:t>
            </a:r>
          </a:p>
        </p:txBody>
      </p:sp>
      <p:sp>
        <p:nvSpPr>
          <p:cNvPr id="2" name="正方形/長方形 1">
            <a:extLst>
              <a:ext uri="{FF2B5EF4-FFF2-40B4-BE49-F238E27FC236}">
                <a16:creationId xmlns:a16="http://schemas.microsoft.com/office/drawing/2014/main" id="{AE034546-6FCD-43A8-A0BB-25D80552DED0}"/>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28 / 48</a:t>
            </a:r>
          </a:p>
        </p:txBody>
      </p:sp>
      <p:sp>
        <p:nvSpPr>
          <p:cNvPr id="3" name="正方形/長方形 2">
            <a:extLst>
              <a:ext uri="{FF2B5EF4-FFF2-40B4-BE49-F238E27FC236}">
                <a16:creationId xmlns:a16="http://schemas.microsoft.com/office/drawing/2014/main" id="{A9932C9F-AF53-4332-ACFD-403512414D13}"/>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8A92A4F8-59EC-4473-B27F-6C714623B070}"/>
              </a:ext>
            </a:extLst>
          </p:cNvPr>
          <p:cNvSpPr>
            <a:spLocks noGrp="1"/>
          </p:cNvSpPr>
          <p:nvPr/>
        </p:nvSpPr>
        <p:spPr>
          <a:xfrm>
            <a:off x="666750" y="1123950"/>
            <a:ext cx="10287000" cy="476250"/>
          </a:xfrm>
          <a:prstGeom prst="rect">
            <a:avLst/>
          </a:prstGeom>
          <a:ln w="0">
            <a:solidFill>
              <a:srgbClr val="FFFFFF"/>
            </a:solidFill>
            <a:prstDash val="solid"/>
          </a:ln>
        </p:spPr>
        <p:txBody>
          <a:bodyPr lIns="0" tIns="0" rIns="0" bIns="0" anchor="t"/>
          <a:lstStyle/>
          <a:p>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workflow が成功すると、ACR に API/Web のコンテナイメージが作成されます。タグや repository の存在を確認します。</a:t>
            </a:r>
          </a:p>
        </p:txBody>
      </p:sp>
      <p:sp>
        <p:nvSpPr>
          <p:cNvPr id="5" name="正方形/長方形 4">
            <a:extLst>
              <a:ext uri="{FF2B5EF4-FFF2-40B4-BE49-F238E27FC236}">
                <a16:creationId xmlns:a16="http://schemas.microsoft.com/office/drawing/2014/main" id="{ECE924C5-643E-4932-9B7C-618EA63F990E}"/>
              </a:ext>
            </a:extLst>
          </p:cNvPr>
          <p:cNvSpPr>
            <a:spLocks noGrp="1"/>
          </p:cNvSpPr>
          <p:nvPr/>
        </p:nvSpPr>
        <p:spPr>
          <a:xfrm>
            <a:off x="5095875" y="1695450"/>
            <a:ext cx="6286500" cy="4095750"/>
          </a:xfrm>
          <a:prstGeom prst="rect">
            <a:avLst/>
          </a:prstGeom>
          <a:ln w="9525">
            <a:solidFill>
              <a:srgbClr val="CAD5E4"/>
            </a:solidFill>
            <a:prstDash val="solid"/>
          </a:ln>
        </p:spPr>
      </p:sp>
      <p:pic>
        <p:nvPicPr>
          <p:cNvPr id="6" name="図 5"/>
          <p:cNvPicPr>
            <a:picLocks noChangeAspect="1"/>
          </p:cNvPicPr>
          <p:nvPr/>
        </p:nvPicPr>
        <p:blipFill>
          <a:blip r:embed="rId3"/>
          <a:stretch/>
        </p:blipFill>
        <p:spPr>
          <a:xfrm>
            <a:off x="5238750" y="1922264"/>
            <a:ext cx="6000750" cy="3375422"/>
          </a:xfrm>
          <a:prstGeom prst="rect">
            <a:avLst/>
          </a:prstGeom>
        </p:spPr>
      </p:pic>
      <p:sp>
        <p:nvSpPr>
          <p:cNvPr id="7" name="正方形/長方形 6">
            <a:extLst>
              <a:ext uri="{FF2B5EF4-FFF2-40B4-BE49-F238E27FC236}">
                <a16:creationId xmlns:a16="http://schemas.microsoft.com/office/drawing/2014/main" id="{60742D7C-2877-4BA3-A103-B669E3D28676}"/>
              </a:ext>
            </a:extLst>
          </p:cNvPr>
          <p:cNvSpPr>
            <a:spLocks noGrp="1"/>
          </p:cNvSpPr>
          <p:nvPr/>
        </p:nvSpPr>
        <p:spPr>
          <a:xfrm>
            <a:off x="5286375" y="5429250"/>
            <a:ext cx="5905500" cy="228600"/>
          </a:xfrm>
          <a:prstGeom prst="rect">
            <a:avLst/>
          </a:prstGeom>
          <a:ln w="0">
            <a:solidFill>
              <a:srgbClr val="FFFFFF"/>
            </a:solidFill>
            <a:prstDash val="solid"/>
          </a:ln>
        </p:spPr>
        <p:txBody>
          <a:bodyPr lIns="0" tIns="0" rIns="0" bIns="0" anchor="t"/>
          <a:lstStyle/>
          <a:p>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ACR の repositories を確認する</a:t>
            </a:r>
          </a:p>
        </p:txBody>
      </p:sp>
      <p:sp>
        <p:nvSpPr>
          <p:cNvPr id="8" name="正方形/長方形 7">
            <a:extLst>
              <a:ext uri="{FF2B5EF4-FFF2-40B4-BE49-F238E27FC236}">
                <a16:creationId xmlns:a16="http://schemas.microsoft.com/office/drawing/2014/main" id="{B328B29F-5D65-4C6C-8440-EC11E60BB850}"/>
              </a:ext>
            </a:extLst>
          </p:cNvPr>
          <p:cNvSpPr>
            <a:spLocks noGrp="1"/>
          </p:cNvSpPr>
          <p:nvPr/>
        </p:nvSpPr>
        <p:spPr>
          <a:xfrm>
            <a:off x="904875" y="2095500"/>
            <a:ext cx="3714750" cy="1952625"/>
          </a:xfrm>
          <a:prstGeom prst="rect">
            <a:avLst/>
          </a:prstGeom>
          <a:ln w="9525">
            <a:solidFill>
              <a:srgbClr val="DBE4EF"/>
            </a:solidFill>
            <a:prstDash val="solid"/>
          </a:ln>
        </p:spPr>
      </p:sp>
      <p:sp>
        <p:nvSpPr>
          <p:cNvPr id="9" name="正方形/長方形 8">
            <a:extLst>
              <a:ext uri="{FF2B5EF4-FFF2-40B4-BE49-F238E27FC236}">
                <a16:creationId xmlns:a16="http://schemas.microsoft.com/office/drawing/2014/main" id="{173EC31F-F073-41CE-B191-4AC430AB801A}"/>
              </a:ext>
            </a:extLst>
          </p:cNvPr>
          <p:cNvSpPr>
            <a:spLocks noGrp="1"/>
          </p:cNvSpPr>
          <p:nvPr/>
        </p:nvSpPr>
        <p:spPr>
          <a:xfrm>
            <a:off x="904875" y="2095500"/>
            <a:ext cx="76200" cy="1952625"/>
          </a:xfrm>
          <a:prstGeom prst="rect">
            <a:avLst/>
          </a:prstGeom>
          <a:ln w="0">
            <a:solidFill>
              <a:srgbClr val="0F766E"/>
            </a:solidFill>
            <a:prstDash val="solid"/>
          </a:ln>
        </p:spPr>
      </p:sp>
      <p:sp>
        <p:nvSpPr>
          <p:cNvPr id="10" name="正方形/長方形 9">
            <a:extLst>
              <a:ext uri="{FF2B5EF4-FFF2-40B4-BE49-F238E27FC236}">
                <a16:creationId xmlns:a16="http://schemas.microsoft.com/office/drawing/2014/main" id="{8947F02D-796C-4626-9FCC-9E4CE4084E48}"/>
              </a:ext>
            </a:extLst>
          </p:cNvPr>
          <p:cNvSpPr>
            <a:spLocks noGrp="1"/>
          </p:cNvSpPr>
          <p:nvPr/>
        </p:nvSpPr>
        <p:spPr>
          <a:xfrm>
            <a:off x="1133475" y="2266950"/>
            <a:ext cx="3333750" cy="171450"/>
          </a:xfrm>
          <a:prstGeom prst="rect">
            <a:avLst/>
          </a:prstGeom>
          <a:ln w="0">
            <a:solidFill>
              <a:srgbClr val="FFFFFF"/>
            </a:solidFill>
            <a:prstDash val="solid"/>
          </a:ln>
        </p:spPr>
        <p:txBody>
          <a:bodyPr lIns="0" tIns="0" rIns="0" bIns="0" anchor="t"/>
          <a:lstStyle/>
          <a:p>
            <a:pPr algn="l">
              <a:defRPr sz="900" b="1">
                <a:solidFill>
                  <a:srgbClr val="0F766E"/>
                </a:solidFill>
                <a:latin typeface="Yu Gothic"/>
                <a:ea typeface="Yu Gothic"/>
                <a:cs typeface="Yu Gothic"/>
              </a:defRPr>
            </a:pPr>
            <a:r>
              <a:rPr sz="900" b="1">
                <a:solidFill>
                  <a:srgbClr val="0F766E"/>
                </a:solidFill>
                <a:latin typeface="Yu Gothic"/>
                <a:ea typeface="Yu Gothic"/>
                <a:cs typeface="Yu Gothic"/>
              </a:rPr>
              <a:t>確認ポイント</a:t>
            </a:r>
          </a:p>
        </p:txBody>
      </p:sp>
      <p:sp>
        <p:nvSpPr>
          <p:cNvPr id="11" name="正方形/長方形 10">
            <a:extLst>
              <a:ext uri="{FF2B5EF4-FFF2-40B4-BE49-F238E27FC236}">
                <a16:creationId xmlns:a16="http://schemas.microsoft.com/office/drawing/2014/main" id="{5F5A8BD3-3585-4A11-80EB-81323B1D4867}"/>
              </a:ext>
            </a:extLst>
          </p:cNvPr>
          <p:cNvSpPr>
            <a:spLocks noGrp="1"/>
          </p:cNvSpPr>
          <p:nvPr/>
        </p:nvSpPr>
        <p:spPr>
          <a:xfrm>
            <a:off x="1133475" y="2495550"/>
            <a:ext cx="331470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ACR</a:t>
            </a:r>
          </a:p>
        </p:txBody>
      </p:sp>
      <p:sp>
        <p:nvSpPr>
          <p:cNvPr id="12" name="正方形/長方形 11">
            <a:extLst>
              <a:ext uri="{FF2B5EF4-FFF2-40B4-BE49-F238E27FC236}">
                <a16:creationId xmlns:a16="http://schemas.microsoft.com/office/drawing/2014/main" id="{80D812EE-7033-410F-A8E5-337443B9A837}"/>
              </a:ext>
            </a:extLst>
          </p:cNvPr>
          <p:cNvSpPr>
            <a:spLocks noGrp="1"/>
          </p:cNvSpPr>
          <p:nvPr/>
        </p:nvSpPr>
        <p:spPr>
          <a:xfrm>
            <a:off x="1133475" y="2933700"/>
            <a:ext cx="3314700" cy="10001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API/Web の repository とタグが作成されたことを見ます。</a:t>
            </a:r>
          </a:p>
        </p:txBody>
      </p:sp>
      <p:sp>
        <p:nvSpPr>
          <p:cNvPr id="13" name="正方形/長方形 12">
            <a:extLst>
              <a:ext uri="{FF2B5EF4-FFF2-40B4-BE49-F238E27FC236}">
                <a16:creationId xmlns:a16="http://schemas.microsoft.com/office/drawing/2014/main" id="{1DD40E1D-437E-4F66-9340-BADC15950D73}"/>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C0E1FEEC-7EB8-43B2-BD68-2B326AA61279}"/>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Environment 内のアプリ一覧</a:t>
            </a:r>
          </a:p>
        </p:txBody>
      </p:sp>
      <p:sp>
        <p:nvSpPr>
          <p:cNvPr id="2" name="正方形/長方形 1">
            <a:extLst>
              <a:ext uri="{FF2B5EF4-FFF2-40B4-BE49-F238E27FC236}">
                <a16:creationId xmlns:a16="http://schemas.microsoft.com/office/drawing/2014/main" id="{CDA0A379-FBE4-484D-BFDF-EB10FDD1D9DB}"/>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29 / 48</a:t>
            </a:r>
          </a:p>
        </p:txBody>
      </p:sp>
      <p:sp>
        <p:nvSpPr>
          <p:cNvPr id="3" name="正方形/長方形 2">
            <a:extLst>
              <a:ext uri="{FF2B5EF4-FFF2-40B4-BE49-F238E27FC236}">
                <a16:creationId xmlns:a16="http://schemas.microsoft.com/office/drawing/2014/main" id="{9640462B-7572-41C1-BC06-70932A7AB6A0}"/>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0CF641CE-4DA5-4468-B7B8-3D85C66789A7}"/>
              </a:ext>
            </a:extLst>
          </p:cNvPr>
          <p:cNvSpPr>
            <a:spLocks noGrp="1"/>
          </p:cNvSpPr>
          <p:nvPr/>
        </p:nvSpPr>
        <p:spPr>
          <a:xfrm>
            <a:off x="666750" y="1123950"/>
            <a:ext cx="10287000" cy="476250"/>
          </a:xfrm>
          <a:prstGeom prst="rect">
            <a:avLst/>
          </a:prstGeom>
          <a:ln w="0">
            <a:solidFill>
              <a:srgbClr val="FFFFFF"/>
            </a:solidFill>
            <a:prstDash val="solid"/>
          </a:ln>
        </p:spPr>
        <p:txBody>
          <a:bodyPr lIns="0" tIns="0" rIns="0" bIns="0" anchor="t"/>
          <a:lstStyle/>
          <a:p>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Container Apps Environment 内に、API と Web の Container App が並んでいることを確認します。</a:t>
            </a:r>
          </a:p>
        </p:txBody>
      </p:sp>
      <p:sp>
        <p:nvSpPr>
          <p:cNvPr id="5" name="正方形/長方形 4">
            <a:extLst>
              <a:ext uri="{FF2B5EF4-FFF2-40B4-BE49-F238E27FC236}">
                <a16:creationId xmlns:a16="http://schemas.microsoft.com/office/drawing/2014/main" id="{891A45CD-F7E3-4626-ACAA-E304B6096FDA}"/>
              </a:ext>
            </a:extLst>
          </p:cNvPr>
          <p:cNvSpPr>
            <a:spLocks noGrp="1"/>
          </p:cNvSpPr>
          <p:nvPr/>
        </p:nvSpPr>
        <p:spPr>
          <a:xfrm>
            <a:off x="5095875" y="1695450"/>
            <a:ext cx="6286500" cy="4095750"/>
          </a:xfrm>
          <a:prstGeom prst="rect">
            <a:avLst/>
          </a:prstGeom>
          <a:ln w="9525">
            <a:solidFill>
              <a:srgbClr val="CAD5E4"/>
            </a:solidFill>
            <a:prstDash val="solid"/>
          </a:ln>
        </p:spPr>
      </p:sp>
      <p:pic>
        <p:nvPicPr>
          <p:cNvPr id="6" name="図 5"/>
          <p:cNvPicPr>
            <a:picLocks noChangeAspect="1"/>
          </p:cNvPicPr>
          <p:nvPr/>
        </p:nvPicPr>
        <p:blipFill>
          <a:blip r:embed="rId3"/>
          <a:stretch/>
        </p:blipFill>
        <p:spPr>
          <a:xfrm>
            <a:off x="5238750" y="1922264"/>
            <a:ext cx="6000750" cy="3375422"/>
          </a:xfrm>
          <a:prstGeom prst="rect">
            <a:avLst/>
          </a:prstGeom>
        </p:spPr>
      </p:pic>
      <p:sp>
        <p:nvSpPr>
          <p:cNvPr id="7" name="正方形/長方形 6">
            <a:extLst>
              <a:ext uri="{FF2B5EF4-FFF2-40B4-BE49-F238E27FC236}">
                <a16:creationId xmlns:a16="http://schemas.microsoft.com/office/drawing/2014/main" id="{BEC64B88-0D3F-4C07-9C5B-AFDF98122A27}"/>
              </a:ext>
            </a:extLst>
          </p:cNvPr>
          <p:cNvSpPr>
            <a:spLocks noGrp="1"/>
          </p:cNvSpPr>
          <p:nvPr/>
        </p:nvSpPr>
        <p:spPr>
          <a:xfrm>
            <a:off x="5286375" y="5429250"/>
            <a:ext cx="5905500" cy="228600"/>
          </a:xfrm>
          <a:prstGeom prst="rect">
            <a:avLst/>
          </a:prstGeom>
          <a:ln w="0">
            <a:solidFill>
              <a:srgbClr val="FFFFFF"/>
            </a:solidFill>
            <a:prstDash val="solid"/>
          </a:ln>
        </p:spPr>
        <p:txBody>
          <a:bodyPr lIns="0" tIns="0" rIns="0" bIns="0" anchor="t"/>
          <a:lstStyle/>
          <a:p>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Environment 内の API/Web を確認する</a:t>
            </a:r>
          </a:p>
        </p:txBody>
      </p:sp>
      <p:sp>
        <p:nvSpPr>
          <p:cNvPr id="8" name="正方形/長方形 7">
            <a:extLst>
              <a:ext uri="{FF2B5EF4-FFF2-40B4-BE49-F238E27FC236}">
                <a16:creationId xmlns:a16="http://schemas.microsoft.com/office/drawing/2014/main" id="{4EDD7089-BC90-4FB9-884D-AE051A2D6AB2}"/>
              </a:ext>
            </a:extLst>
          </p:cNvPr>
          <p:cNvSpPr>
            <a:spLocks noGrp="1"/>
          </p:cNvSpPr>
          <p:nvPr/>
        </p:nvSpPr>
        <p:spPr>
          <a:xfrm>
            <a:off x="904875" y="2095500"/>
            <a:ext cx="3714750" cy="1952625"/>
          </a:xfrm>
          <a:prstGeom prst="rect">
            <a:avLst/>
          </a:prstGeom>
          <a:ln w="9525">
            <a:solidFill>
              <a:srgbClr val="DBE4EF"/>
            </a:solidFill>
            <a:prstDash val="solid"/>
          </a:ln>
        </p:spPr>
      </p:sp>
      <p:sp>
        <p:nvSpPr>
          <p:cNvPr id="9" name="正方形/長方形 8">
            <a:extLst>
              <a:ext uri="{FF2B5EF4-FFF2-40B4-BE49-F238E27FC236}">
                <a16:creationId xmlns:a16="http://schemas.microsoft.com/office/drawing/2014/main" id="{96A99364-3F72-46F3-9E2E-BDC8DEFF735B}"/>
              </a:ext>
            </a:extLst>
          </p:cNvPr>
          <p:cNvSpPr>
            <a:spLocks noGrp="1"/>
          </p:cNvSpPr>
          <p:nvPr/>
        </p:nvSpPr>
        <p:spPr>
          <a:xfrm>
            <a:off x="904875" y="2095500"/>
            <a:ext cx="76200" cy="1952625"/>
          </a:xfrm>
          <a:prstGeom prst="rect">
            <a:avLst/>
          </a:prstGeom>
          <a:ln w="0">
            <a:solidFill>
              <a:srgbClr val="2563EB"/>
            </a:solidFill>
            <a:prstDash val="solid"/>
          </a:ln>
        </p:spPr>
      </p:sp>
      <p:sp>
        <p:nvSpPr>
          <p:cNvPr id="10" name="正方形/長方形 9">
            <a:extLst>
              <a:ext uri="{FF2B5EF4-FFF2-40B4-BE49-F238E27FC236}">
                <a16:creationId xmlns:a16="http://schemas.microsoft.com/office/drawing/2014/main" id="{D4C20C71-41F1-4396-B75E-C42E10F1F15D}"/>
              </a:ext>
            </a:extLst>
          </p:cNvPr>
          <p:cNvSpPr>
            <a:spLocks noGrp="1"/>
          </p:cNvSpPr>
          <p:nvPr/>
        </p:nvSpPr>
        <p:spPr>
          <a:xfrm>
            <a:off x="1133475" y="2266950"/>
            <a:ext cx="3333750" cy="171450"/>
          </a:xfrm>
          <a:prstGeom prst="rect">
            <a:avLst/>
          </a:prstGeom>
          <a:ln w="0">
            <a:solidFill>
              <a:srgbClr val="FFFFFF"/>
            </a:solidFill>
            <a:prstDash val="solid"/>
          </a:ln>
        </p:spPr>
        <p:txBody>
          <a:bodyPr lIns="0" tIns="0" rIns="0" bIns="0" anchor="t"/>
          <a:lstStyle/>
          <a:p>
            <a:pPr algn="l">
              <a:defRPr sz="900" b="1">
                <a:solidFill>
                  <a:srgbClr val="2563EB"/>
                </a:solidFill>
                <a:latin typeface="Yu Gothic"/>
                <a:ea typeface="Yu Gothic"/>
                <a:cs typeface="Yu Gothic"/>
              </a:defRPr>
            </a:pPr>
            <a:r>
              <a:rPr sz="900" b="1">
                <a:solidFill>
                  <a:srgbClr val="2563EB"/>
                </a:solidFill>
                <a:latin typeface="Yu Gothic"/>
                <a:ea typeface="Yu Gothic"/>
                <a:cs typeface="Yu Gothic"/>
              </a:rPr>
              <a:t>確認ポイント</a:t>
            </a:r>
          </a:p>
        </p:txBody>
      </p:sp>
      <p:sp>
        <p:nvSpPr>
          <p:cNvPr id="11" name="正方形/長方形 10">
            <a:extLst>
              <a:ext uri="{FF2B5EF4-FFF2-40B4-BE49-F238E27FC236}">
                <a16:creationId xmlns:a16="http://schemas.microsoft.com/office/drawing/2014/main" id="{FC35E4D9-24C0-4C95-A99D-0870BEB2F807}"/>
              </a:ext>
            </a:extLst>
          </p:cNvPr>
          <p:cNvSpPr>
            <a:spLocks noGrp="1"/>
          </p:cNvSpPr>
          <p:nvPr/>
        </p:nvSpPr>
        <p:spPr>
          <a:xfrm>
            <a:off x="1133475" y="2495550"/>
            <a:ext cx="331470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Environment</a:t>
            </a:r>
          </a:p>
        </p:txBody>
      </p:sp>
      <p:sp>
        <p:nvSpPr>
          <p:cNvPr id="12" name="正方形/長方形 11">
            <a:extLst>
              <a:ext uri="{FF2B5EF4-FFF2-40B4-BE49-F238E27FC236}">
                <a16:creationId xmlns:a16="http://schemas.microsoft.com/office/drawing/2014/main" id="{E669B4B6-1357-4B17-9E5F-E8FE41066575}"/>
              </a:ext>
            </a:extLst>
          </p:cNvPr>
          <p:cNvSpPr>
            <a:spLocks noGrp="1"/>
          </p:cNvSpPr>
          <p:nvPr/>
        </p:nvSpPr>
        <p:spPr>
          <a:xfrm>
            <a:off x="1133475" y="2933700"/>
            <a:ext cx="3314700" cy="10001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API と Web が同じ Container Apps Environment にあるか確認します。</a:t>
            </a:r>
          </a:p>
        </p:txBody>
      </p:sp>
      <p:sp>
        <p:nvSpPr>
          <p:cNvPr id="13" name="正方形/長方形 12">
            <a:extLst>
              <a:ext uri="{FF2B5EF4-FFF2-40B4-BE49-F238E27FC236}">
                <a16:creationId xmlns:a16="http://schemas.microsoft.com/office/drawing/2014/main" id="{A1CDA6BC-A491-4B00-9EA2-D95A9E021527}"/>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08B8A485-A9AE-4FBE-9B1A-5305BA8CEAA5}"/>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API の revision を確認する</a:t>
            </a:r>
          </a:p>
        </p:txBody>
      </p:sp>
      <p:sp>
        <p:nvSpPr>
          <p:cNvPr id="2" name="正方形/長方形 1">
            <a:extLst>
              <a:ext uri="{FF2B5EF4-FFF2-40B4-BE49-F238E27FC236}">
                <a16:creationId xmlns:a16="http://schemas.microsoft.com/office/drawing/2014/main" id="{42410770-992E-4296-A91A-5B3D8E4DD2B7}"/>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30 / 48</a:t>
            </a:r>
          </a:p>
        </p:txBody>
      </p:sp>
      <p:sp>
        <p:nvSpPr>
          <p:cNvPr id="3" name="正方形/長方形 2">
            <a:extLst>
              <a:ext uri="{FF2B5EF4-FFF2-40B4-BE49-F238E27FC236}">
                <a16:creationId xmlns:a16="http://schemas.microsoft.com/office/drawing/2014/main" id="{402CA32C-747D-48DA-8DC1-5E8C11ED513F}"/>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711B4E67-5423-43DB-A306-FCDC69F93672}"/>
              </a:ext>
            </a:extLst>
          </p:cNvPr>
          <p:cNvSpPr>
            <a:spLocks noGrp="1"/>
          </p:cNvSpPr>
          <p:nvPr/>
        </p:nvSpPr>
        <p:spPr>
          <a:xfrm>
            <a:off x="666750" y="1123950"/>
            <a:ext cx="10287000" cy="476250"/>
          </a:xfrm>
          <a:prstGeom prst="rect">
            <a:avLst/>
          </a:prstGeom>
          <a:ln w="0">
            <a:solidFill>
              <a:srgbClr val="FFFFFF"/>
            </a:solidFill>
            <a:prstDash val="solid"/>
          </a:ln>
        </p:spPr>
        <p:txBody>
          <a:bodyPr lIns="0" tIns="0" rIns="0" bIns="0" anchor="t"/>
          <a:lstStyle/>
          <a:p>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API のプレースホルダーが、実アプリのイメージを使う revision に更新されていることを確認します。</a:t>
            </a:r>
          </a:p>
        </p:txBody>
      </p:sp>
      <p:sp>
        <p:nvSpPr>
          <p:cNvPr id="5" name="正方形/長方形 4">
            <a:extLst>
              <a:ext uri="{FF2B5EF4-FFF2-40B4-BE49-F238E27FC236}">
                <a16:creationId xmlns:a16="http://schemas.microsoft.com/office/drawing/2014/main" id="{484FEDC3-E865-4016-A690-9AA4895DC2F7}"/>
              </a:ext>
            </a:extLst>
          </p:cNvPr>
          <p:cNvSpPr>
            <a:spLocks noGrp="1"/>
          </p:cNvSpPr>
          <p:nvPr/>
        </p:nvSpPr>
        <p:spPr>
          <a:xfrm>
            <a:off x="5095875" y="1695450"/>
            <a:ext cx="6286500" cy="4095750"/>
          </a:xfrm>
          <a:prstGeom prst="rect">
            <a:avLst/>
          </a:prstGeom>
          <a:ln w="9525">
            <a:solidFill>
              <a:srgbClr val="CAD5E4"/>
            </a:solidFill>
            <a:prstDash val="solid"/>
          </a:ln>
        </p:spPr>
      </p:sp>
      <p:pic>
        <p:nvPicPr>
          <p:cNvPr id="6" name="図 5"/>
          <p:cNvPicPr>
            <a:picLocks noChangeAspect="1"/>
          </p:cNvPicPr>
          <p:nvPr/>
        </p:nvPicPr>
        <p:blipFill>
          <a:blip r:embed="rId3"/>
          <a:stretch/>
        </p:blipFill>
        <p:spPr>
          <a:xfrm>
            <a:off x="5238750" y="1922264"/>
            <a:ext cx="6000750" cy="3375422"/>
          </a:xfrm>
          <a:prstGeom prst="rect">
            <a:avLst/>
          </a:prstGeom>
        </p:spPr>
      </p:pic>
      <p:sp>
        <p:nvSpPr>
          <p:cNvPr id="7" name="正方形/長方形 6">
            <a:extLst>
              <a:ext uri="{FF2B5EF4-FFF2-40B4-BE49-F238E27FC236}">
                <a16:creationId xmlns:a16="http://schemas.microsoft.com/office/drawing/2014/main" id="{A9677EF0-D918-45A1-86E0-AAE137FC7663}"/>
              </a:ext>
            </a:extLst>
          </p:cNvPr>
          <p:cNvSpPr>
            <a:spLocks noGrp="1"/>
          </p:cNvSpPr>
          <p:nvPr/>
        </p:nvSpPr>
        <p:spPr>
          <a:xfrm>
            <a:off x="5286375" y="5429250"/>
            <a:ext cx="5905500" cy="228600"/>
          </a:xfrm>
          <a:prstGeom prst="rect">
            <a:avLst/>
          </a:prstGeom>
          <a:ln w="0">
            <a:solidFill>
              <a:srgbClr val="FFFFFF"/>
            </a:solidFill>
            <a:prstDash val="solid"/>
          </a:ln>
        </p:spPr>
        <p:txBody>
          <a:bodyPr lIns="0" tIns="0" rIns="0" bIns="0" anchor="t"/>
          <a:lstStyle/>
          <a:p>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API Container App の revision</a:t>
            </a:r>
          </a:p>
        </p:txBody>
      </p:sp>
      <p:sp>
        <p:nvSpPr>
          <p:cNvPr id="8" name="正方形/長方形 7">
            <a:extLst>
              <a:ext uri="{FF2B5EF4-FFF2-40B4-BE49-F238E27FC236}">
                <a16:creationId xmlns:a16="http://schemas.microsoft.com/office/drawing/2014/main" id="{2E8C4122-4856-4721-BCD7-F24A2CB80D15}"/>
              </a:ext>
            </a:extLst>
          </p:cNvPr>
          <p:cNvSpPr>
            <a:spLocks noGrp="1"/>
          </p:cNvSpPr>
          <p:nvPr/>
        </p:nvSpPr>
        <p:spPr>
          <a:xfrm>
            <a:off x="904875" y="2095500"/>
            <a:ext cx="3714750" cy="1952625"/>
          </a:xfrm>
          <a:prstGeom prst="rect">
            <a:avLst/>
          </a:prstGeom>
          <a:ln w="9525">
            <a:solidFill>
              <a:srgbClr val="DBE4EF"/>
            </a:solidFill>
            <a:prstDash val="solid"/>
          </a:ln>
        </p:spPr>
      </p:sp>
      <p:sp>
        <p:nvSpPr>
          <p:cNvPr id="9" name="正方形/長方形 8">
            <a:extLst>
              <a:ext uri="{FF2B5EF4-FFF2-40B4-BE49-F238E27FC236}">
                <a16:creationId xmlns:a16="http://schemas.microsoft.com/office/drawing/2014/main" id="{E3678B18-5117-4CB5-87DC-2AFBD1BBC795}"/>
              </a:ext>
            </a:extLst>
          </p:cNvPr>
          <p:cNvSpPr>
            <a:spLocks noGrp="1"/>
          </p:cNvSpPr>
          <p:nvPr/>
        </p:nvSpPr>
        <p:spPr>
          <a:xfrm>
            <a:off x="904875" y="2095500"/>
            <a:ext cx="76200" cy="1952625"/>
          </a:xfrm>
          <a:prstGeom prst="rect">
            <a:avLst/>
          </a:prstGeom>
          <a:ln w="0">
            <a:solidFill>
              <a:srgbClr val="15803D"/>
            </a:solidFill>
            <a:prstDash val="solid"/>
          </a:ln>
        </p:spPr>
      </p:sp>
      <p:sp>
        <p:nvSpPr>
          <p:cNvPr id="10" name="正方形/長方形 9">
            <a:extLst>
              <a:ext uri="{FF2B5EF4-FFF2-40B4-BE49-F238E27FC236}">
                <a16:creationId xmlns:a16="http://schemas.microsoft.com/office/drawing/2014/main" id="{881D5CA9-641B-492F-85BA-2E364B47EFF0}"/>
              </a:ext>
            </a:extLst>
          </p:cNvPr>
          <p:cNvSpPr>
            <a:spLocks noGrp="1"/>
          </p:cNvSpPr>
          <p:nvPr/>
        </p:nvSpPr>
        <p:spPr>
          <a:xfrm>
            <a:off x="1133475" y="2266950"/>
            <a:ext cx="3333750" cy="171450"/>
          </a:xfrm>
          <a:prstGeom prst="rect">
            <a:avLst/>
          </a:prstGeom>
          <a:ln w="0">
            <a:solidFill>
              <a:srgbClr val="FFFFFF"/>
            </a:solidFill>
            <a:prstDash val="solid"/>
          </a:ln>
        </p:spPr>
        <p:txBody>
          <a:bodyPr lIns="0" tIns="0" rIns="0" bIns="0" anchor="t"/>
          <a:lstStyle/>
          <a:p>
            <a:pPr algn="l">
              <a:defRPr sz="900" b="1">
                <a:solidFill>
                  <a:srgbClr val="15803D"/>
                </a:solidFill>
                <a:latin typeface="Yu Gothic"/>
                <a:ea typeface="Yu Gothic"/>
                <a:cs typeface="Yu Gothic"/>
              </a:defRPr>
            </a:pPr>
            <a:r>
              <a:rPr sz="900" b="1">
                <a:solidFill>
                  <a:srgbClr val="15803D"/>
                </a:solidFill>
                <a:latin typeface="Yu Gothic"/>
                <a:ea typeface="Yu Gothic"/>
                <a:cs typeface="Yu Gothic"/>
              </a:rPr>
              <a:t>確認ポイント</a:t>
            </a:r>
          </a:p>
        </p:txBody>
      </p:sp>
      <p:sp>
        <p:nvSpPr>
          <p:cNvPr id="11" name="正方形/長方形 10">
            <a:extLst>
              <a:ext uri="{FF2B5EF4-FFF2-40B4-BE49-F238E27FC236}">
                <a16:creationId xmlns:a16="http://schemas.microsoft.com/office/drawing/2014/main" id="{FAAED90A-4FB3-435B-936E-910C7DCFF66E}"/>
              </a:ext>
            </a:extLst>
          </p:cNvPr>
          <p:cNvSpPr>
            <a:spLocks noGrp="1"/>
          </p:cNvSpPr>
          <p:nvPr/>
        </p:nvSpPr>
        <p:spPr>
          <a:xfrm>
            <a:off x="1133475" y="2495550"/>
            <a:ext cx="331470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API revision</a:t>
            </a:r>
          </a:p>
        </p:txBody>
      </p:sp>
      <p:sp>
        <p:nvSpPr>
          <p:cNvPr id="12" name="正方形/長方形 11">
            <a:extLst>
              <a:ext uri="{FF2B5EF4-FFF2-40B4-BE49-F238E27FC236}">
                <a16:creationId xmlns:a16="http://schemas.microsoft.com/office/drawing/2014/main" id="{2CD53D50-95AC-428F-B329-F4F6F5E0D348}"/>
              </a:ext>
            </a:extLst>
          </p:cNvPr>
          <p:cNvSpPr>
            <a:spLocks noGrp="1"/>
          </p:cNvSpPr>
          <p:nvPr/>
        </p:nvSpPr>
        <p:spPr>
          <a:xfrm>
            <a:off x="1133475" y="2933700"/>
            <a:ext cx="3314700" cy="10001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API が実アプリのイメージに更新されたことを確認します。</a:t>
            </a:r>
          </a:p>
        </p:txBody>
      </p:sp>
      <p:sp>
        <p:nvSpPr>
          <p:cNvPr id="13" name="正方形/長方形 12">
            <a:extLst>
              <a:ext uri="{FF2B5EF4-FFF2-40B4-BE49-F238E27FC236}">
                <a16:creationId xmlns:a16="http://schemas.microsoft.com/office/drawing/2014/main" id="{C381F705-261F-47BA-9EEF-65A1B0981B6D}"/>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7FA05C90-1788-4A07-86AE-8AD86A4931DF}"/>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Web の revision を確認する</a:t>
            </a:r>
          </a:p>
        </p:txBody>
      </p:sp>
      <p:sp>
        <p:nvSpPr>
          <p:cNvPr id="2" name="正方形/長方形 1">
            <a:extLst>
              <a:ext uri="{FF2B5EF4-FFF2-40B4-BE49-F238E27FC236}">
                <a16:creationId xmlns:a16="http://schemas.microsoft.com/office/drawing/2014/main" id="{9711B10E-904A-47C4-B5B7-6C8F11500C51}"/>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31 / 48</a:t>
            </a:r>
          </a:p>
        </p:txBody>
      </p:sp>
      <p:sp>
        <p:nvSpPr>
          <p:cNvPr id="3" name="正方形/長方形 2">
            <a:extLst>
              <a:ext uri="{FF2B5EF4-FFF2-40B4-BE49-F238E27FC236}">
                <a16:creationId xmlns:a16="http://schemas.microsoft.com/office/drawing/2014/main" id="{C9EDDF97-1571-44FB-9C1A-EE8888379CBB}"/>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2686F770-BF0E-4527-8D4B-C5242FAA33FF}"/>
              </a:ext>
            </a:extLst>
          </p:cNvPr>
          <p:cNvSpPr>
            <a:spLocks noGrp="1"/>
          </p:cNvSpPr>
          <p:nvPr/>
        </p:nvSpPr>
        <p:spPr>
          <a:xfrm>
            <a:off x="666750" y="1123950"/>
            <a:ext cx="10287000" cy="476250"/>
          </a:xfrm>
          <a:prstGeom prst="rect">
            <a:avLst/>
          </a:prstGeom>
          <a:ln w="0">
            <a:solidFill>
              <a:srgbClr val="FFFFFF"/>
            </a:solidFill>
            <a:prstDash val="solid"/>
          </a:ln>
        </p:spPr>
        <p:txBody>
          <a:bodyPr lIns="0" tIns="0" rIns="0" bIns="0" anchor="t"/>
          <a:lstStyle/>
          <a:p>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Web 側も新しいイメージの revision に更新されます。API と同じく、image と Status を確認します。</a:t>
            </a:r>
          </a:p>
        </p:txBody>
      </p:sp>
      <p:sp>
        <p:nvSpPr>
          <p:cNvPr id="5" name="正方形/長方形 4">
            <a:extLst>
              <a:ext uri="{FF2B5EF4-FFF2-40B4-BE49-F238E27FC236}">
                <a16:creationId xmlns:a16="http://schemas.microsoft.com/office/drawing/2014/main" id="{9A814DAA-CD72-465C-9E2F-74FA4B09014F}"/>
              </a:ext>
            </a:extLst>
          </p:cNvPr>
          <p:cNvSpPr>
            <a:spLocks noGrp="1"/>
          </p:cNvSpPr>
          <p:nvPr/>
        </p:nvSpPr>
        <p:spPr>
          <a:xfrm>
            <a:off x="5095875" y="1695450"/>
            <a:ext cx="6286500" cy="4095750"/>
          </a:xfrm>
          <a:prstGeom prst="rect">
            <a:avLst/>
          </a:prstGeom>
          <a:ln w="9525">
            <a:solidFill>
              <a:srgbClr val="CAD5E4"/>
            </a:solidFill>
            <a:prstDash val="solid"/>
          </a:ln>
        </p:spPr>
      </p:sp>
      <p:pic>
        <p:nvPicPr>
          <p:cNvPr id="6" name="図 5"/>
          <p:cNvPicPr>
            <a:picLocks noChangeAspect="1"/>
          </p:cNvPicPr>
          <p:nvPr/>
        </p:nvPicPr>
        <p:blipFill>
          <a:blip r:embed="rId3"/>
          <a:stretch/>
        </p:blipFill>
        <p:spPr>
          <a:xfrm>
            <a:off x="5238750" y="1922264"/>
            <a:ext cx="6000750" cy="3375422"/>
          </a:xfrm>
          <a:prstGeom prst="rect">
            <a:avLst/>
          </a:prstGeom>
        </p:spPr>
      </p:pic>
      <p:sp>
        <p:nvSpPr>
          <p:cNvPr id="7" name="正方形/長方形 6">
            <a:extLst>
              <a:ext uri="{FF2B5EF4-FFF2-40B4-BE49-F238E27FC236}">
                <a16:creationId xmlns:a16="http://schemas.microsoft.com/office/drawing/2014/main" id="{B9BA53B3-7C7A-43BD-966A-9CF2863F7D74}"/>
              </a:ext>
            </a:extLst>
          </p:cNvPr>
          <p:cNvSpPr>
            <a:spLocks noGrp="1"/>
          </p:cNvSpPr>
          <p:nvPr/>
        </p:nvSpPr>
        <p:spPr>
          <a:xfrm>
            <a:off x="5286375" y="5429250"/>
            <a:ext cx="5905500" cy="228600"/>
          </a:xfrm>
          <a:prstGeom prst="rect">
            <a:avLst/>
          </a:prstGeom>
          <a:ln w="0">
            <a:solidFill>
              <a:srgbClr val="FFFFFF"/>
            </a:solidFill>
            <a:prstDash val="solid"/>
          </a:ln>
        </p:spPr>
        <p:txBody>
          <a:bodyPr lIns="0" tIns="0" rIns="0" bIns="0" anchor="t"/>
          <a:lstStyle/>
          <a:p>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Web Container App の revision</a:t>
            </a:r>
          </a:p>
        </p:txBody>
      </p:sp>
      <p:sp>
        <p:nvSpPr>
          <p:cNvPr id="8" name="正方形/長方形 7">
            <a:extLst>
              <a:ext uri="{FF2B5EF4-FFF2-40B4-BE49-F238E27FC236}">
                <a16:creationId xmlns:a16="http://schemas.microsoft.com/office/drawing/2014/main" id="{5CF78345-8407-48C3-B14D-0C414AE506DB}"/>
              </a:ext>
            </a:extLst>
          </p:cNvPr>
          <p:cNvSpPr>
            <a:spLocks noGrp="1"/>
          </p:cNvSpPr>
          <p:nvPr/>
        </p:nvSpPr>
        <p:spPr>
          <a:xfrm>
            <a:off x="904875" y="2095500"/>
            <a:ext cx="3714750" cy="1952625"/>
          </a:xfrm>
          <a:prstGeom prst="rect">
            <a:avLst/>
          </a:prstGeom>
          <a:ln w="9525">
            <a:solidFill>
              <a:srgbClr val="DBE4EF"/>
            </a:solidFill>
            <a:prstDash val="solid"/>
          </a:ln>
        </p:spPr>
      </p:sp>
      <p:sp>
        <p:nvSpPr>
          <p:cNvPr id="9" name="正方形/長方形 8">
            <a:extLst>
              <a:ext uri="{FF2B5EF4-FFF2-40B4-BE49-F238E27FC236}">
                <a16:creationId xmlns:a16="http://schemas.microsoft.com/office/drawing/2014/main" id="{AF8E5192-EE69-47BF-9952-0179EEB8B9BD}"/>
              </a:ext>
            </a:extLst>
          </p:cNvPr>
          <p:cNvSpPr>
            <a:spLocks noGrp="1"/>
          </p:cNvSpPr>
          <p:nvPr/>
        </p:nvSpPr>
        <p:spPr>
          <a:xfrm>
            <a:off x="904875" y="2095500"/>
            <a:ext cx="76200" cy="1952625"/>
          </a:xfrm>
          <a:prstGeom prst="rect">
            <a:avLst/>
          </a:prstGeom>
          <a:ln w="0">
            <a:solidFill>
              <a:srgbClr val="15803D"/>
            </a:solidFill>
            <a:prstDash val="solid"/>
          </a:ln>
        </p:spPr>
      </p:sp>
      <p:sp>
        <p:nvSpPr>
          <p:cNvPr id="10" name="正方形/長方形 9">
            <a:extLst>
              <a:ext uri="{FF2B5EF4-FFF2-40B4-BE49-F238E27FC236}">
                <a16:creationId xmlns:a16="http://schemas.microsoft.com/office/drawing/2014/main" id="{8218CDC6-57F3-4987-8877-4D21EE5A048A}"/>
              </a:ext>
            </a:extLst>
          </p:cNvPr>
          <p:cNvSpPr>
            <a:spLocks noGrp="1"/>
          </p:cNvSpPr>
          <p:nvPr/>
        </p:nvSpPr>
        <p:spPr>
          <a:xfrm>
            <a:off x="1133475" y="2266950"/>
            <a:ext cx="3333750" cy="171450"/>
          </a:xfrm>
          <a:prstGeom prst="rect">
            <a:avLst/>
          </a:prstGeom>
          <a:ln w="0">
            <a:solidFill>
              <a:srgbClr val="FFFFFF"/>
            </a:solidFill>
            <a:prstDash val="solid"/>
          </a:ln>
        </p:spPr>
        <p:txBody>
          <a:bodyPr lIns="0" tIns="0" rIns="0" bIns="0" anchor="t"/>
          <a:lstStyle/>
          <a:p>
            <a:pPr algn="l">
              <a:defRPr sz="900" b="1">
                <a:solidFill>
                  <a:srgbClr val="15803D"/>
                </a:solidFill>
                <a:latin typeface="Yu Gothic"/>
                <a:ea typeface="Yu Gothic"/>
                <a:cs typeface="Yu Gothic"/>
              </a:defRPr>
            </a:pPr>
            <a:r>
              <a:rPr sz="900" b="1">
                <a:solidFill>
                  <a:srgbClr val="15803D"/>
                </a:solidFill>
                <a:latin typeface="Yu Gothic"/>
                <a:ea typeface="Yu Gothic"/>
                <a:cs typeface="Yu Gothic"/>
              </a:rPr>
              <a:t>確認ポイント</a:t>
            </a:r>
          </a:p>
        </p:txBody>
      </p:sp>
      <p:sp>
        <p:nvSpPr>
          <p:cNvPr id="11" name="正方形/長方形 10">
            <a:extLst>
              <a:ext uri="{FF2B5EF4-FFF2-40B4-BE49-F238E27FC236}">
                <a16:creationId xmlns:a16="http://schemas.microsoft.com/office/drawing/2014/main" id="{70CADF15-D7CE-4258-BBD7-8801B88E634D}"/>
              </a:ext>
            </a:extLst>
          </p:cNvPr>
          <p:cNvSpPr>
            <a:spLocks noGrp="1"/>
          </p:cNvSpPr>
          <p:nvPr/>
        </p:nvSpPr>
        <p:spPr>
          <a:xfrm>
            <a:off x="1133475" y="2495550"/>
            <a:ext cx="331470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Web revision</a:t>
            </a:r>
          </a:p>
        </p:txBody>
      </p:sp>
      <p:sp>
        <p:nvSpPr>
          <p:cNvPr id="12" name="正方形/長方形 11">
            <a:extLst>
              <a:ext uri="{FF2B5EF4-FFF2-40B4-BE49-F238E27FC236}">
                <a16:creationId xmlns:a16="http://schemas.microsoft.com/office/drawing/2014/main" id="{26BA0C75-879A-4CE2-A34D-8BD2932327F5}"/>
              </a:ext>
            </a:extLst>
          </p:cNvPr>
          <p:cNvSpPr>
            <a:spLocks noGrp="1"/>
          </p:cNvSpPr>
          <p:nvPr/>
        </p:nvSpPr>
        <p:spPr>
          <a:xfrm>
            <a:off x="1133475" y="2933700"/>
            <a:ext cx="3314700" cy="10001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Web 側の image と Status を確認します。</a:t>
            </a:r>
          </a:p>
        </p:txBody>
      </p:sp>
      <p:sp>
        <p:nvSpPr>
          <p:cNvPr id="13" name="正方形/長方形 12">
            <a:extLst>
              <a:ext uri="{FF2B5EF4-FFF2-40B4-BE49-F238E27FC236}">
                <a16:creationId xmlns:a16="http://schemas.microsoft.com/office/drawing/2014/main" id="{47C09900-852C-44AD-8D2E-11E71136FDD4}"/>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1E5F915D-1C96-4D57-B615-6D52A0C311F7}"/>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Web URL を確認する</a:t>
            </a:r>
          </a:p>
        </p:txBody>
      </p:sp>
      <p:sp>
        <p:nvSpPr>
          <p:cNvPr id="2" name="正方形/長方形 1">
            <a:extLst>
              <a:ext uri="{FF2B5EF4-FFF2-40B4-BE49-F238E27FC236}">
                <a16:creationId xmlns:a16="http://schemas.microsoft.com/office/drawing/2014/main" id="{DD8B7F9A-7A39-40A7-961C-3CB453033722}"/>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32 / 48</a:t>
            </a:r>
          </a:p>
        </p:txBody>
      </p:sp>
      <p:sp>
        <p:nvSpPr>
          <p:cNvPr id="3" name="正方形/長方形 2">
            <a:extLst>
              <a:ext uri="{FF2B5EF4-FFF2-40B4-BE49-F238E27FC236}">
                <a16:creationId xmlns:a16="http://schemas.microsoft.com/office/drawing/2014/main" id="{19D4DAC8-5F29-4E36-8892-D76CF3413193}"/>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A2BDC844-EA42-4003-B8D8-D1FAB3FE592F}"/>
              </a:ext>
            </a:extLst>
          </p:cNvPr>
          <p:cNvSpPr>
            <a:spLocks noGrp="1"/>
          </p:cNvSpPr>
          <p:nvPr/>
        </p:nvSpPr>
        <p:spPr>
          <a:xfrm>
            <a:off x="666750" y="1123950"/>
            <a:ext cx="10287000" cy="476250"/>
          </a:xfrm>
          <a:prstGeom prst="rect">
            <a:avLst/>
          </a:prstGeom>
          <a:ln w="0">
            <a:solidFill>
              <a:srgbClr val="FFFFFF"/>
            </a:solidFill>
            <a:prstDash val="solid"/>
          </a:ln>
        </p:spPr>
        <p:txBody>
          <a:bodyPr lIns="0" tIns="0" rIns="0" bIns="0" anchor="t"/>
          <a:lstStyle/>
          <a:p>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利用者がアクセスする入口は Web Container App の Application URL です。第5回で記録した URL と一致しているか確認します。</a:t>
            </a:r>
          </a:p>
        </p:txBody>
      </p:sp>
      <p:sp>
        <p:nvSpPr>
          <p:cNvPr id="5" name="正方形/長方形 4">
            <a:extLst>
              <a:ext uri="{FF2B5EF4-FFF2-40B4-BE49-F238E27FC236}">
                <a16:creationId xmlns:a16="http://schemas.microsoft.com/office/drawing/2014/main" id="{56C0ECD1-840E-4128-BB2F-343D3283449D}"/>
              </a:ext>
            </a:extLst>
          </p:cNvPr>
          <p:cNvSpPr>
            <a:spLocks noGrp="1"/>
          </p:cNvSpPr>
          <p:nvPr/>
        </p:nvSpPr>
        <p:spPr>
          <a:xfrm>
            <a:off x="5095875" y="1695450"/>
            <a:ext cx="6286500" cy="4095750"/>
          </a:xfrm>
          <a:prstGeom prst="rect">
            <a:avLst/>
          </a:prstGeom>
          <a:ln w="9525">
            <a:solidFill>
              <a:srgbClr val="CAD5E4"/>
            </a:solidFill>
            <a:prstDash val="solid"/>
          </a:ln>
        </p:spPr>
      </p:sp>
      <p:pic>
        <p:nvPicPr>
          <p:cNvPr id="6" name="図 5"/>
          <p:cNvPicPr>
            <a:picLocks noChangeAspect="1"/>
          </p:cNvPicPr>
          <p:nvPr/>
        </p:nvPicPr>
        <p:blipFill>
          <a:blip r:embed="rId3"/>
          <a:stretch/>
        </p:blipFill>
        <p:spPr>
          <a:xfrm>
            <a:off x="5238750" y="1922264"/>
            <a:ext cx="6000750" cy="3375422"/>
          </a:xfrm>
          <a:prstGeom prst="rect">
            <a:avLst/>
          </a:prstGeom>
        </p:spPr>
      </p:pic>
      <p:sp>
        <p:nvSpPr>
          <p:cNvPr id="7" name="正方形/長方形 6">
            <a:extLst>
              <a:ext uri="{FF2B5EF4-FFF2-40B4-BE49-F238E27FC236}">
                <a16:creationId xmlns:a16="http://schemas.microsoft.com/office/drawing/2014/main" id="{ECF127F4-0723-4C3A-A051-2BF7C02B7A7A}"/>
              </a:ext>
            </a:extLst>
          </p:cNvPr>
          <p:cNvSpPr>
            <a:spLocks noGrp="1"/>
          </p:cNvSpPr>
          <p:nvPr/>
        </p:nvSpPr>
        <p:spPr>
          <a:xfrm>
            <a:off x="5286375" y="5429250"/>
            <a:ext cx="5905500" cy="228600"/>
          </a:xfrm>
          <a:prstGeom prst="rect">
            <a:avLst/>
          </a:prstGeom>
          <a:ln w="0">
            <a:solidFill>
              <a:srgbClr val="FFFFFF"/>
            </a:solidFill>
            <a:prstDash val="solid"/>
          </a:ln>
        </p:spPr>
        <p:txBody>
          <a:bodyPr lIns="0" tIns="0" rIns="0" bIns="0" anchor="t"/>
          <a:lstStyle/>
          <a:p>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Web Application URL を確認する</a:t>
            </a:r>
          </a:p>
        </p:txBody>
      </p:sp>
      <p:sp>
        <p:nvSpPr>
          <p:cNvPr id="8" name="正方形/長方形 7">
            <a:extLst>
              <a:ext uri="{FF2B5EF4-FFF2-40B4-BE49-F238E27FC236}">
                <a16:creationId xmlns:a16="http://schemas.microsoft.com/office/drawing/2014/main" id="{2DB8E12F-18F4-40DE-98A7-BE444B014D6F}"/>
              </a:ext>
            </a:extLst>
          </p:cNvPr>
          <p:cNvSpPr>
            <a:spLocks noGrp="1"/>
          </p:cNvSpPr>
          <p:nvPr/>
        </p:nvSpPr>
        <p:spPr>
          <a:xfrm>
            <a:off x="904875" y="2095500"/>
            <a:ext cx="3714750" cy="1952625"/>
          </a:xfrm>
          <a:prstGeom prst="rect">
            <a:avLst/>
          </a:prstGeom>
          <a:ln w="9525">
            <a:solidFill>
              <a:srgbClr val="DBE4EF"/>
            </a:solidFill>
            <a:prstDash val="solid"/>
          </a:ln>
        </p:spPr>
      </p:sp>
      <p:sp>
        <p:nvSpPr>
          <p:cNvPr id="9" name="正方形/長方形 8">
            <a:extLst>
              <a:ext uri="{FF2B5EF4-FFF2-40B4-BE49-F238E27FC236}">
                <a16:creationId xmlns:a16="http://schemas.microsoft.com/office/drawing/2014/main" id="{E36D0598-9476-4C6F-BABF-4A9B031126D9}"/>
              </a:ext>
            </a:extLst>
          </p:cNvPr>
          <p:cNvSpPr>
            <a:spLocks noGrp="1"/>
          </p:cNvSpPr>
          <p:nvPr/>
        </p:nvSpPr>
        <p:spPr>
          <a:xfrm>
            <a:off x="904875" y="2095500"/>
            <a:ext cx="76200" cy="1952625"/>
          </a:xfrm>
          <a:prstGeom prst="rect">
            <a:avLst/>
          </a:prstGeom>
          <a:ln w="0">
            <a:solidFill>
              <a:srgbClr val="2563EB"/>
            </a:solidFill>
            <a:prstDash val="solid"/>
          </a:ln>
        </p:spPr>
      </p:sp>
      <p:sp>
        <p:nvSpPr>
          <p:cNvPr id="10" name="正方形/長方形 9">
            <a:extLst>
              <a:ext uri="{FF2B5EF4-FFF2-40B4-BE49-F238E27FC236}">
                <a16:creationId xmlns:a16="http://schemas.microsoft.com/office/drawing/2014/main" id="{7C07CC24-76BF-466D-BAAB-A773D8A08AE5}"/>
              </a:ext>
            </a:extLst>
          </p:cNvPr>
          <p:cNvSpPr>
            <a:spLocks noGrp="1"/>
          </p:cNvSpPr>
          <p:nvPr/>
        </p:nvSpPr>
        <p:spPr>
          <a:xfrm>
            <a:off x="1133475" y="2266950"/>
            <a:ext cx="3333750" cy="171450"/>
          </a:xfrm>
          <a:prstGeom prst="rect">
            <a:avLst/>
          </a:prstGeom>
          <a:ln w="0">
            <a:solidFill>
              <a:srgbClr val="FFFFFF"/>
            </a:solidFill>
            <a:prstDash val="solid"/>
          </a:ln>
        </p:spPr>
        <p:txBody>
          <a:bodyPr lIns="0" tIns="0" rIns="0" bIns="0" anchor="t"/>
          <a:lstStyle/>
          <a:p>
            <a:pPr algn="l">
              <a:defRPr sz="900" b="1">
                <a:solidFill>
                  <a:srgbClr val="2563EB"/>
                </a:solidFill>
                <a:latin typeface="Yu Gothic"/>
                <a:ea typeface="Yu Gothic"/>
                <a:cs typeface="Yu Gothic"/>
              </a:defRPr>
            </a:pPr>
            <a:r>
              <a:rPr sz="900" b="1">
                <a:solidFill>
                  <a:srgbClr val="2563EB"/>
                </a:solidFill>
                <a:latin typeface="Yu Gothic"/>
                <a:ea typeface="Yu Gothic"/>
                <a:cs typeface="Yu Gothic"/>
              </a:rPr>
              <a:t>確認ポイント</a:t>
            </a:r>
          </a:p>
        </p:txBody>
      </p:sp>
      <p:sp>
        <p:nvSpPr>
          <p:cNvPr id="11" name="正方形/長方形 10">
            <a:extLst>
              <a:ext uri="{FF2B5EF4-FFF2-40B4-BE49-F238E27FC236}">
                <a16:creationId xmlns:a16="http://schemas.microsoft.com/office/drawing/2014/main" id="{EDA3EFD9-8549-4B01-9F89-B4FFE2F96B27}"/>
              </a:ext>
            </a:extLst>
          </p:cNvPr>
          <p:cNvSpPr>
            <a:spLocks noGrp="1"/>
          </p:cNvSpPr>
          <p:nvPr/>
        </p:nvSpPr>
        <p:spPr>
          <a:xfrm>
            <a:off x="1133475" y="2495550"/>
            <a:ext cx="331470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Web URL</a:t>
            </a:r>
          </a:p>
        </p:txBody>
      </p:sp>
      <p:sp>
        <p:nvSpPr>
          <p:cNvPr id="12" name="正方形/長方形 11">
            <a:extLst>
              <a:ext uri="{FF2B5EF4-FFF2-40B4-BE49-F238E27FC236}">
                <a16:creationId xmlns:a16="http://schemas.microsoft.com/office/drawing/2014/main" id="{92CDC970-53B2-4568-B433-C89F78B5D928}"/>
              </a:ext>
            </a:extLst>
          </p:cNvPr>
          <p:cNvSpPr>
            <a:spLocks noGrp="1"/>
          </p:cNvSpPr>
          <p:nvPr/>
        </p:nvSpPr>
        <p:spPr>
          <a:xfrm>
            <a:off x="1133475" y="2933700"/>
            <a:ext cx="3314700" cy="10001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利用者入口であり、redirect URI と一致させる URL です。</a:t>
            </a:r>
          </a:p>
        </p:txBody>
      </p:sp>
      <p:sp>
        <p:nvSpPr>
          <p:cNvPr id="13" name="正方形/長方形 12">
            <a:extLst>
              <a:ext uri="{FF2B5EF4-FFF2-40B4-BE49-F238E27FC236}">
                <a16:creationId xmlns:a16="http://schemas.microsoft.com/office/drawing/2014/main" id="{E38D6469-4139-4F33-B31C-8F4B3F07BD6E}"/>
              </a:ext>
            </a:extLst>
          </p:cNvPr>
          <p:cNvSpPr>
            <a:spLocks noGrp="1"/>
          </p:cNvSpPr>
          <p:nvPr/>
        </p:nvSpPr>
        <p:spPr>
          <a:xfrm>
            <a:off x="952500" y="4305300"/>
            <a:ext cx="3619500" cy="666750"/>
          </a:xfrm>
          <a:prstGeom prst="rect">
            <a:avLst/>
          </a:prstGeom>
          <a:ln w="0">
            <a:solidFill>
              <a:srgbClr val="FFFFFF"/>
            </a:solidFill>
            <a:prstDash val="solid"/>
          </a:ln>
        </p:spPr>
        <p:txBody>
          <a:bodyPr lIns="0" tIns="0" rIns="0" bIns="0" anchor="t"/>
          <a:lstStyle/>
          <a:p>
            <a:pPr algn="l">
              <a:defRPr sz="1125" b="0">
                <a:solidFill>
                  <a:srgbClr val="64748B"/>
                </a:solidFill>
                <a:latin typeface="Yu Gothic"/>
                <a:ea typeface="Yu Gothic"/>
                <a:cs typeface="Yu Gothic"/>
              </a:defRPr>
            </a:pPr>
            <a:r>
              <a:rPr sz="1125" b="0">
                <a:solidFill>
                  <a:srgbClr val="64748B"/>
                </a:solidFill>
                <a:latin typeface="Yu Gothic"/>
                <a:ea typeface="Yu Gothic"/>
                <a:cs typeface="Yu Gothic"/>
              </a:rPr>
              <a:t>Secret、ID、URL、ユーザー情報は、既存のマスク状態を変えずに扱います。</a:t>
            </a:r>
          </a:p>
        </p:txBody>
      </p:sp>
      <p:sp>
        <p:nvSpPr>
          <p:cNvPr id="14" name="正方形/長方形 13">
            <a:extLst>
              <a:ext uri="{FF2B5EF4-FFF2-40B4-BE49-F238E27FC236}">
                <a16:creationId xmlns:a16="http://schemas.microsoft.com/office/drawing/2014/main" id="{0E8DED17-4A94-4F38-BE16-2A06D1C2AC01}"/>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6BBB840F-4B45-4AE1-A423-A1FE90704FAD}"/>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Entra ID redirect URI を確認する</a:t>
            </a:r>
          </a:p>
        </p:txBody>
      </p:sp>
      <p:sp>
        <p:nvSpPr>
          <p:cNvPr id="2" name="正方形/長方形 1">
            <a:extLst>
              <a:ext uri="{FF2B5EF4-FFF2-40B4-BE49-F238E27FC236}">
                <a16:creationId xmlns:a16="http://schemas.microsoft.com/office/drawing/2014/main" id="{EB8CB97D-85DE-4E33-A180-095089CE06F9}"/>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33 / 48</a:t>
            </a:r>
          </a:p>
        </p:txBody>
      </p:sp>
      <p:sp>
        <p:nvSpPr>
          <p:cNvPr id="3" name="正方形/長方形 2">
            <a:extLst>
              <a:ext uri="{FF2B5EF4-FFF2-40B4-BE49-F238E27FC236}">
                <a16:creationId xmlns:a16="http://schemas.microsoft.com/office/drawing/2014/main" id="{098347E1-199C-4C83-ACA3-2AF81A2864F1}"/>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6D142A7E-3879-4577-8D38-8737DF37493C}"/>
              </a:ext>
            </a:extLst>
          </p:cNvPr>
          <p:cNvSpPr>
            <a:spLocks noGrp="1"/>
          </p:cNvSpPr>
          <p:nvPr/>
        </p:nvSpPr>
        <p:spPr>
          <a:xfrm>
            <a:off x="666750" y="1123950"/>
            <a:ext cx="10287000" cy="476250"/>
          </a:xfrm>
          <a:prstGeom prst="rect">
            <a:avLst/>
          </a:prstGeom>
          <a:ln w="0">
            <a:solidFill>
              <a:srgbClr val="FFFFFF"/>
            </a:solidFill>
            <a:prstDash val="solid"/>
          </a:ln>
        </p:spPr>
        <p:txBody>
          <a:bodyPr lIns="0" tIns="0" rIns="0" bIns="0" anchor="t"/>
          <a:lstStyle/>
          <a:p>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Web サインインが成功するには、Entra ID の SPA redirect URI と Web Container App URL が一致している必要があります。</a:t>
            </a:r>
          </a:p>
        </p:txBody>
      </p:sp>
      <p:sp>
        <p:nvSpPr>
          <p:cNvPr id="5" name="正方形/長方形 4">
            <a:extLst>
              <a:ext uri="{FF2B5EF4-FFF2-40B4-BE49-F238E27FC236}">
                <a16:creationId xmlns:a16="http://schemas.microsoft.com/office/drawing/2014/main" id="{D9ADFF98-70B3-4B67-A95A-2867AF03C3C7}"/>
              </a:ext>
            </a:extLst>
          </p:cNvPr>
          <p:cNvSpPr>
            <a:spLocks noGrp="1"/>
          </p:cNvSpPr>
          <p:nvPr/>
        </p:nvSpPr>
        <p:spPr>
          <a:xfrm>
            <a:off x="5095875" y="1695450"/>
            <a:ext cx="6286500" cy="4095750"/>
          </a:xfrm>
          <a:prstGeom prst="rect">
            <a:avLst/>
          </a:prstGeom>
          <a:ln w="9525">
            <a:solidFill>
              <a:srgbClr val="CAD5E4"/>
            </a:solidFill>
            <a:prstDash val="solid"/>
          </a:ln>
        </p:spPr>
      </p:sp>
      <p:pic>
        <p:nvPicPr>
          <p:cNvPr id="6" name="図 5"/>
          <p:cNvPicPr>
            <a:picLocks noChangeAspect="1"/>
          </p:cNvPicPr>
          <p:nvPr/>
        </p:nvPicPr>
        <p:blipFill>
          <a:blip r:embed="rId3"/>
          <a:stretch/>
        </p:blipFill>
        <p:spPr>
          <a:xfrm>
            <a:off x="5238750" y="1922264"/>
            <a:ext cx="6000750" cy="3375422"/>
          </a:xfrm>
          <a:prstGeom prst="rect">
            <a:avLst/>
          </a:prstGeom>
        </p:spPr>
      </p:pic>
      <p:sp>
        <p:nvSpPr>
          <p:cNvPr id="7" name="正方形/長方形 6">
            <a:extLst>
              <a:ext uri="{FF2B5EF4-FFF2-40B4-BE49-F238E27FC236}">
                <a16:creationId xmlns:a16="http://schemas.microsoft.com/office/drawing/2014/main" id="{65A8EB83-5D2D-41BB-B6AB-B601C1CB2839}"/>
              </a:ext>
            </a:extLst>
          </p:cNvPr>
          <p:cNvSpPr>
            <a:spLocks noGrp="1"/>
          </p:cNvSpPr>
          <p:nvPr/>
        </p:nvSpPr>
        <p:spPr>
          <a:xfrm>
            <a:off x="5286375" y="5429250"/>
            <a:ext cx="5905500" cy="228600"/>
          </a:xfrm>
          <a:prstGeom prst="rect">
            <a:avLst/>
          </a:prstGeom>
          <a:ln w="0">
            <a:solidFill>
              <a:srgbClr val="FFFFFF"/>
            </a:solidFill>
            <a:prstDash val="solid"/>
          </a:ln>
        </p:spPr>
        <p:txBody>
          <a:bodyPr lIns="0" tIns="0" rIns="0" bIns="0" anchor="t"/>
          <a:lstStyle/>
          <a:p>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SPA redirect URI を確認する</a:t>
            </a:r>
          </a:p>
        </p:txBody>
      </p:sp>
      <p:sp>
        <p:nvSpPr>
          <p:cNvPr id="8" name="正方形/長方形 7">
            <a:extLst>
              <a:ext uri="{FF2B5EF4-FFF2-40B4-BE49-F238E27FC236}">
                <a16:creationId xmlns:a16="http://schemas.microsoft.com/office/drawing/2014/main" id="{A62398CE-303B-4897-BFA7-46CC3D81A8CD}"/>
              </a:ext>
            </a:extLst>
          </p:cNvPr>
          <p:cNvSpPr>
            <a:spLocks noGrp="1"/>
          </p:cNvSpPr>
          <p:nvPr/>
        </p:nvSpPr>
        <p:spPr>
          <a:xfrm>
            <a:off x="904875" y="2095500"/>
            <a:ext cx="3714750" cy="1952625"/>
          </a:xfrm>
          <a:prstGeom prst="rect">
            <a:avLst/>
          </a:prstGeom>
          <a:ln w="9525">
            <a:solidFill>
              <a:srgbClr val="DBE4EF"/>
            </a:solidFill>
            <a:prstDash val="solid"/>
          </a:ln>
        </p:spPr>
      </p:sp>
      <p:sp>
        <p:nvSpPr>
          <p:cNvPr id="9" name="正方形/長方形 8">
            <a:extLst>
              <a:ext uri="{FF2B5EF4-FFF2-40B4-BE49-F238E27FC236}">
                <a16:creationId xmlns:a16="http://schemas.microsoft.com/office/drawing/2014/main" id="{7B553191-C836-47B5-A655-A5FB514F196F}"/>
              </a:ext>
            </a:extLst>
          </p:cNvPr>
          <p:cNvSpPr>
            <a:spLocks noGrp="1"/>
          </p:cNvSpPr>
          <p:nvPr/>
        </p:nvSpPr>
        <p:spPr>
          <a:xfrm>
            <a:off x="904875" y="2095500"/>
            <a:ext cx="76200" cy="1952625"/>
          </a:xfrm>
          <a:prstGeom prst="rect">
            <a:avLst/>
          </a:prstGeom>
          <a:ln w="0">
            <a:solidFill>
              <a:srgbClr val="EA580C"/>
            </a:solidFill>
            <a:prstDash val="solid"/>
          </a:ln>
        </p:spPr>
      </p:sp>
      <p:sp>
        <p:nvSpPr>
          <p:cNvPr id="10" name="正方形/長方形 9">
            <a:extLst>
              <a:ext uri="{FF2B5EF4-FFF2-40B4-BE49-F238E27FC236}">
                <a16:creationId xmlns:a16="http://schemas.microsoft.com/office/drawing/2014/main" id="{B086DE11-2F58-4A3C-B83B-BC12F15FDB28}"/>
              </a:ext>
            </a:extLst>
          </p:cNvPr>
          <p:cNvSpPr>
            <a:spLocks noGrp="1"/>
          </p:cNvSpPr>
          <p:nvPr/>
        </p:nvSpPr>
        <p:spPr>
          <a:xfrm>
            <a:off x="1133475" y="2266950"/>
            <a:ext cx="3333750" cy="171450"/>
          </a:xfrm>
          <a:prstGeom prst="rect">
            <a:avLst/>
          </a:prstGeom>
          <a:ln w="0">
            <a:solidFill>
              <a:srgbClr val="FFFFFF"/>
            </a:solidFill>
            <a:prstDash val="solid"/>
          </a:ln>
        </p:spPr>
        <p:txBody>
          <a:bodyPr lIns="0" tIns="0" rIns="0" bIns="0" anchor="t"/>
          <a:lstStyle/>
          <a:p>
            <a:pPr algn="l">
              <a:defRPr sz="900" b="1">
                <a:solidFill>
                  <a:srgbClr val="EA580C"/>
                </a:solidFill>
                <a:latin typeface="Yu Gothic"/>
                <a:ea typeface="Yu Gothic"/>
                <a:cs typeface="Yu Gothic"/>
              </a:defRPr>
            </a:pPr>
            <a:r>
              <a:rPr sz="900" b="1">
                <a:solidFill>
                  <a:srgbClr val="EA580C"/>
                </a:solidFill>
                <a:latin typeface="Yu Gothic"/>
                <a:ea typeface="Yu Gothic"/>
                <a:cs typeface="Yu Gothic"/>
              </a:rPr>
              <a:t>確認ポイント</a:t>
            </a:r>
          </a:p>
        </p:txBody>
      </p:sp>
      <p:sp>
        <p:nvSpPr>
          <p:cNvPr id="11" name="正方形/長方形 10">
            <a:extLst>
              <a:ext uri="{FF2B5EF4-FFF2-40B4-BE49-F238E27FC236}">
                <a16:creationId xmlns:a16="http://schemas.microsoft.com/office/drawing/2014/main" id="{1A349E5E-D022-4D12-9C6D-6533E0D4957E}"/>
              </a:ext>
            </a:extLst>
          </p:cNvPr>
          <p:cNvSpPr>
            <a:spLocks noGrp="1"/>
          </p:cNvSpPr>
          <p:nvPr/>
        </p:nvSpPr>
        <p:spPr>
          <a:xfrm>
            <a:off x="1133475" y="2495550"/>
            <a:ext cx="331470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Redirect URI</a:t>
            </a:r>
          </a:p>
        </p:txBody>
      </p:sp>
      <p:sp>
        <p:nvSpPr>
          <p:cNvPr id="12" name="正方形/長方形 11">
            <a:extLst>
              <a:ext uri="{FF2B5EF4-FFF2-40B4-BE49-F238E27FC236}">
                <a16:creationId xmlns:a16="http://schemas.microsoft.com/office/drawing/2014/main" id="{87288E1C-96E3-4F6E-BCEE-30C3E0916ACB}"/>
              </a:ext>
            </a:extLst>
          </p:cNvPr>
          <p:cNvSpPr>
            <a:spLocks noGrp="1"/>
          </p:cNvSpPr>
          <p:nvPr/>
        </p:nvSpPr>
        <p:spPr>
          <a:xfrm>
            <a:off x="1133475" y="2933700"/>
            <a:ext cx="3314700" cy="10001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Web サインイン失敗時の主要確認箇所です。</a:t>
            </a:r>
          </a:p>
        </p:txBody>
      </p:sp>
      <p:sp>
        <p:nvSpPr>
          <p:cNvPr id="13" name="正方形/長方形 12">
            <a:extLst>
              <a:ext uri="{FF2B5EF4-FFF2-40B4-BE49-F238E27FC236}">
                <a16:creationId xmlns:a16="http://schemas.microsoft.com/office/drawing/2014/main" id="{4C55097D-4332-438E-AEBC-CAD7A75FEAA5}"/>
              </a:ext>
            </a:extLst>
          </p:cNvPr>
          <p:cNvSpPr>
            <a:spLocks noGrp="1"/>
          </p:cNvSpPr>
          <p:nvPr/>
        </p:nvSpPr>
        <p:spPr>
          <a:xfrm>
            <a:off x="952500" y="4305300"/>
            <a:ext cx="3619500" cy="666750"/>
          </a:xfrm>
          <a:prstGeom prst="rect">
            <a:avLst/>
          </a:prstGeom>
          <a:ln w="0">
            <a:solidFill>
              <a:srgbClr val="FFFFFF"/>
            </a:solidFill>
            <a:prstDash val="solid"/>
          </a:ln>
        </p:spPr>
        <p:txBody>
          <a:bodyPr lIns="0" tIns="0" rIns="0" bIns="0" anchor="t"/>
          <a:lstStyle/>
          <a:p>
            <a:pPr algn="l">
              <a:defRPr sz="1125" b="0">
                <a:solidFill>
                  <a:srgbClr val="64748B"/>
                </a:solidFill>
                <a:latin typeface="Yu Gothic"/>
                <a:ea typeface="Yu Gothic"/>
                <a:cs typeface="Yu Gothic"/>
              </a:defRPr>
            </a:pPr>
            <a:r>
              <a:rPr sz="1125" b="0">
                <a:solidFill>
                  <a:srgbClr val="64748B"/>
                </a:solidFill>
                <a:latin typeface="Yu Gothic"/>
                <a:ea typeface="Yu Gothic"/>
                <a:cs typeface="Yu Gothic"/>
              </a:rPr>
              <a:t>Secret、ID、URL、ユーザー情報は、既存のマスク状態を変えずに扱います。</a:t>
            </a:r>
          </a:p>
        </p:txBody>
      </p:sp>
      <p:sp>
        <p:nvSpPr>
          <p:cNvPr id="14" name="正方形/長方形 13">
            <a:extLst>
              <a:ext uri="{FF2B5EF4-FFF2-40B4-BE49-F238E27FC236}">
                <a16:creationId xmlns:a16="http://schemas.microsoft.com/office/drawing/2014/main" id="{5715625D-C437-4DAE-BFDD-AD75701118FA}"/>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195B149D-291C-4960-B74F-92E1EFD02ECA}"/>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GitHub variables の URL を確認する</a:t>
            </a:r>
          </a:p>
        </p:txBody>
      </p:sp>
      <p:sp>
        <p:nvSpPr>
          <p:cNvPr id="2" name="正方形/長方形 1">
            <a:extLst>
              <a:ext uri="{FF2B5EF4-FFF2-40B4-BE49-F238E27FC236}">
                <a16:creationId xmlns:a16="http://schemas.microsoft.com/office/drawing/2014/main" id="{9B572888-E4F7-4570-A9B9-682047EF0D8E}"/>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34 / 48</a:t>
            </a:r>
          </a:p>
        </p:txBody>
      </p:sp>
      <p:sp>
        <p:nvSpPr>
          <p:cNvPr id="3" name="正方形/長方形 2">
            <a:extLst>
              <a:ext uri="{FF2B5EF4-FFF2-40B4-BE49-F238E27FC236}">
                <a16:creationId xmlns:a16="http://schemas.microsoft.com/office/drawing/2014/main" id="{15673AEC-E857-4FB9-8723-9F3546374F63}"/>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D5FDDE8A-5149-4287-9430-FCA9C6D578B1}"/>
              </a:ext>
            </a:extLst>
          </p:cNvPr>
          <p:cNvSpPr>
            <a:spLocks noGrp="1"/>
          </p:cNvSpPr>
          <p:nvPr/>
        </p:nvSpPr>
        <p:spPr>
          <a:xfrm>
            <a:off x="666750" y="1123950"/>
            <a:ext cx="10287000" cy="476250"/>
          </a:xfrm>
          <a:prstGeom prst="rect">
            <a:avLst/>
          </a:prstGeom>
          <a:ln w="0">
            <a:solidFill>
              <a:srgbClr val="FFFFFF"/>
            </a:solidFill>
            <a:prstDash val="solid"/>
          </a:ln>
        </p:spPr>
        <p:txBody>
          <a:bodyPr lIns="0" tIns="0" rIns="0" bIns="0" anchor="t"/>
          <a:lstStyle/>
          <a:p>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AZURE_REDIRECT_URI と API_PROXY_TARGET が、実際の Web/API URL と一致しているか確認します。</a:t>
            </a:r>
          </a:p>
        </p:txBody>
      </p:sp>
      <p:sp>
        <p:nvSpPr>
          <p:cNvPr id="5" name="正方形/長方形 4">
            <a:extLst>
              <a:ext uri="{FF2B5EF4-FFF2-40B4-BE49-F238E27FC236}">
                <a16:creationId xmlns:a16="http://schemas.microsoft.com/office/drawing/2014/main" id="{0EF12770-61D6-433B-B036-3109A4C29736}"/>
              </a:ext>
            </a:extLst>
          </p:cNvPr>
          <p:cNvSpPr>
            <a:spLocks noGrp="1"/>
          </p:cNvSpPr>
          <p:nvPr/>
        </p:nvSpPr>
        <p:spPr>
          <a:xfrm>
            <a:off x="5095875" y="1695450"/>
            <a:ext cx="6286500" cy="4095750"/>
          </a:xfrm>
          <a:prstGeom prst="rect">
            <a:avLst/>
          </a:prstGeom>
          <a:ln w="9525">
            <a:solidFill>
              <a:srgbClr val="CAD5E4"/>
            </a:solidFill>
            <a:prstDash val="solid"/>
          </a:ln>
        </p:spPr>
      </p:sp>
      <p:pic>
        <p:nvPicPr>
          <p:cNvPr id="6" name="図 5"/>
          <p:cNvPicPr>
            <a:picLocks noChangeAspect="1"/>
          </p:cNvPicPr>
          <p:nvPr/>
        </p:nvPicPr>
        <p:blipFill>
          <a:blip r:embed="rId3"/>
          <a:stretch/>
        </p:blipFill>
        <p:spPr>
          <a:xfrm>
            <a:off x="6903244" y="1828800"/>
            <a:ext cx="2671763" cy="3562350"/>
          </a:xfrm>
          <a:prstGeom prst="rect">
            <a:avLst/>
          </a:prstGeom>
        </p:spPr>
      </p:pic>
      <p:sp>
        <p:nvSpPr>
          <p:cNvPr id="7" name="正方形/長方形 6">
            <a:extLst>
              <a:ext uri="{FF2B5EF4-FFF2-40B4-BE49-F238E27FC236}">
                <a16:creationId xmlns:a16="http://schemas.microsoft.com/office/drawing/2014/main" id="{A887CD41-5FE8-4544-90DC-F669A1BAC53B}"/>
              </a:ext>
            </a:extLst>
          </p:cNvPr>
          <p:cNvSpPr>
            <a:spLocks noGrp="1"/>
          </p:cNvSpPr>
          <p:nvPr/>
        </p:nvSpPr>
        <p:spPr>
          <a:xfrm>
            <a:off x="5286375" y="5429250"/>
            <a:ext cx="5905500" cy="228600"/>
          </a:xfrm>
          <a:prstGeom prst="rect">
            <a:avLst/>
          </a:prstGeom>
          <a:ln w="0">
            <a:solidFill>
              <a:srgbClr val="FFFFFF"/>
            </a:solidFill>
            <a:prstDash val="solid"/>
          </a:ln>
        </p:spPr>
        <p:txBody>
          <a:bodyPr lIns="0" tIns="0" rIns="0" bIns="0" anchor="t"/>
          <a:lstStyle/>
          <a:p>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URL variables を確認する</a:t>
            </a:r>
          </a:p>
        </p:txBody>
      </p:sp>
      <p:sp>
        <p:nvSpPr>
          <p:cNvPr id="8" name="正方形/長方形 7">
            <a:extLst>
              <a:ext uri="{FF2B5EF4-FFF2-40B4-BE49-F238E27FC236}">
                <a16:creationId xmlns:a16="http://schemas.microsoft.com/office/drawing/2014/main" id="{BE7E9BFD-190D-4C09-A88D-711986247E33}"/>
              </a:ext>
            </a:extLst>
          </p:cNvPr>
          <p:cNvSpPr>
            <a:spLocks noGrp="1"/>
          </p:cNvSpPr>
          <p:nvPr/>
        </p:nvSpPr>
        <p:spPr>
          <a:xfrm>
            <a:off x="904875" y="2095500"/>
            <a:ext cx="3714750" cy="1952625"/>
          </a:xfrm>
          <a:prstGeom prst="rect">
            <a:avLst/>
          </a:prstGeom>
          <a:ln w="9525">
            <a:solidFill>
              <a:srgbClr val="DBE4EF"/>
            </a:solidFill>
            <a:prstDash val="solid"/>
          </a:ln>
        </p:spPr>
      </p:sp>
      <p:sp>
        <p:nvSpPr>
          <p:cNvPr id="9" name="正方形/長方形 8">
            <a:extLst>
              <a:ext uri="{FF2B5EF4-FFF2-40B4-BE49-F238E27FC236}">
                <a16:creationId xmlns:a16="http://schemas.microsoft.com/office/drawing/2014/main" id="{7F83A72A-E6E2-4CC3-9E1C-347F27C23259}"/>
              </a:ext>
            </a:extLst>
          </p:cNvPr>
          <p:cNvSpPr>
            <a:spLocks noGrp="1"/>
          </p:cNvSpPr>
          <p:nvPr/>
        </p:nvSpPr>
        <p:spPr>
          <a:xfrm>
            <a:off x="904875" y="2095500"/>
            <a:ext cx="76200" cy="1952625"/>
          </a:xfrm>
          <a:prstGeom prst="rect">
            <a:avLst/>
          </a:prstGeom>
          <a:ln w="0">
            <a:solidFill>
              <a:srgbClr val="7C3AED"/>
            </a:solidFill>
            <a:prstDash val="solid"/>
          </a:ln>
        </p:spPr>
      </p:sp>
      <p:sp>
        <p:nvSpPr>
          <p:cNvPr id="10" name="正方形/長方形 9">
            <a:extLst>
              <a:ext uri="{FF2B5EF4-FFF2-40B4-BE49-F238E27FC236}">
                <a16:creationId xmlns:a16="http://schemas.microsoft.com/office/drawing/2014/main" id="{129F55DA-5C3B-4748-B111-01A0050AB496}"/>
              </a:ext>
            </a:extLst>
          </p:cNvPr>
          <p:cNvSpPr>
            <a:spLocks noGrp="1"/>
          </p:cNvSpPr>
          <p:nvPr/>
        </p:nvSpPr>
        <p:spPr>
          <a:xfrm>
            <a:off x="1133475" y="2266950"/>
            <a:ext cx="3333750" cy="171450"/>
          </a:xfrm>
          <a:prstGeom prst="rect">
            <a:avLst/>
          </a:prstGeom>
          <a:ln w="0">
            <a:solidFill>
              <a:srgbClr val="FFFFFF"/>
            </a:solidFill>
            <a:prstDash val="solid"/>
          </a:ln>
        </p:spPr>
        <p:txBody>
          <a:bodyPr lIns="0" tIns="0" rIns="0" bIns="0" anchor="t"/>
          <a:lstStyle/>
          <a:p>
            <a:pPr algn="l">
              <a:defRPr sz="900" b="1">
                <a:solidFill>
                  <a:srgbClr val="7C3AED"/>
                </a:solidFill>
                <a:latin typeface="Yu Gothic"/>
                <a:ea typeface="Yu Gothic"/>
                <a:cs typeface="Yu Gothic"/>
              </a:defRPr>
            </a:pPr>
            <a:r>
              <a:rPr sz="900" b="1">
                <a:solidFill>
                  <a:srgbClr val="7C3AED"/>
                </a:solidFill>
                <a:latin typeface="Yu Gothic"/>
                <a:ea typeface="Yu Gothic"/>
                <a:cs typeface="Yu Gothic"/>
              </a:rPr>
              <a:t>確認ポイント</a:t>
            </a:r>
          </a:p>
        </p:txBody>
      </p:sp>
      <p:sp>
        <p:nvSpPr>
          <p:cNvPr id="11" name="正方形/長方形 10">
            <a:extLst>
              <a:ext uri="{FF2B5EF4-FFF2-40B4-BE49-F238E27FC236}">
                <a16:creationId xmlns:a16="http://schemas.microsoft.com/office/drawing/2014/main" id="{753534EE-81CD-4B32-A14B-B79AB56D5CAE}"/>
              </a:ext>
            </a:extLst>
          </p:cNvPr>
          <p:cNvSpPr>
            <a:spLocks noGrp="1"/>
          </p:cNvSpPr>
          <p:nvPr/>
        </p:nvSpPr>
        <p:spPr>
          <a:xfrm>
            <a:off x="1133475" y="2495550"/>
            <a:ext cx="331470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URL variables</a:t>
            </a:r>
          </a:p>
        </p:txBody>
      </p:sp>
      <p:sp>
        <p:nvSpPr>
          <p:cNvPr id="12" name="正方形/長方形 11">
            <a:extLst>
              <a:ext uri="{FF2B5EF4-FFF2-40B4-BE49-F238E27FC236}">
                <a16:creationId xmlns:a16="http://schemas.microsoft.com/office/drawing/2014/main" id="{2B9302CD-9069-48BA-AABE-56F1B581C978}"/>
              </a:ext>
            </a:extLst>
          </p:cNvPr>
          <p:cNvSpPr>
            <a:spLocks noGrp="1"/>
          </p:cNvSpPr>
          <p:nvPr/>
        </p:nvSpPr>
        <p:spPr>
          <a:xfrm>
            <a:off x="1133475" y="2933700"/>
            <a:ext cx="3314700" cy="10001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AZURE_REDIRECT_URI と API_PROXY_TARGET を取り違えないようにします。</a:t>
            </a:r>
          </a:p>
        </p:txBody>
      </p:sp>
      <p:sp>
        <p:nvSpPr>
          <p:cNvPr id="13" name="正方形/長方形 12">
            <a:extLst>
              <a:ext uri="{FF2B5EF4-FFF2-40B4-BE49-F238E27FC236}">
                <a16:creationId xmlns:a16="http://schemas.microsoft.com/office/drawing/2014/main" id="{8AF01BA4-A37A-482E-8E1E-65D65CFFA8DF}"/>
              </a:ext>
            </a:extLst>
          </p:cNvPr>
          <p:cNvSpPr>
            <a:spLocks noGrp="1"/>
          </p:cNvSpPr>
          <p:nvPr/>
        </p:nvSpPr>
        <p:spPr>
          <a:xfrm>
            <a:off x="952500" y="4305300"/>
            <a:ext cx="3619500" cy="666750"/>
          </a:xfrm>
          <a:prstGeom prst="rect">
            <a:avLst/>
          </a:prstGeom>
          <a:ln w="0">
            <a:solidFill>
              <a:srgbClr val="FFFFFF"/>
            </a:solidFill>
            <a:prstDash val="solid"/>
          </a:ln>
        </p:spPr>
        <p:txBody>
          <a:bodyPr lIns="0" tIns="0" rIns="0" bIns="0" anchor="t"/>
          <a:lstStyle/>
          <a:p>
            <a:pPr algn="l">
              <a:defRPr sz="1125" b="0">
                <a:solidFill>
                  <a:srgbClr val="64748B"/>
                </a:solidFill>
                <a:latin typeface="Yu Gothic"/>
                <a:ea typeface="Yu Gothic"/>
                <a:cs typeface="Yu Gothic"/>
              </a:defRPr>
            </a:pPr>
            <a:r>
              <a:rPr sz="1125" b="0">
                <a:solidFill>
                  <a:srgbClr val="64748B"/>
                </a:solidFill>
                <a:latin typeface="Yu Gothic"/>
                <a:ea typeface="Yu Gothic"/>
                <a:cs typeface="Yu Gothic"/>
              </a:rPr>
              <a:t>Secret、ID、URL、ユーザー情報は、既存のマスク状態を変えずに扱います。</a:t>
            </a:r>
          </a:p>
        </p:txBody>
      </p:sp>
      <p:sp>
        <p:nvSpPr>
          <p:cNvPr id="14" name="正方形/長方形 13">
            <a:extLst>
              <a:ext uri="{FF2B5EF4-FFF2-40B4-BE49-F238E27FC236}">
                <a16:creationId xmlns:a16="http://schemas.microsoft.com/office/drawing/2014/main" id="{BD9CE275-DA73-4B18-A93E-F9AB8286B8F6}"/>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8E859A62-F892-4CCA-9658-760DD8EBE37A}"/>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Web アプリにアクセスする</a:t>
            </a:r>
          </a:p>
        </p:txBody>
      </p:sp>
      <p:sp>
        <p:nvSpPr>
          <p:cNvPr id="2" name="正方形/長方形 1">
            <a:extLst>
              <a:ext uri="{FF2B5EF4-FFF2-40B4-BE49-F238E27FC236}">
                <a16:creationId xmlns:a16="http://schemas.microsoft.com/office/drawing/2014/main" id="{9816729D-8D59-4A59-AC6E-68F6481D99C5}"/>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35 / 48</a:t>
            </a:r>
          </a:p>
        </p:txBody>
      </p:sp>
      <p:sp>
        <p:nvSpPr>
          <p:cNvPr id="3" name="正方形/長方形 2">
            <a:extLst>
              <a:ext uri="{FF2B5EF4-FFF2-40B4-BE49-F238E27FC236}">
                <a16:creationId xmlns:a16="http://schemas.microsoft.com/office/drawing/2014/main" id="{0B0EBED4-7A6C-4C19-B359-FCD4E19354C0}"/>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FE7F7207-56C9-4CEE-A8C7-FBDC602D49C9}"/>
              </a:ext>
            </a:extLst>
          </p:cNvPr>
          <p:cNvSpPr>
            <a:spLocks noGrp="1"/>
          </p:cNvSpPr>
          <p:nvPr/>
        </p:nvSpPr>
        <p:spPr>
          <a:xfrm>
            <a:off x="666750" y="1123950"/>
            <a:ext cx="10287000" cy="476250"/>
          </a:xfrm>
          <a:prstGeom prst="rect">
            <a:avLst/>
          </a:prstGeom>
          <a:ln w="0">
            <a:solidFill>
              <a:srgbClr val="FFFFFF"/>
            </a:solidFill>
            <a:prstDash val="solid"/>
          </a:ln>
        </p:spPr>
        <p:txBody>
          <a:bodyPr lIns="0" tIns="0" rIns="0" bIns="0" anchor="t"/>
          <a:lstStyle/>
          <a:p>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ブラウザーで Web URL を開き、Todo アプリのログイン画面が表示されることを確認します。</a:t>
            </a:r>
          </a:p>
        </p:txBody>
      </p:sp>
      <p:sp>
        <p:nvSpPr>
          <p:cNvPr id="5" name="正方形/長方形 4">
            <a:extLst>
              <a:ext uri="{FF2B5EF4-FFF2-40B4-BE49-F238E27FC236}">
                <a16:creationId xmlns:a16="http://schemas.microsoft.com/office/drawing/2014/main" id="{A8AC0C28-054B-411A-8229-42204ED86098}"/>
              </a:ext>
            </a:extLst>
          </p:cNvPr>
          <p:cNvSpPr>
            <a:spLocks noGrp="1"/>
          </p:cNvSpPr>
          <p:nvPr/>
        </p:nvSpPr>
        <p:spPr>
          <a:xfrm>
            <a:off x="5095875" y="1695450"/>
            <a:ext cx="6286500" cy="4095750"/>
          </a:xfrm>
          <a:prstGeom prst="rect">
            <a:avLst/>
          </a:prstGeom>
          <a:ln w="9525">
            <a:solidFill>
              <a:srgbClr val="CAD5E4"/>
            </a:solidFill>
            <a:prstDash val="solid"/>
          </a:ln>
        </p:spPr>
      </p:sp>
      <p:pic>
        <p:nvPicPr>
          <p:cNvPr id="6" name="図 5"/>
          <p:cNvPicPr>
            <a:picLocks noChangeAspect="1"/>
          </p:cNvPicPr>
          <p:nvPr/>
        </p:nvPicPr>
        <p:blipFill>
          <a:blip r:embed="rId3"/>
          <a:stretch/>
        </p:blipFill>
        <p:spPr>
          <a:xfrm>
            <a:off x="5238750" y="1922264"/>
            <a:ext cx="6000750" cy="3375422"/>
          </a:xfrm>
          <a:prstGeom prst="rect">
            <a:avLst/>
          </a:prstGeom>
        </p:spPr>
      </p:pic>
      <p:sp>
        <p:nvSpPr>
          <p:cNvPr id="7" name="正方形/長方形 6">
            <a:extLst>
              <a:ext uri="{FF2B5EF4-FFF2-40B4-BE49-F238E27FC236}">
                <a16:creationId xmlns:a16="http://schemas.microsoft.com/office/drawing/2014/main" id="{DB5BFB16-CDD2-48A5-9D1F-A78E7C64589B}"/>
              </a:ext>
            </a:extLst>
          </p:cNvPr>
          <p:cNvSpPr>
            <a:spLocks noGrp="1"/>
          </p:cNvSpPr>
          <p:nvPr/>
        </p:nvSpPr>
        <p:spPr>
          <a:xfrm>
            <a:off x="5286375" y="5429250"/>
            <a:ext cx="5905500" cy="228600"/>
          </a:xfrm>
          <a:prstGeom prst="rect">
            <a:avLst/>
          </a:prstGeom>
          <a:ln w="0">
            <a:solidFill>
              <a:srgbClr val="FFFFFF"/>
            </a:solidFill>
            <a:prstDash val="solid"/>
          </a:ln>
        </p:spPr>
        <p:txBody>
          <a:bodyPr lIns="0" tIns="0" rIns="0" bIns="0" anchor="t"/>
          <a:lstStyle/>
          <a:p>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Todo アプリのログイン画面を確認する</a:t>
            </a:r>
          </a:p>
        </p:txBody>
      </p:sp>
      <p:sp>
        <p:nvSpPr>
          <p:cNvPr id="8" name="正方形/長方形 7">
            <a:extLst>
              <a:ext uri="{FF2B5EF4-FFF2-40B4-BE49-F238E27FC236}">
                <a16:creationId xmlns:a16="http://schemas.microsoft.com/office/drawing/2014/main" id="{319AEBEA-FC76-4657-AB5F-69426445B5E9}"/>
              </a:ext>
            </a:extLst>
          </p:cNvPr>
          <p:cNvSpPr>
            <a:spLocks noGrp="1"/>
          </p:cNvSpPr>
          <p:nvPr/>
        </p:nvSpPr>
        <p:spPr>
          <a:xfrm>
            <a:off x="904875" y="2095500"/>
            <a:ext cx="3714750" cy="1952625"/>
          </a:xfrm>
          <a:prstGeom prst="rect">
            <a:avLst/>
          </a:prstGeom>
          <a:ln w="9525">
            <a:solidFill>
              <a:srgbClr val="DBE4EF"/>
            </a:solidFill>
            <a:prstDash val="solid"/>
          </a:ln>
        </p:spPr>
      </p:sp>
      <p:sp>
        <p:nvSpPr>
          <p:cNvPr id="9" name="正方形/長方形 8">
            <a:extLst>
              <a:ext uri="{FF2B5EF4-FFF2-40B4-BE49-F238E27FC236}">
                <a16:creationId xmlns:a16="http://schemas.microsoft.com/office/drawing/2014/main" id="{06FC107B-5905-4E60-9204-09A9826BF104}"/>
              </a:ext>
            </a:extLst>
          </p:cNvPr>
          <p:cNvSpPr>
            <a:spLocks noGrp="1"/>
          </p:cNvSpPr>
          <p:nvPr/>
        </p:nvSpPr>
        <p:spPr>
          <a:xfrm>
            <a:off x="904875" y="2095500"/>
            <a:ext cx="76200" cy="1952625"/>
          </a:xfrm>
          <a:prstGeom prst="rect">
            <a:avLst/>
          </a:prstGeom>
          <a:ln w="0">
            <a:solidFill>
              <a:srgbClr val="2563EB"/>
            </a:solidFill>
            <a:prstDash val="solid"/>
          </a:ln>
        </p:spPr>
      </p:sp>
      <p:sp>
        <p:nvSpPr>
          <p:cNvPr id="10" name="正方形/長方形 9">
            <a:extLst>
              <a:ext uri="{FF2B5EF4-FFF2-40B4-BE49-F238E27FC236}">
                <a16:creationId xmlns:a16="http://schemas.microsoft.com/office/drawing/2014/main" id="{0D4111F3-D43F-427C-8F9D-312087036164}"/>
              </a:ext>
            </a:extLst>
          </p:cNvPr>
          <p:cNvSpPr>
            <a:spLocks noGrp="1"/>
          </p:cNvSpPr>
          <p:nvPr/>
        </p:nvSpPr>
        <p:spPr>
          <a:xfrm>
            <a:off x="1133475" y="2266950"/>
            <a:ext cx="3333750" cy="171450"/>
          </a:xfrm>
          <a:prstGeom prst="rect">
            <a:avLst/>
          </a:prstGeom>
          <a:ln w="0">
            <a:solidFill>
              <a:srgbClr val="FFFFFF"/>
            </a:solidFill>
            <a:prstDash val="solid"/>
          </a:ln>
        </p:spPr>
        <p:txBody>
          <a:bodyPr lIns="0" tIns="0" rIns="0" bIns="0" anchor="t"/>
          <a:lstStyle/>
          <a:p>
            <a:pPr algn="l">
              <a:defRPr sz="900" b="1">
                <a:solidFill>
                  <a:srgbClr val="2563EB"/>
                </a:solidFill>
                <a:latin typeface="Yu Gothic"/>
                <a:ea typeface="Yu Gothic"/>
                <a:cs typeface="Yu Gothic"/>
              </a:defRPr>
            </a:pPr>
            <a:r>
              <a:rPr sz="900" b="1">
                <a:solidFill>
                  <a:srgbClr val="2563EB"/>
                </a:solidFill>
                <a:latin typeface="Yu Gothic"/>
                <a:ea typeface="Yu Gothic"/>
                <a:cs typeface="Yu Gothic"/>
              </a:rPr>
              <a:t>確認ポイント</a:t>
            </a:r>
          </a:p>
        </p:txBody>
      </p:sp>
      <p:sp>
        <p:nvSpPr>
          <p:cNvPr id="11" name="正方形/長方形 10">
            <a:extLst>
              <a:ext uri="{FF2B5EF4-FFF2-40B4-BE49-F238E27FC236}">
                <a16:creationId xmlns:a16="http://schemas.microsoft.com/office/drawing/2014/main" id="{15231008-1882-4A78-BBB9-49A565FE5766}"/>
              </a:ext>
            </a:extLst>
          </p:cNvPr>
          <p:cNvSpPr>
            <a:spLocks noGrp="1"/>
          </p:cNvSpPr>
          <p:nvPr/>
        </p:nvSpPr>
        <p:spPr>
          <a:xfrm>
            <a:off x="1133475" y="2495550"/>
            <a:ext cx="331470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Web アプリ</a:t>
            </a:r>
          </a:p>
        </p:txBody>
      </p:sp>
      <p:sp>
        <p:nvSpPr>
          <p:cNvPr id="12" name="正方形/長方形 11">
            <a:extLst>
              <a:ext uri="{FF2B5EF4-FFF2-40B4-BE49-F238E27FC236}">
                <a16:creationId xmlns:a16="http://schemas.microsoft.com/office/drawing/2014/main" id="{63F447EB-5E49-4ADD-AB8C-73B60794C93B}"/>
              </a:ext>
            </a:extLst>
          </p:cNvPr>
          <p:cNvSpPr>
            <a:spLocks noGrp="1"/>
          </p:cNvSpPr>
          <p:nvPr/>
        </p:nvSpPr>
        <p:spPr>
          <a:xfrm>
            <a:off x="1133475" y="2933700"/>
            <a:ext cx="3314700" cy="10001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Web URL を開き、ログイン画面が表示されることを確認します。</a:t>
            </a:r>
          </a:p>
        </p:txBody>
      </p:sp>
      <p:sp>
        <p:nvSpPr>
          <p:cNvPr id="13" name="正方形/長方形 12">
            <a:extLst>
              <a:ext uri="{FF2B5EF4-FFF2-40B4-BE49-F238E27FC236}">
                <a16:creationId xmlns:a16="http://schemas.microsoft.com/office/drawing/2014/main" id="{414A2CF0-7340-425F-8EE3-FD7FC63547D6}"/>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58CB3B49-339C-4313-BFE7-2962E4F3900E}"/>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Entra ID でサインインする</a:t>
            </a:r>
          </a:p>
        </p:txBody>
      </p:sp>
      <p:sp>
        <p:nvSpPr>
          <p:cNvPr id="2" name="正方形/長方形 1">
            <a:extLst>
              <a:ext uri="{FF2B5EF4-FFF2-40B4-BE49-F238E27FC236}">
                <a16:creationId xmlns:a16="http://schemas.microsoft.com/office/drawing/2014/main" id="{0F18DDED-507D-4518-8040-D9B60A3390AA}"/>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36 / 48</a:t>
            </a:r>
          </a:p>
        </p:txBody>
      </p:sp>
      <p:sp>
        <p:nvSpPr>
          <p:cNvPr id="3" name="正方形/長方形 2">
            <a:extLst>
              <a:ext uri="{FF2B5EF4-FFF2-40B4-BE49-F238E27FC236}">
                <a16:creationId xmlns:a16="http://schemas.microsoft.com/office/drawing/2014/main" id="{30A9AD37-3441-40D3-BC5B-A0442988D02B}"/>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55103349-9416-4A34-BD93-81B3AEE58729}"/>
              </a:ext>
            </a:extLst>
          </p:cNvPr>
          <p:cNvSpPr>
            <a:spLocks noGrp="1"/>
          </p:cNvSpPr>
          <p:nvPr/>
        </p:nvSpPr>
        <p:spPr>
          <a:xfrm>
            <a:off x="666750" y="1123950"/>
            <a:ext cx="10287000" cy="476250"/>
          </a:xfrm>
          <a:prstGeom prst="rect">
            <a:avLst/>
          </a:prstGeom>
          <a:ln w="0">
            <a:solidFill>
              <a:srgbClr val="FFFFFF"/>
            </a:solidFill>
            <a:prstDash val="solid"/>
          </a:ln>
        </p:spPr>
        <p:txBody>
          <a:bodyPr lIns="0" tIns="0" rIns="0" bIns="0" anchor="t"/>
          <a:lstStyle/>
          <a:p>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Microsoft Entra ID の認証を通って Todo 画面に入ります。個人情報が画面共有やスクリーンショットに写らないようにします。</a:t>
            </a:r>
          </a:p>
        </p:txBody>
      </p:sp>
      <p:sp>
        <p:nvSpPr>
          <p:cNvPr id="5" name="正方形/長方形 4">
            <a:extLst>
              <a:ext uri="{FF2B5EF4-FFF2-40B4-BE49-F238E27FC236}">
                <a16:creationId xmlns:a16="http://schemas.microsoft.com/office/drawing/2014/main" id="{68BA5B2F-931F-4B91-AC36-2106F32C6F70}"/>
              </a:ext>
            </a:extLst>
          </p:cNvPr>
          <p:cNvSpPr>
            <a:spLocks noGrp="1"/>
          </p:cNvSpPr>
          <p:nvPr/>
        </p:nvSpPr>
        <p:spPr>
          <a:xfrm>
            <a:off x="5095875" y="1695450"/>
            <a:ext cx="6286500" cy="4095750"/>
          </a:xfrm>
          <a:prstGeom prst="rect">
            <a:avLst/>
          </a:prstGeom>
          <a:ln w="9525">
            <a:solidFill>
              <a:srgbClr val="CAD5E4"/>
            </a:solidFill>
            <a:prstDash val="solid"/>
          </a:ln>
        </p:spPr>
      </p:sp>
      <p:pic>
        <p:nvPicPr>
          <p:cNvPr id="6" name="図 5"/>
          <p:cNvPicPr>
            <a:picLocks noChangeAspect="1"/>
          </p:cNvPicPr>
          <p:nvPr/>
        </p:nvPicPr>
        <p:blipFill>
          <a:blip r:embed="rId3"/>
          <a:stretch/>
        </p:blipFill>
        <p:spPr>
          <a:xfrm>
            <a:off x="5368166" y="1828800"/>
            <a:ext cx="5741918" cy="3562350"/>
          </a:xfrm>
          <a:prstGeom prst="rect">
            <a:avLst/>
          </a:prstGeom>
        </p:spPr>
      </p:pic>
      <p:sp>
        <p:nvSpPr>
          <p:cNvPr id="7" name="正方形/長方形 6">
            <a:extLst>
              <a:ext uri="{FF2B5EF4-FFF2-40B4-BE49-F238E27FC236}">
                <a16:creationId xmlns:a16="http://schemas.microsoft.com/office/drawing/2014/main" id="{C77A60E5-3D67-4BEC-B927-B4786AF7A52D}"/>
              </a:ext>
            </a:extLst>
          </p:cNvPr>
          <p:cNvSpPr>
            <a:spLocks noGrp="1"/>
          </p:cNvSpPr>
          <p:nvPr/>
        </p:nvSpPr>
        <p:spPr>
          <a:xfrm>
            <a:off x="5286375" y="5429250"/>
            <a:ext cx="5905500" cy="228600"/>
          </a:xfrm>
          <a:prstGeom prst="rect">
            <a:avLst/>
          </a:prstGeom>
          <a:ln w="0">
            <a:solidFill>
              <a:srgbClr val="FFFFFF"/>
            </a:solidFill>
            <a:prstDash val="solid"/>
          </a:ln>
        </p:spPr>
        <p:txBody>
          <a:bodyPr lIns="0" tIns="0" rIns="0" bIns="0" anchor="t"/>
          <a:lstStyle/>
          <a:p>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Entra ID でサインインする</a:t>
            </a:r>
          </a:p>
        </p:txBody>
      </p:sp>
      <p:sp>
        <p:nvSpPr>
          <p:cNvPr id="8" name="正方形/長方形 7">
            <a:extLst>
              <a:ext uri="{FF2B5EF4-FFF2-40B4-BE49-F238E27FC236}">
                <a16:creationId xmlns:a16="http://schemas.microsoft.com/office/drawing/2014/main" id="{EBC90BDC-D9BA-4C7F-B8E1-6078E00CA5C8}"/>
              </a:ext>
            </a:extLst>
          </p:cNvPr>
          <p:cNvSpPr>
            <a:spLocks noGrp="1"/>
          </p:cNvSpPr>
          <p:nvPr/>
        </p:nvSpPr>
        <p:spPr>
          <a:xfrm>
            <a:off x="904875" y="2095500"/>
            <a:ext cx="3714750" cy="1952625"/>
          </a:xfrm>
          <a:prstGeom prst="rect">
            <a:avLst/>
          </a:prstGeom>
          <a:ln w="9525">
            <a:solidFill>
              <a:srgbClr val="DBE4EF"/>
            </a:solidFill>
            <a:prstDash val="solid"/>
          </a:ln>
        </p:spPr>
      </p:sp>
      <p:sp>
        <p:nvSpPr>
          <p:cNvPr id="9" name="正方形/長方形 8">
            <a:extLst>
              <a:ext uri="{FF2B5EF4-FFF2-40B4-BE49-F238E27FC236}">
                <a16:creationId xmlns:a16="http://schemas.microsoft.com/office/drawing/2014/main" id="{51D7C97D-2E44-4431-9ADB-E9C5004C6029}"/>
              </a:ext>
            </a:extLst>
          </p:cNvPr>
          <p:cNvSpPr>
            <a:spLocks noGrp="1"/>
          </p:cNvSpPr>
          <p:nvPr/>
        </p:nvSpPr>
        <p:spPr>
          <a:xfrm>
            <a:off x="904875" y="2095500"/>
            <a:ext cx="76200" cy="1952625"/>
          </a:xfrm>
          <a:prstGeom prst="rect">
            <a:avLst/>
          </a:prstGeom>
          <a:ln w="0">
            <a:solidFill>
              <a:srgbClr val="7C3AED"/>
            </a:solidFill>
            <a:prstDash val="solid"/>
          </a:ln>
        </p:spPr>
      </p:sp>
      <p:sp>
        <p:nvSpPr>
          <p:cNvPr id="10" name="正方形/長方形 9">
            <a:extLst>
              <a:ext uri="{FF2B5EF4-FFF2-40B4-BE49-F238E27FC236}">
                <a16:creationId xmlns:a16="http://schemas.microsoft.com/office/drawing/2014/main" id="{FD539F92-7D23-407C-ADFF-E93BADD9AD50}"/>
              </a:ext>
            </a:extLst>
          </p:cNvPr>
          <p:cNvSpPr>
            <a:spLocks noGrp="1"/>
          </p:cNvSpPr>
          <p:nvPr/>
        </p:nvSpPr>
        <p:spPr>
          <a:xfrm>
            <a:off x="1133475" y="2266950"/>
            <a:ext cx="3333750" cy="171450"/>
          </a:xfrm>
          <a:prstGeom prst="rect">
            <a:avLst/>
          </a:prstGeom>
          <a:ln w="0">
            <a:solidFill>
              <a:srgbClr val="FFFFFF"/>
            </a:solidFill>
            <a:prstDash val="solid"/>
          </a:ln>
        </p:spPr>
        <p:txBody>
          <a:bodyPr lIns="0" tIns="0" rIns="0" bIns="0" anchor="t"/>
          <a:lstStyle/>
          <a:p>
            <a:pPr algn="l">
              <a:defRPr sz="900" b="1">
                <a:solidFill>
                  <a:srgbClr val="7C3AED"/>
                </a:solidFill>
                <a:latin typeface="Yu Gothic"/>
                <a:ea typeface="Yu Gothic"/>
                <a:cs typeface="Yu Gothic"/>
              </a:defRPr>
            </a:pPr>
            <a:r>
              <a:rPr sz="900" b="1">
                <a:solidFill>
                  <a:srgbClr val="7C3AED"/>
                </a:solidFill>
                <a:latin typeface="Yu Gothic"/>
                <a:ea typeface="Yu Gothic"/>
                <a:cs typeface="Yu Gothic"/>
              </a:rPr>
              <a:t>確認ポイント</a:t>
            </a:r>
          </a:p>
        </p:txBody>
      </p:sp>
      <p:sp>
        <p:nvSpPr>
          <p:cNvPr id="11" name="正方形/長方形 10">
            <a:extLst>
              <a:ext uri="{FF2B5EF4-FFF2-40B4-BE49-F238E27FC236}">
                <a16:creationId xmlns:a16="http://schemas.microsoft.com/office/drawing/2014/main" id="{09D6B1F9-CBDE-462B-BD48-2BEBEB18DE59}"/>
              </a:ext>
            </a:extLst>
          </p:cNvPr>
          <p:cNvSpPr>
            <a:spLocks noGrp="1"/>
          </p:cNvSpPr>
          <p:nvPr/>
        </p:nvSpPr>
        <p:spPr>
          <a:xfrm>
            <a:off x="1133475" y="2495550"/>
            <a:ext cx="331470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サインイン</a:t>
            </a:r>
          </a:p>
        </p:txBody>
      </p:sp>
      <p:sp>
        <p:nvSpPr>
          <p:cNvPr id="12" name="正方形/長方形 11">
            <a:extLst>
              <a:ext uri="{FF2B5EF4-FFF2-40B4-BE49-F238E27FC236}">
                <a16:creationId xmlns:a16="http://schemas.microsoft.com/office/drawing/2014/main" id="{51A27D15-2EF5-47F1-9335-37C1A7BAEE75}"/>
              </a:ext>
            </a:extLst>
          </p:cNvPr>
          <p:cNvSpPr>
            <a:spLocks noGrp="1"/>
          </p:cNvSpPr>
          <p:nvPr/>
        </p:nvSpPr>
        <p:spPr>
          <a:xfrm>
            <a:off x="1133475" y="2933700"/>
            <a:ext cx="3314700" cy="10001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ユーザー名やメールが画面共有に写らないよう注意します。</a:t>
            </a:r>
          </a:p>
        </p:txBody>
      </p:sp>
      <p:sp>
        <p:nvSpPr>
          <p:cNvPr id="13" name="正方形/長方形 12">
            <a:extLst>
              <a:ext uri="{FF2B5EF4-FFF2-40B4-BE49-F238E27FC236}">
                <a16:creationId xmlns:a16="http://schemas.microsoft.com/office/drawing/2014/main" id="{A2D70CA5-F050-4D93-ABB3-D0E4D1FF77F9}"/>
              </a:ext>
            </a:extLst>
          </p:cNvPr>
          <p:cNvSpPr>
            <a:spLocks noGrp="1"/>
          </p:cNvSpPr>
          <p:nvPr/>
        </p:nvSpPr>
        <p:spPr>
          <a:xfrm>
            <a:off x="952500" y="4305300"/>
            <a:ext cx="3619500" cy="666750"/>
          </a:xfrm>
          <a:prstGeom prst="rect">
            <a:avLst/>
          </a:prstGeom>
          <a:ln w="0">
            <a:solidFill>
              <a:srgbClr val="FFFFFF"/>
            </a:solidFill>
            <a:prstDash val="solid"/>
          </a:ln>
        </p:spPr>
        <p:txBody>
          <a:bodyPr lIns="0" tIns="0" rIns="0" bIns="0" anchor="t"/>
          <a:lstStyle/>
          <a:p>
            <a:pPr algn="l">
              <a:defRPr sz="1125" b="0">
                <a:solidFill>
                  <a:srgbClr val="64748B"/>
                </a:solidFill>
                <a:latin typeface="Yu Gothic"/>
                <a:ea typeface="Yu Gothic"/>
                <a:cs typeface="Yu Gothic"/>
              </a:defRPr>
            </a:pPr>
            <a:r>
              <a:rPr sz="1125" b="0">
                <a:solidFill>
                  <a:srgbClr val="64748B"/>
                </a:solidFill>
                <a:latin typeface="Yu Gothic"/>
                <a:ea typeface="Yu Gothic"/>
                <a:cs typeface="Yu Gothic"/>
              </a:rPr>
              <a:t>Secret、ID、URL、ユーザー情報は、既存のマスク状態を変えずに扱います。</a:t>
            </a:r>
          </a:p>
        </p:txBody>
      </p:sp>
      <p:sp>
        <p:nvSpPr>
          <p:cNvPr id="14" name="正方形/長方形 13">
            <a:extLst>
              <a:ext uri="{FF2B5EF4-FFF2-40B4-BE49-F238E27FC236}">
                <a16:creationId xmlns:a16="http://schemas.microsoft.com/office/drawing/2014/main" id="{E0D4E723-95EA-4A34-BCBE-0346DBE55782}"/>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766A612D-4637-4CB2-9F3E-1448210FC0B5}"/>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Todo を作成する</a:t>
            </a:r>
          </a:p>
        </p:txBody>
      </p:sp>
      <p:sp>
        <p:nvSpPr>
          <p:cNvPr id="2" name="正方形/長方形 1">
            <a:extLst>
              <a:ext uri="{FF2B5EF4-FFF2-40B4-BE49-F238E27FC236}">
                <a16:creationId xmlns:a16="http://schemas.microsoft.com/office/drawing/2014/main" id="{63AA276F-63B0-458F-9110-E66B9B18F721}"/>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37 / 48</a:t>
            </a:r>
          </a:p>
        </p:txBody>
      </p:sp>
      <p:sp>
        <p:nvSpPr>
          <p:cNvPr id="3" name="正方形/長方形 2">
            <a:extLst>
              <a:ext uri="{FF2B5EF4-FFF2-40B4-BE49-F238E27FC236}">
                <a16:creationId xmlns:a16="http://schemas.microsoft.com/office/drawing/2014/main" id="{7BCE48AC-5D9C-43CF-8C6B-87A1A927D16B}"/>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96EC9A7B-3F86-4444-B8AB-E2F5B385CEFA}"/>
              </a:ext>
            </a:extLst>
          </p:cNvPr>
          <p:cNvSpPr>
            <a:spLocks noGrp="1"/>
          </p:cNvSpPr>
          <p:nvPr/>
        </p:nvSpPr>
        <p:spPr>
          <a:xfrm>
            <a:off x="666750" y="1123950"/>
            <a:ext cx="10287000" cy="476250"/>
          </a:xfrm>
          <a:prstGeom prst="rect">
            <a:avLst/>
          </a:prstGeom>
          <a:ln w="0">
            <a:solidFill>
              <a:srgbClr val="FFFFFF"/>
            </a:solidFill>
            <a:prstDash val="solid"/>
          </a:ln>
        </p:spPr>
        <p:txBody>
          <a:bodyPr lIns="0" tIns="0" rIns="0" bIns="0" anchor="t"/>
          <a:lstStyle/>
          <a:p>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新しい Todo を追加し、Web から API を通って DB に保存されることを確認します。</a:t>
            </a:r>
          </a:p>
        </p:txBody>
      </p:sp>
      <p:sp>
        <p:nvSpPr>
          <p:cNvPr id="5" name="正方形/長方形 4">
            <a:extLst>
              <a:ext uri="{FF2B5EF4-FFF2-40B4-BE49-F238E27FC236}">
                <a16:creationId xmlns:a16="http://schemas.microsoft.com/office/drawing/2014/main" id="{81C99B2A-6156-4FCA-A926-983A7D352B19}"/>
              </a:ext>
            </a:extLst>
          </p:cNvPr>
          <p:cNvSpPr>
            <a:spLocks noGrp="1"/>
          </p:cNvSpPr>
          <p:nvPr/>
        </p:nvSpPr>
        <p:spPr>
          <a:xfrm>
            <a:off x="904875" y="1866900"/>
            <a:ext cx="4972050" cy="3429000"/>
          </a:xfrm>
          <a:prstGeom prst="rect">
            <a:avLst/>
          </a:prstGeom>
          <a:ln w="9525">
            <a:solidFill>
              <a:srgbClr val="CAD5E4"/>
            </a:solidFill>
            <a:prstDash val="solid"/>
          </a:ln>
        </p:spPr>
      </p:sp>
      <p:pic>
        <p:nvPicPr>
          <p:cNvPr id="6" name="図 5"/>
          <p:cNvPicPr>
            <a:picLocks noChangeAspect="1"/>
          </p:cNvPicPr>
          <p:nvPr/>
        </p:nvPicPr>
        <p:blipFill>
          <a:blip r:embed="rId3"/>
          <a:stretch/>
        </p:blipFill>
        <p:spPr>
          <a:xfrm>
            <a:off x="1019175" y="2113955"/>
            <a:ext cx="4743450" cy="2668191"/>
          </a:xfrm>
          <a:prstGeom prst="rect">
            <a:avLst/>
          </a:prstGeom>
        </p:spPr>
      </p:pic>
      <p:sp>
        <p:nvSpPr>
          <p:cNvPr id="7" name="正方形/長方形 6">
            <a:extLst>
              <a:ext uri="{FF2B5EF4-FFF2-40B4-BE49-F238E27FC236}">
                <a16:creationId xmlns:a16="http://schemas.microsoft.com/office/drawing/2014/main" id="{05DFCE4C-1F7A-490A-A018-84C480BA3680}"/>
              </a:ext>
            </a:extLst>
          </p:cNvPr>
          <p:cNvSpPr>
            <a:spLocks noGrp="1"/>
          </p:cNvSpPr>
          <p:nvPr/>
        </p:nvSpPr>
        <p:spPr>
          <a:xfrm>
            <a:off x="1057275" y="4972050"/>
            <a:ext cx="4667250" cy="228600"/>
          </a:xfrm>
          <a:prstGeom prst="rect">
            <a:avLst/>
          </a:prstGeom>
          <a:ln w="0">
            <a:solidFill>
              <a:srgbClr val="FFFFFF"/>
            </a:solidFill>
            <a:prstDash val="solid"/>
          </a:ln>
        </p:spPr>
        <p:txBody>
          <a:bodyPr lIns="0" tIns="0" rIns="0" bIns="0" anchor="t"/>
          <a:lstStyle/>
          <a:p>
            <a:pPr algn="ctr">
              <a:defRPr sz="938" b="0">
                <a:solidFill>
                  <a:srgbClr val="64748B"/>
                </a:solidFill>
                <a:latin typeface="Yu Gothic"/>
                <a:ea typeface="Yu Gothic"/>
                <a:cs typeface="Yu Gothic"/>
              </a:defRPr>
            </a:pPr>
            <a:r>
              <a:rPr sz="938" b="0">
                <a:solidFill>
                  <a:srgbClr val="64748B"/>
                </a:solidFill>
                <a:latin typeface="Yu Gothic"/>
                <a:ea typeface="Yu Gothic"/>
                <a:cs typeface="Yu Gothic"/>
              </a:rPr>
              <a:t>Todo 一覧を表示する</a:t>
            </a:r>
          </a:p>
        </p:txBody>
      </p:sp>
      <p:sp>
        <p:nvSpPr>
          <p:cNvPr id="8" name="正方形/長方形 7">
            <a:extLst>
              <a:ext uri="{FF2B5EF4-FFF2-40B4-BE49-F238E27FC236}">
                <a16:creationId xmlns:a16="http://schemas.microsoft.com/office/drawing/2014/main" id="{F70A2F6A-0E88-4108-AD02-5D42D88FC1CA}"/>
              </a:ext>
            </a:extLst>
          </p:cNvPr>
          <p:cNvSpPr>
            <a:spLocks noGrp="1"/>
          </p:cNvSpPr>
          <p:nvPr/>
        </p:nvSpPr>
        <p:spPr>
          <a:xfrm>
            <a:off x="6334125" y="1866900"/>
            <a:ext cx="4972050" cy="3429000"/>
          </a:xfrm>
          <a:prstGeom prst="rect">
            <a:avLst/>
          </a:prstGeom>
          <a:ln w="9525">
            <a:solidFill>
              <a:srgbClr val="CAD5E4"/>
            </a:solidFill>
            <a:prstDash val="solid"/>
          </a:ln>
        </p:spPr>
      </p:sp>
      <p:pic>
        <p:nvPicPr>
          <p:cNvPr id="9" name="図 8"/>
          <p:cNvPicPr>
            <a:picLocks noChangeAspect="1"/>
          </p:cNvPicPr>
          <p:nvPr/>
        </p:nvPicPr>
        <p:blipFill>
          <a:blip r:embed="rId4"/>
          <a:stretch/>
        </p:blipFill>
        <p:spPr>
          <a:xfrm>
            <a:off x="6448425" y="2113955"/>
            <a:ext cx="4743450" cy="2668191"/>
          </a:xfrm>
          <a:prstGeom prst="rect">
            <a:avLst/>
          </a:prstGeom>
        </p:spPr>
      </p:pic>
      <p:sp>
        <p:nvSpPr>
          <p:cNvPr id="10" name="正方形/長方形 9">
            <a:extLst>
              <a:ext uri="{FF2B5EF4-FFF2-40B4-BE49-F238E27FC236}">
                <a16:creationId xmlns:a16="http://schemas.microsoft.com/office/drawing/2014/main" id="{7FAE6612-F0EC-41D8-8D46-F1A1A664A6D7}"/>
              </a:ext>
            </a:extLst>
          </p:cNvPr>
          <p:cNvSpPr>
            <a:spLocks noGrp="1"/>
          </p:cNvSpPr>
          <p:nvPr/>
        </p:nvSpPr>
        <p:spPr>
          <a:xfrm>
            <a:off x="6486525" y="4972050"/>
            <a:ext cx="4667250" cy="228600"/>
          </a:xfrm>
          <a:prstGeom prst="rect">
            <a:avLst/>
          </a:prstGeom>
          <a:ln w="0">
            <a:solidFill>
              <a:srgbClr val="FFFFFF"/>
            </a:solidFill>
            <a:prstDash val="solid"/>
          </a:ln>
        </p:spPr>
        <p:txBody>
          <a:bodyPr lIns="0" tIns="0" rIns="0" bIns="0" anchor="t"/>
          <a:lstStyle/>
          <a:p>
            <a:pPr algn="ctr">
              <a:defRPr sz="938" b="0">
                <a:solidFill>
                  <a:srgbClr val="64748B"/>
                </a:solidFill>
                <a:latin typeface="Yu Gothic"/>
                <a:ea typeface="Yu Gothic"/>
                <a:cs typeface="Yu Gothic"/>
              </a:defRPr>
            </a:pPr>
            <a:r>
              <a:rPr sz="938" b="0">
                <a:solidFill>
                  <a:srgbClr val="64748B"/>
                </a:solidFill>
                <a:latin typeface="Yu Gothic"/>
                <a:ea typeface="Yu Gothic"/>
                <a:cs typeface="Yu Gothic"/>
              </a:rPr>
              <a:t>Todo 作成を確認する</a:t>
            </a:r>
          </a:p>
        </p:txBody>
      </p:sp>
      <p:sp>
        <p:nvSpPr>
          <p:cNvPr id="11" name="正方形/長方形 10">
            <a:extLst>
              <a:ext uri="{FF2B5EF4-FFF2-40B4-BE49-F238E27FC236}">
                <a16:creationId xmlns:a16="http://schemas.microsoft.com/office/drawing/2014/main" id="{2F77DABF-371B-4437-9D7D-4B87E52C23E9}"/>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04BFA444-311A-4B4B-B428-007497961151}"/>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Todo を編集・削除する</a:t>
            </a:r>
          </a:p>
        </p:txBody>
      </p:sp>
      <p:sp>
        <p:nvSpPr>
          <p:cNvPr id="2" name="正方形/長方形 1">
            <a:extLst>
              <a:ext uri="{FF2B5EF4-FFF2-40B4-BE49-F238E27FC236}">
                <a16:creationId xmlns:a16="http://schemas.microsoft.com/office/drawing/2014/main" id="{9B0E1A90-CB78-46E5-AF3F-3614777EBF80}"/>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38 / 48</a:t>
            </a:r>
          </a:p>
        </p:txBody>
      </p:sp>
      <p:sp>
        <p:nvSpPr>
          <p:cNvPr id="3" name="正方形/長方形 2">
            <a:extLst>
              <a:ext uri="{FF2B5EF4-FFF2-40B4-BE49-F238E27FC236}">
                <a16:creationId xmlns:a16="http://schemas.microsoft.com/office/drawing/2014/main" id="{A25A4841-A861-46DF-B360-E664BC735841}"/>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236506FC-7009-4E7F-B35B-4B5360E9C9F3}"/>
              </a:ext>
            </a:extLst>
          </p:cNvPr>
          <p:cNvSpPr>
            <a:spLocks noGrp="1"/>
          </p:cNvSpPr>
          <p:nvPr/>
        </p:nvSpPr>
        <p:spPr>
          <a:xfrm>
            <a:off x="666750" y="1123950"/>
            <a:ext cx="10287000" cy="476250"/>
          </a:xfrm>
          <a:prstGeom prst="rect">
            <a:avLst/>
          </a:prstGeom>
          <a:ln w="0">
            <a:solidFill>
              <a:srgbClr val="FFFFFF"/>
            </a:solidFill>
            <a:prstDash val="solid"/>
          </a:ln>
        </p:spPr>
        <p:txBody>
          <a:bodyPr lIns="0" tIns="0" rIns="0" bIns="0" anchor="t"/>
          <a:lstStyle/>
          <a:p>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更新と削除が成功することで、Web、API、DB の基本動作が一通りつながっていることを確認できます。</a:t>
            </a:r>
          </a:p>
        </p:txBody>
      </p:sp>
      <p:sp>
        <p:nvSpPr>
          <p:cNvPr id="5" name="正方形/長方形 4">
            <a:extLst>
              <a:ext uri="{FF2B5EF4-FFF2-40B4-BE49-F238E27FC236}">
                <a16:creationId xmlns:a16="http://schemas.microsoft.com/office/drawing/2014/main" id="{E6FD549A-6142-44B9-9F97-A0BA2C2ED725}"/>
              </a:ext>
            </a:extLst>
          </p:cNvPr>
          <p:cNvSpPr>
            <a:spLocks noGrp="1"/>
          </p:cNvSpPr>
          <p:nvPr/>
        </p:nvSpPr>
        <p:spPr>
          <a:xfrm>
            <a:off x="5095875" y="1695450"/>
            <a:ext cx="6286500" cy="4095750"/>
          </a:xfrm>
          <a:prstGeom prst="rect">
            <a:avLst/>
          </a:prstGeom>
          <a:ln w="9525">
            <a:solidFill>
              <a:srgbClr val="CAD5E4"/>
            </a:solidFill>
            <a:prstDash val="solid"/>
          </a:ln>
        </p:spPr>
      </p:sp>
      <p:pic>
        <p:nvPicPr>
          <p:cNvPr id="6" name="図 5"/>
          <p:cNvPicPr>
            <a:picLocks noChangeAspect="1"/>
          </p:cNvPicPr>
          <p:nvPr/>
        </p:nvPicPr>
        <p:blipFill>
          <a:blip r:embed="rId3"/>
          <a:stretch/>
        </p:blipFill>
        <p:spPr>
          <a:xfrm>
            <a:off x="5238750" y="1922264"/>
            <a:ext cx="6000750" cy="3375422"/>
          </a:xfrm>
          <a:prstGeom prst="rect">
            <a:avLst/>
          </a:prstGeom>
        </p:spPr>
      </p:pic>
      <p:sp>
        <p:nvSpPr>
          <p:cNvPr id="7" name="正方形/長方形 6">
            <a:extLst>
              <a:ext uri="{FF2B5EF4-FFF2-40B4-BE49-F238E27FC236}">
                <a16:creationId xmlns:a16="http://schemas.microsoft.com/office/drawing/2014/main" id="{5CFE4A6B-5B8C-4131-AE17-221EDD7F8739}"/>
              </a:ext>
            </a:extLst>
          </p:cNvPr>
          <p:cNvSpPr>
            <a:spLocks noGrp="1"/>
          </p:cNvSpPr>
          <p:nvPr/>
        </p:nvSpPr>
        <p:spPr>
          <a:xfrm>
            <a:off x="5286375" y="5429250"/>
            <a:ext cx="5905500" cy="228600"/>
          </a:xfrm>
          <a:prstGeom prst="rect">
            <a:avLst/>
          </a:prstGeom>
          <a:ln w="0">
            <a:solidFill>
              <a:srgbClr val="FFFFFF"/>
            </a:solidFill>
            <a:prstDash val="solid"/>
          </a:ln>
        </p:spPr>
        <p:txBody>
          <a:bodyPr lIns="0" tIns="0" rIns="0" bIns="0" anchor="t"/>
          <a:lstStyle/>
          <a:p>
            <a:pPr algn="ctr">
              <a:defRPr sz="975" b="0">
                <a:solidFill>
                  <a:srgbClr val="64748B"/>
                </a:solidFill>
                <a:latin typeface="Yu Gothic"/>
                <a:ea typeface="Yu Gothic"/>
                <a:cs typeface="Yu Gothic"/>
              </a:defRPr>
            </a:pPr>
            <a:r>
              <a:rPr sz="975" b="0">
                <a:solidFill>
                  <a:srgbClr val="64748B"/>
                </a:solidFill>
                <a:latin typeface="Yu Gothic"/>
                <a:ea typeface="Yu Gothic"/>
                <a:cs typeface="Yu Gothic"/>
              </a:rPr>
              <a:t>編集または削除の反映を確認する</a:t>
            </a:r>
          </a:p>
        </p:txBody>
      </p:sp>
      <p:sp>
        <p:nvSpPr>
          <p:cNvPr id="8" name="正方形/長方形 7">
            <a:extLst>
              <a:ext uri="{FF2B5EF4-FFF2-40B4-BE49-F238E27FC236}">
                <a16:creationId xmlns:a16="http://schemas.microsoft.com/office/drawing/2014/main" id="{1FF58947-935C-4857-A31F-B08810550E33}"/>
              </a:ext>
            </a:extLst>
          </p:cNvPr>
          <p:cNvSpPr>
            <a:spLocks noGrp="1"/>
          </p:cNvSpPr>
          <p:nvPr/>
        </p:nvSpPr>
        <p:spPr>
          <a:xfrm>
            <a:off x="904875" y="2095500"/>
            <a:ext cx="3714750" cy="1952625"/>
          </a:xfrm>
          <a:prstGeom prst="rect">
            <a:avLst/>
          </a:prstGeom>
          <a:ln w="9525">
            <a:solidFill>
              <a:srgbClr val="DBE4EF"/>
            </a:solidFill>
            <a:prstDash val="solid"/>
          </a:ln>
        </p:spPr>
      </p:sp>
      <p:sp>
        <p:nvSpPr>
          <p:cNvPr id="9" name="正方形/長方形 8">
            <a:extLst>
              <a:ext uri="{FF2B5EF4-FFF2-40B4-BE49-F238E27FC236}">
                <a16:creationId xmlns:a16="http://schemas.microsoft.com/office/drawing/2014/main" id="{B376BC47-8F98-4B60-9E43-6D73E552FFE8}"/>
              </a:ext>
            </a:extLst>
          </p:cNvPr>
          <p:cNvSpPr>
            <a:spLocks noGrp="1"/>
          </p:cNvSpPr>
          <p:nvPr/>
        </p:nvSpPr>
        <p:spPr>
          <a:xfrm>
            <a:off x="904875" y="2095500"/>
            <a:ext cx="76200" cy="1952625"/>
          </a:xfrm>
          <a:prstGeom prst="rect">
            <a:avLst/>
          </a:prstGeom>
          <a:ln w="0">
            <a:solidFill>
              <a:srgbClr val="15803D"/>
            </a:solidFill>
            <a:prstDash val="solid"/>
          </a:ln>
        </p:spPr>
      </p:sp>
      <p:sp>
        <p:nvSpPr>
          <p:cNvPr id="10" name="正方形/長方形 9">
            <a:extLst>
              <a:ext uri="{FF2B5EF4-FFF2-40B4-BE49-F238E27FC236}">
                <a16:creationId xmlns:a16="http://schemas.microsoft.com/office/drawing/2014/main" id="{B2BE6DEB-0B35-4271-85D9-D635A929A1AC}"/>
              </a:ext>
            </a:extLst>
          </p:cNvPr>
          <p:cNvSpPr>
            <a:spLocks noGrp="1"/>
          </p:cNvSpPr>
          <p:nvPr/>
        </p:nvSpPr>
        <p:spPr>
          <a:xfrm>
            <a:off x="1133475" y="2266950"/>
            <a:ext cx="3333750" cy="171450"/>
          </a:xfrm>
          <a:prstGeom prst="rect">
            <a:avLst/>
          </a:prstGeom>
          <a:ln w="0">
            <a:solidFill>
              <a:srgbClr val="FFFFFF"/>
            </a:solidFill>
            <a:prstDash val="solid"/>
          </a:ln>
        </p:spPr>
        <p:txBody>
          <a:bodyPr lIns="0" tIns="0" rIns="0" bIns="0" anchor="t"/>
          <a:lstStyle/>
          <a:p>
            <a:pPr algn="l">
              <a:defRPr sz="900" b="1">
                <a:solidFill>
                  <a:srgbClr val="15803D"/>
                </a:solidFill>
                <a:latin typeface="Yu Gothic"/>
                <a:ea typeface="Yu Gothic"/>
                <a:cs typeface="Yu Gothic"/>
              </a:defRPr>
            </a:pPr>
            <a:r>
              <a:rPr sz="900" b="1">
                <a:solidFill>
                  <a:srgbClr val="15803D"/>
                </a:solidFill>
                <a:latin typeface="Yu Gothic"/>
                <a:ea typeface="Yu Gothic"/>
                <a:cs typeface="Yu Gothic"/>
              </a:rPr>
              <a:t>確認ポイント</a:t>
            </a:r>
          </a:p>
        </p:txBody>
      </p:sp>
      <p:sp>
        <p:nvSpPr>
          <p:cNvPr id="11" name="正方形/長方形 10">
            <a:extLst>
              <a:ext uri="{FF2B5EF4-FFF2-40B4-BE49-F238E27FC236}">
                <a16:creationId xmlns:a16="http://schemas.microsoft.com/office/drawing/2014/main" id="{2AD515D1-667D-40C6-A353-C7D0450C29BE}"/>
              </a:ext>
            </a:extLst>
          </p:cNvPr>
          <p:cNvSpPr>
            <a:spLocks noGrp="1"/>
          </p:cNvSpPr>
          <p:nvPr/>
        </p:nvSpPr>
        <p:spPr>
          <a:xfrm>
            <a:off x="1133475" y="2495550"/>
            <a:ext cx="331470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編集・削除</a:t>
            </a:r>
          </a:p>
        </p:txBody>
      </p:sp>
      <p:sp>
        <p:nvSpPr>
          <p:cNvPr id="12" name="正方形/長方形 11">
            <a:extLst>
              <a:ext uri="{FF2B5EF4-FFF2-40B4-BE49-F238E27FC236}">
                <a16:creationId xmlns:a16="http://schemas.microsoft.com/office/drawing/2014/main" id="{BC178D0B-E55E-4C9B-AE67-C56C8247105B}"/>
              </a:ext>
            </a:extLst>
          </p:cNvPr>
          <p:cNvSpPr>
            <a:spLocks noGrp="1"/>
          </p:cNvSpPr>
          <p:nvPr/>
        </p:nvSpPr>
        <p:spPr>
          <a:xfrm>
            <a:off x="1133475" y="2933700"/>
            <a:ext cx="3314700" cy="10001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Todo 操作が API と DB までつながっていることを確認します。</a:t>
            </a:r>
          </a:p>
        </p:txBody>
      </p:sp>
      <p:sp>
        <p:nvSpPr>
          <p:cNvPr id="13" name="正方形/長方形 12">
            <a:extLst>
              <a:ext uri="{FF2B5EF4-FFF2-40B4-BE49-F238E27FC236}">
                <a16:creationId xmlns:a16="http://schemas.microsoft.com/office/drawing/2014/main" id="{790A39E6-0662-4DA6-A75C-ED16830674FE}"/>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正方形/長方形 20">
            <a:extLst>
              <a:ext uri="{FF2B5EF4-FFF2-40B4-BE49-F238E27FC236}">
                <a16:creationId xmlns:a16="http://schemas.microsoft.com/office/drawing/2014/main" id="{52B13069-81A2-4F26-A569-1BDA28EE08BC}"/>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更新後も保持されることを確認する</a:t>
            </a:r>
          </a:p>
        </p:txBody>
      </p:sp>
      <p:sp>
        <p:nvSpPr>
          <p:cNvPr id="2" name="正方形/長方形 1">
            <a:extLst>
              <a:ext uri="{FF2B5EF4-FFF2-40B4-BE49-F238E27FC236}">
                <a16:creationId xmlns:a16="http://schemas.microsoft.com/office/drawing/2014/main" id="{30C5EBE0-8D2C-4D8F-A6FC-E79E0AA03636}"/>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39 / 48</a:t>
            </a:r>
          </a:p>
        </p:txBody>
      </p:sp>
      <p:sp>
        <p:nvSpPr>
          <p:cNvPr id="3" name="正方形/長方形 2">
            <a:extLst>
              <a:ext uri="{FF2B5EF4-FFF2-40B4-BE49-F238E27FC236}">
                <a16:creationId xmlns:a16="http://schemas.microsoft.com/office/drawing/2014/main" id="{C362EF86-B8F6-4792-8109-8523E93E4D78}"/>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7C24E164-B669-4FE2-891D-A94287B8D2CD}"/>
              </a:ext>
            </a:extLst>
          </p:cNvPr>
          <p:cNvSpPr>
            <a:spLocks noGrp="1"/>
          </p:cNvSpPr>
          <p:nvPr/>
        </p:nvSpPr>
        <p:spPr>
          <a:xfrm>
            <a:off x="666750" y="1162050"/>
            <a:ext cx="10096500" cy="552450"/>
          </a:xfrm>
          <a:prstGeom prst="rect">
            <a:avLst/>
          </a:prstGeom>
          <a:ln w="0">
            <a:solidFill>
              <a:srgbClr val="FFFFFF"/>
            </a:solidFill>
            <a:prstDash val="solid"/>
          </a:ln>
        </p:spPr>
        <p:txBody>
          <a:bodyPr lIns="0" tIns="0" rIns="0" bIns="0" anchor="t"/>
          <a:lstStyle/>
          <a:p>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ページを更新しても Todo の状態が残ることで、画面だけでなく DB 保存まで動いていることを確認できます。</a:t>
            </a:r>
          </a:p>
        </p:txBody>
      </p:sp>
      <p:sp>
        <p:nvSpPr>
          <p:cNvPr id="5" name="正方形/長方形 4">
            <a:extLst>
              <a:ext uri="{FF2B5EF4-FFF2-40B4-BE49-F238E27FC236}">
                <a16:creationId xmlns:a16="http://schemas.microsoft.com/office/drawing/2014/main" id="{1205FFF6-0C24-422C-BDFD-39109DBE97B5}"/>
              </a:ext>
            </a:extLst>
          </p:cNvPr>
          <p:cNvSpPr>
            <a:spLocks noGrp="1"/>
          </p:cNvSpPr>
          <p:nvPr/>
        </p:nvSpPr>
        <p:spPr>
          <a:xfrm>
            <a:off x="904875" y="1952625"/>
            <a:ext cx="3213100" cy="1762125"/>
          </a:xfrm>
          <a:prstGeom prst="rect">
            <a:avLst/>
          </a:prstGeom>
          <a:ln w="9525">
            <a:solidFill>
              <a:srgbClr val="DBE4EF"/>
            </a:solidFill>
            <a:prstDash val="solid"/>
          </a:ln>
        </p:spPr>
      </p:sp>
      <p:sp>
        <p:nvSpPr>
          <p:cNvPr id="6" name="正方形/長方形 5">
            <a:extLst>
              <a:ext uri="{FF2B5EF4-FFF2-40B4-BE49-F238E27FC236}">
                <a16:creationId xmlns:a16="http://schemas.microsoft.com/office/drawing/2014/main" id="{1F4FDBBA-5C05-4A6B-92BF-BD2EA9AA42C9}"/>
              </a:ext>
            </a:extLst>
          </p:cNvPr>
          <p:cNvSpPr>
            <a:spLocks noGrp="1"/>
          </p:cNvSpPr>
          <p:nvPr/>
        </p:nvSpPr>
        <p:spPr>
          <a:xfrm>
            <a:off x="904875" y="1952625"/>
            <a:ext cx="76200" cy="1762125"/>
          </a:xfrm>
          <a:prstGeom prst="rect">
            <a:avLst/>
          </a:prstGeom>
          <a:ln w="0">
            <a:solidFill>
              <a:srgbClr val="2563EB"/>
            </a:solidFill>
            <a:prstDash val="solid"/>
          </a:ln>
        </p:spPr>
      </p:sp>
      <p:sp>
        <p:nvSpPr>
          <p:cNvPr id="7" name="正方形/長方形 6">
            <a:extLst>
              <a:ext uri="{FF2B5EF4-FFF2-40B4-BE49-F238E27FC236}">
                <a16:creationId xmlns:a16="http://schemas.microsoft.com/office/drawing/2014/main" id="{69D400F0-6C78-41E3-A3C7-83613FB131D3}"/>
              </a:ext>
            </a:extLst>
          </p:cNvPr>
          <p:cNvSpPr>
            <a:spLocks noGrp="1"/>
          </p:cNvSpPr>
          <p:nvPr/>
        </p:nvSpPr>
        <p:spPr>
          <a:xfrm>
            <a:off x="1133475" y="2124075"/>
            <a:ext cx="2832100" cy="171450"/>
          </a:xfrm>
          <a:prstGeom prst="rect">
            <a:avLst/>
          </a:prstGeom>
          <a:ln w="0">
            <a:solidFill>
              <a:srgbClr val="FFFFFF"/>
            </a:solidFill>
            <a:prstDash val="solid"/>
          </a:ln>
        </p:spPr>
        <p:txBody>
          <a:bodyPr lIns="0" tIns="0" rIns="0" bIns="0" anchor="t"/>
          <a:lstStyle/>
          <a:p>
            <a:pPr algn="l">
              <a:defRPr sz="900" b="1">
                <a:solidFill>
                  <a:srgbClr val="2563EB"/>
                </a:solidFill>
                <a:latin typeface="Yu Gothic"/>
                <a:ea typeface="Yu Gothic"/>
                <a:cs typeface="Yu Gothic"/>
              </a:defRPr>
            </a:pPr>
            <a:r>
              <a:rPr sz="900" b="1">
                <a:solidFill>
                  <a:srgbClr val="2563EB"/>
                </a:solidFill>
                <a:latin typeface="Yu Gothic"/>
                <a:ea typeface="Yu Gothic"/>
                <a:cs typeface="Yu Gothic"/>
              </a:rPr>
              <a:t>Web</a:t>
            </a:r>
          </a:p>
        </p:txBody>
      </p:sp>
      <p:sp>
        <p:nvSpPr>
          <p:cNvPr id="8" name="正方形/長方形 7">
            <a:extLst>
              <a:ext uri="{FF2B5EF4-FFF2-40B4-BE49-F238E27FC236}">
                <a16:creationId xmlns:a16="http://schemas.microsoft.com/office/drawing/2014/main" id="{25F622E7-E0CA-4361-930A-001AFA1561BC}"/>
              </a:ext>
            </a:extLst>
          </p:cNvPr>
          <p:cNvSpPr>
            <a:spLocks noGrp="1"/>
          </p:cNvSpPr>
          <p:nvPr/>
        </p:nvSpPr>
        <p:spPr>
          <a:xfrm>
            <a:off x="1133475" y="2352675"/>
            <a:ext cx="281305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画面表示</a:t>
            </a:r>
          </a:p>
        </p:txBody>
      </p:sp>
      <p:sp>
        <p:nvSpPr>
          <p:cNvPr id="9" name="正方形/長方形 8">
            <a:extLst>
              <a:ext uri="{FF2B5EF4-FFF2-40B4-BE49-F238E27FC236}">
                <a16:creationId xmlns:a16="http://schemas.microsoft.com/office/drawing/2014/main" id="{C626E667-A23F-4A1B-B5D1-4981BE21ABE0}"/>
              </a:ext>
            </a:extLst>
          </p:cNvPr>
          <p:cNvSpPr>
            <a:spLocks noGrp="1"/>
          </p:cNvSpPr>
          <p:nvPr/>
        </p:nvSpPr>
        <p:spPr>
          <a:xfrm>
            <a:off x="1133475" y="2790825"/>
            <a:ext cx="2813050" cy="8096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一覧を再取得して表示します。</a:t>
            </a:r>
          </a:p>
        </p:txBody>
      </p:sp>
      <p:sp>
        <p:nvSpPr>
          <p:cNvPr id="10" name="正方形/長方形 9">
            <a:extLst>
              <a:ext uri="{FF2B5EF4-FFF2-40B4-BE49-F238E27FC236}">
                <a16:creationId xmlns:a16="http://schemas.microsoft.com/office/drawing/2014/main" id="{5CE21DF1-3453-4897-A54E-F4390D561BFB}"/>
              </a:ext>
            </a:extLst>
          </p:cNvPr>
          <p:cNvSpPr>
            <a:spLocks noGrp="1"/>
          </p:cNvSpPr>
          <p:nvPr/>
        </p:nvSpPr>
        <p:spPr>
          <a:xfrm>
            <a:off x="4346575" y="1952625"/>
            <a:ext cx="3213100" cy="1762125"/>
          </a:xfrm>
          <a:prstGeom prst="rect">
            <a:avLst/>
          </a:prstGeom>
          <a:ln w="9525">
            <a:solidFill>
              <a:srgbClr val="DBE4EF"/>
            </a:solidFill>
            <a:prstDash val="solid"/>
          </a:ln>
        </p:spPr>
      </p:sp>
      <p:sp>
        <p:nvSpPr>
          <p:cNvPr id="11" name="正方形/長方形 10">
            <a:extLst>
              <a:ext uri="{FF2B5EF4-FFF2-40B4-BE49-F238E27FC236}">
                <a16:creationId xmlns:a16="http://schemas.microsoft.com/office/drawing/2014/main" id="{20F58595-7A08-478C-BE24-BCE5075B88D6}"/>
              </a:ext>
            </a:extLst>
          </p:cNvPr>
          <p:cNvSpPr>
            <a:spLocks noGrp="1"/>
          </p:cNvSpPr>
          <p:nvPr/>
        </p:nvSpPr>
        <p:spPr>
          <a:xfrm>
            <a:off x="4346575" y="1952625"/>
            <a:ext cx="76200" cy="1762125"/>
          </a:xfrm>
          <a:prstGeom prst="rect">
            <a:avLst/>
          </a:prstGeom>
          <a:ln w="0">
            <a:solidFill>
              <a:srgbClr val="0F766E"/>
            </a:solidFill>
            <a:prstDash val="solid"/>
          </a:ln>
        </p:spPr>
      </p:sp>
      <p:sp>
        <p:nvSpPr>
          <p:cNvPr id="12" name="正方形/長方形 11">
            <a:extLst>
              <a:ext uri="{FF2B5EF4-FFF2-40B4-BE49-F238E27FC236}">
                <a16:creationId xmlns:a16="http://schemas.microsoft.com/office/drawing/2014/main" id="{2DA5CC95-1BAA-4905-ACD3-2CA8D89E58DF}"/>
              </a:ext>
            </a:extLst>
          </p:cNvPr>
          <p:cNvSpPr>
            <a:spLocks noGrp="1"/>
          </p:cNvSpPr>
          <p:nvPr/>
        </p:nvSpPr>
        <p:spPr>
          <a:xfrm>
            <a:off x="4575175" y="2124075"/>
            <a:ext cx="2832100" cy="171450"/>
          </a:xfrm>
          <a:prstGeom prst="rect">
            <a:avLst/>
          </a:prstGeom>
          <a:ln w="0">
            <a:solidFill>
              <a:srgbClr val="FFFFFF"/>
            </a:solidFill>
            <a:prstDash val="solid"/>
          </a:ln>
        </p:spPr>
        <p:txBody>
          <a:bodyPr lIns="0" tIns="0" rIns="0" bIns="0" anchor="t"/>
          <a:lstStyle/>
          <a:p>
            <a:pPr algn="l">
              <a:defRPr sz="900" b="1">
                <a:solidFill>
                  <a:srgbClr val="0F766E"/>
                </a:solidFill>
                <a:latin typeface="Yu Gothic"/>
                <a:ea typeface="Yu Gothic"/>
                <a:cs typeface="Yu Gothic"/>
              </a:defRPr>
            </a:pPr>
            <a:r>
              <a:rPr sz="900" b="1">
                <a:solidFill>
                  <a:srgbClr val="0F766E"/>
                </a:solidFill>
                <a:latin typeface="Yu Gothic"/>
                <a:ea typeface="Yu Gothic"/>
                <a:cs typeface="Yu Gothic"/>
              </a:rPr>
              <a:t>API</a:t>
            </a:r>
          </a:p>
        </p:txBody>
      </p:sp>
      <p:sp>
        <p:nvSpPr>
          <p:cNvPr id="13" name="正方形/長方形 12">
            <a:extLst>
              <a:ext uri="{FF2B5EF4-FFF2-40B4-BE49-F238E27FC236}">
                <a16:creationId xmlns:a16="http://schemas.microsoft.com/office/drawing/2014/main" id="{6F12A0B8-AB6F-40D2-B94F-3BF03C6820B4}"/>
              </a:ext>
            </a:extLst>
          </p:cNvPr>
          <p:cNvSpPr>
            <a:spLocks noGrp="1"/>
          </p:cNvSpPr>
          <p:nvPr/>
        </p:nvSpPr>
        <p:spPr>
          <a:xfrm>
            <a:off x="4575175" y="2352675"/>
            <a:ext cx="281305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問い合わせ</a:t>
            </a:r>
          </a:p>
        </p:txBody>
      </p:sp>
      <p:sp>
        <p:nvSpPr>
          <p:cNvPr id="14" name="正方形/長方形 13">
            <a:extLst>
              <a:ext uri="{FF2B5EF4-FFF2-40B4-BE49-F238E27FC236}">
                <a16:creationId xmlns:a16="http://schemas.microsoft.com/office/drawing/2014/main" id="{BEF1C42E-6032-4526-9D36-41382E76471E}"/>
              </a:ext>
            </a:extLst>
          </p:cNvPr>
          <p:cNvSpPr>
            <a:spLocks noGrp="1"/>
          </p:cNvSpPr>
          <p:nvPr/>
        </p:nvSpPr>
        <p:spPr>
          <a:xfrm>
            <a:off x="4575175" y="2790825"/>
            <a:ext cx="2813050" cy="8096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保存済み Todo を API が取得します。</a:t>
            </a:r>
          </a:p>
        </p:txBody>
      </p:sp>
      <p:sp>
        <p:nvSpPr>
          <p:cNvPr id="15" name="正方形/長方形 14">
            <a:extLst>
              <a:ext uri="{FF2B5EF4-FFF2-40B4-BE49-F238E27FC236}">
                <a16:creationId xmlns:a16="http://schemas.microsoft.com/office/drawing/2014/main" id="{4869581E-5EB4-49B8-92D3-6A9F3E86F4B2}"/>
              </a:ext>
            </a:extLst>
          </p:cNvPr>
          <p:cNvSpPr>
            <a:spLocks noGrp="1"/>
          </p:cNvSpPr>
          <p:nvPr/>
        </p:nvSpPr>
        <p:spPr>
          <a:xfrm>
            <a:off x="7788275" y="1952625"/>
            <a:ext cx="3213100" cy="1762125"/>
          </a:xfrm>
          <a:prstGeom prst="rect">
            <a:avLst/>
          </a:prstGeom>
          <a:ln w="9525">
            <a:solidFill>
              <a:srgbClr val="DBE4EF"/>
            </a:solidFill>
            <a:prstDash val="solid"/>
          </a:ln>
        </p:spPr>
      </p:sp>
      <p:sp>
        <p:nvSpPr>
          <p:cNvPr id="16" name="正方形/長方形 15">
            <a:extLst>
              <a:ext uri="{FF2B5EF4-FFF2-40B4-BE49-F238E27FC236}">
                <a16:creationId xmlns:a16="http://schemas.microsoft.com/office/drawing/2014/main" id="{1540B0BB-587B-4573-9C4C-058E6D4493B2}"/>
              </a:ext>
            </a:extLst>
          </p:cNvPr>
          <p:cNvSpPr>
            <a:spLocks noGrp="1"/>
          </p:cNvSpPr>
          <p:nvPr/>
        </p:nvSpPr>
        <p:spPr>
          <a:xfrm>
            <a:off x="7788275" y="1952625"/>
            <a:ext cx="76200" cy="1762125"/>
          </a:xfrm>
          <a:prstGeom prst="rect">
            <a:avLst/>
          </a:prstGeom>
          <a:ln w="0">
            <a:solidFill>
              <a:srgbClr val="EA580C"/>
            </a:solidFill>
            <a:prstDash val="solid"/>
          </a:ln>
        </p:spPr>
      </p:sp>
      <p:sp>
        <p:nvSpPr>
          <p:cNvPr id="17" name="正方形/長方形 16">
            <a:extLst>
              <a:ext uri="{FF2B5EF4-FFF2-40B4-BE49-F238E27FC236}">
                <a16:creationId xmlns:a16="http://schemas.microsoft.com/office/drawing/2014/main" id="{CB538C35-5730-4418-AD47-7A021DD31299}"/>
              </a:ext>
            </a:extLst>
          </p:cNvPr>
          <p:cNvSpPr>
            <a:spLocks noGrp="1"/>
          </p:cNvSpPr>
          <p:nvPr/>
        </p:nvSpPr>
        <p:spPr>
          <a:xfrm>
            <a:off x="8016875" y="2124075"/>
            <a:ext cx="2832100" cy="171450"/>
          </a:xfrm>
          <a:prstGeom prst="rect">
            <a:avLst/>
          </a:prstGeom>
          <a:ln w="0">
            <a:solidFill>
              <a:srgbClr val="FFFFFF"/>
            </a:solidFill>
            <a:prstDash val="solid"/>
          </a:ln>
        </p:spPr>
        <p:txBody>
          <a:bodyPr lIns="0" tIns="0" rIns="0" bIns="0" anchor="t"/>
          <a:lstStyle/>
          <a:p>
            <a:pPr algn="l">
              <a:defRPr sz="900" b="1">
                <a:solidFill>
                  <a:srgbClr val="EA580C"/>
                </a:solidFill>
                <a:latin typeface="Yu Gothic"/>
                <a:ea typeface="Yu Gothic"/>
                <a:cs typeface="Yu Gothic"/>
              </a:defRPr>
            </a:pPr>
            <a:r>
              <a:rPr sz="900" b="1">
                <a:solidFill>
                  <a:srgbClr val="EA580C"/>
                </a:solidFill>
                <a:latin typeface="Yu Gothic"/>
                <a:ea typeface="Yu Gothic"/>
                <a:cs typeface="Yu Gothic"/>
              </a:rPr>
              <a:t>DB</a:t>
            </a:r>
          </a:p>
        </p:txBody>
      </p:sp>
      <p:sp>
        <p:nvSpPr>
          <p:cNvPr id="18" name="正方形/長方形 17">
            <a:extLst>
              <a:ext uri="{FF2B5EF4-FFF2-40B4-BE49-F238E27FC236}">
                <a16:creationId xmlns:a16="http://schemas.microsoft.com/office/drawing/2014/main" id="{AF7C9C52-A461-4DAD-8164-F54CE9252DD1}"/>
              </a:ext>
            </a:extLst>
          </p:cNvPr>
          <p:cNvSpPr>
            <a:spLocks noGrp="1"/>
          </p:cNvSpPr>
          <p:nvPr/>
        </p:nvSpPr>
        <p:spPr>
          <a:xfrm>
            <a:off x="8016875" y="2352675"/>
            <a:ext cx="281305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永続化</a:t>
            </a:r>
          </a:p>
        </p:txBody>
      </p:sp>
      <p:sp>
        <p:nvSpPr>
          <p:cNvPr id="19" name="正方形/長方形 18">
            <a:extLst>
              <a:ext uri="{FF2B5EF4-FFF2-40B4-BE49-F238E27FC236}">
                <a16:creationId xmlns:a16="http://schemas.microsoft.com/office/drawing/2014/main" id="{82CFC622-321F-43F5-8FAE-6AD92F6359FD}"/>
              </a:ext>
            </a:extLst>
          </p:cNvPr>
          <p:cNvSpPr>
            <a:spLocks noGrp="1"/>
          </p:cNvSpPr>
          <p:nvPr/>
        </p:nvSpPr>
        <p:spPr>
          <a:xfrm>
            <a:off x="8016875" y="2790825"/>
            <a:ext cx="2813050" cy="8096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PostgreSQL に保存されていることを確認します。</a:t>
            </a:r>
          </a:p>
        </p:txBody>
      </p:sp>
      <p:sp>
        <p:nvSpPr>
          <p:cNvPr id="20" name="正方形/長方形 19">
            <a:extLst>
              <a:ext uri="{FF2B5EF4-FFF2-40B4-BE49-F238E27FC236}">
                <a16:creationId xmlns:a16="http://schemas.microsoft.com/office/drawing/2014/main" id="{C8F07153-53EB-4BC8-80C0-54EC707AFF7A}"/>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正方形/長方形 37">
            <a:extLst>
              <a:ext uri="{FF2B5EF4-FFF2-40B4-BE49-F238E27FC236}">
                <a16:creationId xmlns:a16="http://schemas.microsoft.com/office/drawing/2014/main" id="{C0B942CB-78CE-4105-BA31-F31243EB852A}"/>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完成した通信経路を振り返る</a:t>
            </a:r>
          </a:p>
        </p:txBody>
      </p:sp>
      <p:sp>
        <p:nvSpPr>
          <p:cNvPr id="2" name="正方形/長方形 1">
            <a:extLst>
              <a:ext uri="{FF2B5EF4-FFF2-40B4-BE49-F238E27FC236}">
                <a16:creationId xmlns:a16="http://schemas.microsoft.com/office/drawing/2014/main" id="{3C8B13BD-F2CD-4C97-8467-7F44200ED17B}"/>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40 / 48</a:t>
            </a:r>
          </a:p>
        </p:txBody>
      </p:sp>
      <p:sp>
        <p:nvSpPr>
          <p:cNvPr id="3" name="正方形/長方形 2">
            <a:extLst>
              <a:ext uri="{FF2B5EF4-FFF2-40B4-BE49-F238E27FC236}">
                <a16:creationId xmlns:a16="http://schemas.microsoft.com/office/drawing/2014/main" id="{497C936D-8296-45B8-9D01-CBA367D2F8CA}"/>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7A51BD3B-9CAD-49ED-823F-AAFEE076975B}"/>
              </a:ext>
            </a:extLst>
          </p:cNvPr>
          <p:cNvSpPr>
            <a:spLocks noGrp="1"/>
          </p:cNvSpPr>
          <p:nvPr/>
        </p:nvSpPr>
        <p:spPr>
          <a:xfrm>
            <a:off x="666750" y="1162050"/>
            <a:ext cx="10096500" cy="552450"/>
          </a:xfrm>
          <a:prstGeom prst="rect">
            <a:avLst/>
          </a:prstGeom>
          <a:ln w="0">
            <a:solidFill>
              <a:srgbClr val="FFFFFF"/>
            </a:solidFill>
            <a:prstDash val="solid"/>
          </a:ln>
        </p:spPr>
        <p:txBody>
          <a:bodyPr lIns="0" tIns="0" rIns="0" bIns="0" anchor="t"/>
          <a:lstStyle/>
          <a:p>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Web、API、PostgreSQL、Entra ID、ACR、GitHub Actions、Managed Identity の役割を、実行時通信とデプロイ時通信に分けて整理します。</a:t>
            </a:r>
          </a:p>
        </p:txBody>
      </p:sp>
      <p:sp>
        <p:nvSpPr>
          <p:cNvPr id="5" name="正方形/長方形 4">
            <a:extLst>
              <a:ext uri="{FF2B5EF4-FFF2-40B4-BE49-F238E27FC236}">
                <a16:creationId xmlns:a16="http://schemas.microsoft.com/office/drawing/2014/main" id="{61D65AB8-A92E-4EE5-A0A0-4D832BDA5303}"/>
              </a:ext>
            </a:extLst>
          </p:cNvPr>
          <p:cNvSpPr>
            <a:spLocks noGrp="1"/>
          </p:cNvSpPr>
          <p:nvPr/>
        </p:nvSpPr>
        <p:spPr>
          <a:xfrm>
            <a:off x="1714500" y="1571625"/>
            <a:ext cx="8763000" cy="285750"/>
          </a:xfrm>
          <a:prstGeom prst="rect">
            <a:avLst/>
          </a:prstGeom>
          <a:ln w="0">
            <a:solidFill>
              <a:srgbClr val="FFFFFF"/>
            </a:solidFill>
            <a:prstDash val="solid"/>
          </a:ln>
        </p:spPr>
        <p:txBody>
          <a:bodyPr lIns="0" tIns="0" rIns="0" bIns="0" anchor="t"/>
          <a:lstStyle/>
          <a:p>
            <a:pPr algn="ctr">
              <a:defRPr sz="1575" b="1">
                <a:solidFill>
                  <a:srgbClr val="2563EB"/>
                </a:solidFill>
                <a:latin typeface="Yu Gothic"/>
                <a:ea typeface="Yu Gothic"/>
                <a:cs typeface="Yu Gothic"/>
              </a:defRPr>
            </a:pPr>
            <a:r>
              <a:rPr sz="1575" b="1">
                <a:solidFill>
                  <a:srgbClr val="2563EB"/>
                </a:solidFill>
                <a:latin typeface="Yu Gothic"/>
                <a:ea typeface="Yu Gothic"/>
                <a:cs typeface="Yu Gothic"/>
              </a:rPr>
              <a:t>完成後: 実行時通信とデプロイ時通信を分けて見る</a:t>
            </a:r>
          </a:p>
        </p:txBody>
      </p:sp>
      <p:sp>
        <p:nvSpPr>
          <p:cNvPr id="6" name="正方形/長方形 5">
            <a:extLst>
              <a:ext uri="{FF2B5EF4-FFF2-40B4-BE49-F238E27FC236}">
                <a16:creationId xmlns:a16="http://schemas.microsoft.com/office/drawing/2014/main" id="{04322D41-55E1-4AE2-9628-A02F5DDF28AC}"/>
              </a:ext>
            </a:extLst>
          </p:cNvPr>
          <p:cNvSpPr>
            <a:spLocks noGrp="1"/>
          </p:cNvSpPr>
          <p:nvPr/>
        </p:nvSpPr>
        <p:spPr>
          <a:xfrm>
            <a:off x="762000" y="2000250"/>
            <a:ext cx="6858000" cy="3143250"/>
          </a:xfrm>
          <a:prstGeom prst="rect">
            <a:avLst/>
          </a:prstGeom>
          <a:ln w="14288">
            <a:solidFill>
              <a:srgbClr val="2563EB"/>
            </a:solidFill>
            <a:prstDash val="solid"/>
          </a:ln>
        </p:spPr>
      </p:sp>
      <p:sp>
        <p:nvSpPr>
          <p:cNvPr id="7" name="正方形/長方形 6">
            <a:extLst>
              <a:ext uri="{FF2B5EF4-FFF2-40B4-BE49-F238E27FC236}">
                <a16:creationId xmlns:a16="http://schemas.microsoft.com/office/drawing/2014/main" id="{E6A6DFC6-11C8-49BB-8401-39DB4E7087E6}"/>
              </a:ext>
            </a:extLst>
          </p:cNvPr>
          <p:cNvSpPr>
            <a:spLocks noGrp="1"/>
          </p:cNvSpPr>
          <p:nvPr/>
        </p:nvSpPr>
        <p:spPr>
          <a:xfrm>
            <a:off x="1000125" y="2171700"/>
            <a:ext cx="1905000" cy="247650"/>
          </a:xfrm>
          <a:prstGeom prst="rect">
            <a:avLst/>
          </a:prstGeom>
          <a:ln w="0">
            <a:solidFill>
              <a:srgbClr val="FFFFFF"/>
            </a:solidFill>
            <a:prstDash val="solid"/>
          </a:ln>
        </p:spPr>
        <p:txBody>
          <a:bodyPr lIns="0" tIns="0" rIns="0" bIns="0" anchor="t"/>
          <a:lstStyle/>
          <a:p>
            <a:pPr algn="l">
              <a:defRPr sz="1425" b="1">
                <a:solidFill>
                  <a:srgbClr val="2563EB"/>
                </a:solidFill>
                <a:latin typeface="Yu Gothic"/>
                <a:ea typeface="Yu Gothic"/>
                <a:cs typeface="Yu Gothic"/>
              </a:defRPr>
            </a:pPr>
            <a:r>
              <a:rPr sz="1425" b="1">
                <a:solidFill>
                  <a:srgbClr val="2563EB"/>
                </a:solidFill>
                <a:latin typeface="Yu Gothic"/>
                <a:ea typeface="Yu Gothic"/>
                <a:cs typeface="Yu Gothic"/>
              </a:rPr>
              <a:t>実行時通信</a:t>
            </a:r>
          </a:p>
        </p:txBody>
      </p:sp>
      <p:sp>
        <p:nvSpPr>
          <p:cNvPr id="8" name="正方形/長方形 7">
            <a:extLst>
              <a:ext uri="{FF2B5EF4-FFF2-40B4-BE49-F238E27FC236}">
                <a16:creationId xmlns:a16="http://schemas.microsoft.com/office/drawing/2014/main" id="{8C3DDF48-CE67-4A44-A2CE-DF55A2D69E56}"/>
              </a:ext>
            </a:extLst>
          </p:cNvPr>
          <p:cNvSpPr>
            <a:spLocks noGrp="1"/>
          </p:cNvSpPr>
          <p:nvPr/>
        </p:nvSpPr>
        <p:spPr>
          <a:xfrm>
            <a:off x="1143000" y="2857500"/>
            <a:ext cx="1619250" cy="685800"/>
          </a:xfrm>
          <a:prstGeom prst="rect">
            <a:avLst/>
          </a:prstGeom>
          <a:ln w="12383">
            <a:solidFill>
              <a:srgbClr val="2563EB"/>
            </a:solidFill>
            <a:prstDash val="solid"/>
          </a:ln>
        </p:spPr>
      </p:sp>
      <p:sp>
        <p:nvSpPr>
          <p:cNvPr id="9" name="正方形/長方形 8">
            <a:extLst>
              <a:ext uri="{FF2B5EF4-FFF2-40B4-BE49-F238E27FC236}">
                <a16:creationId xmlns:a16="http://schemas.microsoft.com/office/drawing/2014/main" id="{FDBA583C-33E6-43C6-AECD-59046B2E5DA0}"/>
              </a:ext>
            </a:extLst>
          </p:cNvPr>
          <p:cNvSpPr>
            <a:spLocks noGrp="1"/>
          </p:cNvSpPr>
          <p:nvPr/>
        </p:nvSpPr>
        <p:spPr>
          <a:xfrm>
            <a:off x="1257300" y="2952750"/>
            <a:ext cx="1390650" cy="247650"/>
          </a:xfrm>
          <a:prstGeom prst="rect">
            <a:avLst/>
          </a:prstGeom>
          <a:ln w="0">
            <a:solidFill>
              <a:srgbClr val="FFFFFF"/>
            </a:solidFill>
            <a:prstDash val="solid"/>
          </a:ln>
        </p:spPr>
        <p:txBody>
          <a:bodyPr lIns="0" tIns="0" rIns="0" bIns="0" anchor="ctr"/>
          <a:lstStyle/>
          <a:p>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利用者ブラウザー</a:t>
            </a:r>
          </a:p>
        </p:txBody>
      </p:sp>
      <p:sp>
        <p:nvSpPr>
          <p:cNvPr id="10" name="正方形/長方形 9">
            <a:extLst>
              <a:ext uri="{FF2B5EF4-FFF2-40B4-BE49-F238E27FC236}">
                <a16:creationId xmlns:a16="http://schemas.microsoft.com/office/drawing/2014/main" id="{CC3EF14C-1F0A-4E73-8F7E-62A501465E4D}"/>
              </a:ext>
            </a:extLst>
          </p:cNvPr>
          <p:cNvSpPr>
            <a:spLocks noGrp="1"/>
          </p:cNvSpPr>
          <p:nvPr/>
        </p:nvSpPr>
        <p:spPr>
          <a:xfrm>
            <a:off x="1257300" y="3267075"/>
            <a:ext cx="1390650" cy="228600"/>
          </a:xfrm>
          <a:prstGeom prst="rect">
            <a:avLst/>
          </a:prstGeom>
          <a:ln w="0">
            <a:solidFill>
              <a:srgbClr val="FFFFFF"/>
            </a:solidFill>
            <a:prstDash val="solid"/>
          </a:ln>
        </p:spPr>
        <p:txBody>
          <a:bodyPr lIns="0" tIns="0" rIns="0" bIns="0" anchor="t"/>
          <a:lstStyle/>
          <a:p>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Web URL</a:t>
            </a:r>
          </a:p>
        </p:txBody>
      </p:sp>
      <p:sp>
        <p:nvSpPr>
          <p:cNvPr id="11" name="正方形/長方形 10">
            <a:extLst>
              <a:ext uri="{FF2B5EF4-FFF2-40B4-BE49-F238E27FC236}">
                <a16:creationId xmlns:a16="http://schemas.microsoft.com/office/drawing/2014/main" id="{54C1AAE6-9C26-47F3-AF5E-FE00B9E9509B}"/>
              </a:ext>
            </a:extLst>
          </p:cNvPr>
          <p:cNvSpPr>
            <a:spLocks noGrp="1"/>
          </p:cNvSpPr>
          <p:nvPr/>
        </p:nvSpPr>
        <p:spPr>
          <a:xfrm>
            <a:off x="3333750" y="2857500"/>
            <a:ext cx="1809750" cy="685800"/>
          </a:xfrm>
          <a:prstGeom prst="rect">
            <a:avLst/>
          </a:prstGeom>
          <a:ln w="12383">
            <a:solidFill>
              <a:srgbClr val="0F766E"/>
            </a:solidFill>
            <a:prstDash val="solid"/>
          </a:ln>
        </p:spPr>
      </p:sp>
      <p:sp>
        <p:nvSpPr>
          <p:cNvPr id="12" name="正方形/長方形 11">
            <a:extLst>
              <a:ext uri="{FF2B5EF4-FFF2-40B4-BE49-F238E27FC236}">
                <a16:creationId xmlns:a16="http://schemas.microsoft.com/office/drawing/2014/main" id="{A929E0C2-1066-43F6-BAB1-01C5716F2B01}"/>
              </a:ext>
            </a:extLst>
          </p:cNvPr>
          <p:cNvSpPr>
            <a:spLocks noGrp="1"/>
          </p:cNvSpPr>
          <p:nvPr/>
        </p:nvSpPr>
        <p:spPr>
          <a:xfrm>
            <a:off x="3448050" y="2952750"/>
            <a:ext cx="1581150" cy="247650"/>
          </a:xfrm>
          <a:prstGeom prst="rect">
            <a:avLst/>
          </a:prstGeom>
          <a:ln w="0">
            <a:solidFill>
              <a:srgbClr val="FFFFFF"/>
            </a:solidFill>
            <a:prstDash val="solid"/>
          </a:ln>
        </p:spPr>
        <p:txBody>
          <a:bodyPr lIns="0" tIns="0" rIns="0" bIns="0" anchor="ctr"/>
          <a:lstStyle/>
          <a:p>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Web Container App</a:t>
            </a:r>
          </a:p>
        </p:txBody>
      </p:sp>
      <p:sp>
        <p:nvSpPr>
          <p:cNvPr id="13" name="正方形/長方形 12">
            <a:extLst>
              <a:ext uri="{FF2B5EF4-FFF2-40B4-BE49-F238E27FC236}">
                <a16:creationId xmlns:a16="http://schemas.microsoft.com/office/drawing/2014/main" id="{940006A9-DE4B-4063-9911-ACA1ED6E3C3F}"/>
              </a:ext>
            </a:extLst>
          </p:cNvPr>
          <p:cNvSpPr>
            <a:spLocks noGrp="1"/>
          </p:cNvSpPr>
          <p:nvPr/>
        </p:nvSpPr>
        <p:spPr>
          <a:xfrm>
            <a:off x="3448050" y="3267075"/>
            <a:ext cx="1581150" cy="228600"/>
          </a:xfrm>
          <a:prstGeom prst="rect">
            <a:avLst/>
          </a:prstGeom>
          <a:ln w="0">
            <a:solidFill>
              <a:srgbClr val="FFFFFF"/>
            </a:solidFill>
            <a:prstDash val="solid"/>
          </a:ln>
        </p:spPr>
        <p:txBody>
          <a:bodyPr lIns="0" tIns="0" rIns="0" bIns="0" anchor="t"/>
          <a:lstStyle/>
          <a:p>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画面とサインイン</a:t>
            </a:r>
          </a:p>
        </p:txBody>
      </p:sp>
      <p:sp>
        <p:nvSpPr>
          <p:cNvPr id="14" name="正方形/長方形 13">
            <a:extLst>
              <a:ext uri="{FF2B5EF4-FFF2-40B4-BE49-F238E27FC236}">
                <a16:creationId xmlns:a16="http://schemas.microsoft.com/office/drawing/2014/main" id="{46526495-DC95-4535-A0D2-D1E335D51092}"/>
              </a:ext>
            </a:extLst>
          </p:cNvPr>
          <p:cNvSpPr>
            <a:spLocks noGrp="1"/>
          </p:cNvSpPr>
          <p:nvPr/>
        </p:nvSpPr>
        <p:spPr>
          <a:xfrm>
            <a:off x="5572125" y="2857500"/>
            <a:ext cx="1619250" cy="685800"/>
          </a:xfrm>
          <a:prstGeom prst="rect">
            <a:avLst/>
          </a:prstGeom>
          <a:ln w="12383">
            <a:solidFill>
              <a:srgbClr val="15803D"/>
            </a:solidFill>
            <a:prstDash val="solid"/>
          </a:ln>
        </p:spPr>
      </p:sp>
      <p:sp>
        <p:nvSpPr>
          <p:cNvPr id="15" name="正方形/長方形 14">
            <a:extLst>
              <a:ext uri="{FF2B5EF4-FFF2-40B4-BE49-F238E27FC236}">
                <a16:creationId xmlns:a16="http://schemas.microsoft.com/office/drawing/2014/main" id="{2AC21CDC-36D2-4F23-A0DE-2E444CEDB06F}"/>
              </a:ext>
            </a:extLst>
          </p:cNvPr>
          <p:cNvSpPr>
            <a:spLocks noGrp="1"/>
          </p:cNvSpPr>
          <p:nvPr/>
        </p:nvSpPr>
        <p:spPr>
          <a:xfrm>
            <a:off x="5686425" y="2952750"/>
            <a:ext cx="1390650" cy="247650"/>
          </a:xfrm>
          <a:prstGeom prst="rect">
            <a:avLst/>
          </a:prstGeom>
          <a:ln w="0">
            <a:solidFill>
              <a:srgbClr val="FFFFFF"/>
            </a:solidFill>
            <a:prstDash val="solid"/>
          </a:ln>
        </p:spPr>
        <p:txBody>
          <a:bodyPr lIns="0" tIns="0" rIns="0" bIns="0" anchor="ctr"/>
          <a:lstStyle/>
          <a:p>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API Container App</a:t>
            </a:r>
          </a:p>
        </p:txBody>
      </p:sp>
      <p:sp>
        <p:nvSpPr>
          <p:cNvPr id="16" name="正方形/長方形 15">
            <a:extLst>
              <a:ext uri="{FF2B5EF4-FFF2-40B4-BE49-F238E27FC236}">
                <a16:creationId xmlns:a16="http://schemas.microsoft.com/office/drawing/2014/main" id="{FD6C3D8E-ED88-4B6E-8E05-1B824E72FB7D}"/>
              </a:ext>
            </a:extLst>
          </p:cNvPr>
          <p:cNvSpPr>
            <a:spLocks noGrp="1"/>
          </p:cNvSpPr>
          <p:nvPr/>
        </p:nvSpPr>
        <p:spPr>
          <a:xfrm>
            <a:off x="5686425" y="3267075"/>
            <a:ext cx="1390650" cy="228600"/>
          </a:xfrm>
          <a:prstGeom prst="rect">
            <a:avLst/>
          </a:prstGeom>
          <a:ln w="0">
            <a:solidFill>
              <a:srgbClr val="FFFFFF"/>
            </a:solidFill>
            <a:prstDash val="solid"/>
          </a:ln>
        </p:spPr>
        <p:txBody>
          <a:bodyPr lIns="0" tIns="0" rIns="0" bIns="0" anchor="t"/>
          <a:lstStyle/>
          <a:p>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Todo 操作</a:t>
            </a:r>
          </a:p>
        </p:txBody>
      </p:sp>
      <p:sp>
        <p:nvSpPr>
          <p:cNvPr id="17" name="正方形/長方形 16">
            <a:extLst>
              <a:ext uri="{FF2B5EF4-FFF2-40B4-BE49-F238E27FC236}">
                <a16:creationId xmlns:a16="http://schemas.microsoft.com/office/drawing/2014/main" id="{2F0CB297-CDC3-426B-99C5-3994CB8872EC}"/>
              </a:ext>
            </a:extLst>
          </p:cNvPr>
          <p:cNvSpPr>
            <a:spLocks noGrp="1"/>
          </p:cNvSpPr>
          <p:nvPr/>
        </p:nvSpPr>
        <p:spPr>
          <a:xfrm>
            <a:off x="5572125" y="4095750"/>
            <a:ext cx="1619250" cy="685800"/>
          </a:xfrm>
          <a:prstGeom prst="rect">
            <a:avLst/>
          </a:prstGeom>
          <a:ln w="12383">
            <a:solidFill>
              <a:srgbClr val="EA580C"/>
            </a:solidFill>
            <a:prstDash val="solid"/>
          </a:ln>
        </p:spPr>
      </p:sp>
      <p:sp>
        <p:nvSpPr>
          <p:cNvPr id="18" name="正方形/長方形 17">
            <a:extLst>
              <a:ext uri="{FF2B5EF4-FFF2-40B4-BE49-F238E27FC236}">
                <a16:creationId xmlns:a16="http://schemas.microsoft.com/office/drawing/2014/main" id="{71BE5F2E-41EE-4D1C-ACF7-F2543C68D0F8}"/>
              </a:ext>
            </a:extLst>
          </p:cNvPr>
          <p:cNvSpPr>
            <a:spLocks noGrp="1"/>
          </p:cNvSpPr>
          <p:nvPr/>
        </p:nvSpPr>
        <p:spPr>
          <a:xfrm>
            <a:off x="5686425" y="4191000"/>
            <a:ext cx="1390650" cy="247650"/>
          </a:xfrm>
          <a:prstGeom prst="rect">
            <a:avLst/>
          </a:prstGeom>
          <a:ln w="0">
            <a:solidFill>
              <a:srgbClr val="FFFFFF"/>
            </a:solidFill>
            <a:prstDash val="solid"/>
          </a:ln>
        </p:spPr>
        <p:txBody>
          <a:bodyPr lIns="0" tIns="0" rIns="0" bIns="0" anchor="ctr"/>
          <a:lstStyle/>
          <a:p>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PostgreSQL</a:t>
            </a:r>
          </a:p>
        </p:txBody>
      </p:sp>
      <p:sp>
        <p:nvSpPr>
          <p:cNvPr id="19" name="正方形/長方形 18">
            <a:extLst>
              <a:ext uri="{FF2B5EF4-FFF2-40B4-BE49-F238E27FC236}">
                <a16:creationId xmlns:a16="http://schemas.microsoft.com/office/drawing/2014/main" id="{EA383135-6BE1-4885-8C05-85D851B45285}"/>
              </a:ext>
            </a:extLst>
          </p:cNvPr>
          <p:cNvSpPr>
            <a:spLocks noGrp="1"/>
          </p:cNvSpPr>
          <p:nvPr/>
        </p:nvSpPr>
        <p:spPr>
          <a:xfrm>
            <a:off x="5686425" y="4505325"/>
            <a:ext cx="1390650" cy="228600"/>
          </a:xfrm>
          <a:prstGeom prst="rect">
            <a:avLst/>
          </a:prstGeom>
          <a:ln w="0">
            <a:solidFill>
              <a:srgbClr val="FFFFFF"/>
            </a:solidFill>
            <a:prstDash val="solid"/>
          </a:ln>
        </p:spPr>
        <p:txBody>
          <a:bodyPr lIns="0" tIns="0" rIns="0" bIns="0" anchor="t"/>
          <a:lstStyle/>
          <a:p>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Todo データ保存</a:t>
            </a:r>
          </a:p>
        </p:txBody>
      </p:sp>
      <p:sp>
        <p:nvSpPr>
          <p:cNvPr id="20" name="正方形/長方形 19">
            <a:extLst>
              <a:ext uri="{FF2B5EF4-FFF2-40B4-BE49-F238E27FC236}">
                <a16:creationId xmlns:a16="http://schemas.microsoft.com/office/drawing/2014/main" id="{23E776DC-EA56-4B55-B8AA-C6053F8C6432}"/>
              </a:ext>
            </a:extLst>
          </p:cNvPr>
          <p:cNvSpPr>
            <a:spLocks noGrp="1"/>
          </p:cNvSpPr>
          <p:nvPr/>
        </p:nvSpPr>
        <p:spPr>
          <a:xfrm>
            <a:off x="3333750" y="4095750"/>
            <a:ext cx="1809750" cy="685800"/>
          </a:xfrm>
          <a:prstGeom prst="rect">
            <a:avLst/>
          </a:prstGeom>
          <a:ln w="12383">
            <a:solidFill>
              <a:srgbClr val="7C3AED"/>
            </a:solidFill>
            <a:prstDash val="solid"/>
          </a:ln>
        </p:spPr>
      </p:sp>
      <p:sp>
        <p:nvSpPr>
          <p:cNvPr id="21" name="正方形/長方形 20">
            <a:extLst>
              <a:ext uri="{FF2B5EF4-FFF2-40B4-BE49-F238E27FC236}">
                <a16:creationId xmlns:a16="http://schemas.microsoft.com/office/drawing/2014/main" id="{F33678E6-4658-403B-8C73-9A74FBEB1F5D}"/>
              </a:ext>
            </a:extLst>
          </p:cNvPr>
          <p:cNvSpPr>
            <a:spLocks noGrp="1"/>
          </p:cNvSpPr>
          <p:nvPr/>
        </p:nvSpPr>
        <p:spPr>
          <a:xfrm>
            <a:off x="3448050" y="4191000"/>
            <a:ext cx="1581150" cy="247650"/>
          </a:xfrm>
          <a:prstGeom prst="rect">
            <a:avLst/>
          </a:prstGeom>
          <a:ln w="0">
            <a:solidFill>
              <a:srgbClr val="FFFFFF"/>
            </a:solidFill>
            <a:prstDash val="solid"/>
          </a:ln>
        </p:spPr>
        <p:txBody>
          <a:bodyPr lIns="0" tIns="0" rIns="0" bIns="0" anchor="ctr"/>
          <a:lstStyle/>
          <a:p>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Entra ID</a:t>
            </a:r>
          </a:p>
        </p:txBody>
      </p:sp>
      <p:sp>
        <p:nvSpPr>
          <p:cNvPr id="22" name="正方形/長方形 21">
            <a:extLst>
              <a:ext uri="{FF2B5EF4-FFF2-40B4-BE49-F238E27FC236}">
                <a16:creationId xmlns:a16="http://schemas.microsoft.com/office/drawing/2014/main" id="{0AFB98E5-11D5-4FF7-AA95-2E212C84437B}"/>
              </a:ext>
            </a:extLst>
          </p:cNvPr>
          <p:cNvSpPr>
            <a:spLocks noGrp="1"/>
          </p:cNvSpPr>
          <p:nvPr/>
        </p:nvSpPr>
        <p:spPr>
          <a:xfrm>
            <a:off x="3448050" y="4505325"/>
            <a:ext cx="1581150" cy="228600"/>
          </a:xfrm>
          <a:prstGeom prst="rect">
            <a:avLst/>
          </a:prstGeom>
          <a:ln w="0">
            <a:solidFill>
              <a:srgbClr val="FFFFFF"/>
            </a:solidFill>
            <a:prstDash val="solid"/>
          </a:ln>
        </p:spPr>
        <p:txBody>
          <a:bodyPr lIns="0" tIns="0" rIns="0" bIns="0" anchor="t"/>
          <a:lstStyle/>
          <a:p>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サインイン</a:t>
            </a:r>
          </a:p>
        </p:txBody>
      </p:sp>
      <p:sp>
        <p:nvSpPr>
          <p:cNvPr id="23" name="直線コネクタ 22">
            <a:extLst>
              <a:ext uri="{FF2B5EF4-FFF2-40B4-BE49-F238E27FC236}">
                <a16:creationId xmlns:a16="http://schemas.microsoft.com/office/drawing/2014/main" id="{D6EB3730-6EDF-42DD-8B19-0610F907D257}"/>
              </a:ext>
            </a:extLst>
          </p:cNvPr>
          <p:cNvSpPr>
            <a:spLocks noGrp="1"/>
          </p:cNvSpPr>
          <p:nvPr/>
        </p:nvSpPr>
        <p:spPr>
          <a:xfrm>
            <a:off x="2762250" y="3200400"/>
            <a:ext cx="571500" cy="0"/>
          </a:xfrm>
          <a:prstGeom prst="line">
            <a:avLst/>
          </a:prstGeom>
          <a:ln w="20955">
            <a:solidFill>
              <a:srgbClr val="2563EB"/>
            </a:solidFill>
            <a:prstDash val="solid"/>
          </a:ln>
        </p:spPr>
      </p:sp>
      <p:sp>
        <p:nvSpPr>
          <p:cNvPr id="24" name="直線コネクタ 23">
            <a:extLst>
              <a:ext uri="{FF2B5EF4-FFF2-40B4-BE49-F238E27FC236}">
                <a16:creationId xmlns:a16="http://schemas.microsoft.com/office/drawing/2014/main" id="{6147723D-7EA0-4E00-A546-5D1D39A0D9CB}"/>
              </a:ext>
            </a:extLst>
          </p:cNvPr>
          <p:cNvSpPr>
            <a:spLocks noGrp="1"/>
          </p:cNvSpPr>
          <p:nvPr/>
        </p:nvSpPr>
        <p:spPr>
          <a:xfrm>
            <a:off x="5143500" y="3200400"/>
            <a:ext cx="428625" cy="0"/>
          </a:xfrm>
          <a:prstGeom prst="line">
            <a:avLst/>
          </a:prstGeom>
          <a:ln w="20955">
            <a:solidFill>
              <a:srgbClr val="15803D"/>
            </a:solidFill>
            <a:prstDash val="solid"/>
          </a:ln>
        </p:spPr>
      </p:sp>
      <p:sp>
        <p:nvSpPr>
          <p:cNvPr id="25" name="直線コネクタ 24">
            <a:extLst>
              <a:ext uri="{FF2B5EF4-FFF2-40B4-BE49-F238E27FC236}">
                <a16:creationId xmlns:a16="http://schemas.microsoft.com/office/drawing/2014/main" id="{6336246D-4B68-4483-8E18-018A23CC1B3B}"/>
              </a:ext>
            </a:extLst>
          </p:cNvPr>
          <p:cNvSpPr>
            <a:spLocks noGrp="1"/>
          </p:cNvSpPr>
          <p:nvPr/>
        </p:nvSpPr>
        <p:spPr>
          <a:xfrm>
            <a:off x="6381750" y="3543300"/>
            <a:ext cx="0" cy="552450"/>
          </a:xfrm>
          <a:prstGeom prst="line">
            <a:avLst/>
          </a:prstGeom>
          <a:ln w="20955">
            <a:solidFill>
              <a:srgbClr val="EA580C"/>
            </a:solidFill>
            <a:prstDash val="solid"/>
          </a:ln>
        </p:spPr>
      </p:sp>
      <p:sp>
        <p:nvSpPr>
          <p:cNvPr id="26" name="直線コネクタ 25">
            <a:extLst>
              <a:ext uri="{FF2B5EF4-FFF2-40B4-BE49-F238E27FC236}">
                <a16:creationId xmlns:a16="http://schemas.microsoft.com/office/drawing/2014/main" id="{DB16007F-4B7F-4997-9FDB-6A8C2E2272D0}"/>
              </a:ext>
            </a:extLst>
          </p:cNvPr>
          <p:cNvSpPr>
            <a:spLocks noGrp="1"/>
          </p:cNvSpPr>
          <p:nvPr/>
        </p:nvSpPr>
        <p:spPr>
          <a:xfrm>
            <a:off x="4238625" y="3543300"/>
            <a:ext cx="0" cy="552450"/>
          </a:xfrm>
          <a:prstGeom prst="line">
            <a:avLst/>
          </a:prstGeom>
          <a:ln w="20955">
            <a:solidFill>
              <a:srgbClr val="7C3AED"/>
            </a:solidFill>
            <a:prstDash val="solid"/>
          </a:ln>
        </p:spPr>
      </p:sp>
      <p:sp>
        <p:nvSpPr>
          <p:cNvPr id="27" name="正方形/長方形 26">
            <a:extLst>
              <a:ext uri="{FF2B5EF4-FFF2-40B4-BE49-F238E27FC236}">
                <a16:creationId xmlns:a16="http://schemas.microsoft.com/office/drawing/2014/main" id="{955CF940-29F3-4A60-B5D3-0C704B04A0DC}"/>
              </a:ext>
            </a:extLst>
          </p:cNvPr>
          <p:cNvSpPr>
            <a:spLocks noGrp="1"/>
          </p:cNvSpPr>
          <p:nvPr/>
        </p:nvSpPr>
        <p:spPr>
          <a:xfrm>
            <a:off x="8001000" y="2000250"/>
            <a:ext cx="3429000" cy="3143250"/>
          </a:xfrm>
          <a:prstGeom prst="rect">
            <a:avLst/>
          </a:prstGeom>
          <a:ln w="14288">
            <a:solidFill>
              <a:srgbClr val="EA580C"/>
            </a:solidFill>
            <a:prstDash val="solid"/>
          </a:ln>
        </p:spPr>
      </p:sp>
      <p:sp>
        <p:nvSpPr>
          <p:cNvPr id="28" name="正方形/長方形 27">
            <a:extLst>
              <a:ext uri="{FF2B5EF4-FFF2-40B4-BE49-F238E27FC236}">
                <a16:creationId xmlns:a16="http://schemas.microsoft.com/office/drawing/2014/main" id="{67256A0F-279A-4195-ABF6-3B18974527B3}"/>
              </a:ext>
            </a:extLst>
          </p:cNvPr>
          <p:cNvSpPr>
            <a:spLocks noGrp="1"/>
          </p:cNvSpPr>
          <p:nvPr/>
        </p:nvSpPr>
        <p:spPr>
          <a:xfrm>
            <a:off x="8239125" y="2171700"/>
            <a:ext cx="2095500" cy="247650"/>
          </a:xfrm>
          <a:prstGeom prst="rect">
            <a:avLst/>
          </a:prstGeom>
          <a:ln w="0">
            <a:solidFill>
              <a:srgbClr val="FFFFFF"/>
            </a:solidFill>
            <a:prstDash val="solid"/>
          </a:ln>
        </p:spPr>
        <p:txBody>
          <a:bodyPr lIns="0" tIns="0" rIns="0" bIns="0" anchor="t"/>
          <a:lstStyle/>
          <a:p>
            <a:pPr algn="l">
              <a:defRPr sz="1425" b="1">
                <a:solidFill>
                  <a:srgbClr val="EA580C"/>
                </a:solidFill>
                <a:latin typeface="Yu Gothic"/>
                <a:ea typeface="Yu Gothic"/>
                <a:cs typeface="Yu Gothic"/>
              </a:defRPr>
            </a:pPr>
            <a:r>
              <a:rPr sz="1425" b="1">
                <a:solidFill>
                  <a:srgbClr val="EA580C"/>
                </a:solidFill>
                <a:latin typeface="Yu Gothic"/>
                <a:ea typeface="Yu Gothic"/>
                <a:cs typeface="Yu Gothic"/>
              </a:rPr>
              <a:t>デプロイ時通信</a:t>
            </a:r>
          </a:p>
        </p:txBody>
      </p:sp>
      <p:sp>
        <p:nvSpPr>
          <p:cNvPr id="29" name="正方形/長方形 28">
            <a:extLst>
              <a:ext uri="{FF2B5EF4-FFF2-40B4-BE49-F238E27FC236}">
                <a16:creationId xmlns:a16="http://schemas.microsoft.com/office/drawing/2014/main" id="{1DE8B22C-AD8F-4D63-B995-4135B7BFDF53}"/>
              </a:ext>
            </a:extLst>
          </p:cNvPr>
          <p:cNvSpPr>
            <a:spLocks noGrp="1"/>
          </p:cNvSpPr>
          <p:nvPr/>
        </p:nvSpPr>
        <p:spPr>
          <a:xfrm>
            <a:off x="8620125" y="2781300"/>
            <a:ext cx="2190750" cy="666750"/>
          </a:xfrm>
          <a:prstGeom prst="rect">
            <a:avLst/>
          </a:prstGeom>
          <a:ln w="12383">
            <a:solidFill>
              <a:srgbClr val="7C3AED"/>
            </a:solidFill>
            <a:prstDash val="solid"/>
          </a:ln>
        </p:spPr>
      </p:sp>
      <p:sp>
        <p:nvSpPr>
          <p:cNvPr id="30" name="正方形/長方形 29">
            <a:extLst>
              <a:ext uri="{FF2B5EF4-FFF2-40B4-BE49-F238E27FC236}">
                <a16:creationId xmlns:a16="http://schemas.microsoft.com/office/drawing/2014/main" id="{8D1F2D98-1227-43DF-832F-B894D3D92365}"/>
              </a:ext>
            </a:extLst>
          </p:cNvPr>
          <p:cNvSpPr>
            <a:spLocks noGrp="1"/>
          </p:cNvSpPr>
          <p:nvPr/>
        </p:nvSpPr>
        <p:spPr>
          <a:xfrm>
            <a:off x="8734425" y="2876550"/>
            <a:ext cx="1962150" cy="247650"/>
          </a:xfrm>
          <a:prstGeom prst="rect">
            <a:avLst/>
          </a:prstGeom>
          <a:ln w="0">
            <a:solidFill>
              <a:srgbClr val="FFFFFF"/>
            </a:solidFill>
            <a:prstDash val="solid"/>
          </a:ln>
        </p:spPr>
        <p:txBody>
          <a:bodyPr lIns="0" tIns="0" rIns="0" bIns="0" anchor="ctr"/>
          <a:lstStyle/>
          <a:p>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GitHub Actions</a:t>
            </a:r>
          </a:p>
        </p:txBody>
      </p:sp>
      <p:sp>
        <p:nvSpPr>
          <p:cNvPr id="31" name="正方形/長方形 30">
            <a:extLst>
              <a:ext uri="{FF2B5EF4-FFF2-40B4-BE49-F238E27FC236}">
                <a16:creationId xmlns:a16="http://schemas.microsoft.com/office/drawing/2014/main" id="{8EF10F26-F19F-4F9E-84AA-32E244AFCE53}"/>
              </a:ext>
            </a:extLst>
          </p:cNvPr>
          <p:cNvSpPr>
            <a:spLocks noGrp="1"/>
          </p:cNvSpPr>
          <p:nvPr/>
        </p:nvSpPr>
        <p:spPr>
          <a:xfrm>
            <a:off x="8734425" y="3190875"/>
            <a:ext cx="1962150" cy="209550"/>
          </a:xfrm>
          <a:prstGeom prst="rect">
            <a:avLst/>
          </a:prstGeom>
          <a:ln w="0">
            <a:solidFill>
              <a:srgbClr val="FFFFFF"/>
            </a:solidFill>
            <a:prstDash val="solid"/>
          </a:ln>
        </p:spPr>
        <p:txBody>
          <a:bodyPr lIns="0" tIns="0" rIns="0" bIns="0" anchor="t"/>
          <a:lstStyle/>
          <a:p>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build / push / deploy</a:t>
            </a:r>
          </a:p>
        </p:txBody>
      </p:sp>
      <p:sp>
        <p:nvSpPr>
          <p:cNvPr id="32" name="正方形/長方形 31">
            <a:extLst>
              <a:ext uri="{FF2B5EF4-FFF2-40B4-BE49-F238E27FC236}">
                <a16:creationId xmlns:a16="http://schemas.microsoft.com/office/drawing/2014/main" id="{72642315-CAE6-4666-B1F7-F88181F91803}"/>
              </a:ext>
            </a:extLst>
          </p:cNvPr>
          <p:cNvSpPr>
            <a:spLocks noGrp="1"/>
          </p:cNvSpPr>
          <p:nvPr/>
        </p:nvSpPr>
        <p:spPr>
          <a:xfrm>
            <a:off x="8620125" y="3781425"/>
            <a:ext cx="2190750" cy="571500"/>
          </a:xfrm>
          <a:prstGeom prst="rect">
            <a:avLst/>
          </a:prstGeom>
          <a:ln w="12383">
            <a:solidFill>
              <a:srgbClr val="0F766E"/>
            </a:solidFill>
            <a:prstDash val="solid"/>
          </a:ln>
        </p:spPr>
      </p:sp>
      <p:sp>
        <p:nvSpPr>
          <p:cNvPr id="33" name="正方形/長方形 32">
            <a:extLst>
              <a:ext uri="{FF2B5EF4-FFF2-40B4-BE49-F238E27FC236}">
                <a16:creationId xmlns:a16="http://schemas.microsoft.com/office/drawing/2014/main" id="{0C143F7C-A9DF-4D22-81F6-ED594ABB3369}"/>
              </a:ext>
            </a:extLst>
          </p:cNvPr>
          <p:cNvSpPr>
            <a:spLocks noGrp="1"/>
          </p:cNvSpPr>
          <p:nvPr/>
        </p:nvSpPr>
        <p:spPr>
          <a:xfrm>
            <a:off x="8734425" y="3876675"/>
            <a:ext cx="1962150" cy="247650"/>
          </a:xfrm>
          <a:prstGeom prst="rect">
            <a:avLst/>
          </a:prstGeom>
          <a:ln w="0">
            <a:solidFill>
              <a:srgbClr val="FFFFFF"/>
            </a:solidFill>
            <a:prstDash val="solid"/>
          </a:ln>
        </p:spPr>
        <p:txBody>
          <a:bodyPr lIns="0" tIns="0" rIns="0" bIns="0" anchor="ctr"/>
          <a:lstStyle/>
          <a:p>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ACR</a:t>
            </a:r>
          </a:p>
        </p:txBody>
      </p:sp>
      <p:sp>
        <p:nvSpPr>
          <p:cNvPr id="34" name="正方形/長方形 33">
            <a:extLst>
              <a:ext uri="{FF2B5EF4-FFF2-40B4-BE49-F238E27FC236}">
                <a16:creationId xmlns:a16="http://schemas.microsoft.com/office/drawing/2014/main" id="{F93BA8EF-2E83-4720-9E45-74AE2C18EE64}"/>
              </a:ext>
            </a:extLst>
          </p:cNvPr>
          <p:cNvSpPr>
            <a:spLocks noGrp="1"/>
          </p:cNvSpPr>
          <p:nvPr/>
        </p:nvSpPr>
        <p:spPr>
          <a:xfrm>
            <a:off x="8734425" y="4191000"/>
            <a:ext cx="1962150" cy="114300"/>
          </a:xfrm>
          <a:prstGeom prst="rect">
            <a:avLst/>
          </a:prstGeom>
          <a:ln w="0">
            <a:solidFill>
              <a:srgbClr val="FFFFFF"/>
            </a:solidFill>
            <a:prstDash val="solid"/>
          </a:ln>
        </p:spPr>
        <p:txBody>
          <a:bodyPr lIns="0" tIns="0" rIns="0" bIns="0" anchor="t"/>
          <a:lstStyle/>
          <a:p>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image 保管</a:t>
            </a:r>
          </a:p>
        </p:txBody>
      </p:sp>
      <p:sp>
        <p:nvSpPr>
          <p:cNvPr id="35" name="直線コネクタ 34">
            <a:extLst>
              <a:ext uri="{FF2B5EF4-FFF2-40B4-BE49-F238E27FC236}">
                <a16:creationId xmlns:a16="http://schemas.microsoft.com/office/drawing/2014/main" id="{710D02B2-AFD7-47FF-BB48-378A51A9DF60}"/>
              </a:ext>
            </a:extLst>
          </p:cNvPr>
          <p:cNvSpPr>
            <a:spLocks noGrp="1"/>
          </p:cNvSpPr>
          <p:nvPr/>
        </p:nvSpPr>
        <p:spPr>
          <a:xfrm>
            <a:off x="9715500" y="3448050"/>
            <a:ext cx="0" cy="333375"/>
          </a:xfrm>
          <a:prstGeom prst="line">
            <a:avLst/>
          </a:prstGeom>
          <a:ln w="20955">
            <a:solidFill>
              <a:srgbClr val="0F766E"/>
            </a:solidFill>
            <a:prstDash val="solid"/>
          </a:ln>
        </p:spPr>
      </p:sp>
      <p:sp>
        <p:nvSpPr>
          <p:cNvPr id="36" name="直線コネクタ 35">
            <a:extLst>
              <a:ext uri="{FF2B5EF4-FFF2-40B4-BE49-F238E27FC236}">
                <a16:creationId xmlns:a16="http://schemas.microsoft.com/office/drawing/2014/main" id="{5DE7C26C-E19C-4539-A3DD-0C55A7AAAE82}"/>
              </a:ext>
            </a:extLst>
          </p:cNvPr>
          <p:cNvSpPr>
            <a:spLocks noGrp="1"/>
          </p:cNvSpPr>
          <p:nvPr/>
        </p:nvSpPr>
        <p:spPr>
          <a:xfrm>
            <a:off x="8620125" y="3095625"/>
            <a:ext cx="0" cy="0"/>
          </a:xfrm>
          <a:prstGeom prst="line">
            <a:avLst/>
          </a:prstGeom>
          <a:ln w="20955">
            <a:solidFill>
              <a:srgbClr val="15803D"/>
            </a:solidFill>
            <a:prstDash val="solid"/>
          </a:ln>
        </p:spPr>
      </p:sp>
      <p:sp>
        <p:nvSpPr>
          <p:cNvPr id="37" name="正方形/長方形 36">
            <a:extLst>
              <a:ext uri="{FF2B5EF4-FFF2-40B4-BE49-F238E27FC236}">
                <a16:creationId xmlns:a16="http://schemas.microsoft.com/office/drawing/2014/main" id="{153669D6-1500-4053-BA39-404B152C078C}"/>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正方形/長方形 35">
            <a:extLst>
              <a:ext uri="{FF2B5EF4-FFF2-40B4-BE49-F238E27FC236}">
                <a16:creationId xmlns:a16="http://schemas.microsoft.com/office/drawing/2014/main" id="{B448617B-CCD7-454A-935C-A73E75DB9BBC}"/>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よくある失敗: 認証と変数</a:t>
            </a:r>
          </a:p>
        </p:txBody>
      </p:sp>
      <p:sp>
        <p:nvSpPr>
          <p:cNvPr id="2" name="正方形/長方形 1">
            <a:extLst>
              <a:ext uri="{FF2B5EF4-FFF2-40B4-BE49-F238E27FC236}">
                <a16:creationId xmlns:a16="http://schemas.microsoft.com/office/drawing/2014/main" id="{6521D070-9379-49B7-A8CB-7DD72685DCDA}"/>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41 / 48</a:t>
            </a:r>
          </a:p>
        </p:txBody>
      </p:sp>
      <p:sp>
        <p:nvSpPr>
          <p:cNvPr id="3" name="正方形/長方形 2">
            <a:extLst>
              <a:ext uri="{FF2B5EF4-FFF2-40B4-BE49-F238E27FC236}">
                <a16:creationId xmlns:a16="http://schemas.microsoft.com/office/drawing/2014/main" id="{2263CD1F-463A-4A78-8A71-85B4D79307CA}"/>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C47FAAD2-D1A8-43FA-97CC-B0D74220E2FA}"/>
              </a:ext>
            </a:extLst>
          </p:cNvPr>
          <p:cNvSpPr>
            <a:spLocks noGrp="1"/>
          </p:cNvSpPr>
          <p:nvPr/>
        </p:nvSpPr>
        <p:spPr>
          <a:xfrm>
            <a:off x="666750" y="1162050"/>
            <a:ext cx="10096500" cy="552450"/>
          </a:xfrm>
          <a:prstGeom prst="rect">
            <a:avLst/>
          </a:prstGeom>
          <a:ln w="0">
            <a:solidFill>
              <a:srgbClr val="FFFFFF"/>
            </a:solidFill>
            <a:prstDash val="solid"/>
          </a:ln>
        </p:spPr>
        <p:txBody>
          <a:bodyPr lIns="0" tIns="0" rIns="0" bIns="0" anchor="t"/>
          <a:lstStyle/>
          <a:p>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デプロイ失敗の多くは、認証情報、変数名、値の取り違えから始まります。Portal を見る前に Actions のログを確認します。</a:t>
            </a:r>
          </a:p>
        </p:txBody>
      </p:sp>
      <p:sp>
        <p:nvSpPr>
          <p:cNvPr id="5" name="正方形/長方形 4">
            <a:extLst>
              <a:ext uri="{FF2B5EF4-FFF2-40B4-BE49-F238E27FC236}">
                <a16:creationId xmlns:a16="http://schemas.microsoft.com/office/drawing/2014/main" id="{D0023CE8-E3E8-4F1E-82AD-88558C47D323}"/>
              </a:ext>
            </a:extLst>
          </p:cNvPr>
          <p:cNvSpPr>
            <a:spLocks noGrp="1"/>
          </p:cNvSpPr>
          <p:nvPr/>
        </p:nvSpPr>
        <p:spPr>
          <a:xfrm>
            <a:off x="904875" y="1809750"/>
            <a:ext cx="3460750" cy="647700"/>
          </a:xfrm>
          <a:prstGeom prst="rect">
            <a:avLst/>
          </a:prstGeom>
          <a:ln w="9525">
            <a:solidFill>
              <a:srgbClr val="C8D7EF"/>
            </a:solidFill>
            <a:prstDash val="solid"/>
          </a:ln>
        </p:spPr>
      </p:sp>
      <p:sp>
        <p:nvSpPr>
          <p:cNvPr id="6" name="正方形/長方形 5">
            <a:extLst>
              <a:ext uri="{FF2B5EF4-FFF2-40B4-BE49-F238E27FC236}">
                <a16:creationId xmlns:a16="http://schemas.microsoft.com/office/drawing/2014/main" id="{FDD3EDF5-5394-426E-AB1A-4B72A0EE601B}"/>
              </a:ext>
            </a:extLst>
          </p:cNvPr>
          <p:cNvSpPr>
            <a:spLocks noGrp="1"/>
          </p:cNvSpPr>
          <p:nvPr/>
        </p:nvSpPr>
        <p:spPr>
          <a:xfrm>
            <a:off x="990600" y="1895475"/>
            <a:ext cx="3289300" cy="533400"/>
          </a:xfrm>
          <a:prstGeom prst="rect">
            <a:avLst/>
          </a:prstGeom>
          <a:ln w="0">
            <a:solidFill>
              <a:srgbClr val="FFFFFF"/>
            </a:solidFill>
            <a:prstDash val="solid"/>
          </a:ln>
        </p:spPr>
        <p:txBody>
          <a:bodyPr lIns="0" tIns="0" rIns="0" bIns="0" anchor="ctr"/>
          <a:lstStyle/>
          <a:p>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失敗</a:t>
            </a:r>
          </a:p>
        </p:txBody>
      </p:sp>
      <p:sp>
        <p:nvSpPr>
          <p:cNvPr id="7" name="正方形/長方形 6">
            <a:extLst>
              <a:ext uri="{FF2B5EF4-FFF2-40B4-BE49-F238E27FC236}">
                <a16:creationId xmlns:a16="http://schemas.microsoft.com/office/drawing/2014/main" id="{B081121C-D06F-4CFC-ABB0-341A73E03EEE}"/>
              </a:ext>
            </a:extLst>
          </p:cNvPr>
          <p:cNvSpPr>
            <a:spLocks noGrp="1"/>
          </p:cNvSpPr>
          <p:nvPr/>
        </p:nvSpPr>
        <p:spPr>
          <a:xfrm>
            <a:off x="4365625" y="1809750"/>
            <a:ext cx="3460750" cy="647700"/>
          </a:xfrm>
          <a:prstGeom prst="rect">
            <a:avLst/>
          </a:prstGeom>
          <a:ln w="9525">
            <a:solidFill>
              <a:srgbClr val="C8D7EF"/>
            </a:solidFill>
            <a:prstDash val="solid"/>
          </a:ln>
        </p:spPr>
      </p:sp>
      <p:sp>
        <p:nvSpPr>
          <p:cNvPr id="8" name="正方形/長方形 7">
            <a:extLst>
              <a:ext uri="{FF2B5EF4-FFF2-40B4-BE49-F238E27FC236}">
                <a16:creationId xmlns:a16="http://schemas.microsoft.com/office/drawing/2014/main" id="{5B49E358-8A6B-45FB-9A74-62B2959731CA}"/>
              </a:ext>
            </a:extLst>
          </p:cNvPr>
          <p:cNvSpPr>
            <a:spLocks noGrp="1"/>
          </p:cNvSpPr>
          <p:nvPr/>
        </p:nvSpPr>
        <p:spPr>
          <a:xfrm>
            <a:off x="4451350" y="1895475"/>
            <a:ext cx="3289300" cy="533400"/>
          </a:xfrm>
          <a:prstGeom prst="rect">
            <a:avLst/>
          </a:prstGeom>
          <a:ln w="0">
            <a:solidFill>
              <a:srgbClr val="FFFFFF"/>
            </a:solidFill>
            <a:prstDash val="solid"/>
          </a:ln>
        </p:spPr>
        <p:txBody>
          <a:bodyPr lIns="0" tIns="0" rIns="0" bIns="0" anchor="ctr"/>
          <a:lstStyle/>
          <a:p>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症状</a:t>
            </a:r>
          </a:p>
        </p:txBody>
      </p:sp>
      <p:sp>
        <p:nvSpPr>
          <p:cNvPr id="9" name="正方形/長方形 8">
            <a:extLst>
              <a:ext uri="{FF2B5EF4-FFF2-40B4-BE49-F238E27FC236}">
                <a16:creationId xmlns:a16="http://schemas.microsoft.com/office/drawing/2014/main" id="{3586899C-7064-4423-9D12-9884A8553F43}"/>
              </a:ext>
            </a:extLst>
          </p:cNvPr>
          <p:cNvSpPr>
            <a:spLocks noGrp="1"/>
          </p:cNvSpPr>
          <p:nvPr/>
        </p:nvSpPr>
        <p:spPr>
          <a:xfrm>
            <a:off x="7826375" y="1809750"/>
            <a:ext cx="3460750" cy="647700"/>
          </a:xfrm>
          <a:prstGeom prst="rect">
            <a:avLst/>
          </a:prstGeom>
          <a:ln w="9525">
            <a:solidFill>
              <a:srgbClr val="C8D7EF"/>
            </a:solidFill>
            <a:prstDash val="solid"/>
          </a:ln>
        </p:spPr>
      </p:sp>
      <p:sp>
        <p:nvSpPr>
          <p:cNvPr id="10" name="正方形/長方形 9">
            <a:extLst>
              <a:ext uri="{FF2B5EF4-FFF2-40B4-BE49-F238E27FC236}">
                <a16:creationId xmlns:a16="http://schemas.microsoft.com/office/drawing/2014/main" id="{D6523C38-C7AC-4208-9D36-22436FA9C43F}"/>
              </a:ext>
            </a:extLst>
          </p:cNvPr>
          <p:cNvSpPr>
            <a:spLocks noGrp="1"/>
          </p:cNvSpPr>
          <p:nvPr/>
        </p:nvSpPr>
        <p:spPr>
          <a:xfrm>
            <a:off x="7912100" y="1895475"/>
            <a:ext cx="3289300" cy="533400"/>
          </a:xfrm>
          <a:prstGeom prst="rect">
            <a:avLst/>
          </a:prstGeom>
          <a:ln w="0">
            <a:solidFill>
              <a:srgbClr val="FFFFFF"/>
            </a:solidFill>
            <a:prstDash val="solid"/>
          </a:ln>
        </p:spPr>
        <p:txBody>
          <a:bodyPr lIns="0" tIns="0" rIns="0" bIns="0" anchor="ctr"/>
          <a:lstStyle/>
          <a:p>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確認箇所</a:t>
            </a:r>
          </a:p>
        </p:txBody>
      </p:sp>
      <p:sp>
        <p:nvSpPr>
          <p:cNvPr id="11" name="正方形/長方形 10">
            <a:extLst>
              <a:ext uri="{FF2B5EF4-FFF2-40B4-BE49-F238E27FC236}">
                <a16:creationId xmlns:a16="http://schemas.microsoft.com/office/drawing/2014/main" id="{0C721DC1-D2ED-4B41-B97B-A0C55E6CF873}"/>
              </a:ext>
            </a:extLst>
          </p:cNvPr>
          <p:cNvSpPr>
            <a:spLocks noGrp="1"/>
          </p:cNvSpPr>
          <p:nvPr/>
        </p:nvSpPr>
        <p:spPr>
          <a:xfrm>
            <a:off x="904875" y="2457450"/>
            <a:ext cx="3460750" cy="647700"/>
          </a:xfrm>
          <a:prstGeom prst="rect">
            <a:avLst/>
          </a:prstGeom>
          <a:ln w="9525">
            <a:solidFill>
              <a:srgbClr val="DDE5EF"/>
            </a:solidFill>
            <a:prstDash val="solid"/>
          </a:ln>
        </p:spPr>
      </p:sp>
      <p:sp>
        <p:nvSpPr>
          <p:cNvPr id="12" name="正方形/長方形 11">
            <a:extLst>
              <a:ext uri="{FF2B5EF4-FFF2-40B4-BE49-F238E27FC236}">
                <a16:creationId xmlns:a16="http://schemas.microsoft.com/office/drawing/2014/main" id="{47FAC78D-2A4F-4826-8852-14A2BF56F5A1}"/>
              </a:ext>
            </a:extLst>
          </p:cNvPr>
          <p:cNvSpPr>
            <a:spLocks noGrp="1"/>
          </p:cNvSpPr>
          <p:nvPr/>
        </p:nvSpPr>
        <p:spPr>
          <a:xfrm>
            <a:off x="990600" y="25241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Azure ログイン失敗</a:t>
            </a:r>
          </a:p>
        </p:txBody>
      </p:sp>
      <p:sp>
        <p:nvSpPr>
          <p:cNvPr id="13" name="正方形/長方形 12">
            <a:extLst>
              <a:ext uri="{FF2B5EF4-FFF2-40B4-BE49-F238E27FC236}">
                <a16:creationId xmlns:a16="http://schemas.microsoft.com/office/drawing/2014/main" id="{0F7569E0-3FEA-4D08-89C2-35E28D1D94F0}"/>
              </a:ext>
            </a:extLst>
          </p:cNvPr>
          <p:cNvSpPr>
            <a:spLocks noGrp="1"/>
          </p:cNvSpPr>
          <p:nvPr/>
        </p:nvSpPr>
        <p:spPr>
          <a:xfrm>
            <a:off x="4365625" y="2457450"/>
            <a:ext cx="3460750" cy="647700"/>
          </a:xfrm>
          <a:prstGeom prst="rect">
            <a:avLst/>
          </a:prstGeom>
          <a:ln w="9525">
            <a:solidFill>
              <a:srgbClr val="DDE5EF"/>
            </a:solidFill>
            <a:prstDash val="solid"/>
          </a:ln>
        </p:spPr>
      </p:sp>
      <p:sp>
        <p:nvSpPr>
          <p:cNvPr id="14" name="正方形/長方形 13">
            <a:extLst>
              <a:ext uri="{FF2B5EF4-FFF2-40B4-BE49-F238E27FC236}">
                <a16:creationId xmlns:a16="http://schemas.microsoft.com/office/drawing/2014/main" id="{41A5A0A0-3FAD-48FB-940F-96BEBDCDD988}"/>
              </a:ext>
            </a:extLst>
          </p:cNvPr>
          <p:cNvSpPr>
            <a:spLocks noGrp="1"/>
          </p:cNvSpPr>
          <p:nvPr/>
        </p:nvSpPr>
        <p:spPr>
          <a:xfrm>
            <a:off x="4451350" y="25241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workflow が Azure にログインできない</a:t>
            </a:r>
          </a:p>
        </p:txBody>
      </p:sp>
      <p:sp>
        <p:nvSpPr>
          <p:cNvPr id="15" name="正方形/長方形 14">
            <a:extLst>
              <a:ext uri="{FF2B5EF4-FFF2-40B4-BE49-F238E27FC236}">
                <a16:creationId xmlns:a16="http://schemas.microsoft.com/office/drawing/2014/main" id="{0EDFBB1B-E357-4A90-B49D-59F7EF8880BC}"/>
              </a:ext>
            </a:extLst>
          </p:cNvPr>
          <p:cNvSpPr>
            <a:spLocks noGrp="1"/>
          </p:cNvSpPr>
          <p:nvPr/>
        </p:nvSpPr>
        <p:spPr>
          <a:xfrm>
            <a:off x="7826375" y="2457450"/>
            <a:ext cx="3460750" cy="647700"/>
          </a:xfrm>
          <a:prstGeom prst="rect">
            <a:avLst/>
          </a:prstGeom>
          <a:ln w="9525">
            <a:solidFill>
              <a:srgbClr val="DDE5EF"/>
            </a:solidFill>
            <a:prstDash val="solid"/>
          </a:ln>
        </p:spPr>
      </p:sp>
      <p:sp>
        <p:nvSpPr>
          <p:cNvPr id="16" name="正方形/長方形 15">
            <a:extLst>
              <a:ext uri="{FF2B5EF4-FFF2-40B4-BE49-F238E27FC236}">
                <a16:creationId xmlns:a16="http://schemas.microsoft.com/office/drawing/2014/main" id="{140C24BE-915B-4AE0-A17A-8F8AB606D3A5}"/>
              </a:ext>
            </a:extLst>
          </p:cNvPr>
          <p:cNvSpPr>
            <a:spLocks noGrp="1"/>
          </p:cNvSpPr>
          <p:nvPr/>
        </p:nvSpPr>
        <p:spPr>
          <a:xfrm>
            <a:off x="7912100" y="25241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AZURE_CREDENTIALS、SP 権限</a:t>
            </a:r>
          </a:p>
        </p:txBody>
      </p:sp>
      <p:sp>
        <p:nvSpPr>
          <p:cNvPr id="17" name="正方形/長方形 16">
            <a:extLst>
              <a:ext uri="{FF2B5EF4-FFF2-40B4-BE49-F238E27FC236}">
                <a16:creationId xmlns:a16="http://schemas.microsoft.com/office/drawing/2014/main" id="{4F846886-8886-4010-AE77-1661FD8F8010}"/>
              </a:ext>
            </a:extLst>
          </p:cNvPr>
          <p:cNvSpPr>
            <a:spLocks noGrp="1"/>
          </p:cNvSpPr>
          <p:nvPr/>
        </p:nvSpPr>
        <p:spPr>
          <a:xfrm>
            <a:off x="904875" y="3105150"/>
            <a:ext cx="3460750" cy="647700"/>
          </a:xfrm>
          <a:prstGeom prst="rect">
            <a:avLst/>
          </a:prstGeom>
          <a:ln w="9525">
            <a:solidFill>
              <a:srgbClr val="DDE5EF"/>
            </a:solidFill>
            <a:prstDash val="solid"/>
          </a:ln>
        </p:spPr>
      </p:sp>
      <p:sp>
        <p:nvSpPr>
          <p:cNvPr id="18" name="正方形/長方形 17">
            <a:extLst>
              <a:ext uri="{FF2B5EF4-FFF2-40B4-BE49-F238E27FC236}">
                <a16:creationId xmlns:a16="http://schemas.microsoft.com/office/drawing/2014/main" id="{4B15D686-2B1E-402B-8AF9-5AA85EBA56EA}"/>
              </a:ext>
            </a:extLst>
          </p:cNvPr>
          <p:cNvSpPr>
            <a:spLocks noGrp="1"/>
          </p:cNvSpPr>
          <p:nvPr/>
        </p:nvSpPr>
        <p:spPr>
          <a:xfrm>
            <a:off x="990600" y="31718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変数名ミス</a:t>
            </a:r>
          </a:p>
        </p:txBody>
      </p:sp>
      <p:sp>
        <p:nvSpPr>
          <p:cNvPr id="19" name="正方形/長方形 18">
            <a:extLst>
              <a:ext uri="{FF2B5EF4-FFF2-40B4-BE49-F238E27FC236}">
                <a16:creationId xmlns:a16="http://schemas.microsoft.com/office/drawing/2014/main" id="{D1F0856C-C5D5-43A9-8DBB-6A8A6862C02E}"/>
              </a:ext>
            </a:extLst>
          </p:cNvPr>
          <p:cNvSpPr>
            <a:spLocks noGrp="1"/>
          </p:cNvSpPr>
          <p:nvPr/>
        </p:nvSpPr>
        <p:spPr>
          <a:xfrm>
            <a:off x="4365625" y="3105150"/>
            <a:ext cx="3460750" cy="647700"/>
          </a:xfrm>
          <a:prstGeom prst="rect">
            <a:avLst/>
          </a:prstGeom>
          <a:ln w="9525">
            <a:solidFill>
              <a:srgbClr val="DDE5EF"/>
            </a:solidFill>
            <a:prstDash val="solid"/>
          </a:ln>
        </p:spPr>
      </p:sp>
      <p:sp>
        <p:nvSpPr>
          <p:cNvPr id="20" name="正方形/長方形 19">
            <a:extLst>
              <a:ext uri="{FF2B5EF4-FFF2-40B4-BE49-F238E27FC236}">
                <a16:creationId xmlns:a16="http://schemas.microsoft.com/office/drawing/2014/main" id="{91ADAF24-88B7-4642-BC21-91F4E7F8D785}"/>
              </a:ext>
            </a:extLst>
          </p:cNvPr>
          <p:cNvSpPr>
            <a:spLocks noGrp="1"/>
          </p:cNvSpPr>
          <p:nvPr/>
        </p:nvSpPr>
        <p:spPr>
          <a:xfrm>
            <a:off x="4451350" y="31718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リソースを見つけられない</a:t>
            </a:r>
          </a:p>
        </p:txBody>
      </p:sp>
      <p:sp>
        <p:nvSpPr>
          <p:cNvPr id="21" name="正方形/長方形 20">
            <a:extLst>
              <a:ext uri="{FF2B5EF4-FFF2-40B4-BE49-F238E27FC236}">
                <a16:creationId xmlns:a16="http://schemas.microsoft.com/office/drawing/2014/main" id="{CEF78A13-8EA5-444E-9CE9-D34B584C2D4B}"/>
              </a:ext>
            </a:extLst>
          </p:cNvPr>
          <p:cNvSpPr>
            <a:spLocks noGrp="1"/>
          </p:cNvSpPr>
          <p:nvPr/>
        </p:nvSpPr>
        <p:spPr>
          <a:xfrm>
            <a:off x="7826375" y="3105150"/>
            <a:ext cx="3460750" cy="647700"/>
          </a:xfrm>
          <a:prstGeom prst="rect">
            <a:avLst/>
          </a:prstGeom>
          <a:ln w="9525">
            <a:solidFill>
              <a:srgbClr val="DDE5EF"/>
            </a:solidFill>
            <a:prstDash val="solid"/>
          </a:ln>
        </p:spPr>
      </p:sp>
      <p:sp>
        <p:nvSpPr>
          <p:cNvPr id="22" name="正方形/長方形 21">
            <a:extLst>
              <a:ext uri="{FF2B5EF4-FFF2-40B4-BE49-F238E27FC236}">
                <a16:creationId xmlns:a16="http://schemas.microsoft.com/office/drawing/2014/main" id="{6FCB0BE5-880E-4510-AEA2-C72156B24593}"/>
              </a:ext>
            </a:extLst>
          </p:cNvPr>
          <p:cNvSpPr>
            <a:spLocks noGrp="1"/>
          </p:cNvSpPr>
          <p:nvPr/>
        </p:nvSpPr>
        <p:spPr>
          <a:xfrm>
            <a:off x="7912100" y="31718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Repository variables</a:t>
            </a:r>
          </a:p>
        </p:txBody>
      </p:sp>
      <p:sp>
        <p:nvSpPr>
          <p:cNvPr id="23" name="正方形/長方形 22">
            <a:extLst>
              <a:ext uri="{FF2B5EF4-FFF2-40B4-BE49-F238E27FC236}">
                <a16:creationId xmlns:a16="http://schemas.microsoft.com/office/drawing/2014/main" id="{558FB872-B408-4611-89D2-2F83E760512E}"/>
              </a:ext>
            </a:extLst>
          </p:cNvPr>
          <p:cNvSpPr>
            <a:spLocks noGrp="1"/>
          </p:cNvSpPr>
          <p:nvPr/>
        </p:nvSpPr>
        <p:spPr>
          <a:xfrm>
            <a:off x="904875" y="3752850"/>
            <a:ext cx="3460750" cy="647700"/>
          </a:xfrm>
          <a:prstGeom prst="rect">
            <a:avLst/>
          </a:prstGeom>
          <a:ln w="9525">
            <a:solidFill>
              <a:srgbClr val="DDE5EF"/>
            </a:solidFill>
            <a:prstDash val="solid"/>
          </a:ln>
        </p:spPr>
      </p:sp>
      <p:sp>
        <p:nvSpPr>
          <p:cNvPr id="24" name="正方形/長方形 23">
            <a:extLst>
              <a:ext uri="{FF2B5EF4-FFF2-40B4-BE49-F238E27FC236}">
                <a16:creationId xmlns:a16="http://schemas.microsoft.com/office/drawing/2014/main" id="{8E3C0B84-0D3E-41CA-BAF3-176571471FBD}"/>
              </a:ext>
            </a:extLst>
          </p:cNvPr>
          <p:cNvSpPr>
            <a:spLocks noGrp="1"/>
          </p:cNvSpPr>
          <p:nvPr/>
        </p:nvSpPr>
        <p:spPr>
          <a:xfrm>
            <a:off x="990600" y="38195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ACR 名ミス</a:t>
            </a:r>
          </a:p>
        </p:txBody>
      </p:sp>
      <p:sp>
        <p:nvSpPr>
          <p:cNvPr id="25" name="正方形/長方形 24">
            <a:extLst>
              <a:ext uri="{FF2B5EF4-FFF2-40B4-BE49-F238E27FC236}">
                <a16:creationId xmlns:a16="http://schemas.microsoft.com/office/drawing/2014/main" id="{A9E8C864-E9DC-4006-A4F0-3EEE2C3018B9}"/>
              </a:ext>
            </a:extLst>
          </p:cNvPr>
          <p:cNvSpPr>
            <a:spLocks noGrp="1"/>
          </p:cNvSpPr>
          <p:nvPr/>
        </p:nvSpPr>
        <p:spPr>
          <a:xfrm>
            <a:off x="4365625" y="3752850"/>
            <a:ext cx="3460750" cy="647700"/>
          </a:xfrm>
          <a:prstGeom prst="rect">
            <a:avLst/>
          </a:prstGeom>
          <a:ln w="9525">
            <a:solidFill>
              <a:srgbClr val="DDE5EF"/>
            </a:solidFill>
            <a:prstDash val="solid"/>
          </a:ln>
        </p:spPr>
      </p:sp>
      <p:sp>
        <p:nvSpPr>
          <p:cNvPr id="26" name="正方形/長方形 25">
            <a:extLst>
              <a:ext uri="{FF2B5EF4-FFF2-40B4-BE49-F238E27FC236}">
                <a16:creationId xmlns:a16="http://schemas.microsoft.com/office/drawing/2014/main" id="{8AA593D8-F5A6-4EEC-A429-303369D67075}"/>
              </a:ext>
            </a:extLst>
          </p:cNvPr>
          <p:cNvSpPr>
            <a:spLocks noGrp="1"/>
          </p:cNvSpPr>
          <p:nvPr/>
        </p:nvSpPr>
        <p:spPr>
          <a:xfrm>
            <a:off x="4451350" y="38195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image push/pull が失敗</a:t>
            </a:r>
          </a:p>
        </p:txBody>
      </p:sp>
      <p:sp>
        <p:nvSpPr>
          <p:cNvPr id="27" name="正方形/長方形 26">
            <a:extLst>
              <a:ext uri="{FF2B5EF4-FFF2-40B4-BE49-F238E27FC236}">
                <a16:creationId xmlns:a16="http://schemas.microsoft.com/office/drawing/2014/main" id="{FB9DD0BD-B44C-4448-B60A-AB9531DFD464}"/>
              </a:ext>
            </a:extLst>
          </p:cNvPr>
          <p:cNvSpPr>
            <a:spLocks noGrp="1"/>
          </p:cNvSpPr>
          <p:nvPr/>
        </p:nvSpPr>
        <p:spPr>
          <a:xfrm>
            <a:off x="7826375" y="3752850"/>
            <a:ext cx="3460750" cy="647700"/>
          </a:xfrm>
          <a:prstGeom prst="rect">
            <a:avLst/>
          </a:prstGeom>
          <a:ln w="9525">
            <a:solidFill>
              <a:srgbClr val="DDE5EF"/>
            </a:solidFill>
            <a:prstDash val="solid"/>
          </a:ln>
        </p:spPr>
      </p:sp>
      <p:sp>
        <p:nvSpPr>
          <p:cNvPr id="28" name="正方形/長方形 27">
            <a:extLst>
              <a:ext uri="{FF2B5EF4-FFF2-40B4-BE49-F238E27FC236}">
                <a16:creationId xmlns:a16="http://schemas.microsoft.com/office/drawing/2014/main" id="{C1F32B29-7A5B-44A8-8ABA-AE6CF4E1D7A5}"/>
              </a:ext>
            </a:extLst>
          </p:cNvPr>
          <p:cNvSpPr>
            <a:spLocks noGrp="1"/>
          </p:cNvSpPr>
          <p:nvPr/>
        </p:nvSpPr>
        <p:spPr>
          <a:xfrm>
            <a:off x="7912100" y="38195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ACR_NAME と login server</a:t>
            </a:r>
          </a:p>
        </p:txBody>
      </p:sp>
      <p:sp>
        <p:nvSpPr>
          <p:cNvPr id="29" name="正方形/長方形 28">
            <a:extLst>
              <a:ext uri="{FF2B5EF4-FFF2-40B4-BE49-F238E27FC236}">
                <a16:creationId xmlns:a16="http://schemas.microsoft.com/office/drawing/2014/main" id="{AB89CF11-486A-4AD5-917E-6A3BA7DB09C1}"/>
              </a:ext>
            </a:extLst>
          </p:cNvPr>
          <p:cNvSpPr>
            <a:spLocks noGrp="1"/>
          </p:cNvSpPr>
          <p:nvPr/>
        </p:nvSpPr>
        <p:spPr>
          <a:xfrm>
            <a:off x="904875" y="4400550"/>
            <a:ext cx="3460750" cy="647700"/>
          </a:xfrm>
          <a:prstGeom prst="rect">
            <a:avLst/>
          </a:prstGeom>
          <a:ln w="9525">
            <a:solidFill>
              <a:srgbClr val="DDE5EF"/>
            </a:solidFill>
            <a:prstDash val="solid"/>
          </a:ln>
        </p:spPr>
      </p:sp>
      <p:sp>
        <p:nvSpPr>
          <p:cNvPr id="30" name="正方形/長方形 29">
            <a:extLst>
              <a:ext uri="{FF2B5EF4-FFF2-40B4-BE49-F238E27FC236}">
                <a16:creationId xmlns:a16="http://schemas.microsoft.com/office/drawing/2014/main" id="{E173DF50-CAC8-4FF9-9F6F-0CFC6AACF862}"/>
              </a:ext>
            </a:extLst>
          </p:cNvPr>
          <p:cNvSpPr>
            <a:spLocks noGrp="1"/>
          </p:cNvSpPr>
          <p:nvPr/>
        </p:nvSpPr>
        <p:spPr>
          <a:xfrm>
            <a:off x="990600" y="44672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Client ID の取り違え</a:t>
            </a:r>
          </a:p>
        </p:txBody>
      </p:sp>
      <p:sp>
        <p:nvSpPr>
          <p:cNvPr id="31" name="正方形/長方形 30">
            <a:extLst>
              <a:ext uri="{FF2B5EF4-FFF2-40B4-BE49-F238E27FC236}">
                <a16:creationId xmlns:a16="http://schemas.microsoft.com/office/drawing/2014/main" id="{619DD1A1-72F1-4CCF-8E1D-58C77F60014D}"/>
              </a:ext>
            </a:extLst>
          </p:cNvPr>
          <p:cNvSpPr>
            <a:spLocks noGrp="1"/>
          </p:cNvSpPr>
          <p:nvPr/>
        </p:nvSpPr>
        <p:spPr>
          <a:xfrm>
            <a:off x="4365625" y="4400550"/>
            <a:ext cx="3460750" cy="647700"/>
          </a:xfrm>
          <a:prstGeom prst="rect">
            <a:avLst/>
          </a:prstGeom>
          <a:ln w="9525">
            <a:solidFill>
              <a:srgbClr val="DDE5EF"/>
            </a:solidFill>
            <a:prstDash val="solid"/>
          </a:ln>
        </p:spPr>
      </p:sp>
      <p:sp>
        <p:nvSpPr>
          <p:cNvPr id="32" name="正方形/長方形 31">
            <a:extLst>
              <a:ext uri="{FF2B5EF4-FFF2-40B4-BE49-F238E27FC236}">
                <a16:creationId xmlns:a16="http://schemas.microsoft.com/office/drawing/2014/main" id="{AB36C148-262C-4AE3-A219-470208A5F21E}"/>
              </a:ext>
            </a:extLst>
          </p:cNvPr>
          <p:cNvSpPr>
            <a:spLocks noGrp="1"/>
          </p:cNvSpPr>
          <p:nvPr/>
        </p:nvSpPr>
        <p:spPr>
          <a:xfrm>
            <a:off x="4451350" y="44672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サインインや workflow が失敗</a:t>
            </a:r>
          </a:p>
        </p:txBody>
      </p:sp>
      <p:sp>
        <p:nvSpPr>
          <p:cNvPr id="33" name="正方形/長方形 32">
            <a:extLst>
              <a:ext uri="{FF2B5EF4-FFF2-40B4-BE49-F238E27FC236}">
                <a16:creationId xmlns:a16="http://schemas.microsoft.com/office/drawing/2014/main" id="{38249489-DAFD-4B82-AA2B-491A31F40FEA}"/>
              </a:ext>
            </a:extLst>
          </p:cNvPr>
          <p:cNvSpPr>
            <a:spLocks noGrp="1"/>
          </p:cNvSpPr>
          <p:nvPr/>
        </p:nvSpPr>
        <p:spPr>
          <a:xfrm>
            <a:off x="7826375" y="4400550"/>
            <a:ext cx="3460750" cy="647700"/>
          </a:xfrm>
          <a:prstGeom prst="rect">
            <a:avLst/>
          </a:prstGeom>
          <a:ln w="9525">
            <a:solidFill>
              <a:srgbClr val="DDE5EF"/>
            </a:solidFill>
            <a:prstDash val="solid"/>
          </a:ln>
        </p:spPr>
      </p:sp>
      <p:sp>
        <p:nvSpPr>
          <p:cNvPr id="34" name="正方形/長方形 33">
            <a:extLst>
              <a:ext uri="{FF2B5EF4-FFF2-40B4-BE49-F238E27FC236}">
                <a16:creationId xmlns:a16="http://schemas.microsoft.com/office/drawing/2014/main" id="{C8089622-3EBF-403C-A075-D45C1F482623}"/>
              </a:ext>
            </a:extLst>
          </p:cNvPr>
          <p:cNvSpPr>
            <a:spLocks noGrp="1"/>
          </p:cNvSpPr>
          <p:nvPr/>
        </p:nvSpPr>
        <p:spPr>
          <a:xfrm>
            <a:off x="7912100" y="4467225"/>
            <a:ext cx="3289300" cy="533400"/>
          </a:xfrm>
          <a:prstGeom prst="rect">
            <a:avLst/>
          </a:prstGeom>
          <a:ln w="0">
            <a:solidFill>
              <a:srgbClr val="FFFFFF"/>
            </a:solidFill>
            <a:prstDash val="solid"/>
          </a:ln>
        </p:spPr>
        <p:txBody>
          <a:bodyPr lIns="0" tIns="0" rIns="0" bIns="0" anchor="ctr"/>
          <a:lstStyle/>
          <a:p>
            <a:pPr algn="l">
              <a:defRPr sz="938" b="0">
                <a:solidFill>
                  <a:srgbClr val="1F2937"/>
                </a:solidFill>
                <a:latin typeface="Yu Gothic"/>
                <a:ea typeface="Yu Gothic"/>
                <a:cs typeface="Yu Gothic"/>
              </a:defRPr>
            </a:pPr>
            <a:r>
              <a:rPr sz="938" b="0">
                <a:solidFill>
                  <a:srgbClr val="1F2937"/>
                </a:solidFill>
                <a:latin typeface="Yu Gothic"/>
                <a:ea typeface="Yu Gothic"/>
                <a:cs typeface="Yu Gothic"/>
              </a:rPr>
              <a:t>Web 用 app client ID と SP client ID</a:t>
            </a:r>
          </a:p>
        </p:txBody>
      </p:sp>
      <p:sp>
        <p:nvSpPr>
          <p:cNvPr id="35" name="正方形/長方形 34">
            <a:extLst>
              <a:ext uri="{FF2B5EF4-FFF2-40B4-BE49-F238E27FC236}">
                <a16:creationId xmlns:a16="http://schemas.microsoft.com/office/drawing/2014/main" id="{E968E6D5-6DCE-4A31-8C20-BA123158D629}"/>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正方形/長方形 35">
            <a:extLst>
              <a:ext uri="{FF2B5EF4-FFF2-40B4-BE49-F238E27FC236}">
                <a16:creationId xmlns:a16="http://schemas.microsoft.com/office/drawing/2014/main" id="{F4300E92-EF73-454C-9123-B2A15B262DA6}"/>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よくある失敗: DB とサインイン</a:t>
            </a:r>
          </a:p>
        </p:txBody>
      </p:sp>
      <p:sp>
        <p:nvSpPr>
          <p:cNvPr id="2" name="正方形/長方形 1">
            <a:extLst>
              <a:ext uri="{FF2B5EF4-FFF2-40B4-BE49-F238E27FC236}">
                <a16:creationId xmlns:a16="http://schemas.microsoft.com/office/drawing/2014/main" id="{8244D669-29A2-4F36-9015-A774A8920741}"/>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42 / 48</a:t>
            </a:r>
          </a:p>
        </p:txBody>
      </p:sp>
      <p:sp>
        <p:nvSpPr>
          <p:cNvPr id="3" name="正方形/長方形 2">
            <a:extLst>
              <a:ext uri="{FF2B5EF4-FFF2-40B4-BE49-F238E27FC236}">
                <a16:creationId xmlns:a16="http://schemas.microsoft.com/office/drawing/2014/main" id="{9BC0158F-EF31-4FE2-BDA8-4CBFDDCC5D28}"/>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CA4140C1-2EBD-4BC9-9703-55A4D8C2592F}"/>
              </a:ext>
            </a:extLst>
          </p:cNvPr>
          <p:cNvSpPr>
            <a:spLocks noGrp="1"/>
          </p:cNvSpPr>
          <p:nvPr/>
        </p:nvSpPr>
        <p:spPr>
          <a:xfrm>
            <a:off x="666750" y="1162050"/>
            <a:ext cx="10096500" cy="552450"/>
          </a:xfrm>
          <a:prstGeom prst="rect">
            <a:avLst/>
          </a:prstGeom>
          <a:ln w="0">
            <a:solidFill>
              <a:srgbClr val="FFFFFF"/>
            </a:solidFill>
            <a:prstDash val="solid"/>
          </a:ln>
        </p:spPr>
        <p:txBody>
          <a:bodyPr lIns="0" tIns="0" rIns="0" bIns="0" anchor="t"/>
          <a:lstStyle/>
          <a:p>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アプリが表示されても、API と DB、redirect URI、Container Apps revision のどこかで止まることがあります。確認順をそろえます。</a:t>
            </a:r>
          </a:p>
        </p:txBody>
      </p:sp>
      <p:sp>
        <p:nvSpPr>
          <p:cNvPr id="5" name="正方形/長方形 4">
            <a:extLst>
              <a:ext uri="{FF2B5EF4-FFF2-40B4-BE49-F238E27FC236}">
                <a16:creationId xmlns:a16="http://schemas.microsoft.com/office/drawing/2014/main" id="{97332514-5A8E-4F7C-89E5-323143C5B8E9}"/>
              </a:ext>
            </a:extLst>
          </p:cNvPr>
          <p:cNvSpPr>
            <a:spLocks noGrp="1"/>
          </p:cNvSpPr>
          <p:nvPr/>
        </p:nvSpPr>
        <p:spPr>
          <a:xfrm>
            <a:off x="904875" y="1809750"/>
            <a:ext cx="3460750" cy="647700"/>
          </a:xfrm>
          <a:prstGeom prst="rect">
            <a:avLst/>
          </a:prstGeom>
          <a:ln w="9525">
            <a:solidFill>
              <a:srgbClr val="C8D7EF"/>
            </a:solidFill>
            <a:prstDash val="solid"/>
          </a:ln>
        </p:spPr>
      </p:sp>
      <p:sp>
        <p:nvSpPr>
          <p:cNvPr id="6" name="正方形/長方形 5">
            <a:extLst>
              <a:ext uri="{FF2B5EF4-FFF2-40B4-BE49-F238E27FC236}">
                <a16:creationId xmlns:a16="http://schemas.microsoft.com/office/drawing/2014/main" id="{EC386FEF-FF07-4697-AB9E-535146FD9E82}"/>
              </a:ext>
            </a:extLst>
          </p:cNvPr>
          <p:cNvSpPr>
            <a:spLocks noGrp="1"/>
          </p:cNvSpPr>
          <p:nvPr/>
        </p:nvSpPr>
        <p:spPr>
          <a:xfrm>
            <a:off x="990600" y="1895475"/>
            <a:ext cx="3289300" cy="533400"/>
          </a:xfrm>
          <a:prstGeom prst="rect">
            <a:avLst/>
          </a:prstGeom>
          <a:ln w="0">
            <a:solidFill>
              <a:srgbClr val="FFFFFF"/>
            </a:solidFill>
            <a:prstDash val="solid"/>
          </a:ln>
        </p:spPr>
        <p:txBody>
          <a:bodyPr lIns="0" tIns="0" rIns="0" bIns="0" anchor="ctr"/>
          <a:lstStyle/>
          <a:p>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失敗</a:t>
            </a:r>
          </a:p>
        </p:txBody>
      </p:sp>
      <p:sp>
        <p:nvSpPr>
          <p:cNvPr id="7" name="正方形/長方形 6">
            <a:extLst>
              <a:ext uri="{FF2B5EF4-FFF2-40B4-BE49-F238E27FC236}">
                <a16:creationId xmlns:a16="http://schemas.microsoft.com/office/drawing/2014/main" id="{B575B61C-CA57-4899-B6A4-8B4F3C2310C2}"/>
              </a:ext>
            </a:extLst>
          </p:cNvPr>
          <p:cNvSpPr>
            <a:spLocks noGrp="1"/>
          </p:cNvSpPr>
          <p:nvPr/>
        </p:nvSpPr>
        <p:spPr>
          <a:xfrm>
            <a:off x="4365625" y="1809750"/>
            <a:ext cx="3460750" cy="647700"/>
          </a:xfrm>
          <a:prstGeom prst="rect">
            <a:avLst/>
          </a:prstGeom>
          <a:ln w="9525">
            <a:solidFill>
              <a:srgbClr val="C8D7EF"/>
            </a:solidFill>
            <a:prstDash val="solid"/>
          </a:ln>
        </p:spPr>
      </p:sp>
      <p:sp>
        <p:nvSpPr>
          <p:cNvPr id="8" name="正方形/長方形 7">
            <a:extLst>
              <a:ext uri="{FF2B5EF4-FFF2-40B4-BE49-F238E27FC236}">
                <a16:creationId xmlns:a16="http://schemas.microsoft.com/office/drawing/2014/main" id="{346627C2-D0C2-4593-A60F-8006DA5E399D}"/>
              </a:ext>
            </a:extLst>
          </p:cNvPr>
          <p:cNvSpPr>
            <a:spLocks noGrp="1"/>
          </p:cNvSpPr>
          <p:nvPr/>
        </p:nvSpPr>
        <p:spPr>
          <a:xfrm>
            <a:off x="4451350" y="1895475"/>
            <a:ext cx="3289300" cy="533400"/>
          </a:xfrm>
          <a:prstGeom prst="rect">
            <a:avLst/>
          </a:prstGeom>
          <a:ln w="0">
            <a:solidFill>
              <a:srgbClr val="FFFFFF"/>
            </a:solidFill>
            <a:prstDash val="solid"/>
          </a:ln>
        </p:spPr>
        <p:txBody>
          <a:bodyPr lIns="0" tIns="0" rIns="0" bIns="0" anchor="ctr"/>
          <a:lstStyle/>
          <a:p>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症状</a:t>
            </a:r>
          </a:p>
        </p:txBody>
      </p:sp>
      <p:sp>
        <p:nvSpPr>
          <p:cNvPr id="9" name="正方形/長方形 8">
            <a:extLst>
              <a:ext uri="{FF2B5EF4-FFF2-40B4-BE49-F238E27FC236}">
                <a16:creationId xmlns:a16="http://schemas.microsoft.com/office/drawing/2014/main" id="{E15EA173-37EC-44BA-A012-42C60EEB587C}"/>
              </a:ext>
            </a:extLst>
          </p:cNvPr>
          <p:cNvSpPr>
            <a:spLocks noGrp="1"/>
          </p:cNvSpPr>
          <p:nvPr/>
        </p:nvSpPr>
        <p:spPr>
          <a:xfrm>
            <a:off x="7826375" y="1809750"/>
            <a:ext cx="3460750" cy="647700"/>
          </a:xfrm>
          <a:prstGeom prst="rect">
            <a:avLst/>
          </a:prstGeom>
          <a:ln w="9525">
            <a:solidFill>
              <a:srgbClr val="C8D7EF"/>
            </a:solidFill>
            <a:prstDash val="solid"/>
          </a:ln>
        </p:spPr>
      </p:sp>
      <p:sp>
        <p:nvSpPr>
          <p:cNvPr id="10" name="正方形/長方形 9">
            <a:extLst>
              <a:ext uri="{FF2B5EF4-FFF2-40B4-BE49-F238E27FC236}">
                <a16:creationId xmlns:a16="http://schemas.microsoft.com/office/drawing/2014/main" id="{34BE9C48-568E-46FC-8B1A-FF7257739C6A}"/>
              </a:ext>
            </a:extLst>
          </p:cNvPr>
          <p:cNvSpPr>
            <a:spLocks noGrp="1"/>
          </p:cNvSpPr>
          <p:nvPr/>
        </p:nvSpPr>
        <p:spPr>
          <a:xfrm>
            <a:off x="7912100" y="1895475"/>
            <a:ext cx="3289300" cy="533400"/>
          </a:xfrm>
          <a:prstGeom prst="rect">
            <a:avLst/>
          </a:prstGeom>
          <a:ln w="0">
            <a:solidFill>
              <a:srgbClr val="FFFFFF"/>
            </a:solidFill>
            <a:prstDash val="solid"/>
          </a:ln>
        </p:spPr>
        <p:txBody>
          <a:bodyPr lIns="0" tIns="0" rIns="0" bIns="0" anchor="ctr"/>
          <a:lstStyle/>
          <a:p>
            <a:pPr algn="ctr">
              <a:defRPr sz="1088" b="1">
                <a:solidFill>
                  <a:srgbClr val="2563EB"/>
                </a:solidFill>
                <a:latin typeface="Yu Gothic"/>
                <a:ea typeface="Yu Gothic"/>
                <a:cs typeface="Yu Gothic"/>
              </a:defRPr>
            </a:pPr>
            <a:r>
              <a:rPr sz="1088" b="1">
                <a:solidFill>
                  <a:srgbClr val="2563EB"/>
                </a:solidFill>
                <a:latin typeface="Yu Gothic"/>
                <a:ea typeface="Yu Gothic"/>
                <a:cs typeface="Yu Gothic"/>
              </a:rPr>
              <a:t>確認箇所</a:t>
            </a:r>
          </a:p>
        </p:txBody>
      </p:sp>
      <p:sp>
        <p:nvSpPr>
          <p:cNvPr id="11" name="正方形/長方形 10">
            <a:extLst>
              <a:ext uri="{FF2B5EF4-FFF2-40B4-BE49-F238E27FC236}">
                <a16:creationId xmlns:a16="http://schemas.microsoft.com/office/drawing/2014/main" id="{A51E366E-7D37-4D36-B57E-26BCEFE62A05}"/>
              </a:ext>
            </a:extLst>
          </p:cNvPr>
          <p:cNvSpPr>
            <a:spLocks noGrp="1"/>
          </p:cNvSpPr>
          <p:nvPr/>
        </p:nvSpPr>
        <p:spPr>
          <a:xfrm>
            <a:off x="904875" y="2457450"/>
            <a:ext cx="3460750" cy="647700"/>
          </a:xfrm>
          <a:prstGeom prst="rect">
            <a:avLst/>
          </a:prstGeom>
          <a:ln w="9525">
            <a:solidFill>
              <a:srgbClr val="DDE5EF"/>
            </a:solidFill>
            <a:prstDash val="solid"/>
          </a:ln>
        </p:spPr>
      </p:sp>
      <p:sp>
        <p:nvSpPr>
          <p:cNvPr id="12" name="正方形/長方形 11">
            <a:extLst>
              <a:ext uri="{FF2B5EF4-FFF2-40B4-BE49-F238E27FC236}">
                <a16:creationId xmlns:a16="http://schemas.microsoft.com/office/drawing/2014/main" id="{B46A77CF-1356-4A6D-8B0A-964A3E107B71}"/>
              </a:ext>
            </a:extLst>
          </p:cNvPr>
          <p:cNvSpPr>
            <a:spLocks noGrp="1"/>
          </p:cNvSpPr>
          <p:nvPr/>
        </p:nvSpPr>
        <p:spPr>
          <a:xfrm>
            <a:off x="990600" y="25241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DB 接続失敗</a:t>
            </a:r>
          </a:p>
        </p:txBody>
      </p:sp>
      <p:sp>
        <p:nvSpPr>
          <p:cNvPr id="13" name="正方形/長方形 12">
            <a:extLst>
              <a:ext uri="{FF2B5EF4-FFF2-40B4-BE49-F238E27FC236}">
                <a16:creationId xmlns:a16="http://schemas.microsoft.com/office/drawing/2014/main" id="{08EC1509-D8F8-400B-ABEA-AC71E35BC23E}"/>
              </a:ext>
            </a:extLst>
          </p:cNvPr>
          <p:cNvSpPr>
            <a:spLocks noGrp="1"/>
          </p:cNvSpPr>
          <p:nvPr/>
        </p:nvSpPr>
        <p:spPr>
          <a:xfrm>
            <a:off x="4365625" y="2457450"/>
            <a:ext cx="3460750" cy="647700"/>
          </a:xfrm>
          <a:prstGeom prst="rect">
            <a:avLst/>
          </a:prstGeom>
          <a:ln w="9525">
            <a:solidFill>
              <a:srgbClr val="DDE5EF"/>
            </a:solidFill>
            <a:prstDash val="solid"/>
          </a:ln>
        </p:spPr>
      </p:sp>
      <p:sp>
        <p:nvSpPr>
          <p:cNvPr id="14" name="正方形/長方形 13">
            <a:extLst>
              <a:ext uri="{FF2B5EF4-FFF2-40B4-BE49-F238E27FC236}">
                <a16:creationId xmlns:a16="http://schemas.microsoft.com/office/drawing/2014/main" id="{07809FF2-F45B-46AF-8FAB-A471045193C1}"/>
              </a:ext>
            </a:extLst>
          </p:cNvPr>
          <p:cNvSpPr>
            <a:spLocks noGrp="1"/>
          </p:cNvSpPr>
          <p:nvPr/>
        </p:nvSpPr>
        <p:spPr>
          <a:xfrm>
            <a:off x="4451350" y="25241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Todo 画面で API エラー</a:t>
            </a:r>
          </a:p>
        </p:txBody>
      </p:sp>
      <p:sp>
        <p:nvSpPr>
          <p:cNvPr id="15" name="正方形/長方形 14">
            <a:extLst>
              <a:ext uri="{FF2B5EF4-FFF2-40B4-BE49-F238E27FC236}">
                <a16:creationId xmlns:a16="http://schemas.microsoft.com/office/drawing/2014/main" id="{EF3075E7-FD1C-4A78-AB95-FFC32657B427}"/>
              </a:ext>
            </a:extLst>
          </p:cNvPr>
          <p:cNvSpPr>
            <a:spLocks noGrp="1"/>
          </p:cNvSpPr>
          <p:nvPr/>
        </p:nvSpPr>
        <p:spPr>
          <a:xfrm>
            <a:off x="7826375" y="2457450"/>
            <a:ext cx="3460750" cy="647700"/>
          </a:xfrm>
          <a:prstGeom prst="rect">
            <a:avLst/>
          </a:prstGeom>
          <a:ln w="9525">
            <a:solidFill>
              <a:srgbClr val="DDE5EF"/>
            </a:solidFill>
            <a:prstDash val="solid"/>
          </a:ln>
        </p:spPr>
      </p:sp>
      <p:sp>
        <p:nvSpPr>
          <p:cNvPr id="16" name="正方形/長方形 15">
            <a:extLst>
              <a:ext uri="{FF2B5EF4-FFF2-40B4-BE49-F238E27FC236}">
                <a16:creationId xmlns:a16="http://schemas.microsoft.com/office/drawing/2014/main" id="{000B33F6-70DD-4F94-B27B-9C3E341EC3ED}"/>
              </a:ext>
            </a:extLst>
          </p:cNvPr>
          <p:cNvSpPr>
            <a:spLocks noGrp="1"/>
          </p:cNvSpPr>
          <p:nvPr/>
        </p:nvSpPr>
        <p:spPr>
          <a:xfrm>
            <a:off x="7912100" y="2524125"/>
            <a:ext cx="3289300" cy="533400"/>
          </a:xfrm>
          <a:prstGeom prst="rect">
            <a:avLst/>
          </a:prstGeom>
          <a:ln w="0">
            <a:solidFill>
              <a:srgbClr val="FFFFFF"/>
            </a:solidFill>
            <a:prstDash val="solid"/>
          </a:ln>
        </p:spPr>
        <p:txBody>
          <a:bodyPr lIns="0" tIns="0" rIns="0" bIns="0" anchor="ctr"/>
          <a:lstStyle/>
          <a:p>
            <a:pPr algn="l">
              <a:defRPr sz="938" b="0">
                <a:solidFill>
                  <a:srgbClr val="1F2937"/>
                </a:solidFill>
                <a:latin typeface="Yu Gothic"/>
                <a:ea typeface="Yu Gothic"/>
                <a:cs typeface="Yu Gothic"/>
              </a:defRPr>
            </a:pPr>
            <a:r>
              <a:rPr sz="938" b="0">
                <a:solidFill>
                  <a:srgbClr val="1F2937"/>
                </a:solidFill>
                <a:latin typeface="Yu Gothic"/>
                <a:ea typeface="Yu Gothic"/>
                <a:cs typeface="Yu Gothic"/>
              </a:rPr>
              <a:t>POSTGRES_SERVER、DB 権限、PostgreSQL Running</a:t>
            </a:r>
          </a:p>
        </p:txBody>
      </p:sp>
      <p:sp>
        <p:nvSpPr>
          <p:cNvPr id="17" name="正方形/長方形 16">
            <a:extLst>
              <a:ext uri="{FF2B5EF4-FFF2-40B4-BE49-F238E27FC236}">
                <a16:creationId xmlns:a16="http://schemas.microsoft.com/office/drawing/2014/main" id="{0DF0D4B2-2116-4E5F-9030-540FE941A792}"/>
              </a:ext>
            </a:extLst>
          </p:cNvPr>
          <p:cNvSpPr>
            <a:spLocks noGrp="1"/>
          </p:cNvSpPr>
          <p:nvPr/>
        </p:nvSpPr>
        <p:spPr>
          <a:xfrm>
            <a:off x="904875" y="3105150"/>
            <a:ext cx="3460750" cy="647700"/>
          </a:xfrm>
          <a:prstGeom prst="rect">
            <a:avLst/>
          </a:prstGeom>
          <a:ln w="9525">
            <a:solidFill>
              <a:srgbClr val="DDE5EF"/>
            </a:solidFill>
            <a:prstDash val="solid"/>
          </a:ln>
        </p:spPr>
      </p:sp>
      <p:sp>
        <p:nvSpPr>
          <p:cNvPr id="18" name="正方形/長方形 17">
            <a:extLst>
              <a:ext uri="{FF2B5EF4-FFF2-40B4-BE49-F238E27FC236}">
                <a16:creationId xmlns:a16="http://schemas.microsoft.com/office/drawing/2014/main" id="{D628FE99-2C99-49C7-95A9-162886BA6D08}"/>
              </a:ext>
            </a:extLst>
          </p:cNvPr>
          <p:cNvSpPr>
            <a:spLocks noGrp="1"/>
          </p:cNvSpPr>
          <p:nvPr/>
        </p:nvSpPr>
        <p:spPr>
          <a:xfrm>
            <a:off x="990600" y="31718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サインイン失敗</a:t>
            </a:r>
          </a:p>
        </p:txBody>
      </p:sp>
      <p:sp>
        <p:nvSpPr>
          <p:cNvPr id="19" name="正方形/長方形 18">
            <a:extLst>
              <a:ext uri="{FF2B5EF4-FFF2-40B4-BE49-F238E27FC236}">
                <a16:creationId xmlns:a16="http://schemas.microsoft.com/office/drawing/2014/main" id="{5E5970BF-6764-4731-A7A9-26DD1AD931AA}"/>
              </a:ext>
            </a:extLst>
          </p:cNvPr>
          <p:cNvSpPr>
            <a:spLocks noGrp="1"/>
          </p:cNvSpPr>
          <p:nvPr/>
        </p:nvSpPr>
        <p:spPr>
          <a:xfrm>
            <a:off x="4365625" y="3105150"/>
            <a:ext cx="3460750" cy="647700"/>
          </a:xfrm>
          <a:prstGeom prst="rect">
            <a:avLst/>
          </a:prstGeom>
          <a:ln w="9525">
            <a:solidFill>
              <a:srgbClr val="DDE5EF"/>
            </a:solidFill>
            <a:prstDash val="solid"/>
          </a:ln>
        </p:spPr>
      </p:sp>
      <p:sp>
        <p:nvSpPr>
          <p:cNvPr id="20" name="正方形/長方形 19">
            <a:extLst>
              <a:ext uri="{FF2B5EF4-FFF2-40B4-BE49-F238E27FC236}">
                <a16:creationId xmlns:a16="http://schemas.microsoft.com/office/drawing/2014/main" id="{CA1495F2-660F-4CE3-9FD0-B87A5F9C2EDA}"/>
              </a:ext>
            </a:extLst>
          </p:cNvPr>
          <p:cNvSpPr>
            <a:spLocks noGrp="1"/>
          </p:cNvSpPr>
          <p:nvPr/>
        </p:nvSpPr>
        <p:spPr>
          <a:xfrm>
            <a:off x="4451350" y="31718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Login 後にエラー</a:t>
            </a:r>
          </a:p>
        </p:txBody>
      </p:sp>
      <p:sp>
        <p:nvSpPr>
          <p:cNvPr id="21" name="正方形/長方形 20">
            <a:extLst>
              <a:ext uri="{FF2B5EF4-FFF2-40B4-BE49-F238E27FC236}">
                <a16:creationId xmlns:a16="http://schemas.microsoft.com/office/drawing/2014/main" id="{4F0823F3-47A2-45B4-9BB2-39764B790FC6}"/>
              </a:ext>
            </a:extLst>
          </p:cNvPr>
          <p:cNvSpPr>
            <a:spLocks noGrp="1"/>
          </p:cNvSpPr>
          <p:nvPr/>
        </p:nvSpPr>
        <p:spPr>
          <a:xfrm>
            <a:off x="7826375" y="3105150"/>
            <a:ext cx="3460750" cy="647700"/>
          </a:xfrm>
          <a:prstGeom prst="rect">
            <a:avLst/>
          </a:prstGeom>
          <a:ln w="9525">
            <a:solidFill>
              <a:srgbClr val="DDE5EF"/>
            </a:solidFill>
            <a:prstDash val="solid"/>
          </a:ln>
        </p:spPr>
      </p:sp>
      <p:sp>
        <p:nvSpPr>
          <p:cNvPr id="22" name="正方形/長方形 21">
            <a:extLst>
              <a:ext uri="{FF2B5EF4-FFF2-40B4-BE49-F238E27FC236}">
                <a16:creationId xmlns:a16="http://schemas.microsoft.com/office/drawing/2014/main" id="{4FC27407-C6D1-4AF7-8023-345B6A474A4C}"/>
              </a:ext>
            </a:extLst>
          </p:cNvPr>
          <p:cNvSpPr>
            <a:spLocks noGrp="1"/>
          </p:cNvSpPr>
          <p:nvPr/>
        </p:nvSpPr>
        <p:spPr>
          <a:xfrm>
            <a:off x="7912100" y="3171825"/>
            <a:ext cx="3289300" cy="533400"/>
          </a:xfrm>
          <a:prstGeom prst="rect">
            <a:avLst/>
          </a:prstGeom>
          <a:ln w="0">
            <a:solidFill>
              <a:srgbClr val="FFFFFF"/>
            </a:solidFill>
            <a:prstDash val="solid"/>
          </a:ln>
        </p:spPr>
        <p:txBody>
          <a:bodyPr lIns="0" tIns="0" rIns="0" bIns="0" anchor="ctr"/>
          <a:lstStyle/>
          <a:p>
            <a:pPr algn="l">
              <a:defRPr sz="938" b="0">
                <a:solidFill>
                  <a:srgbClr val="1F2937"/>
                </a:solidFill>
                <a:latin typeface="Yu Gothic"/>
                <a:ea typeface="Yu Gothic"/>
                <a:cs typeface="Yu Gothic"/>
              </a:defRPr>
            </a:pPr>
            <a:r>
              <a:rPr sz="938" b="0">
                <a:solidFill>
                  <a:srgbClr val="1F2937"/>
                </a:solidFill>
                <a:latin typeface="Yu Gothic"/>
                <a:ea typeface="Yu Gothic"/>
                <a:cs typeface="Yu Gothic"/>
              </a:rPr>
              <a:t>redirect URI、AZURE_CLIENT_ID、Tenant ID</a:t>
            </a:r>
          </a:p>
        </p:txBody>
      </p:sp>
      <p:sp>
        <p:nvSpPr>
          <p:cNvPr id="23" name="正方形/長方形 22">
            <a:extLst>
              <a:ext uri="{FF2B5EF4-FFF2-40B4-BE49-F238E27FC236}">
                <a16:creationId xmlns:a16="http://schemas.microsoft.com/office/drawing/2014/main" id="{C86F525E-8AD9-4D4C-999A-F9FFCB9C0B98}"/>
              </a:ext>
            </a:extLst>
          </p:cNvPr>
          <p:cNvSpPr>
            <a:spLocks noGrp="1"/>
          </p:cNvSpPr>
          <p:nvPr/>
        </p:nvSpPr>
        <p:spPr>
          <a:xfrm>
            <a:off x="904875" y="3752850"/>
            <a:ext cx="3460750" cy="647700"/>
          </a:xfrm>
          <a:prstGeom prst="rect">
            <a:avLst/>
          </a:prstGeom>
          <a:ln w="9525">
            <a:solidFill>
              <a:srgbClr val="DDE5EF"/>
            </a:solidFill>
            <a:prstDash val="solid"/>
          </a:ln>
        </p:spPr>
      </p:sp>
      <p:sp>
        <p:nvSpPr>
          <p:cNvPr id="24" name="正方形/長方形 23">
            <a:extLst>
              <a:ext uri="{FF2B5EF4-FFF2-40B4-BE49-F238E27FC236}">
                <a16:creationId xmlns:a16="http://schemas.microsoft.com/office/drawing/2014/main" id="{6432D142-E413-48E3-B361-6DA7D80F9764}"/>
              </a:ext>
            </a:extLst>
          </p:cNvPr>
          <p:cNvSpPr>
            <a:spLocks noGrp="1"/>
          </p:cNvSpPr>
          <p:nvPr/>
        </p:nvSpPr>
        <p:spPr>
          <a:xfrm>
            <a:off x="990600" y="38195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デプロイが見えない</a:t>
            </a:r>
          </a:p>
        </p:txBody>
      </p:sp>
      <p:sp>
        <p:nvSpPr>
          <p:cNvPr id="25" name="正方形/長方形 24">
            <a:extLst>
              <a:ext uri="{FF2B5EF4-FFF2-40B4-BE49-F238E27FC236}">
                <a16:creationId xmlns:a16="http://schemas.microsoft.com/office/drawing/2014/main" id="{AEDD4660-69F5-468C-9C67-11B88B46312E}"/>
              </a:ext>
            </a:extLst>
          </p:cNvPr>
          <p:cNvSpPr>
            <a:spLocks noGrp="1"/>
          </p:cNvSpPr>
          <p:nvPr/>
        </p:nvSpPr>
        <p:spPr>
          <a:xfrm>
            <a:off x="4365625" y="3752850"/>
            <a:ext cx="3460750" cy="647700"/>
          </a:xfrm>
          <a:prstGeom prst="rect">
            <a:avLst/>
          </a:prstGeom>
          <a:ln w="9525">
            <a:solidFill>
              <a:srgbClr val="DDE5EF"/>
            </a:solidFill>
            <a:prstDash val="solid"/>
          </a:ln>
        </p:spPr>
      </p:sp>
      <p:sp>
        <p:nvSpPr>
          <p:cNvPr id="26" name="正方形/長方形 25">
            <a:extLst>
              <a:ext uri="{FF2B5EF4-FFF2-40B4-BE49-F238E27FC236}">
                <a16:creationId xmlns:a16="http://schemas.microsoft.com/office/drawing/2014/main" id="{78BEB741-FB1B-4503-B3E7-753BBCC842EF}"/>
              </a:ext>
            </a:extLst>
          </p:cNvPr>
          <p:cNvSpPr>
            <a:spLocks noGrp="1"/>
          </p:cNvSpPr>
          <p:nvPr/>
        </p:nvSpPr>
        <p:spPr>
          <a:xfrm>
            <a:off x="4451350" y="38195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revision が更新されない</a:t>
            </a:r>
          </a:p>
        </p:txBody>
      </p:sp>
      <p:sp>
        <p:nvSpPr>
          <p:cNvPr id="27" name="正方形/長方形 26">
            <a:extLst>
              <a:ext uri="{FF2B5EF4-FFF2-40B4-BE49-F238E27FC236}">
                <a16:creationId xmlns:a16="http://schemas.microsoft.com/office/drawing/2014/main" id="{788CA318-DBD9-4DBF-9B3D-36AF7AC62B64}"/>
              </a:ext>
            </a:extLst>
          </p:cNvPr>
          <p:cNvSpPr>
            <a:spLocks noGrp="1"/>
          </p:cNvSpPr>
          <p:nvPr/>
        </p:nvSpPr>
        <p:spPr>
          <a:xfrm>
            <a:off x="7826375" y="3752850"/>
            <a:ext cx="3460750" cy="647700"/>
          </a:xfrm>
          <a:prstGeom prst="rect">
            <a:avLst/>
          </a:prstGeom>
          <a:ln w="9525">
            <a:solidFill>
              <a:srgbClr val="DDE5EF"/>
            </a:solidFill>
            <a:prstDash val="solid"/>
          </a:ln>
        </p:spPr>
      </p:sp>
      <p:sp>
        <p:nvSpPr>
          <p:cNvPr id="28" name="正方形/長方形 27">
            <a:extLst>
              <a:ext uri="{FF2B5EF4-FFF2-40B4-BE49-F238E27FC236}">
                <a16:creationId xmlns:a16="http://schemas.microsoft.com/office/drawing/2014/main" id="{8FF04BE4-DE17-4629-A642-2A48D7D5BC2A}"/>
              </a:ext>
            </a:extLst>
          </p:cNvPr>
          <p:cNvSpPr>
            <a:spLocks noGrp="1"/>
          </p:cNvSpPr>
          <p:nvPr/>
        </p:nvSpPr>
        <p:spPr>
          <a:xfrm>
            <a:off x="7912100" y="3819525"/>
            <a:ext cx="3289300" cy="533400"/>
          </a:xfrm>
          <a:prstGeom prst="rect">
            <a:avLst/>
          </a:prstGeom>
          <a:ln w="0">
            <a:solidFill>
              <a:srgbClr val="FFFFFF"/>
            </a:solidFill>
            <a:prstDash val="solid"/>
          </a:ln>
        </p:spPr>
        <p:txBody>
          <a:bodyPr lIns="0" tIns="0" rIns="0" bIns="0" anchor="ctr"/>
          <a:lstStyle/>
          <a:p>
            <a:pPr algn="l">
              <a:defRPr sz="863" b="0">
                <a:solidFill>
                  <a:srgbClr val="1F2937"/>
                </a:solidFill>
                <a:latin typeface="Yu Gothic"/>
                <a:ea typeface="Yu Gothic"/>
                <a:cs typeface="Yu Gothic"/>
              </a:defRPr>
            </a:pPr>
            <a:r>
              <a:rPr sz="863" b="0">
                <a:solidFill>
                  <a:srgbClr val="1F2937"/>
                </a:solidFill>
                <a:latin typeface="Yu Gothic"/>
                <a:ea typeface="Yu Gothic"/>
                <a:cs typeface="Yu Gothic"/>
              </a:rPr>
              <a:t>Actions、ACR repositories、Container Apps revisions</a:t>
            </a:r>
          </a:p>
        </p:txBody>
      </p:sp>
      <p:sp>
        <p:nvSpPr>
          <p:cNvPr id="29" name="正方形/長方形 28">
            <a:extLst>
              <a:ext uri="{FF2B5EF4-FFF2-40B4-BE49-F238E27FC236}">
                <a16:creationId xmlns:a16="http://schemas.microsoft.com/office/drawing/2014/main" id="{6DF8E719-2FC0-4C19-B3F8-F507E03667DA}"/>
              </a:ext>
            </a:extLst>
          </p:cNvPr>
          <p:cNvSpPr>
            <a:spLocks noGrp="1"/>
          </p:cNvSpPr>
          <p:nvPr/>
        </p:nvSpPr>
        <p:spPr>
          <a:xfrm>
            <a:off x="904875" y="4400550"/>
            <a:ext cx="3460750" cy="647700"/>
          </a:xfrm>
          <a:prstGeom prst="rect">
            <a:avLst/>
          </a:prstGeom>
          <a:ln w="9525">
            <a:solidFill>
              <a:srgbClr val="DDE5EF"/>
            </a:solidFill>
            <a:prstDash val="solid"/>
          </a:ln>
        </p:spPr>
      </p:sp>
      <p:sp>
        <p:nvSpPr>
          <p:cNvPr id="30" name="正方形/長方形 29">
            <a:extLst>
              <a:ext uri="{FF2B5EF4-FFF2-40B4-BE49-F238E27FC236}">
                <a16:creationId xmlns:a16="http://schemas.microsoft.com/office/drawing/2014/main" id="{FED2B71C-3594-4724-8522-D9854D34A9C2}"/>
              </a:ext>
            </a:extLst>
          </p:cNvPr>
          <p:cNvSpPr>
            <a:spLocks noGrp="1"/>
          </p:cNvSpPr>
          <p:nvPr/>
        </p:nvSpPr>
        <p:spPr>
          <a:xfrm>
            <a:off x="990600" y="44672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Secret 表示</a:t>
            </a:r>
          </a:p>
        </p:txBody>
      </p:sp>
      <p:sp>
        <p:nvSpPr>
          <p:cNvPr id="31" name="正方形/長方形 30">
            <a:extLst>
              <a:ext uri="{FF2B5EF4-FFF2-40B4-BE49-F238E27FC236}">
                <a16:creationId xmlns:a16="http://schemas.microsoft.com/office/drawing/2014/main" id="{AC39C308-3451-4D1E-AEC9-75110C3031F9}"/>
              </a:ext>
            </a:extLst>
          </p:cNvPr>
          <p:cNvSpPr>
            <a:spLocks noGrp="1"/>
          </p:cNvSpPr>
          <p:nvPr/>
        </p:nvSpPr>
        <p:spPr>
          <a:xfrm>
            <a:off x="4365625" y="4400550"/>
            <a:ext cx="3460750" cy="647700"/>
          </a:xfrm>
          <a:prstGeom prst="rect">
            <a:avLst/>
          </a:prstGeom>
          <a:ln w="9525">
            <a:solidFill>
              <a:srgbClr val="DDE5EF"/>
            </a:solidFill>
            <a:prstDash val="solid"/>
          </a:ln>
        </p:spPr>
      </p:sp>
      <p:sp>
        <p:nvSpPr>
          <p:cNvPr id="32" name="正方形/長方形 31">
            <a:extLst>
              <a:ext uri="{FF2B5EF4-FFF2-40B4-BE49-F238E27FC236}">
                <a16:creationId xmlns:a16="http://schemas.microsoft.com/office/drawing/2014/main" id="{A783C96F-9CF8-47E7-8AD9-32138238B0EF}"/>
              </a:ext>
            </a:extLst>
          </p:cNvPr>
          <p:cNvSpPr>
            <a:spLocks noGrp="1"/>
          </p:cNvSpPr>
          <p:nvPr/>
        </p:nvSpPr>
        <p:spPr>
          <a:xfrm>
            <a:off x="4451350" y="44672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画面共有に機密情報が写る</a:t>
            </a:r>
          </a:p>
        </p:txBody>
      </p:sp>
      <p:sp>
        <p:nvSpPr>
          <p:cNvPr id="33" name="正方形/長方形 32">
            <a:extLst>
              <a:ext uri="{FF2B5EF4-FFF2-40B4-BE49-F238E27FC236}">
                <a16:creationId xmlns:a16="http://schemas.microsoft.com/office/drawing/2014/main" id="{84CD1DAA-B455-47A1-929E-42368F518EA6}"/>
              </a:ext>
            </a:extLst>
          </p:cNvPr>
          <p:cNvSpPr>
            <a:spLocks noGrp="1"/>
          </p:cNvSpPr>
          <p:nvPr/>
        </p:nvSpPr>
        <p:spPr>
          <a:xfrm>
            <a:off x="7826375" y="4400550"/>
            <a:ext cx="3460750" cy="647700"/>
          </a:xfrm>
          <a:prstGeom prst="rect">
            <a:avLst/>
          </a:prstGeom>
          <a:ln w="9525">
            <a:solidFill>
              <a:srgbClr val="DDE5EF"/>
            </a:solidFill>
            <a:prstDash val="solid"/>
          </a:ln>
        </p:spPr>
      </p:sp>
      <p:sp>
        <p:nvSpPr>
          <p:cNvPr id="34" name="正方形/長方形 33">
            <a:extLst>
              <a:ext uri="{FF2B5EF4-FFF2-40B4-BE49-F238E27FC236}">
                <a16:creationId xmlns:a16="http://schemas.microsoft.com/office/drawing/2014/main" id="{59752234-718C-47EB-864D-AD0F084A4C4F}"/>
              </a:ext>
            </a:extLst>
          </p:cNvPr>
          <p:cNvSpPr>
            <a:spLocks noGrp="1"/>
          </p:cNvSpPr>
          <p:nvPr/>
        </p:nvSpPr>
        <p:spPr>
          <a:xfrm>
            <a:off x="7912100" y="4467225"/>
            <a:ext cx="3289300" cy="533400"/>
          </a:xfrm>
          <a:prstGeom prst="rect">
            <a:avLst/>
          </a:prstGeom>
          <a:ln w="0">
            <a:solidFill>
              <a:srgbClr val="FFFFFF"/>
            </a:solidFill>
            <a:prstDash val="solid"/>
          </a:ln>
        </p:spPr>
        <p:txBody>
          <a:bodyPr lIns="0" tIns="0" rIns="0" bIns="0" anchor="ctr"/>
          <a:lstStyle/>
          <a:p>
            <a:pPr algn="l">
              <a:defRPr sz="1050" b="0">
                <a:solidFill>
                  <a:srgbClr val="1F2937"/>
                </a:solidFill>
                <a:latin typeface="Yu Gothic"/>
                <a:ea typeface="Yu Gothic"/>
                <a:cs typeface="Yu Gothic"/>
              </a:defRPr>
            </a:pPr>
            <a:r>
              <a:rPr sz="1050" b="0">
                <a:solidFill>
                  <a:srgbClr val="1F2937"/>
                </a:solidFill>
                <a:latin typeface="Yu Gothic"/>
                <a:ea typeface="Yu Gothic"/>
                <a:cs typeface="Yu Gothic"/>
              </a:rPr>
              <a:t>Secret value、SP JSON、サインイン画面</a:t>
            </a:r>
          </a:p>
        </p:txBody>
      </p:sp>
      <p:sp>
        <p:nvSpPr>
          <p:cNvPr id="35" name="正方形/長方形 34">
            <a:extLst>
              <a:ext uri="{FF2B5EF4-FFF2-40B4-BE49-F238E27FC236}">
                <a16:creationId xmlns:a16="http://schemas.microsoft.com/office/drawing/2014/main" id="{89005F43-FB3B-4910-8FCF-99C2CC03F4DA}"/>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正方形/長方形 25">
            <a:extLst>
              <a:ext uri="{FF2B5EF4-FFF2-40B4-BE49-F238E27FC236}">
                <a16:creationId xmlns:a16="http://schemas.microsoft.com/office/drawing/2014/main" id="{DFE708D2-BAA3-4EF4-B514-AB3CA9D3FA2E}"/>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スキップ判断</a:t>
            </a:r>
          </a:p>
        </p:txBody>
      </p:sp>
      <p:sp>
        <p:nvSpPr>
          <p:cNvPr id="2" name="正方形/長方形 1">
            <a:extLst>
              <a:ext uri="{FF2B5EF4-FFF2-40B4-BE49-F238E27FC236}">
                <a16:creationId xmlns:a16="http://schemas.microsoft.com/office/drawing/2014/main" id="{52BD9D92-21C9-4C17-9067-009266FB2627}"/>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43 / 48</a:t>
            </a:r>
          </a:p>
        </p:txBody>
      </p:sp>
      <p:sp>
        <p:nvSpPr>
          <p:cNvPr id="3" name="正方形/長方形 2">
            <a:extLst>
              <a:ext uri="{FF2B5EF4-FFF2-40B4-BE49-F238E27FC236}">
                <a16:creationId xmlns:a16="http://schemas.microsoft.com/office/drawing/2014/main" id="{B84F8817-3C56-4CBA-B56E-4424EC437070}"/>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F811A6F0-8D36-4B02-AE52-7DEEE4DDAF1C}"/>
              </a:ext>
            </a:extLst>
          </p:cNvPr>
          <p:cNvSpPr>
            <a:spLocks noGrp="1"/>
          </p:cNvSpPr>
          <p:nvPr/>
        </p:nvSpPr>
        <p:spPr>
          <a:xfrm>
            <a:off x="666750" y="1162050"/>
            <a:ext cx="10096500" cy="552450"/>
          </a:xfrm>
          <a:prstGeom prst="rect">
            <a:avLst/>
          </a:prstGeom>
          <a:ln w="0">
            <a:solidFill>
              <a:srgbClr val="FFFFFF"/>
            </a:solidFill>
            <a:prstDash val="solid"/>
          </a:ln>
        </p:spPr>
        <p:txBody>
          <a:bodyPr lIns="0" tIns="0" rIns="0" bIns="0" anchor="t"/>
          <a:lstStyle/>
          <a:p>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時間内に復旧できない場合は、アプリ完成そのものよりも、どのサービスが何を担当したかの理解を優先します。</a:t>
            </a:r>
          </a:p>
        </p:txBody>
      </p:sp>
      <p:sp>
        <p:nvSpPr>
          <p:cNvPr id="5" name="正方形/長方形 4">
            <a:extLst>
              <a:ext uri="{FF2B5EF4-FFF2-40B4-BE49-F238E27FC236}">
                <a16:creationId xmlns:a16="http://schemas.microsoft.com/office/drawing/2014/main" id="{DB6EC1C9-B54F-42A0-965B-BB049FDDDC6D}"/>
              </a:ext>
            </a:extLst>
          </p:cNvPr>
          <p:cNvSpPr>
            <a:spLocks noGrp="1"/>
          </p:cNvSpPr>
          <p:nvPr/>
        </p:nvSpPr>
        <p:spPr>
          <a:xfrm>
            <a:off x="904875" y="1952625"/>
            <a:ext cx="4933950" cy="1762125"/>
          </a:xfrm>
          <a:prstGeom prst="rect">
            <a:avLst/>
          </a:prstGeom>
          <a:ln w="9525">
            <a:solidFill>
              <a:srgbClr val="DBE4EF"/>
            </a:solidFill>
            <a:prstDash val="solid"/>
          </a:ln>
        </p:spPr>
      </p:sp>
      <p:sp>
        <p:nvSpPr>
          <p:cNvPr id="6" name="正方形/長方形 5">
            <a:extLst>
              <a:ext uri="{FF2B5EF4-FFF2-40B4-BE49-F238E27FC236}">
                <a16:creationId xmlns:a16="http://schemas.microsoft.com/office/drawing/2014/main" id="{C85AB4DA-360A-4CA2-BD43-C1482D110B48}"/>
              </a:ext>
            </a:extLst>
          </p:cNvPr>
          <p:cNvSpPr>
            <a:spLocks noGrp="1"/>
          </p:cNvSpPr>
          <p:nvPr/>
        </p:nvSpPr>
        <p:spPr>
          <a:xfrm>
            <a:off x="904875" y="1952625"/>
            <a:ext cx="76200" cy="1762125"/>
          </a:xfrm>
          <a:prstGeom prst="rect">
            <a:avLst/>
          </a:prstGeom>
          <a:ln w="0">
            <a:solidFill>
              <a:srgbClr val="EA580C"/>
            </a:solidFill>
            <a:prstDash val="solid"/>
          </a:ln>
        </p:spPr>
      </p:sp>
      <p:sp>
        <p:nvSpPr>
          <p:cNvPr id="7" name="正方形/長方形 6">
            <a:extLst>
              <a:ext uri="{FF2B5EF4-FFF2-40B4-BE49-F238E27FC236}">
                <a16:creationId xmlns:a16="http://schemas.microsoft.com/office/drawing/2014/main" id="{0368F3BE-599A-4485-B6D9-8680DDAE8DE7}"/>
              </a:ext>
            </a:extLst>
          </p:cNvPr>
          <p:cNvSpPr>
            <a:spLocks noGrp="1"/>
          </p:cNvSpPr>
          <p:nvPr/>
        </p:nvSpPr>
        <p:spPr>
          <a:xfrm>
            <a:off x="1133475" y="2124075"/>
            <a:ext cx="4552950" cy="171450"/>
          </a:xfrm>
          <a:prstGeom prst="rect">
            <a:avLst/>
          </a:prstGeom>
          <a:ln w="0">
            <a:solidFill>
              <a:srgbClr val="FFFFFF"/>
            </a:solidFill>
            <a:prstDash val="solid"/>
          </a:ln>
        </p:spPr>
        <p:txBody>
          <a:bodyPr lIns="0" tIns="0" rIns="0" bIns="0" anchor="t"/>
          <a:lstStyle/>
          <a:p>
            <a:pPr algn="l">
              <a:defRPr sz="900" b="1">
                <a:solidFill>
                  <a:srgbClr val="EA580C"/>
                </a:solidFill>
                <a:latin typeface="Yu Gothic"/>
                <a:ea typeface="Yu Gothic"/>
                <a:cs typeface="Yu Gothic"/>
              </a:defRPr>
            </a:pPr>
            <a:r>
              <a:rPr sz="900" b="1">
                <a:solidFill>
                  <a:srgbClr val="EA580C"/>
                </a:solidFill>
                <a:latin typeface="Yu Gothic"/>
                <a:ea typeface="Yu Gothic"/>
                <a:cs typeface="Yu Gothic"/>
              </a:rPr>
              <a:t>GitHub 不可</a:t>
            </a:r>
          </a:p>
        </p:txBody>
      </p:sp>
      <p:sp>
        <p:nvSpPr>
          <p:cNvPr id="8" name="正方形/長方形 7">
            <a:extLst>
              <a:ext uri="{FF2B5EF4-FFF2-40B4-BE49-F238E27FC236}">
                <a16:creationId xmlns:a16="http://schemas.microsoft.com/office/drawing/2014/main" id="{A636AF9F-88F9-42ED-B238-D4B56DF8F3F7}"/>
              </a:ext>
            </a:extLst>
          </p:cNvPr>
          <p:cNvSpPr>
            <a:spLocks noGrp="1"/>
          </p:cNvSpPr>
          <p:nvPr/>
        </p:nvSpPr>
        <p:spPr>
          <a:xfrm>
            <a:off x="1133475" y="2352675"/>
            <a:ext cx="453390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デモ repo へ切り替え</a:t>
            </a:r>
          </a:p>
        </p:txBody>
      </p:sp>
      <p:sp>
        <p:nvSpPr>
          <p:cNvPr id="9" name="正方形/長方形 8">
            <a:extLst>
              <a:ext uri="{FF2B5EF4-FFF2-40B4-BE49-F238E27FC236}">
                <a16:creationId xmlns:a16="http://schemas.microsoft.com/office/drawing/2014/main" id="{DF2D661E-917E-433C-A335-F9DA21538042}"/>
              </a:ext>
            </a:extLst>
          </p:cNvPr>
          <p:cNvSpPr>
            <a:spLocks noGrp="1"/>
          </p:cNvSpPr>
          <p:nvPr/>
        </p:nvSpPr>
        <p:spPr>
          <a:xfrm>
            <a:off x="1133475" y="2790825"/>
            <a:ext cx="4533900" cy="8096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variables と workflow の意味を画面共有で確認します。</a:t>
            </a:r>
          </a:p>
        </p:txBody>
      </p:sp>
      <p:sp>
        <p:nvSpPr>
          <p:cNvPr id="10" name="正方形/長方形 9">
            <a:extLst>
              <a:ext uri="{FF2B5EF4-FFF2-40B4-BE49-F238E27FC236}">
                <a16:creationId xmlns:a16="http://schemas.microsoft.com/office/drawing/2014/main" id="{4164CBD0-13C3-43FD-81FD-7433236DC355}"/>
              </a:ext>
            </a:extLst>
          </p:cNvPr>
          <p:cNvSpPr>
            <a:spLocks noGrp="1"/>
          </p:cNvSpPr>
          <p:nvPr/>
        </p:nvSpPr>
        <p:spPr>
          <a:xfrm>
            <a:off x="6067425" y="1952625"/>
            <a:ext cx="4933950" cy="1762125"/>
          </a:xfrm>
          <a:prstGeom prst="rect">
            <a:avLst/>
          </a:prstGeom>
          <a:ln w="9525">
            <a:solidFill>
              <a:srgbClr val="DBE4EF"/>
            </a:solidFill>
            <a:prstDash val="solid"/>
          </a:ln>
        </p:spPr>
      </p:sp>
      <p:sp>
        <p:nvSpPr>
          <p:cNvPr id="11" name="正方形/長方形 10">
            <a:extLst>
              <a:ext uri="{FF2B5EF4-FFF2-40B4-BE49-F238E27FC236}">
                <a16:creationId xmlns:a16="http://schemas.microsoft.com/office/drawing/2014/main" id="{A5C3BC32-15F6-40FD-AA5A-21A4DD50E2FD}"/>
              </a:ext>
            </a:extLst>
          </p:cNvPr>
          <p:cNvSpPr>
            <a:spLocks noGrp="1"/>
          </p:cNvSpPr>
          <p:nvPr/>
        </p:nvSpPr>
        <p:spPr>
          <a:xfrm>
            <a:off x="6067425" y="1952625"/>
            <a:ext cx="76200" cy="1762125"/>
          </a:xfrm>
          <a:prstGeom prst="rect">
            <a:avLst/>
          </a:prstGeom>
          <a:ln w="0">
            <a:solidFill>
              <a:srgbClr val="BE185D"/>
            </a:solidFill>
            <a:prstDash val="solid"/>
          </a:ln>
        </p:spPr>
      </p:sp>
      <p:sp>
        <p:nvSpPr>
          <p:cNvPr id="12" name="正方形/長方形 11">
            <a:extLst>
              <a:ext uri="{FF2B5EF4-FFF2-40B4-BE49-F238E27FC236}">
                <a16:creationId xmlns:a16="http://schemas.microsoft.com/office/drawing/2014/main" id="{D467FA28-69A3-4B10-9A68-02F310F88F85}"/>
              </a:ext>
            </a:extLst>
          </p:cNvPr>
          <p:cNvSpPr>
            <a:spLocks noGrp="1"/>
          </p:cNvSpPr>
          <p:nvPr/>
        </p:nvSpPr>
        <p:spPr>
          <a:xfrm>
            <a:off x="6296025" y="2124075"/>
            <a:ext cx="4552950" cy="171450"/>
          </a:xfrm>
          <a:prstGeom prst="rect">
            <a:avLst/>
          </a:prstGeom>
          <a:ln w="0">
            <a:solidFill>
              <a:srgbClr val="FFFFFF"/>
            </a:solidFill>
            <a:prstDash val="solid"/>
          </a:ln>
        </p:spPr>
        <p:txBody>
          <a:bodyPr lIns="0" tIns="0" rIns="0" bIns="0" anchor="t"/>
          <a:lstStyle/>
          <a:p>
            <a:pPr algn="l">
              <a:defRPr sz="900" b="1">
                <a:solidFill>
                  <a:srgbClr val="BE185D"/>
                </a:solidFill>
                <a:latin typeface="Yu Gothic"/>
                <a:ea typeface="Yu Gothic"/>
                <a:cs typeface="Yu Gothic"/>
              </a:defRPr>
            </a:pPr>
            <a:r>
              <a:rPr sz="900" b="1">
                <a:solidFill>
                  <a:srgbClr val="BE185D"/>
                </a:solidFill>
                <a:latin typeface="Yu Gothic"/>
                <a:ea typeface="Yu Gothic"/>
                <a:cs typeface="Yu Gothic"/>
              </a:rPr>
              <a:t>SP 作成不可</a:t>
            </a:r>
          </a:p>
        </p:txBody>
      </p:sp>
      <p:sp>
        <p:nvSpPr>
          <p:cNvPr id="13" name="正方形/長方形 12">
            <a:extLst>
              <a:ext uri="{FF2B5EF4-FFF2-40B4-BE49-F238E27FC236}">
                <a16:creationId xmlns:a16="http://schemas.microsoft.com/office/drawing/2014/main" id="{29D55D30-3EBA-4906-8738-89710909D8DC}"/>
              </a:ext>
            </a:extLst>
          </p:cNvPr>
          <p:cNvSpPr>
            <a:spLocks noGrp="1"/>
          </p:cNvSpPr>
          <p:nvPr/>
        </p:nvSpPr>
        <p:spPr>
          <a:xfrm>
            <a:off x="6296025" y="2352675"/>
            <a:ext cx="453390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講師サンプル</a:t>
            </a:r>
          </a:p>
        </p:txBody>
      </p:sp>
      <p:sp>
        <p:nvSpPr>
          <p:cNvPr id="14" name="正方形/長方形 13">
            <a:extLst>
              <a:ext uri="{FF2B5EF4-FFF2-40B4-BE49-F238E27FC236}">
                <a16:creationId xmlns:a16="http://schemas.microsoft.com/office/drawing/2014/main" id="{A9E4DF0E-83B9-4ADF-97CD-E680B8E091B1}"/>
              </a:ext>
            </a:extLst>
          </p:cNvPr>
          <p:cNvSpPr>
            <a:spLocks noGrp="1"/>
          </p:cNvSpPr>
          <p:nvPr/>
        </p:nvSpPr>
        <p:spPr>
          <a:xfrm>
            <a:off x="6296025" y="2790825"/>
            <a:ext cx="4533900" cy="8096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事前作成資格情報またはデモ環境で流れを確認します。</a:t>
            </a:r>
          </a:p>
        </p:txBody>
      </p:sp>
      <p:sp>
        <p:nvSpPr>
          <p:cNvPr id="15" name="正方形/長方形 14">
            <a:extLst>
              <a:ext uri="{FF2B5EF4-FFF2-40B4-BE49-F238E27FC236}">
                <a16:creationId xmlns:a16="http://schemas.microsoft.com/office/drawing/2014/main" id="{26D4A17D-2457-4413-9FCD-3CFFDCB29112}"/>
              </a:ext>
            </a:extLst>
          </p:cNvPr>
          <p:cNvSpPr>
            <a:spLocks noGrp="1"/>
          </p:cNvSpPr>
          <p:nvPr/>
        </p:nvSpPr>
        <p:spPr>
          <a:xfrm>
            <a:off x="904875" y="3924300"/>
            <a:ext cx="4933950" cy="1762125"/>
          </a:xfrm>
          <a:prstGeom prst="rect">
            <a:avLst/>
          </a:prstGeom>
          <a:ln w="9525">
            <a:solidFill>
              <a:srgbClr val="DBE4EF"/>
            </a:solidFill>
            <a:prstDash val="solid"/>
          </a:ln>
        </p:spPr>
      </p:sp>
      <p:sp>
        <p:nvSpPr>
          <p:cNvPr id="16" name="正方形/長方形 15">
            <a:extLst>
              <a:ext uri="{FF2B5EF4-FFF2-40B4-BE49-F238E27FC236}">
                <a16:creationId xmlns:a16="http://schemas.microsoft.com/office/drawing/2014/main" id="{B522F67A-66F5-4E69-955F-6BA2B80468B0}"/>
              </a:ext>
            </a:extLst>
          </p:cNvPr>
          <p:cNvSpPr>
            <a:spLocks noGrp="1"/>
          </p:cNvSpPr>
          <p:nvPr/>
        </p:nvSpPr>
        <p:spPr>
          <a:xfrm>
            <a:off x="904875" y="3924300"/>
            <a:ext cx="76200" cy="1762125"/>
          </a:xfrm>
          <a:prstGeom prst="rect">
            <a:avLst/>
          </a:prstGeom>
          <a:ln w="0">
            <a:solidFill>
              <a:srgbClr val="2563EB"/>
            </a:solidFill>
            <a:prstDash val="solid"/>
          </a:ln>
        </p:spPr>
      </p:sp>
      <p:sp>
        <p:nvSpPr>
          <p:cNvPr id="17" name="正方形/長方形 16">
            <a:extLst>
              <a:ext uri="{FF2B5EF4-FFF2-40B4-BE49-F238E27FC236}">
                <a16:creationId xmlns:a16="http://schemas.microsoft.com/office/drawing/2014/main" id="{7518685F-5308-46E6-A185-C615CBBE55AA}"/>
              </a:ext>
            </a:extLst>
          </p:cNvPr>
          <p:cNvSpPr>
            <a:spLocks noGrp="1"/>
          </p:cNvSpPr>
          <p:nvPr/>
        </p:nvSpPr>
        <p:spPr>
          <a:xfrm>
            <a:off x="1133475" y="4095750"/>
            <a:ext cx="4552950" cy="171450"/>
          </a:xfrm>
          <a:prstGeom prst="rect">
            <a:avLst/>
          </a:prstGeom>
          <a:ln w="0">
            <a:solidFill>
              <a:srgbClr val="FFFFFF"/>
            </a:solidFill>
            <a:prstDash val="solid"/>
          </a:ln>
        </p:spPr>
        <p:txBody>
          <a:bodyPr lIns="0" tIns="0" rIns="0" bIns="0" anchor="t"/>
          <a:lstStyle/>
          <a:p>
            <a:pPr algn="l">
              <a:defRPr sz="900" b="1">
                <a:solidFill>
                  <a:srgbClr val="2563EB"/>
                </a:solidFill>
                <a:latin typeface="Yu Gothic"/>
                <a:ea typeface="Yu Gothic"/>
                <a:cs typeface="Yu Gothic"/>
              </a:defRPr>
            </a:pPr>
            <a:r>
              <a:rPr sz="900" b="1">
                <a:solidFill>
                  <a:srgbClr val="2563EB"/>
                </a:solidFill>
                <a:latin typeface="Yu Gothic"/>
                <a:ea typeface="Yu Gothic"/>
                <a:cs typeface="Yu Gothic"/>
              </a:rPr>
              <a:t>workflow 失敗</a:t>
            </a:r>
          </a:p>
        </p:txBody>
      </p:sp>
      <p:sp>
        <p:nvSpPr>
          <p:cNvPr id="18" name="正方形/長方形 17">
            <a:extLst>
              <a:ext uri="{FF2B5EF4-FFF2-40B4-BE49-F238E27FC236}">
                <a16:creationId xmlns:a16="http://schemas.microsoft.com/office/drawing/2014/main" id="{7EA512BA-7F41-4D8F-8885-E9DED9524E47}"/>
              </a:ext>
            </a:extLst>
          </p:cNvPr>
          <p:cNvSpPr>
            <a:spLocks noGrp="1"/>
          </p:cNvSpPr>
          <p:nvPr/>
        </p:nvSpPr>
        <p:spPr>
          <a:xfrm>
            <a:off x="1133475" y="4324350"/>
            <a:ext cx="453390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成功済み画面で確認</a:t>
            </a:r>
          </a:p>
        </p:txBody>
      </p:sp>
      <p:sp>
        <p:nvSpPr>
          <p:cNvPr id="19" name="正方形/長方形 18">
            <a:extLst>
              <a:ext uri="{FF2B5EF4-FFF2-40B4-BE49-F238E27FC236}">
                <a16:creationId xmlns:a16="http://schemas.microsoft.com/office/drawing/2014/main" id="{A31F47D3-6FD1-482D-B18F-E5E6E7A37630}"/>
              </a:ext>
            </a:extLst>
          </p:cNvPr>
          <p:cNvSpPr>
            <a:spLocks noGrp="1"/>
          </p:cNvSpPr>
          <p:nvPr/>
        </p:nvSpPr>
        <p:spPr>
          <a:xfrm>
            <a:off x="1133475" y="4762500"/>
            <a:ext cx="4533900" cy="8096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Actions、ACR、revision の関係を追います。</a:t>
            </a:r>
          </a:p>
        </p:txBody>
      </p:sp>
      <p:sp>
        <p:nvSpPr>
          <p:cNvPr id="20" name="正方形/長方形 19">
            <a:extLst>
              <a:ext uri="{FF2B5EF4-FFF2-40B4-BE49-F238E27FC236}">
                <a16:creationId xmlns:a16="http://schemas.microsoft.com/office/drawing/2014/main" id="{CE3BFE42-44A6-4116-910E-A3197654E474}"/>
              </a:ext>
            </a:extLst>
          </p:cNvPr>
          <p:cNvSpPr>
            <a:spLocks noGrp="1"/>
          </p:cNvSpPr>
          <p:nvPr/>
        </p:nvSpPr>
        <p:spPr>
          <a:xfrm>
            <a:off x="6067425" y="3924300"/>
            <a:ext cx="4933950" cy="1762125"/>
          </a:xfrm>
          <a:prstGeom prst="rect">
            <a:avLst/>
          </a:prstGeom>
          <a:ln w="9525">
            <a:solidFill>
              <a:srgbClr val="DBE4EF"/>
            </a:solidFill>
            <a:prstDash val="solid"/>
          </a:ln>
        </p:spPr>
      </p:sp>
      <p:sp>
        <p:nvSpPr>
          <p:cNvPr id="21" name="正方形/長方形 20">
            <a:extLst>
              <a:ext uri="{FF2B5EF4-FFF2-40B4-BE49-F238E27FC236}">
                <a16:creationId xmlns:a16="http://schemas.microsoft.com/office/drawing/2014/main" id="{89C2E37F-9FE3-4F0D-B296-649F6D899A22}"/>
              </a:ext>
            </a:extLst>
          </p:cNvPr>
          <p:cNvSpPr>
            <a:spLocks noGrp="1"/>
          </p:cNvSpPr>
          <p:nvPr/>
        </p:nvSpPr>
        <p:spPr>
          <a:xfrm>
            <a:off x="6067425" y="3924300"/>
            <a:ext cx="76200" cy="1762125"/>
          </a:xfrm>
          <a:prstGeom prst="rect">
            <a:avLst/>
          </a:prstGeom>
          <a:ln w="0">
            <a:solidFill>
              <a:srgbClr val="0F766E"/>
            </a:solidFill>
            <a:prstDash val="solid"/>
          </a:ln>
        </p:spPr>
      </p:sp>
      <p:sp>
        <p:nvSpPr>
          <p:cNvPr id="22" name="正方形/長方形 21">
            <a:extLst>
              <a:ext uri="{FF2B5EF4-FFF2-40B4-BE49-F238E27FC236}">
                <a16:creationId xmlns:a16="http://schemas.microsoft.com/office/drawing/2014/main" id="{E31351A4-89F6-46CB-AAC5-A1317DBCB15F}"/>
              </a:ext>
            </a:extLst>
          </p:cNvPr>
          <p:cNvSpPr>
            <a:spLocks noGrp="1"/>
          </p:cNvSpPr>
          <p:nvPr/>
        </p:nvSpPr>
        <p:spPr>
          <a:xfrm>
            <a:off x="6296025" y="4095750"/>
            <a:ext cx="4552950" cy="171450"/>
          </a:xfrm>
          <a:prstGeom prst="rect">
            <a:avLst/>
          </a:prstGeom>
          <a:ln w="0">
            <a:solidFill>
              <a:srgbClr val="FFFFFF"/>
            </a:solidFill>
            <a:prstDash val="solid"/>
          </a:ln>
        </p:spPr>
        <p:txBody>
          <a:bodyPr lIns="0" tIns="0" rIns="0" bIns="0" anchor="t"/>
          <a:lstStyle/>
          <a:p>
            <a:pPr algn="l">
              <a:defRPr sz="900" b="1">
                <a:solidFill>
                  <a:srgbClr val="0F766E"/>
                </a:solidFill>
                <a:latin typeface="Yu Gothic"/>
                <a:ea typeface="Yu Gothic"/>
                <a:cs typeface="Yu Gothic"/>
              </a:defRPr>
            </a:pPr>
            <a:r>
              <a:rPr sz="900" b="1">
                <a:solidFill>
                  <a:srgbClr val="0F766E"/>
                </a:solidFill>
                <a:latin typeface="Yu Gothic"/>
                <a:ea typeface="Yu Gothic"/>
                <a:cs typeface="Yu Gothic"/>
              </a:rPr>
              <a:t>DB/認証失敗</a:t>
            </a:r>
          </a:p>
        </p:txBody>
      </p:sp>
      <p:sp>
        <p:nvSpPr>
          <p:cNvPr id="23" name="正方形/長方形 22">
            <a:extLst>
              <a:ext uri="{FF2B5EF4-FFF2-40B4-BE49-F238E27FC236}">
                <a16:creationId xmlns:a16="http://schemas.microsoft.com/office/drawing/2014/main" id="{D02E5FDA-9206-48E5-9810-F795680420F7}"/>
              </a:ext>
            </a:extLst>
          </p:cNvPr>
          <p:cNvSpPr>
            <a:spLocks noGrp="1"/>
          </p:cNvSpPr>
          <p:nvPr/>
        </p:nvSpPr>
        <p:spPr>
          <a:xfrm>
            <a:off x="6296025" y="4324350"/>
            <a:ext cx="453390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通信経路を確認</a:t>
            </a:r>
          </a:p>
        </p:txBody>
      </p:sp>
      <p:sp>
        <p:nvSpPr>
          <p:cNvPr id="24" name="正方形/長方形 23">
            <a:extLst>
              <a:ext uri="{FF2B5EF4-FFF2-40B4-BE49-F238E27FC236}">
                <a16:creationId xmlns:a16="http://schemas.microsoft.com/office/drawing/2014/main" id="{8B9AF532-4C4E-4064-928A-056EFBD269DD}"/>
              </a:ext>
            </a:extLst>
          </p:cNvPr>
          <p:cNvSpPr>
            <a:spLocks noGrp="1"/>
          </p:cNvSpPr>
          <p:nvPr/>
        </p:nvSpPr>
        <p:spPr>
          <a:xfrm>
            <a:off x="6296025" y="4762500"/>
            <a:ext cx="4533900" cy="8096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完成環境で Web/API/DB と Entra ID の役割を整理します。</a:t>
            </a:r>
          </a:p>
        </p:txBody>
      </p:sp>
      <p:sp>
        <p:nvSpPr>
          <p:cNvPr id="25" name="正方形/長方形 24">
            <a:extLst>
              <a:ext uri="{FF2B5EF4-FFF2-40B4-BE49-F238E27FC236}">
                <a16:creationId xmlns:a16="http://schemas.microsoft.com/office/drawing/2014/main" id="{ECB5EB9B-4EDC-4C9F-8716-7A2531403E85}"/>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正方形/長方形 22">
            <a:extLst>
              <a:ext uri="{FF2B5EF4-FFF2-40B4-BE49-F238E27FC236}">
                <a16:creationId xmlns:a16="http://schemas.microsoft.com/office/drawing/2014/main" id="{36CBA77E-0793-4E48-BA44-985A27A9D038}"/>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クリーンアップ方針</a:t>
            </a:r>
          </a:p>
        </p:txBody>
      </p:sp>
      <p:sp>
        <p:nvSpPr>
          <p:cNvPr id="2" name="正方形/長方形 1">
            <a:extLst>
              <a:ext uri="{FF2B5EF4-FFF2-40B4-BE49-F238E27FC236}">
                <a16:creationId xmlns:a16="http://schemas.microsoft.com/office/drawing/2014/main" id="{A516B8B5-4544-4005-8D9A-CDE53CC1CB6B}"/>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44 / 48</a:t>
            </a:r>
          </a:p>
        </p:txBody>
      </p:sp>
      <p:sp>
        <p:nvSpPr>
          <p:cNvPr id="3" name="正方形/長方形 2">
            <a:extLst>
              <a:ext uri="{FF2B5EF4-FFF2-40B4-BE49-F238E27FC236}">
                <a16:creationId xmlns:a16="http://schemas.microsoft.com/office/drawing/2014/main" id="{566089CB-4CA4-428A-9B7A-DE24BC49EBA6}"/>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A4DCFE00-63EB-4800-BA5F-8D60D81CC6DB}"/>
              </a:ext>
            </a:extLst>
          </p:cNvPr>
          <p:cNvSpPr>
            <a:spLocks noGrp="1"/>
          </p:cNvSpPr>
          <p:nvPr/>
        </p:nvSpPr>
        <p:spPr>
          <a:xfrm>
            <a:off x="666750" y="1162050"/>
            <a:ext cx="10096500" cy="552450"/>
          </a:xfrm>
          <a:prstGeom prst="rect">
            <a:avLst/>
          </a:prstGeom>
          <a:ln w="0">
            <a:solidFill>
              <a:srgbClr val="FFFFFF"/>
            </a:solidFill>
            <a:prstDash val="solid"/>
          </a:ln>
        </p:spPr>
        <p:txBody>
          <a:bodyPr lIns="0" tIns="0" rIns="0" bIns="0" anchor="t"/>
          <a:lstStyle/>
          <a:p>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第6回終了後は、復習のために残す場合でも、不要な課金と資格情報の残置を避けるために停止または削除方針を確認します。</a:t>
            </a:r>
          </a:p>
        </p:txBody>
      </p:sp>
      <p:sp>
        <p:nvSpPr>
          <p:cNvPr id="5" name="正方形/長方形 4">
            <a:extLst>
              <a:ext uri="{FF2B5EF4-FFF2-40B4-BE49-F238E27FC236}">
                <a16:creationId xmlns:a16="http://schemas.microsoft.com/office/drawing/2014/main" id="{C5B67722-28B8-403B-ABD8-8F770D9CB885}"/>
              </a:ext>
            </a:extLst>
          </p:cNvPr>
          <p:cNvSpPr>
            <a:spLocks noGrp="1"/>
          </p:cNvSpPr>
          <p:nvPr/>
        </p:nvSpPr>
        <p:spPr>
          <a:xfrm>
            <a:off x="2143125" y="1619250"/>
            <a:ext cx="7905750" cy="285750"/>
          </a:xfrm>
          <a:prstGeom prst="rect">
            <a:avLst/>
          </a:prstGeom>
          <a:ln w="0">
            <a:solidFill>
              <a:srgbClr val="FFFFFF"/>
            </a:solidFill>
            <a:prstDash val="solid"/>
          </a:ln>
        </p:spPr>
        <p:txBody>
          <a:bodyPr lIns="0" tIns="0" rIns="0" bIns="0" anchor="t"/>
          <a:lstStyle/>
          <a:p>
            <a:pPr algn="ctr">
              <a:defRPr sz="1575" b="1">
                <a:solidFill>
                  <a:srgbClr val="1F2937"/>
                </a:solidFill>
                <a:latin typeface="Yu Gothic"/>
                <a:ea typeface="Yu Gothic"/>
                <a:cs typeface="Yu Gothic"/>
              </a:defRPr>
            </a:pPr>
            <a:r>
              <a:rPr sz="1575" b="1">
                <a:solidFill>
                  <a:srgbClr val="1F2937"/>
                </a:solidFill>
                <a:latin typeface="Yu Gothic"/>
                <a:ea typeface="Yu Gothic"/>
                <a:cs typeface="Yu Gothic"/>
              </a:rPr>
              <a:t>残す・止める・消す対象を分けて確認</a:t>
            </a:r>
          </a:p>
        </p:txBody>
      </p:sp>
      <p:sp>
        <p:nvSpPr>
          <p:cNvPr id="6" name="正方形/長方形 5">
            <a:extLst>
              <a:ext uri="{FF2B5EF4-FFF2-40B4-BE49-F238E27FC236}">
                <a16:creationId xmlns:a16="http://schemas.microsoft.com/office/drawing/2014/main" id="{C9ECB24B-C5BD-4136-A84F-17235266B4C4}"/>
              </a:ext>
            </a:extLst>
          </p:cNvPr>
          <p:cNvSpPr>
            <a:spLocks noGrp="1"/>
          </p:cNvSpPr>
          <p:nvPr/>
        </p:nvSpPr>
        <p:spPr>
          <a:xfrm>
            <a:off x="1047750" y="2428875"/>
            <a:ext cx="2857500" cy="904875"/>
          </a:xfrm>
          <a:prstGeom prst="rect">
            <a:avLst/>
          </a:prstGeom>
          <a:ln w="12383">
            <a:solidFill>
              <a:srgbClr val="EA580C"/>
            </a:solidFill>
            <a:prstDash val="solid"/>
          </a:ln>
        </p:spPr>
      </p:sp>
      <p:sp>
        <p:nvSpPr>
          <p:cNvPr id="7" name="正方形/長方形 6">
            <a:extLst>
              <a:ext uri="{FF2B5EF4-FFF2-40B4-BE49-F238E27FC236}">
                <a16:creationId xmlns:a16="http://schemas.microsoft.com/office/drawing/2014/main" id="{EFA89CF6-610A-4D44-A3AC-9013DB39F78C}"/>
              </a:ext>
            </a:extLst>
          </p:cNvPr>
          <p:cNvSpPr>
            <a:spLocks noGrp="1"/>
          </p:cNvSpPr>
          <p:nvPr/>
        </p:nvSpPr>
        <p:spPr>
          <a:xfrm>
            <a:off x="1162050" y="2524125"/>
            <a:ext cx="2628900" cy="247650"/>
          </a:xfrm>
          <a:prstGeom prst="rect">
            <a:avLst/>
          </a:prstGeom>
          <a:ln w="0">
            <a:solidFill>
              <a:srgbClr val="FFFFFF"/>
            </a:solidFill>
            <a:prstDash val="solid"/>
          </a:ln>
        </p:spPr>
        <p:txBody>
          <a:bodyPr lIns="0" tIns="0" rIns="0" bIns="0" anchor="ctr"/>
          <a:lstStyle/>
          <a:p>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PostgreSQL</a:t>
            </a:r>
          </a:p>
        </p:txBody>
      </p:sp>
      <p:sp>
        <p:nvSpPr>
          <p:cNvPr id="8" name="正方形/長方形 7">
            <a:extLst>
              <a:ext uri="{FF2B5EF4-FFF2-40B4-BE49-F238E27FC236}">
                <a16:creationId xmlns:a16="http://schemas.microsoft.com/office/drawing/2014/main" id="{4D251516-C339-4F64-905B-83C7256E0AE8}"/>
              </a:ext>
            </a:extLst>
          </p:cNvPr>
          <p:cNvSpPr>
            <a:spLocks noGrp="1"/>
          </p:cNvSpPr>
          <p:nvPr/>
        </p:nvSpPr>
        <p:spPr>
          <a:xfrm>
            <a:off x="1162050" y="2838450"/>
            <a:ext cx="2628900" cy="447675"/>
          </a:xfrm>
          <a:prstGeom prst="rect">
            <a:avLst/>
          </a:prstGeom>
          <a:ln w="0">
            <a:solidFill>
              <a:srgbClr val="FFFFFF"/>
            </a:solidFill>
            <a:prstDash val="solid"/>
          </a:ln>
        </p:spPr>
        <p:txBody>
          <a:bodyPr lIns="0" tIns="0" rIns="0" bIns="0" anchor="t"/>
          <a:lstStyle/>
          <a:p>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残す場合も Stop してコンピュート課金を抑える</a:t>
            </a:r>
          </a:p>
        </p:txBody>
      </p:sp>
      <p:sp>
        <p:nvSpPr>
          <p:cNvPr id="9" name="正方形/長方形 8">
            <a:extLst>
              <a:ext uri="{FF2B5EF4-FFF2-40B4-BE49-F238E27FC236}">
                <a16:creationId xmlns:a16="http://schemas.microsoft.com/office/drawing/2014/main" id="{56825017-61B7-46D7-AE2B-6663964BB1C4}"/>
              </a:ext>
            </a:extLst>
          </p:cNvPr>
          <p:cNvSpPr>
            <a:spLocks noGrp="1"/>
          </p:cNvSpPr>
          <p:nvPr/>
        </p:nvSpPr>
        <p:spPr>
          <a:xfrm>
            <a:off x="4667250" y="2428875"/>
            <a:ext cx="2857500" cy="904875"/>
          </a:xfrm>
          <a:prstGeom prst="rect">
            <a:avLst/>
          </a:prstGeom>
          <a:ln w="12383">
            <a:solidFill>
              <a:srgbClr val="2563EB"/>
            </a:solidFill>
            <a:prstDash val="solid"/>
          </a:ln>
        </p:spPr>
      </p:sp>
      <p:sp>
        <p:nvSpPr>
          <p:cNvPr id="10" name="正方形/長方形 9">
            <a:extLst>
              <a:ext uri="{FF2B5EF4-FFF2-40B4-BE49-F238E27FC236}">
                <a16:creationId xmlns:a16="http://schemas.microsoft.com/office/drawing/2014/main" id="{BBA3CBC4-C67C-4165-94A6-E4A01A560D95}"/>
              </a:ext>
            </a:extLst>
          </p:cNvPr>
          <p:cNvSpPr>
            <a:spLocks noGrp="1"/>
          </p:cNvSpPr>
          <p:nvPr/>
        </p:nvSpPr>
        <p:spPr>
          <a:xfrm>
            <a:off x="4781550" y="2524125"/>
            <a:ext cx="2628900" cy="247650"/>
          </a:xfrm>
          <a:prstGeom prst="rect">
            <a:avLst/>
          </a:prstGeom>
          <a:ln w="0">
            <a:solidFill>
              <a:srgbClr val="FFFFFF"/>
            </a:solidFill>
            <a:prstDash val="solid"/>
          </a:ln>
        </p:spPr>
        <p:txBody>
          <a:bodyPr lIns="0" tIns="0" rIns="0" bIns="0" anchor="ctr"/>
          <a:lstStyle/>
          <a:p>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Resource group</a:t>
            </a:r>
          </a:p>
        </p:txBody>
      </p:sp>
      <p:sp>
        <p:nvSpPr>
          <p:cNvPr id="11" name="正方形/長方形 10">
            <a:extLst>
              <a:ext uri="{FF2B5EF4-FFF2-40B4-BE49-F238E27FC236}">
                <a16:creationId xmlns:a16="http://schemas.microsoft.com/office/drawing/2014/main" id="{16BBE1A4-A92F-467E-8006-9D30545C1009}"/>
              </a:ext>
            </a:extLst>
          </p:cNvPr>
          <p:cNvSpPr>
            <a:spLocks noGrp="1"/>
          </p:cNvSpPr>
          <p:nvPr/>
        </p:nvSpPr>
        <p:spPr>
          <a:xfrm>
            <a:off x="4781550" y="2838450"/>
            <a:ext cx="2628900" cy="447675"/>
          </a:xfrm>
          <a:prstGeom prst="rect">
            <a:avLst/>
          </a:prstGeom>
          <a:ln w="0">
            <a:solidFill>
              <a:srgbClr val="FFFFFF"/>
            </a:solidFill>
            <a:prstDash val="solid"/>
          </a:ln>
        </p:spPr>
        <p:txBody>
          <a:bodyPr lIns="0" tIns="0" rIns="0" bIns="0" anchor="t"/>
          <a:lstStyle/>
          <a:p>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削除する場合は Azure リソースをまとめて整理</a:t>
            </a:r>
          </a:p>
        </p:txBody>
      </p:sp>
      <p:sp>
        <p:nvSpPr>
          <p:cNvPr id="12" name="正方形/長方形 11">
            <a:extLst>
              <a:ext uri="{FF2B5EF4-FFF2-40B4-BE49-F238E27FC236}">
                <a16:creationId xmlns:a16="http://schemas.microsoft.com/office/drawing/2014/main" id="{F3F034B1-4E4F-4E5E-B01F-4180744F8716}"/>
              </a:ext>
            </a:extLst>
          </p:cNvPr>
          <p:cNvSpPr>
            <a:spLocks noGrp="1"/>
          </p:cNvSpPr>
          <p:nvPr/>
        </p:nvSpPr>
        <p:spPr>
          <a:xfrm>
            <a:off x="8286750" y="2428875"/>
            <a:ext cx="2857500" cy="904875"/>
          </a:xfrm>
          <a:prstGeom prst="rect">
            <a:avLst/>
          </a:prstGeom>
          <a:ln w="12383">
            <a:solidFill>
              <a:srgbClr val="7C3AED"/>
            </a:solidFill>
            <a:prstDash val="solid"/>
          </a:ln>
        </p:spPr>
      </p:sp>
      <p:sp>
        <p:nvSpPr>
          <p:cNvPr id="13" name="正方形/長方形 12">
            <a:extLst>
              <a:ext uri="{FF2B5EF4-FFF2-40B4-BE49-F238E27FC236}">
                <a16:creationId xmlns:a16="http://schemas.microsoft.com/office/drawing/2014/main" id="{BEDCCEA4-7F49-402E-AD11-AF7AE572DFD1}"/>
              </a:ext>
            </a:extLst>
          </p:cNvPr>
          <p:cNvSpPr>
            <a:spLocks noGrp="1"/>
          </p:cNvSpPr>
          <p:nvPr/>
        </p:nvSpPr>
        <p:spPr>
          <a:xfrm>
            <a:off x="8401050" y="2524125"/>
            <a:ext cx="2628900" cy="247650"/>
          </a:xfrm>
          <a:prstGeom prst="rect">
            <a:avLst/>
          </a:prstGeom>
          <a:ln w="0">
            <a:solidFill>
              <a:srgbClr val="FFFFFF"/>
            </a:solidFill>
            <a:prstDash val="solid"/>
          </a:ln>
        </p:spPr>
        <p:txBody>
          <a:bodyPr lIns="0" tIns="0" rIns="0" bIns="0" anchor="ctr"/>
          <a:lstStyle/>
          <a:p>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Entra ID / SP</a:t>
            </a:r>
          </a:p>
        </p:txBody>
      </p:sp>
      <p:sp>
        <p:nvSpPr>
          <p:cNvPr id="14" name="正方形/長方形 13">
            <a:extLst>
              <a:ext uri="{FF2B5EF4-FFF2-40B4-BE49-F238E27FC236}">
                <a16:creationId xmlns:a16="http://schemas.microsoft.com/office/drawing/2014/main" id="{5B7E2776-A576-4FE9-B8C2-51DCDC1C37DE}"/>
              </a:ext>
            </a:extLst>
          </p:cNvPr>
          <p:cNvSpPr>
            <a:spLocks noGrp="1"/>
          </p:cNvSpPr>
          <p:nvPr/>
        </p:nvSpPr>
        <p:spPr>
          <a:xfrm>
            <a:off x="8401050" y="2838450"/>
            <a:ext cx="2628900" cy="447675"/>
          </a:xfrm>
          <a:prstGeom prst="rect">
            <a:avLst/>
          </a:prstGeom>
          <a:ln w="0">
            <a:solidFill>
              <a:srgbClr val="FFFFFF"/>
            </a:solidFill>
            <a:prstDash val="solid"/>
          </a:ln>
        </p:spPr>
        <p:txBody>
          <a:bodyPr lIns="0" tIns="0" rIns="0" bIns="0" anchor="t"/>
          <a:lstStyle/>
          <a:p>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RG 削除だけでは残る可能性がある</a:t>
            </a:r>
          </a:p>
        </p:txBody>
      </p:sp>
      <p:sp>
        <p:nvSpPr>
          <p:cNvPr id="15" name="正方形/長方形 14">
            <a:extLst>
              <a:ext uri="{FF2B5EF4-FFF2-40B4-BE49-F238E27FC236}">
                <a16:creationId xmlns:a16="http://schemas.microsoft.com/office/drawing/2014/main" id="{F332FB9F-0A25-4DB3-A30C-1AECD5FD4E85}"/>
              </a:ext>
            </a:extLst>
          </p:cNvPr>
          <p:cNvSpPr>
            <a:spLocks noGrp="1"/>
          </p:cNvSpPr>
          <p:nvPr/>
        </p:nvSpPr>
        <p:spPr>
          <a:xfrm>
            <a:off x="2857500" y="4095750"/>
            <a:ext cx="2857500" cy="838200"/>
          </a:xfrm>
          <a:prstGeom prst="rect">
            <a:avLst/>
          </a:prstGeom>
          <a:ln w="12383">
            <a:solidFill>
              <a:srgbClr val="BE185D"/>
            </a:solidFill>
            <a:prstDash val="solid"/>
          </a:ln>
        </p:spPr>
      </p:sp>
      <p:sp>
        <p:nvSpPr>
          <p:cNvPr id="16" name="正方形/長方形 15">
            <a:extLst>
              <a:ext uri="{FF2B5EF4-FFF2-40B4-BE49-F238E27FC236}">
                <a16:creationId xmlns:a16="http://schemas.microsoft.com/office/drawing/2014/main" id="{CB34E045-076F-4682-9FA3-AA9ABDC2FA2D}"/>
              </a:ext>
            </a:extLst>
          </p:cNvPr>
          <p:cNvSpPr>
            <a:spLocks noGrp="1"/>
          </p:cNvSpPr>
          <p:nvPr/>
        </p:nvSpPr>
        <p:spPr>
          <a:xfrm>
            <a:off x="2971800" y="4191000"/>
            <a:ext cx="2628900" cy="247650"/>
          </a:xfrm>
          <a:prstGeom prst="rect">
            <a:avLst/>
          </a:prstGeom>
          <a:ln w="0">
            <a:solidFill>
              <a:srgbClr val="FFFFFF"/>
            </a:solidFill>
            <a:prstDash val="solid"/>
          </a:ln>
        </p:spPr>
        <p:txBody>
          <a:bodyPr lIns="0" tIns="0" rIns="0" bIns="0" anchor="ctr"/>
          <a:lstStyle/>
          <a:p>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GitHub Secret</a:t>
            </a:r>
          </a:p>
        </p:txBody>
      </p:sp>
      <p:sp>
        <p:nvSpPr>
          <p:cNvPr id="17" name="正方形/長方形 16">
            <a:extLst>
              <a:ext uri="{FF2B5EF4-FFF2-40B4-BE49-F238E27FC236}">
                <a16:creationId xmlns:a16="http://schemas.microsoft.com/office/drawing/2014/main" id="{50AB2B5E-39DF-4321-93C5-0866D9D33C69}"/>
              </a:ext>
            </a:extLst>
          </p:cNvPr>
          <p:cNvSpPr>
            <a:spLocks noGrp="1"/>
          </p:cNvSpPr>
          <p:nvPr/>
        </p:nvSpPr>
        <p:spPr>
          <a:xfrm>
            <a:off x="2971800" y="4505325"/>
            <a:ext cx="2628900" cy="381000"/>
          </a:xfrm>
          <a:prstGeom prst="rect">
            <a:avLst/>
          </a:prstGeom>
          <a:ln w="0">
            <a:solidFill>
              <a:srgbClr val="FFFFFF"/>
            </a:solidFill>
            <a:prstDash val="solid"/>
          </a:ln>
        </p:spPr>
        <p:txBody>
          <a:bodyPr lIns="0" tIns="0" rIns="0" bIns="0" anchor="t"/>
          <a:lstStyle/>
          <a:p>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不要なら Secret / variables を削除</a:t>
            </a:r>
          </a:p>
        </p:txBody>
      </p:sp>
      <p:sp>
        <p:nvSpPr>
          <p:cNvPr id="18" name="正方形/長方形 17">
            <a:extLst>
              <a:ext uri="{FF2B5EF4-FFF2-40B4-BE49-F238E27FC236}">
                <a16:creationId xmlns:a16="http://schemas.microsoft.com/office/drawing/2014/main" id="{922AA658-4280-4B91-92BA-1D32BCF2D88E}"/>
              </a:ext>
            </a:extLst>
          </p:cNvPr>
          <p:cNvSpPr>
            <a:spLocks noGrp="1"/>
          </p:cNvSpPr>
          <p:nvPr/>
        </p:nvSpPr>
        <p:spPr>
          <a:xfrm>
            <a:off x="6477000" y="4095750"/>
            <a:ext cx="2857500" cy="838200"/>
          </a:xfrm>
          <a:prstGeom prst="rect">
            <a:avLst/>
          </a:prstGeom>
          <a:ln w="12383">
            <a:solidFill>
              <a:srgbClr val="15803D"/>
            </a:solidFill>
            <a:prstDash val="solid"/>
          </a:ln>
        </p:spPr>
      </p:sp>
      <p:sp>
        <p:nvSpPr>
          <p:cNvPr id="19" name="正方形/長方形 18">
            <a:extLst>
              <a:ext uri="{FF2B5EF4-FFF2-40B4-BE49-F238E27FC236}">
                <a16:creationId xmlns:a16="http://schemas.microsoft.com/office/drawing/2014/main" id="{B2CAB045-ABC5-4F61-9C2A-25264B40EA55}"/>
              </a:ext>
            </a:extLst>
          </p:cNvPr>
          <p:cNvSpPr>
            <a:spLocks noGrp="1"/>
          </p:cNvSpPr>
          <p:nvPr/>
        </p:nvSpPr>
        <p:spPr>
          <a:xfrm>
            <a:off x="6591300" y="4191000"/>
            <a:ext cx="2628900" cy="247650"/>
          </a:xfrm>
          <a:prstGeom prst="rect">
            <a:avLst/>
          </a:prstGeom>
          <a:ln w="0">
            <a:solidFill>
              <a:srgbClr val="FFFFFF"/>
            </a:solidFill>
            <a:prstDash val="solid"/>
          </a:ln>
        </p:spPr>
        <p:txBody>
          <a:bodyPr lIns="0" tIns="0" rIns="0" bIns="0" anchor="ctr"/>
          <a:lstStyle/>
          <a:p>
            <a:pPr algn="ctr">
              <a:defRPr sz="1275" b="1">
                <a:solidFill>
                  <a:srgbClr val="1F2937"/>
                </a:solidFill>
                <a:latin typeface="Yu Gothic"/>
                <a:ea typeface="Yu Gothic"/>
                <a:cs typeface="Yu Gothic"/>
              </a:defRPr>
            </a:pPr>
            <a:r>
              <a:rPr sz="1275" b="1">
                <a:solidFill>
                  <a:srgbClr val="1F2937"/>
                </a:solidFill>
                <a:latin typeface="Yu Gothic"/>
                <a:ea typeface="Yu Gothic"/>
                <a:cs typeface="Yu Gothic"/>
              </a:rPr>
              <a:t>Repository</a:t>
            </a:r>
          </a:p>
        </p:txBody>
      </p:sp>
      <p:sp>
        <p:nvSpPr>
          <p:cNvPr id="20" name="正方形/長方形 19">
            <a:extLst>
              <a:ext uri="{FF2B5EF4-FFF2-40B4-BE49-F238E27FC236}">
                <a16:creationId xmlns:a16="http://schemas.microsoft.com/office/drawing/2014/main" id="{C7919420-A119-42CA-88DD-2154AA788A63}"/>
              </a:ext>
            </a:extLst>
          </p:cNvPr>
          <p:cNvSpPr>
            <a:spLocks noGrp="1"/>
          </p:cNvSpPr>
          <p:nvPr/>
        </p:nvSpPr>
        <p:spPr>
          <a:xfrm>
            <a:off x="6591300" y="4505325"/>
            <a:ext cx="2628900" cy="381000"/>
          </a:xfrm>
          <a:prstGeom prst="rect">
            <a:avLst/>
          </a:prstGeom>
          <a:ln w="0">
            <a:solidFill>
              <a:srgbClr val="FFFFFF"/>
            </a:solidFill>
            <a:prstDash val="solid"/>
          </a:ln>
        </p:spPr>
        <p:txBody>
          <a:bodyPr lIns="0" tIns="0" rIns="0" bIns="0" anchor="t"/>
          <a:lstStyle/>
          <a:p>
            <a:pPr algn="ctr">
              <a:defRPr sz="900" b="0">
                <a:solidFill>
                  <a:srgbClr val="64748B"/>
                </a:solidFill>
                <a:latin typeface="Yu Gothic"/>
                <a:ea typeface="Yu Gothic"/>
                <a:cs typeface="Yu Gothic"/>
              </a:defRPr>
            </a:pPr>
            <a:r>
              <a:rPr sz="900" b="0">
                <a:solidFill>
                  <a:srgbClr val="64748B"/>
                </a:solidFill>
                <a:latin typeface="Yu Gothic"/>
                <a:ea typeface="Yu Gothic"/>
                <a:cs typeface="Yu Gothic"/>
              </a:rPr>
              <a:t>復習用に残すか削除するか判断</a:t>
            </a:r>
          </a:p>
        </p:txBody>
      </p:sp>
      <p:sp>
        <p:nvSpPr>
          <p:cNvPr id="21" name="正方形/長方形 20">
            <a:extLst>
              <a:ext uri="{FF2B5EF4-FFF2-40B4-BE49-F238E27FC236}">
                <a16:creationId xmlns:a16="http://schemas.microsoft.com/office/drawing/2014/main" id="{A0A0EF18-EF82-48AD-8C32-323F92E9FE41}"/>
              </a:ext>
            </a:extLst>
          </p:cNvPr>
          <p:cNvSpPr>
            <a:spLocks noGrp="1"/>
          </p:cNvSpPr>
          <p:nvPr/>
        </p:nvSpPr>
        <p:spPr>
          <a:xfrm>
            <a:off x="1809750" y="5572125"/>
            <a:ext cx="8572500" cy="247650"/>
          </a:xfrm>
          <a:prstGeom prst="rect">
            <a:avLst/>
          </a:prstGeom>
          <a:ln w="0">
            <a:solidFill>
              <a:srgbClr val="FFFFFF"/>
            </a:solidFill>
            <a:prstDash val="solid"/>
          </a:ln>
        </p:spPr>
        <p:txBody>
          <a:bodyPr lIns="0" tIns="0" rIns="0" bIns="0" anchor="t"/>
          <a:lstStyle/>
          <a:p>
            <a:pPr algn="ctr">
              <a:defRPr sz="1200" b="0">
                <a:solidFill>
                  <a:srgbClr val="64748B"/>
                </a:solidFill>
                <a:latin typeface="Yu Gothic"/>
                <a:ea typeface="Yu Gothic"/>
                <a:cs typeface="Yu Gothic"/>
              </a:defRPr>
            </a:pPr>
            <a:r>
              <a:rPr sz="1200" b="0">
                <a:solidFill>
                  <a:srgbClr val="64748B"/>
                </a:solidFill>
                <a:latin typeface="Yu Gothic"/>
                <a:ea typeface="Yu Gothic"/>
                <a:cs typeface="Yu Gothic"/>
              </a:rPr>
              <a:t>講師指示がある場合は削除、復習で残す場合も停止と秘密情報の扱いを確認します。</a:t>
            </a:r>
          </a:p>
        </p:txBody>
      </p:sp>
      <p:sp>
        <p:nvSpPr>
          <p:cNvPr id="22" name="正方形/長方形 21">
            <a:extLst>
              <a:ext uri="{FF2B5EF4-FFF2-40B4-BE49-F238E27FC236}">
                <a16:creationId xmlns:a16="http://schemas.microsoft.com/office/drawing/2014/main" id="{FB50969A-5C4D-4CDA-9F50-CD6CD1D61A08}"/>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C89ECD2E-3092-4454-9DF1-9D933CCFAC08}"/>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停止または削除を確認する</a:t>
            </a:r>
          </a:p>
        </p:txBody>
      </p:sp>
      <p:sp>
        <p:nvSpPr>
          <p:cNvPr id="2" name="正方形/長方形 1">
            <a:extLst>
              <a:ext uri="{FF2B5EF4-FFF2-40B4-BE49-F238E27FC236}">
                <a16:creationId xmlns:a16="http://schemas.microsoft.com/office/drawing/2014/main" id="{00739A24-1A86-419B-99D8-1FF10A2CDD10}"/>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45 / 48</a:t>
            </a:r>
          </a:p>
        </p:txBody>
      </p:sp>
      <p:sp>
        <p:nvSpPr>
          <p:cNvPr id="3" name="正方形/長方形 2">
            <a:extLst>
              <a:ext uri="{FF2B5EF4-FFF2-40B4-BE49-F238E27FC236}">
                <a16:creationId xmlns:a16="http://schemas.microsoft.com/office/drawing/2014/main" id="{6C533DE4-9A1A-4D24-A42D-1E943924A819}"/>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B76BEC79-B273-4F81-810B-A5244B99821E}"/>
              </a:ext>
            </a:extLst>
          </p:cNvPr>
          <p:cNvSpPr>
            <a:spLocks noGrp="1"/>
          </p:cNvSpPr>
          <p:nvPr/>
        </p:nvSpPr>
        <p:spPr>
          <a:xfrm>
            <a:off x="666750" y="1123950"/>
            <a:ext cx="10287000" cy="476250"/>
          </a:xfrm>
          <a:prstGeom prst="rect">
            <a:avLst/>
          </a:prstGeom>
          <a:ln w="0">
            <a:solidFill>
              <a:srgbClr val="FFFFFF"/>
            </a:solidFill>
            <a:prstDash val="solid"/>
          </a:ln>
        </p:spPr>
        <p:txBody>
          <a:bodyPr lIns="0" tIns="0" rIns="0" bIns="0" anchor="t"/>
          <a:lstStyle/>
          <a:p>
            <a:pPr algn="l">
              <a:defRPr sz="1238" b="0">
                <a:solidFill>
                  <a:srgbClr val="64748B"/>
                </a:solidFill>
                <a:latin typeface="Yu Gothic"/>
                <a:ea typeface="Yu Gothic"/>
                <a:cs typeface="Yu Gothic"/>
              </a:defRPr>
            </a:pPr>
            <a:r>
              <a:rPr sz="1238" b="0">
                <a:solidFill>
                  <a:srgbClr val="64748B"/>
                </a:solidFill>
                <a:latin typeface="Yu Gothic"/>
                <a:ea typeface="Yu Gothic"/>
                <a:cs typeface="Yu Gothic"/>
              </a:rPr>
              <a:t>少なくとも PostgreSQL の停止を確認します。講師指示がある場合は Resource group 削除と、Entra ID/GitHub 側の残存情報も整理します。</a:t>
            </a:r>
          </a:p>
        </p:txBody>
      </p:sp>
      <p:sp>
        <p:nvSpPr>
          <p:cNvPr id="5" name="正方形/長方形 4">
            <a:extLst>
              <a:ext uri="{FF2B5EF4-FFF2-40B4-BE49-F238E27FC236}">
                <a16:creationId xmlns:a16="http://schemas.microsoft.com/office/drawing/2014/main" id="{69633802-9BF4-445F-A0B4-DCBC6D00F031}"/>
              </a:ext>
            </a:extLst>
          </p:cNvPr>
          <p:cNvSpPr>
            <a:spLocks noGrp="1"/>
          </p:cNvSpPr>
          <p:nvPr/>
        </p:nvSpPr>
        <p:spPr>
          <a:xfrm>
            <a:off x="904875" y="1866900"/>
            <a:ext cx="4972050" cy="3429000"/>
          </a:xfrm>
          <a:prstGeom prst="rect">
            <a:avLst/>
          </a:prstGeom>
          <a:ln w="9525">
            <a:solidFill>
              <a:srgbClr val="CAD5E4"/>
            </a:solidFill>
            <a:prstDash val="solid"/>
          </a:ln>
        </p:spPr>
      </p:sp>
      <p:pic>
        <p:nvPicPr>
          <p:cNvPr id="6" name="図 5"/>
          <p:cNvPicPr>
            <a:picLocks noChangeAspect="1"/>
          </p:cNvPicPr>
          <p:nvPr/>
        </p:nvPicPr>
        <p:blipFill>
          <a:blip r:embed="rId3"/>
          <a:stretch/>
        </p:blipFill>
        <p:spPr>
          <a:xfrm>
            <a:off x="1019175" y="2113955"/>
            <a:ext cx="4743450" cy="2668191"/>
          </a:xfrm>
          <a:prstGeom prst="rect">
            <a:avLst/>
          </a:prstGeom>
        </p:spPr>
      </p:pic>
      <p:sp>
        <p:nvSpPr>
          <p:cNvPr id="7" name="正方形/長方形 6">
            <a:extLst>
              <a:ext uri="{FF2B5EF4-FFF2-40B4-BE49-F238E27FC236}">
                <a16:creationId xmlns:a16="http://schemas.microsoft.com/office/drawing/2014/main" id="{61C12140-2805-4E2A-B349-3CA9843582E3}"/>
              </a:ext>
            </a:extLst>
          </p:cNvPr>
          <p:cNvSpPr>
            <a:spLocks noGrp="1"/>
          </p:cNvSpPr>
          <p:nvPr/>
        </p:nvSpPr>
        <p:spPr>
          <a:xfrm>
            <a:off x="1057275" y="4972050"/>
            <a:ext cx="4667250" cy="228600"/>
          </a:xfrm>
          <a:prstGeom prst="rect">
            <a:avLst/>
          </a:prstGeom>
          <a:ln w="0">
            <a:solidFill>
              <a:srgbClr val="FFFFFF"/>
            </a:solidFill>
            <a:prstDash val="solid"/>
          </a:ln>
        </p:spPr>
        <p:txBody>
          <a:bodyPr lIns="0" tIns="0" rIns="0" bIns="0" anchor="t"/>
          <a:lstStyle/>
          <a:p>
            <a:pPr algn="ctr">
              <a:defRPr sz="938" b="0">
                <a:solidFill>
                  <a:srgbClr val="64748B"/>
                </a:solidFill>
                <a:latin typeface="Yu Gothic"/>
                <a:ea typeface="Yu Gothic"/>
                <a:cs typeface="Yu Gothic"/>
              </a:defRPr>
            </a:pPr>
            <a:r>
              <a:rPr sz="938" b="0">
                <a:solidFill>
                  <a:srgbClr val="64748B"/>
                </a:solidFill>
                <a:latin typeface="Yu Gothic"/>
                <a:ea typeface="Yu Gothic"/>
                <a:cs typeface="Yu Gothic"/>
              </a:rPr>
              <a:t>PostgreSQL を停止する</a:t>
            </a:r>
          </a:p>
        </p:txBody>
      </p:sp>
      <p:sp>
        <p:nvSpPr>
          <p:cNvPr id="8" name="正方形/長方形 7">
            <a:extLst>
              <a:ext uri="{FF2B5EF4-FFF2-40B4-BE49-F238E27FC236}">
                <a16:creationId xmlns:a16="http://schemas.microsoft.com/office/drawing/2014/main" id="{C0196E62-2137-4296-8E6D-2603700C7953}"/>
              </a:ext>
            </a:extLst>
          </p:cNvPr>
          <p:cNvSpPr>
            <a:spLocks noGrp="1"/>
          </p:cNvSpPr>
          <p:nvPr/>
        </p:nvSpPr>
        <p:spPr>
          <a:xfrm>
            <a:off x="6334125" y="1866900"/>
            <a:ext cx="4972050" cy="3429000"/>
          </a:xfrm>
          <a:prstGeom prst="rect">
            <a:avLst/>
          </a:prstGeom>
          <a:ln w="9525">
            <a:solidFill>
              <a:srgbClr val="CAD5E4"/>
            </a:solidFill>
            <a:prstDash val="solid"/>
          </a:ln>
        </p:spPr>
      </p:sp>
      <p:pic>
        <p:nvPicPr>
          <p:cNvPr id="9" name="図 8"/>
          <p:cNvPicPr>
            <a:picLocks noChangeAspect="1"/>
          </p:cNvPicPr>
          <p:nvPr/>
        </p:nvPicPr>
        <p:blipFill>
          <a:blip r:embed="rId4"/>
          <a:stretch/>
        </p:blipFill>
        <p:spPr>
          <a:xfrm>
            <a:off x="6473190" y="1981200"/>
            <a:ext cx="4693920" cy="2933700"/>
          </a:xfrm>
          <a:prstGeom prst="rect">
            <a:avLst/>
          </a:prstGeom>
        </p:spPr>
      </p:pic>
      <p:sp>
        <p:nvSpPr>
          <p:cNvPr id="10" name="正方形/長方形 9">
            <a:extLst>
              <a:ext uri="{FF2B5EF4-FFF2-40B4-BE49-F238E27FC236}">
                <a16:creationId xmlns:a16="http://schemas.microsoft.com/office/drawing/2014/main" id="{23CE218F-B24F-4C7F-BC3B-849301E3CCB7}"/>
              </a:ext>
            </a:extLst>
          </p:cNvPr>
          <p:cNvSpPr>
            <a:spLocks noGrp="1"/>
          </p:cNvSpPr>
          <p:nvPr/>
        </p:nvSpPr>
        <p:spPr>
          <a:xfrm>
            <a:off x="6486525" y="4972050"/>
            <a:ext cx="4667250" cy="228600"/>
          </a:xfrm>
          <a:prstGeom prst="rect">
            <a:avLst/>
          </a:prstGeom>
          <a:ln w="0">
            <a:solidFill>
              <a:srgbClr val="FFFFFF"/>
            </a:solidFill>
            <a:prstDash val="solid"/>
          </a:ln>
        </p:spPr>
        <p:txBody>
          <a:bodyPr lIns="0" tIns="0" rIns="0" bIns="0" anchor="t"/>
          <a:lstStyle/>
          <a:p>
            <a:pPr algn="ctr">
              <a:defRPr sz="938" b="0">
                <a:solidFill>
                  <a:srgbClr val="64748B"/>
                </a:solidFill>
                <a:latin typeface="Yu Gothic"/>
                <a:ea typeface="Yu Gothic"/>
                <a:cs typeface="Yu Gothic"/>
              </a:defRPr>
            </a:pPr>
            <a:r>
              <a:rPr sz="938" b="0">
                <a:solidFill>
                  <a:srgbClr val="64748B"/>
                </a:solidFill>
                <a:latin typeface="Yu Gothic"/>
                <a:ea typeface="Yu Gothic"/>
                <a:cs typeface="Yu Gothic"/>
              </a:rPr>
              <a:t>削除する場合は対象を確認する</a:t>
            </a:r>
          </a:p>
        </p:txBody>
      </p:sp>
      <p:sp>
        <p:nvSpPr>
          <p:cNvPr id="11" name="正方形/長方形 10">
            <a:extLst>
              <a:ext uri="{FF2B5EF4-FFF2-40B4-BE49-F238E27FC236}">
                <a16:creationId xmlns:a16="http://schemas.microsoft.com/office/drawing/2014/main" id="{1FC7B8E4-0722-40DC-AAD8-873BBC0C438E}"/>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正方形/長方形 20">
            <a:extLst>
              <a:ext uri="{FF2B5EF4-FFF2-40B4-BE49-F238E27FC236}">
                <a16:creationId xmlns:a16="http://schemas.microsoft.com/office/drawing/2014/main" id="{0CD3B5C4-052B-4AFC-86E8-0B968A37DC30}"/>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今日のまとめ</a:t>
            </a:r>
          </a:p>
        </p:txBody>
      </p:sp>
      <p:sp>
        <p:nvSpPr>
          <p:cNvPr id="2" name="正方形/長方形 1">
            <a:extLst>
              <a:ext uri="{FF2B5EF4-FFF2-40B4-BE49-F238E27FC236}">
                <a16:creationId xmlns:a16="http://schemas.microsoft.com/office/drawing/2014/main" id="{847C819F-F965-40A4-A5BE-737A79C55330}"/>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46 / 48</a:t>
            </a:r>
          </a:p>
        </p:txBody>
      </p:sp>
      <p:sp>
        <p:nvSpPr>
          <p:cNvPr id="3" name="正方形/長方形 2">
            <a:extLst>
              <a:ext uri="{FF2B5EF4-FFF2-40B4-BE49-F238E27FC236}">
                <a16:creationId xmlns:a16="http://schemas.microsoft.com/office/drawing/2014/main" id="{FC49CD65-6D45-4A1A-A62A-66CDC357F033}"/>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B7D0D658-BDEA-4352-A753-5CE0ECB17B88}"/>
              </a:ext>
            </a:extLst>
          </p:cNvPr>
          <p:cNvSpPr>
            <a:spLocks noGrp="1"/>
          </p:cNvSpPr>
          <p:nvPr/>
        </p:nvSpPr>
        <p:spPr>
          <a:xfrm>
            <a:off x="666750" y="1162050"/>
            <a:ext cx="10096500" cy="552450"/>
          </a:xfrm>
          <a:prstGeom prst="rect">
            <a:avLst/>
          </a:prstGeom>
          <a:ln w="0">
            <a:solidFill>
              <a:srgbClr val="FFFFFF"/>
            </a:solidFill>
            <a:prstDash val="solid"/>
          </a:ln>
        </p:spPr>
        <p:txBody>
          <a:bodyPr lIns="0" tIns="0" rIns="0" bIns="0" anchor="t"/>
          <a:lstStyle/>
          <a:p>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複数サービスをつなぐときは、デプロイ、認証、接続情報、動作確認、コスト管理をまとめて考えます。</a:t>
            </a:r>
          </a:p>
        </p:txBody>
      </p:sp>
      <p:sp>
        <p:nvSpPr>
          <p:cNvPr id="5" name="正方形/長方形 4">
            <a:extLst>
              <a:ext uri="{FF2B5EF4-FFF2-40B4-BE49-F238E27FC236}">
                <a16:creationId xmlns:a16="http://schemas.microsoft.com/office/drawing/2014/main" id="{DFD8F260-CE3A-44EE-B72F-BB8C7F68B011}"/>
              </a:ext>
            </a:extLst>
          </p:cNvPr>
          <p:cNvSpPr>
            <a:spLocks noGrp="1"/>
          </p:cNvSpPr>
          <p:nvPr/>
        </p:nvSpPr>
        <p:spPr>
          <a:xfrm>
            <a:off x="904875" y="1952625"/>
            <a:ext cx="3213100" cy="1762125"/>
          </a:xfrm>
          <a:prstGeom prst="rect">
            <a:avLst/>
          </a:prstGeom>
          <a:ln w="9525">
            <a:solidFill>
              <a:srgbClr val="DBE4EF"/>
            </a:solidFill>
            <a:prstDash val="solid"/>
          </a:ln>
        </p:spPr>
      </p:sp>
      <p:sp>
        <p:nvSpPr>
          <p:cNvPr id="6" name="正方形/長方形 5">
            <a:extLst>
              <a:ext uri="{FF2B5EF4-FFF2-40B4-BE49-F238E27FC236}">
                <a16:creationId xmlns:a16="http://schemas.microsoft.com/office/drawing/2014/main" id="{9F52405F-11B9-4E73-90DD-39C9B0AD2141}"/>
              </a:ext>
            </a:extLst>
          </p:cNvPr>
          <p:cNvSpPr>
            <a:spLocks noGrp="1"/>
          </p:cNvSpPr>
          <p:nvPr/>
        </p:nvSpPr>
        <p:spPr>
          <a:xfrm>
            <a:off x="904875" y="1952625"/>
            <a:ext cx="76200" cy="1762125"/>
          </a:xfrm>
          <a:prstGeom prst="rect">
            <a:avLst/>
          </a:prstGeom>
          <a:ln w="0">
            <a:solidFill>
              <a:srgbClr val="2563EB"/>
            </a:solidFill>
            <a:prstDash val="solid"/>
          </a:ln>
        </p:spPr>
      </p:sp>
      <p:sp>
        <p:nvSpPr>
          <p:cNvPr id="7" name="正方形/長方形 6">
            <a:extLst>
              <a:ext uri="{FF2B5EF4-FFF2-40B4-BE49-F238E27FC236}">
                <a16:creationId xmlns:a16="http://schemas.microsoft.com/office/drawing/2014/main" id="{3B6960AF-7FCF-4912-9731-85562B04D9E6}"/>
              </a:ext>
            </a:extLst>
          </p:cNvPr>
          <p:cNvSpPr>
            <a:spLocks noGrp="1"/>
          </p:cNvSpPr>
          <p:nvPr/>
        </p:nvSpPr>
        <p:spPr>
          <a:xfrm>
            <a:off x="1133475" y="2124075"/>
            <a:ext cx="2832100" cy="171450"/>
          </a:xfrm>
          <a:prstGeom prst="rect">
            <a:avLst/>
          </a:prstGeom>
          <a:ln w="0">
            <a:solidFill>
              <a:srgbClr val="FFFFFF"/>
            </a:solidFill>
            <a:prstDash val="solid"/>
          </a:ln>
        </p:spPr>
        <p:txBody>
          <a:bodyPr lIns="0" tIns="0" rIns="0" bIns="0" anchor="t"/>
          <a:lstStyle/>
          <a:p>
            <a:pPr algn="l">
              <a:defRPr sz="900" b="1">
                <a:solidFill>
                  <a:srgbClr val="2563EB"/>
                </a:solidFill>
                <a:latin typeface="Yu Gothic"/>
                <a:ea typeface="Yu Gothic"/>
                <a:cs typeface="Yu Gothic"/>
              </a:defRPr>
            </a:pPr>
            <a:r>
              <a:rPr sz="900" b="1">
                <a:solidFill>
                  <a:srgbClr val="2563EB"/>
                </a:solidFill>
                <a:latin typeface="Yu Gothic"/>
                <a:ea typeface="Yu Gothic"/>
                <a:cs typeface="Yu Gothic"/>
              </a:rPr>
              <a:t>1</a:t>
            </a:r>
          </a:p>
        </p:txBody>
      </p:sp>
      <p:sp>
        <p:nvSpPr>
          <p:cNvPr id="8" name="正方形/長方形 7">
            <a:extLst>
              <a:ext uri="{FF2B5EF4-FFF2-40B4-BE49-F238E27FC236}">
                <a16:creationId xmlns:a16="http://schemas.microsoft.com/office/drawing/2014/main" id="{EE545488-6491-4DF0-92D9-09FDF1E38AFA}"/>
              </a:ext>
            </a:extLst>
          </p:cNvPr>
          <p:cNvSpPr>
            <a:spLocks noGrp="1"/>
          </p:cNvSpPr>
          <p:nvPr/>
        </p:nvSpPr>
        <p:spPr>
          <a:xfrm>
            <a:off x="1133475" y="2352675"/>
            <a:ext cx="281305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Actions は自動化</a:t>
            </a:r>
          </a:p>
        </p:txBody>
      </p:sp>
      <p:sp>
        <p:nvSpPr>
          <p:cNvPr id="9" name="正方形/長方形 8">
            <a:extLst>
              <a:ext uri="{FF2B5EF4-FFF2-40B4-BE49-F238E27FC236}">
                <a16:creationId xmlns:a16="http://schemas.microsoft.com/office/drawing/2014/main" id="{684AA322-FF04-4A72-852E-00FC84D6D4BE}"/>
              </a:ext>
            </a:extLst>
          </p:cNvPr>
          <p:cNvSpPr>
            <a:spLocks noGrp="1"/>
          </p:cNvSpPr>
          <p:nvPr/>
        </p:nvSpPr>
        <p:spPr>
          <a:xfrm>
            <a:off x="1133475" y="2790825"/>
            <a:ext cx="2813050" cy="8096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ビルド、ACR push、Container Apps 更新を行いました。</a:t>
            </a:r>
          </a:p>
        </p:txBody>
      </p:sp>
      <p:sp>
        <p:nvSpPr>
          <p:cNvPr id="10" name="正方形/長方形 9">
            <a:extLst>
              <a:ext uri="{FF2B5EF4-FFF2-40B4-BE49-F238E27FC236}">
                <a16:creationId xmlns:a16="http://schemas.microsoft.com/office/drawing/2014/main" id="{C4A49A97-E4C2-4FE6-93BD-83EC6E629DB0}"/>
              </a:ext>
            </a:extLst>
          </p:cNvPr>
          <p:cNvSpPr>
            <a:spLocks noGrp="1"/>
          </p:cNvSpPr>
          <p:nvPr/>
        </p:nvSpPr>
        <p:spPr>
          <a:xfrm>
            <a:off x="4346575" y="1952625"/>
            <a:ext cx="3213100" cy="1762125"/>
          </a:xfrm>
          <a:prstGeom prst="rect">
            <a:avLst/>
          </a:prstGeom>
          <a:ln w="9525">
            <a:solidFill>
              <a:srgbClr val="DBE4EF"/>
            </a:solidFill>
            <a:prstDash val="solid"/>
          </a:ln>
        </p:spPr>
      </p:sp>
      <p:sp>
        <p:nvSpPr>
          <p:cNvPr id="11" name="正方形/長方形 10">
            <a:extLst>
              <a:ext uri="{FF2B5EF4-FFF2-40B4-BE49-F238E27FC236}">
                <a16:creationId xmlns:a16="http://schemas.microsoft.com/office/drawing/2014/main" id="{D76F5F81-F330-45F6-962B-5ABDA11FE231}"/>
              </a:ext>
            </a:extLst>
          </p:cNvPr>
          <p:cNvSpPr>
            <a:spLocks noGrp="1"/>
          </p:cNvSpPr>
          <p:nvPr/>
        </p:nvSpPr>
        <p:spPr>
          <a:xfrm>
            <a:off x="4346575" y="1952625"/>
            <a:ext cx="76200" cy="1762125"/>
          </a:xfrm>
          <a:prstGeom prst="rect">
            <a:avLst/>
          </a:prstGeom>
          <a:ln w="0">
            <a:solidFill>
              <a:srgbClr val="0F766E"/>
            </a:solidFill>
            <a:prstDash val="solid"/>
          </a:ln>
        </p:spPr>
      </p:sp>
      <p:sp>
        <p:nvSpPr>
          <p:cNvPr id="12" name="正方形/長方形 11">
            <a:extLst>
              <a:ext uri="{FF2B5EF4-FFF2-40B4-BE49-F238E27FC236}">
                <a16:creationId xmlns:a16="http://schemas.microsoft.com/office/drawing/2014/main" id="{E1D9AF2E-397B-4997-A32D-E95D059F325E}"/>
              </a:ext>
            </a:extLst>
          </p:cNvPr>
          <p:cNvSpPr>
            <a:spLocks noGrp="1"/>
          </p:cNvSpPr>
          <p:nvPr/>
        </p:nvSpPr>
        <p:spPr>
          <a:xfrm>
            <a:off x="4575175" y="2124075"/>
            <a:ext cx="2832100" cy="171450"/>
          </a:xfrm>
          <a:prstGeom prst="rect">
            <a:avLst/>
          </a:prstGeom>
          <a:ln w="0">
            <a:solidFill>
              <a:srgbClr val="FFFFFF"/>
            </a:solidFill>
            <a:prstDash val="solid"/>
          </a:ln>
        </p:spPr>
        <p:txBody>
          <a:bodyPr lIns="0" tIns="0" rIns="0" bIns="0" anchor="t"/>
          <a:lstStyle/>
          <a:p>
            <a:pPr algn="l">
              <a:defRPr sz="900" b="1">
                <a:solidFill>
                  <a:srgbClr val="0F766E"/>
                </a:solidFill>
                <a:latin typeface="Yu Gothic"/>
                <a:ea typeface="Yu Gothic"/>
                <a:cs typeface="Yu Gothic"/>
              </a:defRPr>
            </a:pPr>
            <a:r>
              <a:rPr sz="900" b="1">
                <a:solidFill>
                  <a:srgbClr val="0F766E"/>
                </a:solidFill>
                <a:latin typeface="Yu Gothic"/>
                <a:ea typeface="Yu Gothic"/>
                <a:cs typeface="Yu Gothic"/>
              </a:rPr>
              <a:t>2</a:t>
            </a:r>
          </a:p>
        </p:txBody>
      </p:sp>
      <p:sp>
        <p:nvSpPr>
          <p:cNvPr id="13" name="正方形/長方形 12">
            <a:extLst>
              <a:ext uri="{FF2B5EF4-FFF2-40B4-BE49-F238E27FC236}">
                <a16:creationId xmlns:a16="http://schemas.microsoft.com/office/drawing/2014/main" id="{F16E1210-6345-427C-A3A0-78AE7F67E0B3}"/>
              </a:ext>
            </a:extLst>
          </p:cNvPr>
          <p:cNvSpPr>
            <a:spLocks noGrp="1"/>
          </p:cNvSpPr>
          <p:nvPr/>
        </p:nvSpPr>
        <p:spPr>
          <a:xfrm>
            <a:off x="4575175" y="2352675"/>
            <a:ext cx="281305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値でサービスがつながる</a:t>
            </a:r>
          </a:p>
        </p:txBody>
      </p:sp>
      <p:sp>
        <p:nvSpPr>
          <p:cNvPr id="14" name="正方形/長方形 13">
            <a:extLst>
              <a:ext uri="{FF2B5EF4-FFF2-40B4-BE49-F238E27FC236}">
                <a16:creationId xmlns:a16="http://schemas.microsoft.com/office/drawing/2014/main" id="{7B4FAB83-E3CC-4EAE-A635-F4E0BAB6D7B8}"/>
              </a:ext>
            </a:extLst>
          </p:cNvPr>
          <p:cNvSpPr>
            <a:spLocks noGrp="1"/>
          </p:cNvSpPr>
          <p:nvPr/>
        </p:nvSpPr>
        <p:spPr>
          <a:xfrm>
            <a:off x="4575175" y="2790825"/>
            <a:ext cx="2813050" cy="8096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URL、ID、ネットワーク、権限を対応させました。</a:t>
            </a:r>
          </a:p>
        </p:txBody>
      </p:sp>
      <p:sp>
        <p:nvSpPr>
          <p:cNvPr id="15" name="正方形/長方形 14">
            <a:extLst>
              <a:ext uri="{FF2B5EF4-FFF2-40B4-BE49-F238E27FC236}">
                <a16:creationId xmlns:a16="http://schemas.microsoft.com/office/drawing/2014/main" id="{3F635502-B838-42C8-B406-6AED4BC98953}"/>
              </a:ext>
            </a:extLst>
          </p:cNvPr>
          <p:cNvSpPr>
            <a:spLocks noGrp="1"/>
          </p:cNvSpPr>
          <p:nvPr/>
        </p:nvSpPr>
        <p:spPr>
          <a:xfrm>
            <a:off x="7788275" y="1952625"/>
            <a:ext cx="3213100" cy="1762125"/>
          </a:xfrm>
          <a:prstGeom prst="rect">
            <a:avLst/>
          </a:prstGeom>
          <a:ln w="9525">
            <a:solidFill>
              <a:srgbClr val="DBE4EF"/>
            </a:solidFill>
            <a:prstDash val="solid"/>
          </a:ln>
        </p:spPr>
      </p:sp>
      <p:sp>
        <p:nvSpPr>
          <p:cNvPr id="16" name="正方形/長方形 15">
            <a:extLst>
              <a:ext uri="{FF2B5EF4-FFF2-40B4-BE49-F238E27FC236}">
                <a16:creationId xmlns:a16="http://schemas.microsoft.com/office/drawing/2014/main" id="{59AE21F7-135C-4FBB-B642-2755C2D8E1D3}"/>
              </a:ext>
            </a:extLst>
          </p:cNvPr>
          <p:cNvSpPr>
            <a:spLocks noGrp="1"/>
          </p:cNvSpPr>
          <p:nvPr/>
        </p:nvSpPr>
        <p:spPr>
          <a:xfrm>
            <a:off x="7788275" y="1952625"/>
            <a:ext cx="76200" cy="1762125"/>
          </a:xfrm>
          <a:prstGeom prst="rect">
            <a:avLst/>
          </a:prstGeom>
          <a:ln w="0">
            <a:solidFill>
              <a:srgbClr val="EA580C"/>
            </a:solidFill>
            <a:prstDash val="solid"/>
          </a:ln>
        </p:spPr>
      </p:sp>
      <p:sp>
        <p:nvSpPr>
          <p:cNvPr id="17" name="正方形/長方形 16">
            <a:extLst>
              <a:ext uri="{FF2B5EF4-FFF2-40B4-BE49-F238E27FC236}">
                <a16:creationId xmlns:a16="http://schemas.microsoft.com/office/drawing/2014/main" id="{8DD7B0BC-203D-4BE9-9C7A-73C6C221A9D6}"/>
              </a:ext>
            </a:extLst>
          </p:cNvPr>
          <p:cNvSpPr>
            <a:spLocks noGrp="1"/>
          </p:cNvSpPr>
          <p:nvPr/>
        </p:nvSpPr>
        <p:spPr>
          <a:xfrm>
            <a:off x="8016875" y="2124075"/>
            <a:ext cx="2832100" cy="171450"/>
          </a:xfrm>
          <a:prstGeom prst="rect">
            <a:avLst/>
          </a:prstGeom>
          <a:ln w="0">
            <a:solidFill>
              <a:srgbClr val="FFFFFF"/>
            </a:solidFill>
            <a:prstDash val="solid"/>
          </a:ln>
        </p:spPr>
        <p:txBody>
          <a:bodyPr lIns="0" tIns="0" rIns="0" bIns="0" anchor="t"/>
          <a:lstStyle/>
          <a:p>
            <a:pPr algn="l">
              <a:defRPr sz="900" b="1">
                <a:solidFill>
                  <a:srgbClr val="EA580C"/>
                </a:solidFill>
                <a:latin typeface="Yu Gothic"/>
                <a:ea typeface="Yu Gothic"/>
                <a:cs typeface="Yu Gothic"/>
              </a:defRPr>
            </a:pPr>
            <a:r>
              <a:rPr sz="900" b="1">
                <a:solidFill>
                  <a:srgbClr val="EA580C"/>
                </a:solidFill>
                <a:latin typeface="Yu Gothic"/>
                <a:ea typeface="Yu Gothic"/>
                <a:cs typeface="Yu Gothic"/>
              </a:rPr>
              <a:t>3</a:t>
            </a:r>
          </a:p>
        </p:txBody>
      </p:sp>
      <p:sp>
        <p:nvSpPr>
          <p:cNvPr id="18" name="正方形/長方形 17">
            <a:extLst>
              <a:ext uri="{FF2B5EF4-FFF2-40B4-BE49-F238E27FC236}">
                <a16:creationId xmlns:a16="http://schemas.microsoft.com/office/drawing/2014/main" id="{F5501426-E2FA-4A1E-8246-01575226BCDD}"/>
              </a:ext>
            </a:extLst>
          </p:cNvPr>
          <p:cNvSpPr>
            <a:spLocks noGrp="1"/>
          </p:cNvSpPr>
          <p:nvPr/>
        </p:nvSpPr>
        <p:spPr>
          <a:xfrm>
            <a:off x="8016875" y="2352675"/>
            <a:ext cx="281305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終わり方も設計</a:t>
            </a:r>
          </a:p>
        </p:txBody>
      </p:sp>
      <p:sp>
        <p:nvSpPr>
          <p:cNvPr id="19" name="正方形/長方形 18">
            <a:extLst>
              <a:ext uri="{FF2B5EF4-FFF2-40B4-BE49-F238E27FC236}">
                <a16:creationId xmlns:a16="http://schemas.microsoft.com/office/drawing/2014/main" id="{F4B582E8-9FF9-454C-B83F-0C7047C267E1}"/>
              </a:ext>
            </a:extLst>
          </p:cNvPr>
          <p:cNvSpPr>
            <a:spLocks noGrp="1"/>
          </p:cNvSpPr>
          <p:nvPr/>
        </p:nvSpPr>
        <p:spPr>
          <a:xfrm>
            <a:off x="8016875" y="2790825"/>
            <a:ext cx="2813050" cy="8096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PostgreSQL、RG、Secret、SP の扱いを確認しました。</a:t>
            </a:r>
          </a:p>
        </p:txBody>
      </p:sp>
      <p:sp>
        <p:nvSpPr>
          <p:cNvPr id="20" name="正方形/長方形 19">
            <a:extLst>
              <a:ext uri="{FF2B5EF4-FFF2-40B4-BE49-F238E27FC236}">
                <a16:creationId xmlns:a16="http://schemas.microsoft.com/office/drawing/2014/main" id="{713F55BD-AC56-4B24-9981-739CD0AAA8FE}"/>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正方形/長方形 20">
            <a:extLst>
              <a:ext uri="{FF2B5EF4-FFF2-40B4-BE49-F238E27FC236}">
                <a16:creationId xmlns:a16="http://schemas.microsoft.com/office/drawing/2014/main" id="{C74ED4C9-06B9-4759-8F20-E83D037CA3AD}"/>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確認クイズ</a:t>
            </a:r>
          </a:p>
        </p:txBody>
      </p:sp>
      <p:sp>
        <p:nvSpPr>
          <p:cNvPr id="2" name="正方形/長方形 1">
            <a:extLst>
              <a:ext uri="{FF2B5EF4-FFF2-40B4-BE49-F238E27FC236}">
                <a16:creationId xmlns:a16="http://schemas.microsoft.com/office/drawing/2014/main" id="{B7502F44-E807-4353-901C-F8788C8E980A}"/>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47 / 48</a:t>
            </a:r>
          </a:p>
        </p:txBody>
      </p:sp>
      <p:sp>
        <p:nvSpPr>
          <p:cNvPr id="3" name="正方形/長方形 2">
            <a:extLst>
              <a:ext uri="{FF2B5EF4-FFF2-40B4-BE49-F238E27FC236}">
                <a16:creationId xmlns:a16="http://schemas.microsoft.com/office/drawing/2014/main" id="{366D8554-2710-4DE7-8A4D-4E5316B36A98}"/>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7483268D-488F-4F55-AFF9-024187C88DEF}"/>
              </a:ext>
            </a:extLst>
          </p:cNvPr>
          <p:cNvSpPr>
            <a:spLocks noGrp="1"/>
          </p:cNvSpPr>
          <p:nvPr/>
        </p:nvSpPr>
        <p:spPr>
          <a:xfrm>
            <a:off x="666750" y="1162050"/>
            <a:ext cx="10096500" cy="552450"/>
          </a:xfrm>
          <a:prstGeom prst="rect">
            <a:avLst/>
          </a:prstGeom>
          <a:ln w="0">
            <a:solidFill>
              <a:srgbClr val="FFFFFF"/>
            </a:solidFill>
            <a:prstDash val="solid"/>
          </a:ln>
        </p:spPr>
        <p:txBody>
          <a:bodyPr lIns="0" tIns="0" rIns="0" bIns="0" anchor="t"/>
          <a:lstStyle/>
          <a:p>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GitHub Actions と Azure リソースの関係を、自分の言葉で確認します。</a:t>
            </a:r>
          </a:p>
        </p:txBody>
      </p:sp>
      <p:sp>
        <p:nvSpPr>
          <p:cNvPr id="5" name="正方形/長方形 4">
            <a:extLst>
              <a:ext uri="{FF2B5EF4-FFF2-40B4-BE49-F238E27FC236}">
                <a16:creationId xmlns:a16="http://schemas.microsoft.com/office/drawing/2014/main" id="{6D7D242A-7745-4507-BF06-6E23C7AD54C8}"/>
              </a:ext>
            </a:extLst>
          </p:cNvPr>
          <p:cNvSpPr>
            <a:spLocks noGrp="1"/>
          </p:cNvSpPr>
          <p:nvPr/>
        </p:nvSpPr>
        <p:spPr>
          <a:xfrm>
            <a:off x="904875" y="1952625"/>
            <a:ext cx="3213100" cy="1762125"/>
          </a:xfrm>
          <a:prstGeom prst="rect">
            <a:avLst/>
          </a:prstGeom>
          <a:ln w="9525">
            <a:solidFill>
              <a:srgbClr val="DBE4EF"/>
            </a:solidFill>
            <a:prstDash val="solid"/>
          </a:ln>
        </p:spPr>
      </p:sp>
      <p:sp>
        <p:nvSpPr>
          <p:cNvPr id="6" name="正方形/長方形 5">
            <a:extLst>
              <a:ext uri="{FF2B5EF4-FFF2-40B4-BE49-F238E27FC236}">
                <a16:creationId xmlns:a16="http://schemas.microsoft.com/office/drawing/2014/main" id="{AC02C7FF-E02D-480D-A389-71F75E038E90}"/>
              </a:ext>
            </a:extLst>
          </p:cNvPr>
          <p:cNvSpPr>
            <a:spLocks noGrp="1"/>
          </p:cNvSpPr>
          <p:nvPr/>
        </p:nvSpPr>
        <p:spPr>
          <a:xfrm>
            <a:off x="904875" y="1952625"/>
            <a:ext cx="76200" cy="1762125"/>
          </a:xfrm>
          <a:prstGeom prst="rect">
            <a:avLst/>
          </a:prstGeom>
          <a:ln w="0">
            <a:solidFill>
              <a:srgbClr val="2563EB"/>
            </a:solidFill>
            <a:prstDash val="solid"/>
          </a:ln>
        </p:spPr>
      </p:sp>
      <p:sp>
        <p:nvSpPr>
          <p:cNvPr id="7" name="正方形/長方形 6">
            <a:extLst>
              <a:ext uri="{FF2B5EF4-FFF2-40B4-BE49-F238E27FC236}">
                <a16:creationId xmlns:a16="http://schemas.microsoft.com/office/drawing/2014/main" id="{EF1C4D65-0D22-4E97-9B74-04B9DA813F81}"/>
              </a:ext>
            </a:extLst>
          </p:cNvPr>
          <p:cNvSpPr>
            <a:spLocks noGrp="1"/>
          </p:cNvSpPr>
          <p:nvPr/>
        </p:nvSpPr>
        <p:spPr>
          <a:xfrm>
            <a:off x="1133475" y="2124075"/>
            <a:ext cx="2832100" cy="171450"/>
          </a:xfrm>
          <a:prstGeom prst="rect">
            <a:avLst/>
          </a:prstGeom>
          <a:ln w="0">
            <a:solidFill>
              <a:srgbClr val="FFFFFF"/>
            </a:solidFill>
            <a:prstDash val="solid"/>
          </a:ln>
        </p:spPr>
        <p:txBody>
          <a:bodyPr lIns="0" tIns="0" rIns="0" bIns="0" anchor="t"/>
          <a:lstStyle/>
          <a:p>
            <a:pPr algn="l">
              <a:defRPr sz="900" b="1">
                <a:solidFill>
                  <a:srgbClr val="2563EB"/>
                </a:solidFill>
                <a:latin typeface="Yu Gothic"/>
                <a:ea typeface="Yu Gothic"/>
                <a:cs typeface="Yu Gothic"/>
              </a:defRPr>
            </a:pPr>
            <a:r>
              <a:rPr sz="900" b="1">
                <a:solidFill>
                  <a:srgbClr val="2563EB"/>
                </a:solidFill>
                <a:latin typeface="Yu Gothic"/>
                <a:ea typeface="Yu Gothic"/>
                <a:cs typeface="Yu Gothic"/>
              </a:rPr>
              <a:t>問1</a:t>
            </a:r>
          </a:p>
        </p:txBody>
      </p:sp>
      <p:sp>
        <p:nvSpPr>
          <p:cNvPr id="8" name="正方形/長方形 7">
            <a:extLst>
              <a:ext uri="{FF2B5EF4-FFF2-40B4-BE49-F238E27FC236}">
                <a16:creationId xmlns:a16="http://schemas.microsoft.com/office/drawing/2014/main" id="{926EA704-F3BB-4756-AB22-613C5ACF5825}"/>
              </a:ext>
            </a:extLst>
          </p:cNvPr>
          <p:cNvSpPr>
            <a:spLocks noGrp="1"/>
          </p:cNvSpPr>
          <p:nvPr/>
        </p:nvSpPr>
        <p:spPr>
          <a:xfrm>
            <a:off x="1133475" y="2352675"/>
            <a:ext cx="281305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問1</a:t>
            </a:r>
          </a:p>
        </p:txBody>
      </p:sp>
      <p:sp>
        <p:nvSpPr>
          <p:cNvPr id="9" name="正方形/長方形 8">
            <a:extLst>
              <a:ext uri="{FF2B5EF4-FFF2-40B4-BE49-F238E27FC236}">
                <a16:creationId xmlns:a16="http://schemas.microsoft.com/office/drawing/2014/main" id="{7D6BA7CF-1338-480F-B329-FEE74FD70C3A}"/>
              </a:ext>
            </a:extLst>
          </p:cNvPr>
          <p:cNvSpPr>
            <a:spLocks noGrp="1"/>
          </p:cNvSpPr>
          <p:nvPr/>
        </p:nvSpPr>
        <p:spPr>
          <a:xfrm>
            <a:off x="1133475" y="2790825"/>
            <a:ext cx="2813050" cy="809625"/>
          </a:xfrm>
          <a:prstGeom prst="rect">
            <a:avLst/>
          </a:prstGeom>
          <a:ln w="0">
            <a:solidFill>
              <a:srgbClr val="FFFFFF"/>
            </a:solidFill>
            <a:prstDash val="solid"/>
          </a:ln>
        </p:spPr>
        <p:txBody>
          <a:bodyPr lIns="0" tIns="0" rIns="0" bIns="0" anchor="t"/>
          <a:lstStyle/>
          <a:p>
            <a:pPr algn="l">
              <a:defRPr sz="1013" b="0">
                <a:solidFill>
                  <a:srgbClr val="1F2937"/>
                </a:solidFill>
                <a:latin typeface="Yu Gothic"/>
                <a:ea typeface="Yu Gothic"/>
                <a:cs typeface="Yu Gothic"/>
              </a:defRPr>
            </a:pPr>
            <a:r>
              <a:rPr sz="1013" b="0">
                <a:solidFill>
                  <a:srgbClr val="1F2937"/>
                </a:solidFill>
                <a:latin typeface="Yu Gothic"/>
                <a:ea typeface="Yu Gothic"/>
                <a:cs typeface="Yu Gothic"/>
              </a:rPr>
              <a:t>GitHub Actions は今回どの作業を自動化しましたか。</a:t>
            </a:r>
          </a:p>
          <a:p>
            <a:pPr algn="l">
              <a:defRPr sz="1013" b="0">
                <a:solidFill>
                  <a:srgbClr val="1F2937"/>
                </a:solidFill>
                <a:latin typeface="Yu Gothic"/>
                <a:ea typeface="Yu Gothic"/>
                <a:cs typeface="Yu Gothic"/>
              </a:defRPr>
            </a:pPr>
            <a:r>
              <a:rPr sz="1013" b="0">
                <a:solidFill>
                  <a:srgbClr val="1F2937"/>
                </a:solidFill>
                <a:latin typeface="Yu Gothic"/>
                <a:ea typeface="Yu Gothic"/>
                <a:cs typeface="Yu Gothic"/>
              </a:rPr>
              <a:t>ビルド、ACR への push、Container Apps 更新。</a:t>
            </a:r>
          </a:p>
        </p:txBody>
      </p:sp>
      <p:sp>
        <p:nvSpPr>
          <p:cNvPr id="10" name="正方形/長方形 9">
            <a:extLst>
              <a:ext uri="{FF2B5EF4-FFF2-40B4-BE49-F238E27FC236}">
                <a16:creationId xmlns:a16="http://schemas.microsoft.com/office/drawing/2014/main" id="{496E2F57-9137-4087-96CA-2ECDEFD77C3F}"/>
              </a:ext>
            </a:extLst>
          </p:cNvPr>
          <p:cNvSpPr>
            <a:spLocks noGrp="1"/>
          </p:cNvSpPr>
          <p:nvPr/>
        </p:nvSpPr>
        <p:spPr>
          <a:xfrm>
            <a:off x="4346575" y="1952625"/>
            <a:ext cx="3213100" cy="1762125"/>
          </a:xfrm>
          <a:prstGeom prst="rect">
            <a:avLst/>
          </a:prstGeom>
          <a:ln w="9525">
            <a:solidFill>
              <a:srgbClr val="DBE4EF"/>
            </a:solidFill>
            <a:prstDash val="solid"/>
          </a:ln>
        </p:spPr>
      </p:sp>
      <p:sp>
        <p:nvSpPr>
          <p:cNvPr id="11" name="正方形/長方形 10">
            <a:extLst>
              <a:ext uri="{FF2B5EF4-FFF2-40B4-BE49-F238E27FC236}">
                <a16:creationId xmlns:a16="http://schemas.microsoft.com/office/drawing/2014/main" id="{0AB6B9AA-098B-467F-8581-70A858952D15}"/>
              </a:ext>
            </a:extLst>
          </p:cNvPr>
          <p:cNvSpPr>
            <a:spLocks noGrp="1"/>
          </p:cNvSpPr>
          <p:nvPr/>
        </p:nvSpPr>
        <p:spPr>
          <a:xfrm>
            <a:off x="4346575" y="1952625"/>
            <a:ext cx="76200" cy="1762125"/>
          </a:xfrm>
          <a:prstGeom prst="rect">
            <a:avLst/>
          </a:prstGeom>
          <a:ln w="0">
            <a:solidFill>
              <a:srgbClr val="0F766E"/>
            </a:solidFill>
            <a:prstDash val="solid"/>
          </a:ln>
        </p:spPr>
      </p:sp>
      <p:sp>
        <p:nvSpPr>
          <p:cNvPr id="12" name="正方形/長方形 11">
            <a:extLst>
              <a:ext uri="{FF2B5EF4-FFF2-40B4-BE49-F238E27FC236}">
                <a16:creationId xmlns:a16="http://schemas.microsoft.com/office/drawing/2014/main" id="{F8119A2A-292A-4575-852C-8629F4010AC0}"/>
              </a:ext>
            </a:extLst>
          </p:cNvPr>
          <p:cNvSpPr>
            <a:spLocks noGrp="1"/>
          </p:cNvSpPr>
          <p:nvPr/>
        </p:nvSpPr>
        <p:spPr>
          <a:xfrm>
            <a:off x="4575175" y="2124075"/>
            <a:ext cx="2832100" cy="171450"/>
          </a:xfrm>
          <a:prstGeom prst="rect">
            <a:avLst/>
          </a:prstGeom>
          <a:ln w="0">
            <a:solidFill>
              <a:srgbClr val="FFFFFF"/>
            </a:solidFill>
            <a:prstDash val="solid"/>
          </a:ln>
        </p:spPr>
        <p:txBody>
          <a:bodyPr lIns="0" tIns="0" rIns="0" bIns="0" anchor="t"/>
          <a:lstStyle/>
          <a:p>
            <a:pPr algn="l">
              <a:defRPr sz="900" b="1">
                <a:solidFill>
                  <a:srgbClr val="0F766E"/>
                </a:solidFill>
                <a:latin typeface="Yu Gothic"/>
                <a:ea typeface="Yu Gothic"/>
                <a:cs typeface="Yu Gothic"/>
              </a:defRPr>
            </a:pPr>
            <a:r>
              <a:rPr sz="900" b="1">
                <a:solidFill>
                  <a:srgbClr val="0F766E"/>
                </a:solidFill>
                <a:latin typeface="Yu Gothic"/>
                <a:ea typeface="Yu Gothic"/>
                <a:cs typeface="Yu Gothic"/>
              </a:rPr>
              <a:t>問2</a:t>
            </a:r>
          </a:p>
        </p:txBody>
      </p:sp>
      <p:sp>
        <p:nvSpPr>
          <p:cNvPr id="13" name="正方形/長方形 12">
            <a:extLst>
              <a:ext uri="{FF2B5EF4-FFF2-40B4-BE49-F238E27FC236}">
                <a16:creationId xmlns:a16="http://schemas.microsoft.com/office/drawing/2014/main" id="{0BE2D7D7-DF9B-4908-9E78-784B7ACF06E7}"/>
              </a:ext>
            </a:extLst>
          </p:cNvPr>
          <p:cNvSpPr>
            <a:spLocks noGrp="1"/>
          </p:cNvSpPr>
          <p:nvPr/>
        </p:nvSpPr>
        <p:spPr>
          <a:xfrm>
            <a:off x="4575175" y="2352675"/>
            <a:ext cx="281305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問2</a:t>
            </a:r>
          </a:p>
        </p:txBody>
      </p:sp>
      <p:sp>
        <p:nvSpPr>
          <p:cNvPr id="14" name="正方形/長方形 13">
            <a:extLst>
              <a:ext uri="{FF2B5EF4-FFF2-40B4-BE49-F238E27FC236}">
                <a16:creationId xmlns:a16="http://schemas.microsoft.com/office/drawing/2014/main" id="{2A628E4D-0C96-4B4F-A780-D144B7A84CA8}"/>
              </a:ext>
            </a:extLst>
          </p:cNvPr>
          <p:cNvSpPr>
            <a:spLocks noGrp="1"/>
          </p:cNvSpPr>
          <p:nvPr/>
        </p:nvSpPr>
        <p:spPr>
          <a:xfrm>
            <a:off x="4575175" y="2790825"/>
            <a:ext cx="2813050" cy="809625"/>
          </a:xfrm>
          <a:prstGeom prst="rect">
            <a:avLst/>
          </a:prstGeom>
          <a:ln w="0">
            <a:solidFill>
              <a:srgbClr val="FFFFFF"/>
            </a:solidFill>
            <a:prstDash val="solid"/>
          </a:ln>
        </p:spPr>
        <p:txBody>
          <a:bodyPr lIns="0" tIns="0" rIns="0" bIns="0" anchor="t"/>
          <a:lstStyle/>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ACR_NAME に login server を入れてよいですか。</a:t>
            </a:r>
          </a:p>
          <a:p>
            <a:pPr algn="l">
              <a:defRPr sz="1125" b="0">
                <a:solidFill>
                  <a:srgbClr val="1F2937"/>
                </a:solidFill>
                <a:latin typeface="Yu Gothic"/>
                <a:ea typeface="Yu Gothic"/>
                <a:cs typeface="Yu Gothic"/>
              </a:defRPr>
            </a:pPr>
            <a:r>
              <a:rPr sz="1125" b="0">
                <a:solidFill>
                  <a:srgbClr val="1F2937"/>
                </a:solidFill>
                <a:latin typeface="Yu Gothic"/>
                <a:ea typeface="Yu Gothic"/>
                <a:cs typeface="Yu Gothic"/>
              </a:rPr>
              <a:t>いいえ。通常は ACR 名のみです。</a:t>
            </a:r>
          </a:p>
        </p:txBody>
      </p:sp>
      <p:sp>
        <p:nvSpPr>
          <p:cNvPr id="15" name="正方形/長方形 14">
            <a:extLst>
              <a:ext uri="{FF2B5EF4-FFF2-40B4-BE49-F238E27FC236}">
                <a16:creationId xmlns:a16="http://schemas.microsoft.com/office/drawing/2014/main" id="{1527C54B-1F94-4A1B-95E0-06EFF8F92B1F}"/>
              </a:ext>
            </a:extLst>
          </p:cNvPr>
          <p:cNvSpPr>
            <a:spLocks noGrp="1"/>
          </p:cNvSpPr>
          <p:nvPr/>
        </p:nvSpPr>
        <p:spPr>
          <a:xfrm>
            <a:off x="7788275" y="1952625"/>
            <a:ext cx="3213100" cy="1762125"/>
          </a:xfrm>
          <a:prstGeom prst="rect">
            <a:avLst/>
          </a:prstGeom>
          <a:ln w="9525">
            <a:solidFill>
              <a:srgbClr val="DBE4EF"/>
            </a:solidFill>
            <a:prstDash val="solid"/>
          </a:ln>
        </p:spPr>
      </p:sp>
      <p:sp>
        <p:nvSpPr>
          <p:cNvPr id="16" name="正方形/長方形 15">
            <a:extLst>
              <a:ext uri="{FF2B5EF4-FFF2-40B4-BE49-F238E27FC236}">
                <a16:creationId xmlns:a16="http://schemas.microsoft.com/office/drawing/2014/main" id="{E24C5C24-6D01-404E-B486-1CAF4E89D01D}"/>
              </a:ext>
            </a:extLst>
          </p:cNvPr>
          <p:cNvSpPr>
            <a:spLocks noGrp="1"/>
          </p:cNvSpPr>
          <p:nvPr/>
        </p:nvSpPr>
        <p:spPr>
          <a:xfrm>
            <a:off x="7788275" y="1952625"/>
            <a:ext cx="76200" cy="1762125"/>
          </a:xfrm>
          <a:prstGeom prst="rect">
            <a:avLst/>
          </a:prstGeom>
          <a:ln w="0">
            <a:solidFill>
              <a:srgbClr val="2563EB"/>
            </a:solidFill>
            <a:prstDash val="solid"/>
          </a:ln>
        </p:spPr>
      </p:sp>
      <p:sp>
        <p:nvSpPr>
          <p:cNvPr id="17" name="正方形/長方形 16">
            <a:extLst>
              <a:ext uri="{FF2B5EF4-FFF2-40B4-BE49-F238E27FC236}">
                <a16:creationId xmlns:a16="http://schemas.microsoft.com/office/drawing/2014/main" id="{B21802BC-0140-43E0-82DB-8C8CF95B5776}"/>
              </a:ext>
            </a:extLst>
          </p:cNvPr>
          <p:cNvSpPr>
            <a:spLocks noGrp="1"/>
          </p:cNvSpPr>
          <p:nvPr/>
        </p:nvSpPr>
        <p:spPr>
          <a:xfrm>
            <a:off x="8016875" y="2124075"/>
            <a:ext cx="2832100" cy="171450"/>
          </a:xfrm>
          <a:prstGeom prst="rect">
            <a:avLst/>
          </a:prstGeom>
          <a:ln w="0">
            <a:solidFill>
              <a:srgbClr val="FFFFFF"/>
            </a:solidFill>
            <a:prstDash val="solid"/>
          </a:ln>
        </p:spPr>
        <p:txBody>
          <a:bodyPr lIns="0" tIns="0" rIns="0" bIns="0" anchor="t"/>
          <a:lstStyle/>
          <a:p>
            <a:pPr algn="l">
              <a:defRPr sz="900" b="1">
                <a:solidFill>
                  <a:srgbClr val="2563EB"/>
                </a:solidFill>
                <a:latin typeface="Yu Gothic"/>
                <a:ea typeface="Yu Gothic"/>
                <a:cs typeface="Yu Gothic"/>
              </a:defRPr>
            </a:pPr>
            <a:r>
              <a:rPr sz="900" b="1">
                <a:solidFill>
                  <a:srgbClr val="2563EB"/>
                </a:solidFill>
                <a:latin typeface="Yu Gothic"/>
                <a:ea typeface="Yu Gothic"/>
                <a:cs typeface="Yu Gothic"/>
              </a:rPr>
              <a:t>問3</a:t>
            </a:r>
          </a:p>
        </p:txBody>
      </p:sp>
      <p:sp>
        <p:nvSpPr>
          <p:cNvPr id="18" name="正方形/長方形 17">
            <a:extLst>
              <a:ext uri="{FF2B5EF4-FFF2-40B4-BE49-F238E27FC236}">
                <a16:creationId xmlns:a16="http://schemas.microsoft.com/office/drawing/2014/main" id="{D824419F-6E62-4F93-BCD5-EB7D00643A1D}"/>
              </a:ext>
            </a:extLst>
          </p:cNvPr>
          <p:cNvSpPr>
            <a:spLocks noGrp="1"/>
          </p:cNvSpPr>
          <p:nvPr/>
        </p:nvSpPr>
        <p:spPr>
          <a:xfrm>
            <a:off x="8016875" y="2352675"/>
            <a:ext cx="2813050" cy="323850"/>
          </a:xfrm>
          <a:prstGeom prst="rect">
            <a:avLst/>
          </a:prstGeom>
          <a:ln w="0">
            <a:solidFill>
              <a:srgbClr val="FFFFFF"/>
            </a:solidFill>
            <a:prstDash val="solid"/>
          </a:ln>
        </p:spPr>
        <p:txBody>
          <a:bodyPr lIns="0" tIns="0" rIns="0" bIns="0" anchor="ctr"/>
          <a:lstStyle/>
          <a:p>
            <a:pPr algn="l">
              <a:defRPr sz="1500" b="1">
                <a:solidFill>
                  <a:srgbClr val="1F2937"/>
                </a:solidFill>
                <a:latin typeface="Yu Gothic"/>
                <a:ea typeface="Yu Gothic"/>
                <a:cs typeface="Yu Gothic"/>
              </a:defRPr>
            </a:pPr>
            <a:r>
              <a:rPr sz="1500" b="1">
                <a:solidFill>
                  <a:srgbClr val="1F2937"/>
                </a:solidFill>
                <a:latin typeface="Yu Gothic"/>
                <a:ea typeface="Yu Gothic"/>
                <a:cs typeface="Yu Gothic"/>
              </a:rPr>
              <a:t>問3</a:t>
            </a:r>
          </a:p>
        </p:txBody>
      </p:sp>
      <p:sp>
        <p:nvSpPr>
          <p:cNvPr id="19" name="正方形/長方形 18">
            <a:extLst>
              <a:ext uri="{FF2B5EF4-FFF2-40B4-BE49-F238E27FC236}">
                <a16:creationId xmlns:a16="http://schemas.microsoft.com/office/drawing/2014/main" id="{47B66F96-2284-4213-A8B5-47FCDC52D4B9}"/>
              </a:ext>
            </a:extLst>
          </p:cNvPr>
          <p:cNvSpPr>
            <a:spLocks noGrp="1"/>
          </p:cNvSpPr>
          <p:nvPr/>
        </p:nvSpPr>
        <p:spPr>
          <a:xfrm>
            <a:off x="8016875" y="2790825"/>
            <a:ext cx="2813050" cy="809625"/>
          </a:xfrm>
          <a:prstGeom prst="rect">
            <a:avLst/>
          </a:prstGeom>
          <a:ln w="0">
            <a:solidFill>
              <a:srgbClr val="FFFFFF"/>
            </a:solidFill>
            <a:prstDash val="solid"/>
          </a:ln>
        </p:spPr>
        <p:txBody>
          <a:bodyPr lIns="0" tIns="0" rIns="0" bIns="0" anchor="t"/>
          <a:lstStyle/>
          <a:p>
            <a:pPr algn="l">
              <a:defRPr sz="1013" b="0">
                <a:solidFill>
                  <a:srgbClr val="1F2937"/>
                </a:solidFill>
                <a:latin typeface="Yu Gothic"/>
                <a:ea typeface="Yu Gothic"/>
                <a:cs typeface="Yu Gothic"/>
              </a:defRPr>
            </a:pPr>
            <a:r>
              <a:rPr sz="1013" b="0">
                <a:solidFill>
                  <a:srgbClr val="1F2937"/>
                </a:solidFill>
                <a:latin typeface="Yu Gothic"/>
                <a:ea typeface="Yu Gothic"/>
                <a:cs typeface="Yu Gothic"/>
              </a:rPr>
              <a:t>Resource group 削除だけでは残る可能性があるものは何ですか。</a:t>
            </a:r>
          </a:p>
          <a:p>
            <a:pPr algn="l">
              <a:defRPr sz="1013" b="0">
                <a:solidFill>
                  <a:srgbClr val="1F2937"/>
                </a:solidFill>
                <a:latin typeface="Yu Gothic"/>
                <a:ea typeface="Yu Gothic"/>
                <a:cs typeface="Yu Gothic"/>
              </a:defRPr>
            </a:pPr>
            <a:r>
              <a:rPr sz="1013" b="0">
                <a:solidFill>
                  <a:srgbClr val="1F2937"/>
                </a:solidFill>
                <a:latin typeface="Yu Gothic"/>
                <a:ea typeface="Yu Gothic"/>
                <a:cs typeface="Yu Gothic"/>
              </a:rPr>
              <a:t>Entra ID App registration、Service Principal、GitHub Secret。</a:t>
            </a:r>
          </a:p>
        </p:txBody>
      </p:sp>
      <p:sp>
        <p:nvSpPr>
          <p:cNvPr id="20" name="正方形/長方形 19">
            <a:extLst>
              <a:ext uri="{FF2B5EF4-FFF2-40B4-BE49-F238E27FC236}">
                <a16:creationId xmlns:a16="http://schemas.microsoft.com/office/drawing/2014/main" id="{32371191-E48B-4824-9B6D-975F668A718A}"/>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AF885D35-EB4B-44E6-8FBC-95E7A9031FE6}"/>
              </a:ext>
            </a:extLst>
          </p:cNvPr>
          <p:cNvSpPr>
            <a:spLocks noGrp="1"/>
          </p:cNvSpPr>
          <p:nvPr/>
        </p:nvSpPr>
        <p:spPr>
          <a:xfrm>
            <a:off x="666750" y="400050"/>
            <a:ext cx="7810500" cy="514350"/>
          </a:xfrm>
          <a:prstGeom prst="rect">
            <a:avLst/>
          </a:prstGeom>
          <a:ln w="0">
            <a:solidFill>
              <a:srgbClr val="FFFFFF"/>
            </a:solidFill>
            <a:prstDash val="solid"/>
          </a:ln>
        </p:spPr>
        <p:txBody>
          <a:bodyPr lIns="0" tIns="0" rIns="0" bIns="0" anchor="t"/>
          <a:lstStyle/>
          <a:p>
            <a:pPr algn="l">
              <a:defRPr sz="2325" b="1">
                <a:solidFill>
                  <a:srgbClr val="1F2937"/>
                </a:solidFill>
                <a:latin typeface="Yu Gothic"/>
                <a:ea typeface="Yu Gothic"/>
                <a:cs typeface="Yu Gothic"/>
              </a:defRPr>
            </a:pPr>
            <a:r>
              <a:rPr sz="2325" b="1">
                <a:solidFill>
                  <a:srgbClr val="1F2937"/>
                </a:solidFill>
                <a:latin typeface="Yu Gothic"/>
                <a:ea typeface="Yu Gothic"/>
                <a:cs typeface="Yu Gothic"/>
              </a:rPr>
              <a:t>QA</a:t>
            </a:r>
          </a:p>
        </p:txBody>
      </p:sp>
      <p:sp>
        <p:nvSpPr>
          <p:cNvPr id="2" name="正方形/長方形 1">
            <a:extLst>
              <a:ext uri="{FF2B5EF4-FFF2-40B4-BE49-F238E27FC236}">
                <a16:creationId xmlns:a16="http://schemas.microsoft.com/office/drawing/2014/main" id="{51CFD139-6A9F-4C37-A79F-C32DAD662272}"/>
              </a:ext>
            </a:extLst>
          </p:cNvPr>
          <p:cNvSpPr>
            <a:spLocks noGrp="1"/>
          </p:cNvSpPr>
          <p:nvPr/>
        </p:nvSpPr>
        <p:spPr>
          <a:xfrm>
            <a:off x="9334500" y="485775"/>
            <a:ext cx="2095500" cy="266700"/>
          </a:xfrm>
          <a:prstGeom prst="rect">
            <a:avLst/>
          </a:prstGeom>
          <a:ln w="0">
            <a:solidFill>
              <a:srgbClr val="FFFFFF"/>
            </a:solidFill>
            <a:prstDash val="solid"/>
          </a:ln>
        </p:spPr>
        <p:txBody>
          <a:bodyPr lIns="0" tIns="0" rIns="0" bIns="0" anchor="t"/>
          <a:lstStyle/>
          <a:p>
            <a:pPr algn="r">
              <a:defRPr sz="975" b="0">
                <a:solidFill>
                  <a:srgbClr val="64748B"/>
                </a:solidFill>
                <a:latin typeface="Yu Gothic"/>
                <a:ea typeface="Yu Gothic"/>
                <a:cs typeface="Yu Gothic"/>
              </a:defRPr>
            </a:pPr>
            <a:r>
              <a:rPr sz="975" b="0">
                <a:solidFill>
                  <a:srgbClr val="64748B"/>
                </a:solidFill>
                <a:latin typeface="Yu Gothic"/>
                <a:ea typeface="Yu Gothic"/>
                <a:cs typeface="Yu Gothic"/>
              </a:rPr>
              <a:t>Lesson 06  |  48 / 48</a:t>
            </a:r>
          </a:p>
        </p:txBody>
      </p:sp>
      <p:sp>
        <p:nvSpPr>
          <p:cNvPr id="3" name="正方形/長方形 2">
            <a:extLst>
              <a:ext uri="{FF2B5EF4-FFF2-40B4-BE49-F238E27FC236}">
                <a16:creationId xmlns:a16="http://schemas.microsoft.com/office/drawing/2014/main" id="{B448C4D7-6055-451C-A076-8D7C73DE2454}"/>
              </a:ext>
            </a:extLst>
          </p:cNvPr>
          <p:cNvSpPr>
            <a:spLocks noGrp="1"/>
          </p:cNvSpPr>
          <p:nvPr/>
        </p:nvSpPr>
        <p:spPr>
          <a:xfrm>
            <a:off x="666750" y="981075"/>
            <a:ext cx="10096500" cy="19050"/>
          </a:xfrm>
          <a:prstGeom prst="rect">
            <a:avLst/>
          </a:prstGeom>
          <a:ln w="0">
            <a:solidFill>
              <a:srgbClr val="2563EB"/>
            </a:solidFill>
            <a:prstDash val="solid"/>
          </a:ln>
        </p:spPr>
      </p:sp>
      <p:sp>
        <p:nvSpPr>
          <p:cNvPr id="4" name="正方形/長方形 3">
            <a:extLst>
              <a:ext uri="{FF2B5EF4-FFF2-40B4-BE49-F238E27FC236}">
                <a16:creationId xmlns:a16="http://schemas.microsoft.com/office/drawing/2014/main" id="{D2ECBB26-A4BD-4EFB-BDC2-FB45ADB8AD79}"/>
              </a:ext>
            </a:extLst>
          </p:cNvPr>
          <p:cNvSpPr>
            <a:spLocks noGrp="1"/>
          </p:cNvSpPr>
          <p:nvPr/>
        </p:nvSpPr>
        <p:spPr>
          <a:xfrm>
            <a:off x="666750" y="1162050"/>
            <a:ext cx="10096500" cy="552450"/>
          </a:xfrm>
          <a:prstGeom prst="rect">
            <a:avLst/>
          </a:prstGeom>
          <a:ln w="0">
            <a:solidFill>
              <a:srgbClr val="FFFFFF"/>
            </a:solidFill>
            <a:prstDash val="solid"/>
          </a:ln>
        </p:spPr>
        <p:txBody>
          <a:bodyPr lIns="0" tIns="0" rIns="0" bIns="0" anchor="t"/>
          <a:lstStyle/>
          <a:p>
            <a:pPr algn="l">
              <a:defRPr sz="1350" b="0">
                <a:solidFill>
                  <a:srgbClr val="64748B"/>
                </a:solidFill>
                <a:latin typeface="Yu Gothic"/>
                <a:ea typeface="Yu Gothic"/>
                <a:cs typeface="Yu Gothic"/>
              </a:defRPr>
            </a:pPr>
            <a:r>
              <a:rPr sz="1350" b="0">
                <a:solidFill>
                  <a:srgbClr val="64748B"/>
                </a:solidFill>
                <a:latin typeface="Yu Gothic"/>
                <a:ea typeface="Yu Gothic"/>
                <a:cs typeface="Yu Gothic"/>
              </a:rPr>
              <a:t>第5回から第6回で完成した Todo アプリの構成、GitHub Actions、認証、DB 接続、後片付けについて質問を受けます。</a:t>
            </a:r>
          </a:p>
        </p:txBody>
      </p:sp>
      <p:sp>
        <p:nvSpPr>
          <p:cNvPr id="5" name="正方形/長方形 4">
            <a:extLst>
              <a:ext uri="{FF2B5EF4-FFF2-40B4-BE49-F238E27FC236}">
                <a16:creationId xmlns:a16="http://schemas.microsoft.com/office/drawing/2014/main" id="{15A0CEC4-0982-4D78-A971-7B7EAA964E3E}"/>
              </a:ext>
            </a:extLst>
          </p:cNvPr>
          <p:cNvSpPr>
            <a:spLocks noGrp="1"/>
          </p:cNvSpPr>
          <p:nvPr/>
        </p:nvSpPr>
        <p:spPr>
          <a:xfrm>
            <a:off x="1524000" y="2619375"/>
            <a:ext cx="9144000" cy="1285875"/>
          </a:xfrm>
          <a:prstGeom prst="rect">
            <a:avLst/>
          </a:prstGeom>
          <a:ln w="9525">
            <a:solidFill>
              <a:srgbClr val="D7DDE8"/>
            </a:solidFill>
            <a:prstDash val="solid"/>
          </a:ln>
        </p:spPr>
        <p:txBody>
          <a:bodyPr lIns="0" tIns="0" rIns="0" bIns="0" anchor="ctr"/>
          <a:lstStyle/>
          <a:p>
            <a:pPr algn="ctr">
              <a:defRPr sz="1800" b="1">
                <a:solidFill>
                  <a:srgbClr val="1F2937"/>
                </a:solidFill>
                <a:latin typeface="Yu Gothic"/>
                <a:ea typeface="Yu Gothic"/>
                <a:cs typeface="Yu Gothic"/>
              </a:defRPr>
            </a:pPr>
            <a:r>
              <a:rPr sz="1800" b="1">
                <a:solidFill>
                  <a:srgbClr val="1F2937"/>
                </a:solidFill>
                <a:latin typeface="Yu Gothic"/>
                <a:ea typeface="Yu Gothic"/>
                <a:cs typeface="Yu Gothic"/>
              </a:rPr>
              <a:t>完成したアプリを見て終わりではなく、どのサービスがどの責務を持ったか、どの値でつながったか、どこを停止または削除するかまで確認して閉じます。</a:t>
            </a:r>
          </a:p>
        </p:txBody>
      </p:sp>
      <p:sp>
        <p:nvSpPr>
          <p:cNvPr id="6" name="正方形/長方形 5">
            <a:extLst>
              <a:ext uri="{FF2B5EF4-FFF2-40B4-BE49-F238E27FC236}">
                <a16:creationId xmlns:a16="http://schemas.microsoft.com/office/drawing/2014/main" id="{4941DABF-12CB-4841-86FC-65E00AC14CA0}"/>
              </a:ext>
            </a:extLst>
          </p:cNvPr>
          <p:cNvSpPr>
            <a:spLocks noGrp="1"/>
          </p:cNvSpPr>
          <p:nvPr/>
        </p:nvSpPr>
        <p:spPr>
          <a:xfrm>
            <a:off x="666750" y="6496050"/>
            <a:ext cx="6858000" cy="190500"/>
          </a:xfrm>
          <a:prstGeom prst="rect">
            <a:avLst/>
          </a:prstGeom>
          <a:ln w="0">
            <a:solidFill>
              <a:srgbClr val="FFFFFF"/>
            </a:solidFill>
            <a:prstDash val="solid"/>
          </a:ln>
        </p:spPr>
        <p:txBody>
          <a:bodyPr lIns="0" tIns="0" rIns="0" bIns="0" anchor="t"/>
          <a:lstStyle/>
          <a:p>
            <a:pPr algn="l">
              <a:defRPr sz="750" b="0">
                <a:solidFill>
                  <a:srgbClr val="94A3B8"/>
                </a:solidFill>
                <a:latin typeface="Yu Gothic"/>
                <a:ea typeface="Yu Gothic"/>
                <a:cs typeface="Yu Gothic"/>
              </a:defRPr>
            </a:pPr>
            <a:r>
              <a:rPr sz="750" b="0">
                <a:solidFill>
                  <a:srgbClr val="94A3B8"/>
                </a:solidFill>
                <a:latin typeface="Yu Gothic"/>
                <a:ea typeface="Yu Gothic"/>
                <a:cs typeface="Yu Gothic"/>
              </a:rPr>
              <a:t>Azure Workshop for Beginners</a:t>
            </a:r>
          </a:p>
        </p:txBody>
      </p:sp>
    </p:spTree>
    <p:extLst>
      <p:ext uri="{BB962C8B-B14F-4D97-AF65-F5344CB8AC3E}">
        <p14:creationId xmlns:p14="http://schemas.microsoft.com/office/powerpoint/2010/main" val="1186077149"/>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4158</Words>
  <Application>Microsoft Macintosh PowerPoint</Application>
  <DocSecurity>0</DocSecurity>
  <PresentationFormat>ワイド画面</PresentationFormat>
  <Paragraphs>706</Paragraphs>
  <Slides>48</Slides>
  <Notes>48</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48</vt:i4>
      </vt:variant>
    </vt:vector>
  </HeadingPairs>
  <TitlesOfParts>
    <vt:vector size="52" baseType="lpstr">
      <vt:lpstr>Yu Gothic UI</vt:lpstr>
      <vt:lpstr>Yu Gothic</vt:lpstr>
      <vt:lpstr>Yu Gothic</vt:lpstr>
      <vt:lpstr>Office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Hironari Yamada</cp:lastModifiedBy>
  <cp:revision>1</cp:revision>
  <dcterms:created xsi:type="dcterms:W3CDTF">2026-05-27T02:09:39Z</dcterms:created>
  <dcterms:modified xsi:type="dcterms:W3CDTF">2026-05-27T02:12:57Z</dcterms:modified>
</cp:coreProperties>
</file>