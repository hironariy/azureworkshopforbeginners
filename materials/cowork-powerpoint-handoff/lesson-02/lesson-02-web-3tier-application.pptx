
<file path=[Content_Types].xml><?xml version="1.0" encoding="utf-8"?>
<Types xmlns="http://schemas.openxmlformats.org/package/2006/content-types">
  <Default Extension="bin"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60" r:id="rId5"/>
    <p:sldId id="261" r:id="rId6"/>
    <p:sldId id="262" r:id="rId7"/>
    <p:sldId id="263" r:id="rId8"/>
    <p:sldId id="267" r:id="rId9"/>
    <p:sldId id="268" r:id="rId10"/>
    <p:sldId id="269" r:id="rId11"/>
    <p:sldId id="264" r:id="rId12"/>
    <p:sldId id="265" r:id="rId13"/>
    <p:sldId id="266"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8"/>
    <p:restoredTop sz="94717"/>
  </p:normalViewPr>
  <p:slideViewPr>
    <p:cSldViewPr snapToGrid="0">
      <p:cViewPr varScale="1">
        <p:scale>
          <a:sx n="130" d="100"/>
          <a:sy n="130" d="100"/>
        </p:scale>
        <p:origin x="4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スライド1「Web 3層アプリケーション」。本文の粒度は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スライド2「役割で Web アプリを見る」。本文の粒度は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スライド3「第3回から第6回で作るもの」。本文の粒度は HTML に合わせる。</a:t>
            </a:r>
          </a:p>
          <a:p>
            <a:r>
              <a:t>講師メモ: 第3回以降のハンズオンとの接続を強調し、個別サービスの詳細説明に入りすぎない。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スライド5「Web アプリケーションの基本」。本文の粒度は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スライド6「1台ですべて動かす構成」。本文の粒度は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スライド7「モノリシック構成の利点と注意点」。本文の粒度は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スライド8「Web 3層アーキテクチャ」。本文の粒度は HTML に合わせる。</a:t>
            </a:r>
          </a:p>
          <a:p>
            <a:r>
              <a:t>つまずき対策: Web 3層は必ず3台という意味ではなく、入口・業務処理・データ管理という役割分担で説明する。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スライド12「Web 層の役割」。本文の粒度は HTML に合わせる。</a:t>
            </a:r>
          </a:p>
          <a:p>
            <a:r>
              <a:t>講師メモ: Web 層は入口と静的配信、AP 層はアプリ固有処理という分担を具体例で確認する。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スライド13「静的コンテンツと動的コンテンツ」。本文の粒度は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スライド14「Web サーバの代表例」。本文の粒度は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スライド9「Web 3層は必ず3台ではない」。本文の粒度は HTML に合わせる。</a:t>
            </a:r>
          </a:p>
          <a:p>
            <a:r>
              <a:t>つまずき対策: Web 3層は必ず3台という意味ではなく、入口・業務処理・データ管理という役割分担で説明する。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スライド10「処理の流れを追う」。本文の粒度は HTML に合わせる。</a:t>
            </a:r>
          </a:p>
          <a:p>
            <a:r>
              <a:t>つまずき対策: Web 3層は必ず3台という意味ではなく、入口・業務処理・データ管理という役割分担で説明する。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スライド11「Web 3層のメリットと注意点」。本文の粒度は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スライド15「第3回で作る Web 層」。本文の粒度は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スライド16「AP 層の役割」。本文の粒度は HTML に合わせる。</a:t>
            </a:r>
          </a:p>
          <a:p>
            <a:r>
              <a:t>講師メモ: Web 層は入口と静的配信、AP 層はアプリ固有処理という分担を具体例で確認する。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スライド17「AP サーバの代表例」。本文の粒度は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スライド18「Web 層と AP 層の関係」。本文の粒度は HTML に合わせる。</a:t>
            </a:r>
          </a:p>
          <a:p>
            <a:r>
              <a:t>講師メモ: Web 層は入口と静的配信、AP 層はアプリ固有処理という分担を具体例で確認する。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スライド19「DB 層の役割」。本文の粒度は HTML に合わせる。</a:t>
            </a:r>
          </a:p>
          <a:p>
            <a:r>
              <a:t>講師メモ: DB 層は単なるファイル置き場ではなく、検索・更新・整合性・同時アクセスを扱うデータ管理場所として説明する。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スライド20「DB サーバの代表例」。本文の粒度は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スライド21「AP 層と DB 層の関係」。本文の粒度は HTML に合わせる。</a:t>
            </a:r>
          </a:p>
          <a:p>
            <a:r>
              <a:t>講師メモ: DB 層は単なるファイル置き場ではなく、検索・更新・整合性・同時アクセスを扱うデータ管理場所として説明する。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スライド22「第5回から第6回で作る DB 層」。本文の粒度は HTML に合わせる。</a:t>
            </a:r>
          </a:p>
          <a:p>
            <a:r>
              <a:t>講師メモ: DB 層は単なるファイル置き場ではなく、検索・更新・整合性・同時アクセスを扱うデータ管理場所として説明する。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スライド23「Azure IaaS で構成する Web 3層」。本文の粒度は HTML に合わせる。</a:t>
            </a:r>
          </a:p>
          <a:p>
            <a:r>
              <a:t>講師メモ: VM、コンテナ、Container Apps の違いに話を広げすぎず、Web 3層の見方に戻す。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スライド24「VM 構成で自分が管理する範囲」。本文の粒度は HTML に合わせる。</a:t>
            </a:r>
          </a:p>
          <a:p>
            <a:r>
              <a:t>講師メモ: VM、コンテナ、Container Apps の違いに話を広げすぎず、Web 3層の見方に戻す。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スライド25「第3回のハンズオンとの接続」。本文の粒度は HTML に合わせる。</a:t>
            </a:r>
          </a:p>
          <a:p>
            <a:r>
              <a:t>講師メモ: 第3回以降のハンズオンとの接続を強調し、個別サービスの詳細説明に入りすぎない。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スライド26「Container Apps で構成する Web 3層」。本文の粒度は HTML に合わせる。</a:t>
            </a:r>
          </a:p>
          <a:p>
            <a:r>
              <a:t>講師メモ: VM、コンテナ、Container Apps の違いに話を広げすぎず、Web 3層の見方に戻す。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スライド27「第4回から第6回のつながり」。本文の粒度は HTML に合わせる。</a:t>
            </a:r>
          </a:p>
          <a:p>
            <a:r>
              <a:t>講師メモ: 第3回以降のハンズオンとの接続を強調し、個別サービスの詳細説明に入りすぎない。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スライド28「SPA という別の見方」。本文の粒度は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スライド29「Static Web Apps で扱うこと」。本文の粒度は HTML に合わせる。</a:t>
            </a:r>
          </a:p>
          <a:p>
            <a:r>
              <a:t>講師メモ: 第3回以降のハンズオンとの接続を強調し、個別サービスの詳細説明に入りすぎない。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スライド30「RDBMS と NoSQL」。本文の粒度は HTML に合わせる。</a:t>
            </a:r>
          </a:p>
          <a:p>
            <a:r>
              <a:t>講師メモ: DB 層は単なるファイル置き場ではなく、検索・更新・整合性・同時アクセスを扱うデータ管理場所として説明する。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スライド31「今日のまとめ」。本文の粒度は HTML に合わせる。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HTML一次情報: スライド32「自分の言葉で説明する」。本文の粒度は HTML に合わせる。</a:t>
            </a:r>
          </a:p>
          <a:p>
            <a:r>
              <a:t>確認クイズ: 正解を示すだけでなく、受講者が自分の言葉で理由を説明できるか確認する。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bin"/><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bin"/><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bin"/><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bin"/><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bin"/><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bin"/><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bin"/><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bin"/><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bin"/><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bin"/><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bin"/><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3B5D9F8-7E50-447B-A7E7-7447643F1E8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2A1F2C2E-9DD4-48CB-AF19-04CD27EE643E}"/>
              </a:ext>
            </a:extLst>
          </p:cNvPr>
          <p:cNvSpPr>
            <a:spLocks noGrp="1"/>
          </p:cNvSpPr>
          <p:nvPr/>
        </p:nvSpPr>
        <p:spPr>
          <a:xfrm>
            <a:off x="0" y="0"/>
            <a:ext cx="457200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04D6ACAB-24EE-4AF5-A2A1-25BFE13A25A6}"/>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4504188A-9971-44E5-BA1D-B790DF802CCB}"/>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3696C8A9-43F9-436E-A55F-B0F4F92D5D51}"/>
              </a:ext>
            </a:extLst>
          </p:cNvPr>
          <p:cNvSpPr>
            <a:spLocks noGrp="1"/>
          </p:cNvSpPr>
          <p:nvPr/>
        </p:nvSpPr>
        <p:spPr>
          <a:xfrm>
            <a:off x="5334000" y="1390650"/>
            <a:ext cx="561975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F2937"/>
                </a:solidFill>
                <a:latin typeface="Meiryo UI"/>
                <a:ea typeface="Meiryo UI"/>
                <a:cs typeface="Meiryo UI"/>
              </a:defRPr>
            </a:pPr>
            <a:r>
              <a:rPr sz="2850" b="1">
                <a:solidFill>
                  <a:srgbClr val="1F2937"/>
                </a:solidFill>
                <a:latin typeface="Meiryo UI"/>
                <a:ea typeface="Meiryo UI"/>
                <a:cs typeface="Meiryo UI"/>
              </a:rPr>
              <a:t>Web 3層アプリケーション</a:t>
            </a:r>
          </a:p>
        </p:txBody>
      </p:sp>
      <p:sp>
        <p:nvSpPr>
          <p:cNvPr id="6" name="正方形/長方形 5">
            <a:extLst>
              <a:ext uri="{FF2B5EF4-FFF2-40B4-BE49-F238E27FC236}">
                <a16:creationId xmlns:a16="http://schemas.microsoft.com/office/drawing/2014/main" id="{72D844B2-4521-45BE-B18A-154691DF2B10}"/>
              </a:ext>
            </a:extLst>
          </p:cNvPr>
          <p:cNvSpPr>
            <a:spLocks noGrp="1"/>
          </p:cNvSpPr>
          <p:nvPr/>
        </p:nvSpPr>
        <p:spPr>
          <a:xfrm>
            <a:off x="5353050" y="2362200"/>
            <a:ext cx="548640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344054"/>
                </a:solidFill>
                <a:latin typeface="Yu Gothic UI"/>
                <a:ea typeface="Yu Gothic UI"/>
                <a:cs typeface="Yu Gothic UI"/>
              </a:defRPr>
            </a:pPr>
            <a:r>
              <a:rPr sz="1275" b="0">
                <a:solidFill>
                  <a:srgbClr val="344054"/>
                </a:solidFill>
                <a:latin typeface="Yu Gothic UI"/>
                <a:ea typeface="Yu Gothic UI"/>
                <a:cs typeface="Yu Gothic UI"/>
              </a:rPr>
              <a:t>この回では、第3回以降の Azure ハンズオンで登場する VM、コンテナ、DB などを「Web 3層のどの役割か」という共通の見方で整理します。</a:t>
            </a:r>
          </a:p>
        </p:txBody>
      </p:sp>
      <p:sp>
        <p:nvSpPr>
          <p:cNvPr id="7" name="正方形/長方形 6">
            <a:extLst>
              <a:ext uri="{FF2B5EF4-FFF2-40B4-BE49-F238E27FC236}">
                <a16:creationId xmlns:a16="http://schemas.microsoft.com/office/drawing/2014/main" id="{F7F50C1B-EDAB-48ED-B9B7-A12696548BD8}"/>
              </a:ext>
            </a:extLst>
          </p:cNvPr>
          <p:cNvSpPr>
            <a:spLocks noGrp="1"/>
          </p:cNvSpPr>
          <p:nvPr/>
        </p:nvSpPr>
        <p:spPr>
          <a:xfrm>
            <a:off x="5353050" y="3790950"/>
            <a:ext cx="1314450" cy="285750"/>
          </a:xfrm>
          <a:prstGeom prst="rect">
            <a:avLst/>
          </a:prstGeom>
          <a:solidFill>
            <a:srgbClr val="4472C4"/>
          </a:solidFill>
          <a:ln w="0">
            <a:solidFill>
              <a:srgbClr val="4472C4"/>
            </a:solidFill>
            <a:prstDash val="solid"/>
          </a:ln>
        </p:spPr>
        <p:txBody>
          <a:bodyPr lIns="95250" tIns="38100" rIns="95250" bIns="38100" anchor="ctr"/>
          <a:lstStyle/>
          <a:p>
            <a:pPr algn="ctr">
              <a:defRPr sz="825" b="1">
                <a:solidFill>
                  <a:srgbClr val="FFFFFF"/>
                </a:solidFill>
                <a:latin typeface="Yu Gothic UI"/>
                <a:ea typeface="Yu Gothic UI"/>
                <a:cs typeface="Yu Gothic UI"/>
              </a:defRPr>
            </a:pPr>
            <a:r>
              <a:rPr sz="825" b="1">
                <a:solidFill>
                  <a:srgbClr val="FFFFFF"/>
                </a:solidFill>
                <a:latin typeface="Yu Gothic UI"/>
                <a:ea typeface="Yu Gothic UI"/>
                <a:cs typeface="Yu Gothic UI"/>
              </a:rPr>
              <a:t>オンライン座学</a:t>
            </a:r>
          </a:p>
        </p:txBody>
      </p:sp>
      <p:sp>
        <p:nvSpPr>
          <p:cNvPr id="8" name="正方形/長方形 7">
            <a:extLst>
              <a:ext uri="{FF2B5EF4-FFF2-40B4-BE49-F238E27FC236}">
                <a16:creationId xmlns:a16="http://schemas.microsoft.com/office/drawing/2014/main" id="{C99C5641-A597-4E51-B5BA-B618B812D062}"/>
              </a:ext>
            </a:extLst>
          </p:cNvPr>
          <p:cNvSpPr>
            <a:spLocks noGrp="1"/>
          </p:cNvSpPr>
          <p:nvPr/>
        </p:nvSpPr>
        <p:spPr>
          <a:xfrm>
            <a:off x="6800850" y="3790950"/>
            <a:ext cx="2095500" cy="285750"/>
          </a:xfrm>
          <a:prstGeom prst="rect">
            <a:avLst/>
          </a:prstGeom>
          <a:solidFill>
            <a:srgbClr val="70AD47"/>
          </a:solidFill>
          <a:ln w="0">
            <a:solidFill>
              <a:srgbClr val="70AD47"/>
            </a:solidFill>
            <a:prstDash val="solid"/>
          </a:ln>
        </p:spPr>
        <p:txBody>
          <a:bodyPr lIns="95250" tIns="38100" rIns="95250" bIns="38100" anchor="ctr"/>
          <a:lstStyle/>
          <a:p>
            <a:pPr algn="ctr">
              <a:defRPr sz="825" b="1">
                <a:solidFill>
                  <a:srgbClr val="FFFFFF"/>
                </a:solidFill>
                <a:latin typeface="Yu Gothic UI"/>
                <a:ea typeface="Yu Gothic UI"/>
                <a:cs typeface="Yu Gothic UI"/>
              </a:defRPr>
            </a:pPr>
            <a:r>
              <a:rPr sz="825" b="1">
                <a:solidFill>
                  <a:srgbClr val="FFFFFF"/>
                </a:solidFill>
                <a:latin typeface="Yu Gothic UI"/>
                <a:ea typeface="Yu Gothic UI"/>
                <a:cs typeface="Yu Gothic UI"/>
              </a:rPr>
              <a:t>50分レクチャー + 10分 QA</a:t>
            </a:r>
          </a:p>
        </p:txBody>
      </p:sp>
      <p:sp>
        <p:nvSpPr>
          <p:cNvPr id="9" name="正方形/長方形 8">
            <a:extLst>
              <a:ext uri="{FF2B5EF4-FFF2-40B4-BE49-F238E27FC236}">
                <a16:creationId xmlns:a16="http://schemas.microsoft.com/office/drawing/2014/main" id="{6FF397E1-9C03-4152-9C12-F5A0B1141CA5}"/>
              </a:ext>
            </a:extLst>
          </p:cNvPr>
          <p:cNvSpPr>
            <a:spLocks noGrp="1"/>
          </p:cNvSpPr>
          <p:nvPr/>
        </p:nvSpPr>
        <p:spPr>
          <a:xfrm>
            <a:off x="9029700" y="3790950"/>
            <a:ext cx="1447800" cy="285750"/>
          </a:xfrm>
          <a:prstGeom prst="rect">
            <a:avLst/>
          </a:prstGeom>
          <a:solidFill>
            <a:srgbClr val="ED7D31"/>
          </a:solidFill>
          <a:ln w="0">
            <a:solidFill>
              <a:srgbClr val="ED7D31"/>
            </a:solidFill>
            <a:prstDash val="solid"/>
          </a:ln>
        </p:spPr>
        <p:txBody>
          <a:bodyPr lIns="95250" tIns="38100" rIns="95250" bIns="38100" anchor="ctr"/>
          <a:lstStyle/>
          <a:p>
            <a:pPr algn="ctr">
              <a:defRPr sz="825" b="1">
                <a:solidFill>
                  <a:srgbClr val="FFFFFF"/>
                </a:solidFill>
                <a:latin typeface="Yu Gothic UI"/>
                <a:ea typeface="Yu Gothic UI"/>
                <a:cs typeface="Yu Gothic UI"/>
              </a:defRPr>
            </a:pPr>
            <a:r>
              <a:rPr sz="825" b="1">
                <a:solidFill>
                  <a:srgbClr val="FFFFFF"/>
                </a:solidFill>
                <a:latin typeface="Yu Gothic UI"/>
                <a:ea typeface="Yu Gothic UI"/>
                <a:cs typeface="Yu Gothic UI"/>
              </a:rPr>
              <a:t>2026年6月25日</a:t>
            </a:r>
          </a:p>
        </p:txBody>
      </p:sp>
      <p:sp>
        <p:nvSpPr>
          <p:cNvPr id="10" name="正方形/長方形 9">
            <a:extLst>
              <a:ext uri="{FF2B5EF4-FFF2-40B4-BE49-F238E27FC236}">
                <a16:creationId xmlns:a16="http://schemas.microsoft.com/office/drawing/2014/main" id="{3C4B7C54-1C7A-4240-BF41-8A4BBF09A04A}"/>
              </a:ext>
            </a:extLst>
          </p:cNvPr>
          <p:cNvSpPr>
            <a:spLocks noGrp="1"/>
          </p:cNvSpPr>
          <p:nvPr/>
        </p:nvSpPr>
        <p:spPr>
          <a:xfrm>
            <a:off x="742950" y="5334000"/>
            <a:ext cx="1143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244A8F"/>
                </a:solidFill>
                <a:latin typeface="Yu Gothic UI"/>
                <a:ea typeface="Yu Gothic UI"/>
                <a:cs typeface="Yu Gothic UI"/>
              </a:defRPr>
            </a:pPr>
            <a:r>
              <a:rPr sz="1425" b="1">
                <a:solidFill>
                  <a:srgbClr val="244A8F"/>
                </a:solidFill>
                <a:latin typeface="Yu Gothic UI"/>
                <a:ea typeface="Yu Gothic UI"/>
                <a:cs typeface="Yu Gothic UI"/>
              </a:rPr>
              <a:t>第2回</a:t>
            </a:r>
          </a:p>
        </p:txBody>
      </p:sp>
      <p:sp>
        <p:nvSpPr>
          <p:cNvPr id="11" name="正方形/長方形 10">
            <a:extLst>
              <a:ext uri="{FF2B5EF4-FFF2-40B4-BE49-F238E27FC236}">
                <a16:creationId xmlns:a16="http://schemas.microsoft.com/office/drawing/2014/main" id="{2FA1ABE3-B242-43DF-8629-35F4A738C022}"/>
              </a:ext>
            </a:extLst>
          </p:cNvPr>
          <p:cNvSpPr>
            <a:spLocks noGrp="1"/>
          </p:cNvSpPr>
          <p:nvPr/>
        </p:nvSpPr>
        <p:spPr>
          <a:xfrm>
            <a:off x="742950" y="5695950"/>
            <a:ext cx="3238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344054"/>
                </a:solidFill>
                <a:latin typeface="Yu Gothic UI"/>
                <a:ea typeface="Yu Gothic UI"/>
                <a:cs typeface="Yu Gothic UI"/>
              </a:defRPr>
            </a:pPr>
            <a:r>
              <a:rPr sz="1013" b="0">
                <a:solidFill>
                  <a:srgbClr val="344054"/>
                </a:solidFill>
                <a:latin typeface="Yu Gothic UI"/>
                <a:ea typeface="Yu Gothic UI"/>
                <a:cs typeface="Yu Gothic UI"/>
              </a:rPr>
              <a:t>Web / AP / DB の役割から、以降の Azure ハンズオンを見通します。</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05BFE6C4-C646-485C-AE29-4854F5CCD563}"/>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役割で Web アプリを見る</a:t>
            </a:r>
          </a:p>
        </p:txBody>
      </p:sp>
      <p:sp>
        <p:nvSpPr>
          <p:cNvPr id="2" name="正方形/長方形 1">
            <a:extLst>
              <a:ext uri="{FF2B5EF4-FFF2-40B4-BE49-F238E27FC236}">
                <a16:creationId xmlns:a16="http://schemas.microsoft.com/office/drawing/2014/main" id="{0A2F4FAF-9116-49C2-87BF-05567F4750F1}"/>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F230801B-EEDA-478A-8FEA-190200DC5B35}"/>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02</a:t>
            </a:r>
          </a:p>
        </p:txBody>
      </p:sp>
      <p:sp>
        <p:nvSpPr>
          <p:cNvPr id="4" name="正方形/長方形 3">
            <a:extLst>
              <a:ext uri="{FF2B5EF4-FFF2-40B4-BE49-F238E27FC236}">
                <a16:creationId xmlns:a16="http://schemas.microsoft.com/office/drawing/2014/main" id="{F2365230-B699-40AF-88C6-A92CF9565E5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74FB75F-03B4-4C9E-8785-D907DFF9DA28}"/>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今日は個別サービス名を暗記するより、Web/AP/DB の責務、処理の流れ、以降の演習で作る範囲を説明できる状態を目指します。</a:t>
            </a:r>
          </a:p>
        </p:txBody>
      </p:sp>
      <p:sp>
        <p:nvSpPr>
          <p:cNvPr id="6" name="正方形/長方形 5">
            <a:extLst>
              <a:ext uri="{FF2B5EF4-FFF2-40B4-BE49-F238E27FC236}">
                <a16:creationId xmlns:a16="http://schemas.microsoft.com/office/drawing/2014/main" id="{971090C7-ADBB-4084-87ED-A06F342E8D23}"/>
              </a:ext>
            </a:extLst>
          </p:cNvPr>
          <p:cNvSpPr>
            <a:spLocks noGrp="1"/>
          </p:cNvSpPr>
          <p:nvPr/>
        </p:nvSpPr>
        <p:spPr>
          <a:xfrm>
            <a:off x="8953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EDB7659C-F336-45D1-84E0-3AACDDFFD28A}"/>
              </a:ext>
            </a:extLst>
          </p:cNvPr>
          <p:cNvSpPr>
            <a:spLocks noGrp="1"/>
          </p:cNvSpPr>
          <p:nvPr/>
        </p:nvSpPr>
        <p:spPr>
          <a:xfrm>
            <a:off x="895350" y="2114550"/>
            <a:ext cx="76200" cy="129540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F0DF8734-02F4-4C42-8063-32D046D13CA6}"/>
              </a:ext>
            </a:extLst>
          </p:cNvPr>
          <p:cNvSpPr>
            <a:spLocks noGrp="1"/>
          </p:cNvSpPr>
          <p:nvPr/>
        </p:nvSpPr>
        <p:spPr>
          <a:xfrm>
            <a:off x="1123950" y="22860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F766E"/>
                </a:solidFill>
                <a:latin typeface="Yu Gothic UI"/>
                <a:ea typeface="Yu Gothic UI"/>
                <a:cs typeface="Yu Gothic UI"/>
              </a:defRPr>
            </a:pPr>
            <a:r>
              <a:rPr sz="750" b="1">
                <a:solidFill>
                  <a:srgbClr val="0F766E"/>
                </a:solidFill>
                <a:latin typeface="Yu Gothic UI"/>
                <a:ea typeface="Yu Gothic UI"/>
                <a:cs typeface="Yu Gothic UI"/>
              </a:rPr>
              <a:t>Goal 1</a:t>
            </a:r>
          </a:p>
        </p:txBody>
      </p:sp>
      <p:sp>
        <p:nvSpPr>
          <p:cNvPr id="9" name="正方形/長方形 8">
            <a:extLst>
              <a:ext uri="{FF2B5EF4-FFF2-40B4-BE49-F238E27FC236}">
                <a16:creationId xmlns:a16="http://schemas.microsoft.com/office/drawing/2014/main" id="{1F80FC5D-3945-49AF-9D38-FBB5A9A6A2D0}"/>
              </a:ext>
            </a:extLst>
          </p:cNvPr>
          <p:cNvSpPr>
            <a:spLocks noGrp="1"/>
          </p:cNvSpPr>
          <p:nvPr/>
        </p:nvSpPr>
        <p:spPr>
          <a:xfrm>
            <a:off x="1123950" y="25336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処理の流れ</a:t>
            </a:r>
          </a:p>
        </p:txBody>
      </p:sp>
      <p:sp>
        <p:nvSpPr>
          <p:cNvPr id="10" name="正方形/長方形 9">
            <a:extLst>
              <a:ext uri="{FF2B5EF4-FFF2-40B4-BE49-F238E27FC236}">
                <a16:creationId xmlns:a16="http://schemas.microsoft.com/office/drawing/2014/main" id="{5003CA56-A3A5-49D3-8D53-5A862528EE3E}"/>
              </a:ext>
            </a:extLst>
          </p:cNvPr>
          <p:cNvSpPr>
            <a:spLocks noGrp="1"/>
          </p:cNvSpPr>
          <p:nvPr/>
        </p:nvSpPr>
        <p:spPr>
          <a:xfrm>
            <a:off x="1123950" y="29527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ブラウザー、Web サーバ、アプリケーション、データベースの連携を追える。</a:t>
            </a:r>
          </a:p>
        </p:txBody>
      </p:sp>
      <p:sp>
        <p:nvSpPr>
          <p:cNvPr id="11" name="正方形/長方形 10">
            <a:extLst>
              <a:ext uri="{FF2B5EF4-FFF2-40B4-BE49-F238E27FC236}">
                <a16:creationId xmlns:a16="http://schemas.microsoft.com/office/drawing/2014/main" id="{0BFC061B-6925-4DCB-AB05-083135A9CD0C}"/>
              </a:ext>
            </a:extLst>
          </p:cNvPr>
          <p:cNvSpPr>
            <a:spLocks noGrp="1"/>
          </p:cNvSpPr>
          <p:nvPr/>
        </p:nvSpPr>
        <p:spPr>
          <a:xfrm>
            <a:off x="61150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3E7D151F-C3A0-4066-B0C7-E07A36512E26}"/>
              </a:ext>
            </a:extLst>
          </p:cNvPr>
          <p:cNvSpPr>
            <a:spLocks noGrp="1"/>
          </p:cNvSpPr>
          <p:nvPr/>
        </p:nvSpPr>
        <p:spPr>
          <a:xfrm>
            <a:off x="6115050" y="2114550"/>
            <a:ext cx="76200" cy="129540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2F8A42DC-D791-4BCC-B124-EF876B6E9B8C}"/>
              </a:ext>
            </a:extLst>
          </p:cNvPr>
          <p:cNvSpPr>
            <a:spLocks noGrp="1"/>
          </p:cNvSpPr>
          <p:nvPr/>
        </p:nvSpPr>
        <p:spPr>
          <a:xfrm>
            <a:off x="6343650" y="22860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70AD47"/>
                </a:solidFill>
                <a:latin typeface="Yu Gothic UI"/>
                <a:ea typeface="Yu Gothic UI"/>
                <a:cs typeface="Yu Gothic UI"/>
              </a:defRPr>
            </a:pPr>
            <a:r>
              <a:rPr sz="750" b="1">
                <a:solidFill>
                  <a:srgbClr val="70AD47"/>
                </a:solidFill>
                <a:latin typeface="Yu Gothic UI"/>
                <a:ea typeface="Yu Gothic UI"/>
                <a:cs typeface="Yu Gothic UI"/>
              </a:rPr>
              <a:t>Goal 2</a:t>
            </a:r>
          </a:p>
        </p:txBody>
      </p:sp>
      <p:sp>
        <p:nvSpPr>
          <p:cNvPr id="14" name="正方形/長方形 13">
            <a:extLst>
              <a:ext uri="{FF2B5EF4-FFF2-40B4-BE49-F238E27FC236}">
                <a16:creationId xmlns:a16="http://schemas.microsoft.com/office/drawing/2014/main" id="{56A5E565-BFC1-41F8-9DD6-48C0B7513758}"/>
              </a:ext>
            </a:extLst>
          </p:cNvPr>
          <p:cNvSpPr>
            <a:spLocks noGrp="1"/>
          </p:cNvSpPr>
          <p:nvPr/>
        </p:nvSpPr>
        <p:spPr>
          <a:xfrm>
            <a:off x="6343650" y="25336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3つの層</a:t>
            </a:r>
          </a:p>
        </p:txBody>
      </p:sp>
      <p:sp>
        <p:nvSpPr>
          <p:cNvPr id="15" name="正方形/長方形 14">
            <a:extLst>
              <a:ext uri="{FF2B5EF4-FFF2-40B4-BE49-F238E27FC236}">
                <a16:creationId xmlns:a16="http://schemas.microsoft.com/office/drawing/2014/main" id="{028D42EA-961C-4DBC-B7AE-3714570DC4D4}"/>
              </a:ext>
            </a:extLst>
          </p:cNvPr>
          <p:cNvSpPr>
            <a:spLocks noGrp="1"/>
          </p:cNvSpPr>
          <p:nvPr/>
        </p:nvSpPr>
        <p:spPr>
          <a:xfrm>
            <a:off x="6343650" y="29527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Web 層、AP 層、DB 層がそれぞれ何を担当するか説明できる。</a:t>
            </a:r>
          </a:p>
        </p:txBody>
      </p:sp>
      <p:sp>
        <p:nvSpPr>
          <p:cNvPr id="16" name="正方形/長方形 15">
            <a:extLst>
              <a:ext uri="{FF2B5EF4-FFF2-40B4-BE49-F238E27FC236}">
                <a16:creationId xmlns:a16="http://schemas.microsoft.com/office/drawing/2014/main" id="{9272A7F0-6F81-4E85-8DE0-3BE36753F8A9}"/>
              </a:ext>
            </a:extLst>
          </p:cNvPr>
          <p:cNvSpPr>
            <a:spLocks noGrp="1"/>
          </p:cNvSpPr>
          <p:nvPr/>
        </p:nvSpPr>
        <p:spPr>
          <a:xfrm>
            <a:off x="8953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2BC15C13-8703-412F-93CD-EEAA974306B3}"/>
              </a:ext>
            </a:extLst>
          </p:cNvPr>
          <p:cNvSpPr>
            <a:spLocks noGrp="1"/>
          </p:cNvSpPr>
          <p:nvPr/>
        </p:nvSpPr>
        <p:spPr>
          <a:xfrm>
            <a:off x="895350" y="3714750"/>
            <a:ext cx="76200" cy="129540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CC748431-A169-4A57-BFE5-1D02BF06C6E8}"/>
              </a:ext>
            </a:extLst>
          </p:cNvPr>
          <p:cNvSpPr>
            <a:spLocks noGrp="1"/>
          </p:cNvSpPr>
          <p:nvPr/>
        </p:nvSpPr>
        <p:spPr>
          <a:xfrm>
            <a:off x="1123950" y="38862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D7D31"/>
                </a:solidFill>
                <a:latin typeface="Yu Gothic UI"/>
                <a:ea typeface="Yu Gothic UI"/>
                <a:cs typeface="Yu Gothic UI"/>
              </a:defRPr>
            </a:pPr>
            <a:r>
              <a:rPr sz="750" b="1">
                <a:solidFill>
                  <a:srgbClr val="ED7D31"/>
                </a:solidFill>
                <a:latin typeface="Yu Gothic UI"/>
                <a:ea typeface="Yu Gothic UI"/>
                <a:cs typeface="Yu Gothic UI"/>
              </a:rPr>
              <a:t>Goal 3</a:t>
            </a:r>
          </a:p>
        </p:txBody>
      </p:sp>
      <p:sp>
        <p:nvSpPr>
          <p:cNvPr id="19" name="正方形/長方形 18">
            <a:extLst>
              <a:ext uri="{FF2B5EF4-FFF2-40B4-BE49-F238E27FC236}">
                <a16:creationId xmlns:a16="http://schemas.microsoft.com/office/drawing/2014/main" id="{9CC067A8-D213-4D94-B56E-BA757C01FD35}"/>
              </a:ext>
            </a:extLst>
          </p:cNvPr>
          <p:cNvSpPr>
            <a:spLocks noGrp="1"/>
          </p:cNvSpPr>
          <p:nvPr/>
        </p:nvSpPr>
        <p:spPr>
          <a:xfrm>
            <a:off x="1123950" y="41338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構成の違い</a:t>
            </a:r>
          </a:p>
        </p:txBody>
      </p:sp>
      <p:sp>
        <p:nvSpPr>
          <p:cNvPr id="20" name="正方形/長方形 19">
            <a:extLst>
              <a:ext uri="{FF2B5EF4-FFF2-40B4-BE49-F238E27FC236}">
                <a16:creationId xmlns:a16="http://schemas.microsoft.com/office/drawing/2014/main" id="{B9B146F5-2F56-40FC-A756-0AFAA6DEFC1F}"/>
              </a:ext>
            </a:extLst>
          </p:cNvPr>
          <p:cNvSpPr>
            <a:spLocks noGrp="1"/>
          </p:cNvSpPr>
          <p:nvPr/>
        </p:nvSpPr>
        <p:spPr>
          <a:xfrm>
            <a:off x="1123950" y="45529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モノリシック構成と Web 3層構成の違いを説明できる。</a:t>
            </a:r>
          </a:p>
        </p:txBody>
      </p:sp>
      <p:sp>
        <p:nvSpPr>
          <p:cNvPr id="21" name="正方形/長方形 20">
            <a:extLst>
              <a:ext uri="{FF2B5EF4-FFF2-40B4-BE49-F238E27FC236}">
                <a16:creationId xmlns:a16="http://schemas.microsoft.com/office/drawing/2014/main" id="{BF6E2B1E-852B-4DF1-B40E-9838B169E141}"/>
              </a:ext>
            </a:extLst>
          </p:cNvPr>
          <p:cNvSpPr>
            <a:spLocks noGrp="1"/>
          </p:cNvSpPr>
          <p:nvPr/>
        </p:nvSpPr>
        <p:spPr>
          <a:xfrm>
            <a:off x="6115050" y="37147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C9A796FF-C79D-4AEB-984A-EFE0A4825242}"/>
              </a:ext>
            </a:extLst>
          </p:cNvPr>
          <p:cNvSpPr>
            <a:spLocks noGrp="1"/>
          </p:cNvSpPr>
          <p:nvPr/>
        </p:nvSpPr>
        <p:spPr>
          <a:xfrm>
            <a:off x="6115050" y="3714750"/>
            <a:ext cx="76200" cy="1295400"/>
          </a:xfrm>
          <a:prstGeom prst="rect">
            <a:avLst/>
          </a:prstGeom>
          <a:solidFill>
            <a:srgbClr val="A23B72"/>
          </a:solidFill>
          <a:ln w="0">
            <a:solidFill>
              <a:srgbClr val="A23B72"/>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F75842D9-D5DC-4AEA-AF47-E208ED8EF26F}"/>
              </a:ext>
            </a:extLst>
          </p:cNvPr>
          <p:cNvSpPr>
            <a:spLocks noGrp="1"/>
          </p:cNvSpPr>
          <p:nvPr/>
        </p:nvSpPr>
        <p:spPr>
          <a:xfrm>
            <a:off x="6343650" y="38862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A23B72"/>
                </a:solidFill>
                <a:latin typeface="Yu Gothic UI"/>
                <a:ea typeface="Yu Gothic UI"/>
                <a:cs typeface="Yu Gothic UI"/>
              </a:defRPr>
            </a:pPr>
            <a:r>
              <a:rPr sz="750" b="1">
                <a:solidFill>
                  <a:srgbClr val="A23B72"/>
                </a:solidFill>
                <a:latin typeface="Yu Gothic UI"/>
                <a:ea typeface="Yu Gothic UI"/>
                <a:cs typeface="Yu Gothic UI"/>
              </a:rPr>
              <a:t>Goal 4</a:t>
            </a:r>
          </a:p>
        </p:txBody>
      </p:sp>
      <p:sp>
        <p:nvSpPr>
          <p:cNvPr id="24" name="正方形/長方形 23">
            <a:extLst>
              <a:ext uri="{FF2B5EF4-FFF2-40B4-BE49-F238E27FC236}">
                <a16:creationId xmlns:a16="http://schemas.microsoft.com/office/drawing/2014/main" id="{12B49676-D87C-40F2-85EC-E378118744C4}"/>
              </a:ext>
            </a:extLst>
          </p:cNvPr>
          <p:cNvSpPr>
            <a:spLocks noGrp="1"/>
          </p:cNvSpPr>
          <p:nvPr/>
        </p:nvSpPr>
        <p:spPr>
          <a:xfrm>
            <a:off x="6343650" y="41338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sz="1350" b="1">
                <a:solidFill>
                  <a:srgbClr val="1F2937"/>
                </a:solidFill>
                <a:latin typeface="Meiryo UI"/>
                <a:ea typeface="Meiryo UI"/>
                <a:cs typeface="Meiryo UI"/>
              </a:rPr>
              <a:t>次回への接続</a:t>
            </a:r>
          </a:p>
        </p:txBody>
      </p:sp>
      <p:sp>
        <p:nvSpPr>
          <p:cNvPr id="25" name="正方形/長方形 24">
            <a:extLst>
              <a:ext uri="{FF2B5EF4-FFF2-40B4-BE49-F238E27FC236}">
                <a16:creationId xmlns:a16="http://schemas.microsoft.com/office/drawing/2014/main" id="{5CFE4C44-9472-4B67-A7B0-83993B019839}"/>
              </a:ext>
            </a:extLst>
          </p:cNvPr>
          <p:cNvSpPr>
            <a:spLocks noGrp="1"/>
          </p:cNvSpPr>
          <p:nvPr/>
        </p:nvSpPr>
        <p:spPr>
          <a:xfrm>
            <a:off x="6343650" y="45529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第3回から第6回で作るものを、3層の観点で見通せる。</a:t>
            </a:r>
          </a:p>
        </p:txBody>
      </p:sp>
      <p:sp>
        <p:nvSpPr>
          <p:cNvPr id="26" name="正方形/長方形 25">
            <a:extLst>
              <a:ext uri="{FF2B5EF4-FFF2-40B4-BE49-F238E27FC236}">
                <a16:creationId xmlns:a16="http://schemas.microsoft.com/office/drawing/2014/main" id="{615027A9-30DB-4B26-B8AA-5E0400F492D6}"/>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 / 32</a:t>
            </a:r>
          </a:p>
        </p:txBody>
      </p:sp>
    </p:spTree>
    <p:extLst>
      <p:ext uri="{BB962C8B-B14F-4D97-AF65-F5344CB8AC3E}">
        <p14:creationId xmlns:p14="http://schemas.microsoft.com/office/powerpoint/2010/main" val="118607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B77DAF5D-BAE6-4D01-AF85-C0EDA161049C}"/>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第3回から第6回で作るもの</a:t>
            </a:r>
          </a:p>
        </p:txBody>
      </p:sp>
      <p:sp>
        <p:nvSpPr>
          <p:cNvPr id="2" name="正方形/長方形 1">
            <a:extLst>
              <a:ext uri="{FF2B5EF4-FFF2-40B4-BE49-F238E27FC236}">
                <a16:creationId xmlns:a16="http://schemas.microsoft.com/office/drawing/2014/main" id="{96C5EA6B-A0C2-41C3-85FB-C913FF2ECC4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BA5E3CF5-220E-488F-B549-C15AB5CE5F87}"/>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03</a:t>
            </a:r>
          </a:p>
        </p:txBody>
      </p:sp>
      <p:sp>
        <p:nvSpPr>
          <p:cNvPr id="4" name="正方形/長方形 3">
            <a:extLst>
              <a:ext uri="{FF2B5EF4-FFF2-40B4-BE49-F238E27FC236}">
                <a16:creationId xmlns:a16="http://schemas.microsoft.com/office/drawing/2014/main" id="{9F71D63E-7F08-4CEC-A3B5-B1FA8320F43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1B189A8-B173-4C30-B9D8-9368A7D5C33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これからのハンズオンは、VM 上の NGINX から始め、コンテナ、Container Apps、PostgreSQL を組み合わせる Todo アプリへ段階的に広げます。</a:t>
            </a:r>
          </a:p>
        </p:txBody>
      </p:sp>
      <p:sp>
        <p:nvSpPr>
          <p:cNvPr id="6" name="正方形/長方形 5">
            <a:extLst>
              <a:ext uri="{FF2B5EF4-FFF2-40B4-BE49-F238E27FC236}">
                <a16:creationId xmlns:a16="http://schemas.microsoft.com/office/drawing/2014/main" id="{A8692253-5584-434E-A9A4-5B7838E1BCF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0E8B6D70-2370-40A2-9234-03FD3F8F02F6}"/>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 / 32</a:t>
            </a:r>
          </a:p>
        </p:txBody>
      </p:sp>
      <p:sp>
        <p:nvSpPr>
          <p:cNvPr id="10" name="角丸四角形 9">
            <a:extLst>
              <a:ext uri="{FF2B5EF4-FFF2-40B4-BE49-F238E27FC236}">
                <a16:creationId xmlns:a16="http://schemas.microsoft.com/office/drawing/2014/main" id="{92CEE741-7193-AAF8-69F8-7A5071BF91B9}"/>
              </a:ext>
            </a:extLst>
          </p:cNvPr>
          <p:cNvSpPr/>
          <p:nvPr/>
        </p:nvSpPr>
        <p:spPr>
          <a:xfrm>
            <a:off x="1084729"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720FE223-3632-CCA1-BC90-9B6EC16C00B8}"/>
              </a:ext>
            </a:extLst>
          </p:cNvPr>
          <p:cNvSpPr/>
          <p:nvPr/>
        </p:nvSpPr>
        <p:spPr>
          <a:xfrm>
            <a:off x="3159273" y="2732664"/>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34670F01-A89E-B1D9-5D64-CB93A19AB6E9}"/>
              </a:ext>
            </a:extLst>
          </p:cNvPr>
          <p:cNvSpPr/>
          <p:nvPr/>
        </p:nvSpPr>
        <p:spPr>
          <a:xfrm>
            <a:off x="5233817"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04DDF4F0-381B-A212-865A-05A369A582D2}"/>
              </a:ext>
            </a:extLst>
          </p:cNvPr>
          <p:cNvSpPr/>
          <p:nvPr/>
        </p:nvSpPr>
        <p:spPr>
          <a:xfrm>
            <a:off x="7374146"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FEBBD482-9E68-6FA6-928A-C0AA0B54C154}"/>
              </a:ext>
            </a:extLst>
          </p:cNvPr>
          <p:cNvSpPr/>
          <p:nvPr/>
        </p:nvSpPr>
        <p:spPr>
          <a:xfrm>
            <a:off x="9524659" y="2728505"/>
            <a:ext cx="1724366" cy="2929345"/>
          </a:xfrm>
          <a:prstGeom prst="roundRect">
            <a:avLst>
              <a:gd name="adj" fmla="val 5697"/>
            </a:avLst>
          </a:prstGeom>
          <a:no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755EE48-1263-1F56-C5AD-530AE63B6455}"/>
              </a:ext>
            </a:extLst>
          </p:cNvPr>
          <p:cNvSpPr txBox="1"/>
          <p:nvPr/>
        </p:nvSpPr>
        <p:spPr>
          <a:xfrm>
            <a:off x="1263468"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2</a:t>
            </a:r>
            <a:r>
              <a:rPr kumimoji="1" lang="ja-JP" altLang="en-US">
                <a:latin typeface="Yu Gothic UI" panose="020B0500000000000000" pitchFamily="34" charset="-128"/>
                <a:ea typeface="Yu Gothic UI" panose="020B0500000000000000" pitchFamily="34" charset="-128"/>
              </a:rPr>
              <a:t>回</a:t>
            </a:r>
          </a:p>
        </p:txBody>
      </p:sp>
      <p:sp>
        <p:nvSpPr>
          <p:cNvPr id="16" name="テキスト ボックス 15">
            <a:extLst>
              <a:ext uri="{FF2B5EF4-FFF2-40B4-BE49-F238E27FC236}">
                <a16:creationId xmlns:a16="http://schemas.microsoft.com/office/drawing/2014/main" id="{FE6BFA22-BB5C-B67D-7901-FB8FA46EDE60}"/>
              </a:ext>
            </a:extLst>
          </p:cNvPr>
          <p:cNvSpPr txBox="1"/>
          <p:nvPr/>
        </p:nvSpPr>
        <p:spPr>
          <a:xfrm>
            <a:off x="1094913"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Web 3</a:t>
            </a:r>
            <a:r>
              <a:rPr kumimoji="1" lang="ja-JP" altLang="en-US" sz="1400">
                <a:latin typeface="Yu Gothic UI" panose="020B0500000000000000" pitchFamily="34" charset="-128"/>
                <a:ea typeface="Yu Gothic UI" panose="020B0500000000000000" pitchFamily="34" charset="-128"/>
              </a:rPr>
              <a:t>層アーキテクチャの解説</a:t>
            </a:r>
          </a:p>
        </p:txBody>
      </p:sp>
      <p:sp>
        <p:nvSpPr>
          <p:cNvPr id="17" name="テキスト ボックス 16">
            <a:extLst>
              <a:ext uri="{FF2B5EF4-FFF2-40B4-BE49-F238E27FC236}">
                <a16:creationId xmlns:a16="http://schemas.microsoft.com/office/drawing/2014/main" id="{5C153E5A-9C6F-4DC6-327F-8A4B3D227F7E}"/>
              </a:ext>
            </a:extLst>
          </p:cNvPr>
          <p:cNvSpPr txBox="1"/>
          <p:nvPr/>
        </p:nvSpPr>
        <p:spPr>
          <a:xfrm>
            <a:off x="3338012"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3</a:t>
            </a:r>
            <a:r>
              <a:rPr kumimoji="1" lang="ja-JP" altLang="en-US">
                <a:latin typeface="Yu Gothic UI" panose="020B0500000000000000" pitchFamily="34" charset="-128"/>
                <a:ea typeface="Yu Gothic UI" panose="020B0500000000000000" pitchFamily="34" charset="-128"/>
              </a:rPr>
              <a:t>回</a:t>
            </a:r>
          </a:p>
        </p:txBody>
      </p:sp>
      <p:sp>
        <p:nvSpPr>
          <p:cNvPr id="18" name="テキスト ボックス 17">
            <a:extLst>
              <a:ext uri="{FF2B5EF4-FFF2-40B4-BE49-F238E27FC236}">
                <a16:creationId xmlns:a16="http://schemas.microsoft.com/office/drawing/2014/main" id="{F215923E-1F79-4507-F1C4-81C67841DC8C}"/>
              </a:ext>
            </a:extLst>
          </p:cNvPr>
          <p:cNvSpPr txBox="1"/>
          <p:nvPr/>
        </p:nvSpPr>
        <p:spPr>
          <a:xfrm>
            <a:off x="3169457" y="3508769"/>
            <a:ext cx="1714181" cy="523220"/>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VM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sp>
        <p:nvSpPr>
          <p:cNvPr id="19" name="テキスト ボックス 18">
            <a:extLst>
              <a:ext uri="{FF2B5EF4-FFF2-40B4-BE49-F238E27FC236}">
                <a16:creationId xmlns:a16="http://schemas.microsoft.com/office/drawing/2014/main" id="{40D51CCF-C40F-189A-73D1-16D568432804}"/>
              </a:ext>
            </a:extLst>
          </p:cNvPr>
          <p:cNvSpPr txBox="1"/>
          <p:nvPr/>
        </p:nvSpPr>
        <p:spPr>
          <a:xfrm>
            <a:off x="5412556"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4</a:t>
            </a:r>
            <a:r>
              <a:rPr kumimoji="1" lang="ja-JP" altLang="en-US">
                <a:latin typeface="Yu Gothic UI" panose="020B0500000000000000" pitchFamily="34" charset="-128"/>
                <a:ea typeface="Yu Gothic UI" panose="020B0500000000000000" pitchFamily="34" charset="-128"/>
              </a:rPr>
              <a:t>回</a:t>
            </a:r>
          </a:p>
        </p:txBody>
      </p:sp>
      <p:sp>
        <p:nvSpPr>
          <p:cNvPr id="20" name="テキスト ボックス 19">
            <a:extLst>
              <a:ext uri="{FF2B5EF4-FFF2-40B4-BE49-F238E27FC236}">
                <a16:creationId xmlns:a16="http://schemas.microsoft.com/office/drawing/2014/main" id="{3A6B44F4-DFC6-0038-E325-D0C0F6A9FBDA}"/>
              </a:ext>
            </a:extLst>
          </p:cNvPr>
          <p:cNvSpPr txBox="1"/>
          <p:nvPr/>
        </p:nvSpPr>
        <p:spPr>
          <a:xfrm>
            <a:off x="5244001" y="3508769"/>
            <a:ext cx="1714181" cy="738664"/>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Instances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Web </a:t>
            </a:r>
            <a:r>
              <a:rPr kumimoji="1" lang="ja-JP" altLang="en-US" sz="1400">
                <a:latin typeface="Yu Gothic UI" panose="020B0500000000000000" pitchFamily="34" charset="-128"/>
                <a:ea typeface="Yu Gothic UI" panose="020B0500000000000000" pitchFamily="34" charset="-128"/>
              </a:rPr>
              <a:t>サーバの構築</a:t>
            </a:r>
            <a:endParaRPr kumimoji="1" lang="en-US" altLang="ja-JP" sz="1400">
              <a:latin typeface="Yu Gothic UI" panose="020B0500000000000000" pitchFamily="34" charset="-128"/>
              <a:ea typeface="Yu Gothic UI" panose="020B0500000000000000" pitchFamily="34" charset="-128"/>
            </a:endParaRPr>
          </a:p>
        </p:txBody>
      </p:sp>
      <p:cxnSp>
        <p:nvCxnSpPr>
          <p:cNvPr id="22" name="直線矢印コネクタ 21">
            <a:extLst>
              <a:ext uri="{FF2B5EF4-FFF2-40B4-BE49-F238E27FC236}">
                <a16:creationId xmlns:a16="http://schemas.microsoft.com/office/drawing/2014/main" id="{7908EF02-C3FE-DDDA-B0EE-A3838E80DCFE}"/>
              </a:ext>
            </a:extLst>
          </p:cNvPr>
          <p:cNvCxnSpPr>
            <a:stCxn id="10" idx="3"/>
            <a:endCxn id="11" idx="1"/>
          </p:cNvCxnSpPr>
          <p:nvPr/>
        </p:nvCxnSpPr>
        <p:spPr>
          <a:xfrm>
            <a:off x="2809095"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E66AFBFD-5A6E-4739-D576-A9EBE350AF1E}"/>
              </a:ext>
            </a:extLst>
          </p:cNvPr>
          <p:cNvCxnSpPr>
            <a:cxnSpLocks/>
            <a:stCxn id="11" idx="3"/>
            <a:endCxn id="12" idx="1"/>
          </p:cNvCxnSpPr>
          <p:nvPr/>
        </p:nvCxnSpPr>
        <p:spPr>
          <a:xfrm flipV="1">
            <a:off x="4883639" y="4193178"/>
            <a:ext cx="350178" cy="4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CCA01046-7697-ADD4-15A7-517A8BE1F279}"/>
              </a:ext>
            </a:extLst>
          </p:cNvPr>
          <p:cNvCxnSpPr>
            <a:cxnSpLocks/>
            <a:stCxn id="12" idx="3"/>
            <a:endCxn id="13" idx="1"/>
          </p:cNvCxnSpPr>
          <p:nvPr/>
        </p:nvCxnSpPr>
        <p:spPr>
          <a:xfrm>
            <a:off x="6958183" y="4193178"/>
            <a:ext cx="4159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E68ACE08-205F-C5AC-3F12-C986AE4FE32C}"/>
              </a:ext>
            </a:extLst>
          </p:cNvPr>
          <p:cNvCxnSpPr>
            <a:cxnSpLocks/>
            <a:endCxn id="14" idx="1"/>
          </p:cNvCxnSpPr>
          <p:nvPr/>
        </p:nvCxnSpPr>
        <p:spPr>
          <a:xfrm>
            <a:off x="9098512" y="4193178"/>
            <a:ext cx="4261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983741C-A861-D95F-3FE0-95C658D3D102}"/>
              </a:ext>
            </a:extLst>
          </p:cNvPr>
          <p:cNvSpPr txBox="1"/>
          <p:nvPr/>
        </p:nvSpPr>
        <p:spPr>
          <a:xfrm>
            <a:off x="7552885"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5</a:t>
            </a:r>
            <a:r>
              <a:rPr kumimoji="1" lang="ja-JP" altLang="en-US">
                <a:latin typeface="Yu Gothic UI" panose="020B0500000000000000" pitchFamily="34" charset="-128"/>
                <a:ea typeface="Yu Gothic UI" panose="020B0500000000000000" pitchFamily="34" charset="-128"/>
              </a:rPr>
              <a:t>回</a:t>
            </a:r>
          </a:p>
        </p:txBody>
      </p:sp>
      <p:sp>
        <p:nvSpPr>
          <p:cNvPr id="34" name="テキスト ボックス 33">
            <a:extLst>
              <a:ext uri="{FF2B5EF4-FFF2-40B4-BE49-F238E27FC236}">
                <a16:creationId xmlns:a16="http://schemas.microsoft.com/office/drawing/2014/main" id="{6F1E852F-A945-81B2-6C56-CBB495C90CBD}"/>
              </a:ext>
            </a:extLst>
          </p:cNvPr>
          <p:cNvSpPr txBox="1"/>
          <p:nvPr/>
        </p:nvSpPr>
        <p:spPr>
          <a:xfrm>
            <a:off x="7384330"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前半</a:t>
            </a:r>
            <a:r>
              <a:rPr kumimoji="1" lang="en-US" altLang="ja-JP" sz="1400">
                <a:latin typeface="Yu Gothic UI" panose="020B0500000000000000" pitchFamily="34" charset="-128"/>
                <a:ea typeface="Yu Gothic UI" panose="020B0500000000000000" pitchFamily="34" charset="-128"/>
              </a:rPr>
              <a:t>)</a:t>
            </a:r>
          </a:p>
        </p:txBody>
      </p:sp>
      <p:sp>
        <p:nvSpPr>
          <p:cNvPr id="35" name="テキスト ボックス 34">
            <a:extLst>
              <a:ext uri="{FF2B5EF4-FFF2-40B4-BE49-F238E27FC236}">
                <a16:creationId xmlns:a16="http://schemas.microsoft.com/office/drawing/2014/main" id="{5AC1C582-376C-9514-0AF4-BD57F7832EAB}"/>
              </a:ext>
            </a:extLst>
          </p:cNvPr>
          <p:cNvSpPr txBox="1"/>
          <p:nvPr/>
        </p:nvSpPr>
        <p:spPr>
          <a:xfrm>
            <a:off x="9703399" y="2818614"/>
            <a:ext cx="1366887" cy="369332"/>
          </a:xfrm>
          <a:prstGeom prst="rect">
            <a:avLst/>
          </a:prstGeom>
          <a:noFill/>
        </p:spPr>
        <p:txBody>
          <a:bodyPr wrap="square" rtlCol="0">
            <a:spAutoFit/>
          </a:bodyPr>
          <a:lstStyle/>
          <a:p>
            <a:pPr algn="ctr"/>
            <a:r>
              <a:rPr kumimoji="1" lang="ja-JP" altLang="en-US">
                <a:latin typeface="Yu Gothic UI" panose="020B0500000000000000" pitchFamily="34" charset="-128"/>
                <a:ea typeface="Yu Gothic UI" panose="020B0500000000000000" pitchFamily="34" charset="-128"/>
              </a:rPr>
              <a:t>第</a:t>
            </a:r>
            <a:r>
              <a:rPr kumimoji="1" lang="en-US" altLang="ja-JP">
                <a:latin typeface="Yu Gothic UI" panose="020B0500000000000000" pitchFamily="34" charset="-128"/>
                <a:ea typeface="Yu Gothic UI" panose="020B0500000000000000" pitchFamily="34" charset="-128"/>
              </a:rPr>
              <a:t>6</a:t>
            </a:r>
            <a:r>
              <a:rPr kumimoji="1" lang="ja-JP" altLang="en-US">
                <a:latin typeface="Yu Gothic UI" panose="020B0500000000000000" pitchFamily="34" charset="-128"/>
                <a:ea typeface="Yu Gothic UI" panose="020B0500000000000000" pitchFamily="34" charset="-128"/>
              </a:rPr>
              <a:t>回</a:t>
            </a:r>
          </a:p>
        </p:txBody>
      </p:sp>
      <p:sp>
        <p:nvSpPr>
          <p:cNvPr id="36" name="テキスト ボックス 35">
            <a:extLst>
              <a:ext uri="{FF2B5EF4-FFF2-40B4-BE49-F238E27FC236}">
                <a16:creationId xmlns:a16="http://schemas.microsoft.com/office/drawing/2014/main" id="{6A27E619-70CB-7D83-4147-9F59841838BF}"/>
              </a:ext>
            </a:extLst>
          </p:cNvPr>
          <p:cNvSpPr txBox="1"/>
          <p:nvPr/>
        </p:nvSpPr>
        <p:spPr>
          <a:xfrm>
            <a:off x="9534844" y="3508769"/>
            <a:ext cx="1714181" cy="1169551"/>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Azure Container Apps </a:t>
            </a:r>
            <a:r>
              <a:rPr kumimoji="1" lang="ja-JP" altLang="en-US" sz="1400">
                <a:latin typeface="Yu Gothic UI" panose="020B0500000000000000" pitchFamily="34" charset="-128"/>
                <a:ea typeface="Yu Gothic UI" panose="020B0500000000000000" pitchFamily="34" charset="-128"/>
              </a:rPr>
              <a:t>と</a:t>
            </a:r>
            <a:r>
              <a:rPr kumimoji="1" lang="en-US" altLang="ja-JP" sz="1400">
                <a:latin typeface="Yu Gothic UI" panose="020B0500000000000000" pitchFamily="34" charset="-128"/>
                <a:ea typeface="Yu Gothic UI" panose="020B0500000000000000" pitchFamily="34" charset="-128"/>
              </a:rPr>
              <a:t> Postgres Flexible Server </a:t>
            </a:r>
            <a:r>
              <a:rPr kumimoji="1" lang="ja-JP" altLang="en-US" sz="1400">
                <a:latin typeface="Yu Gothic UI" panose="020B0500000000000000" pitchFamily="34" charset="-128"/>
                <a:ea typeface="Yu Gothic UI" panose="020B0500000000000000" pitchFamily="34" charset="-128"/>
              </a:rPr>
              <a:t>を使った</a:t>
            </a:r>
            <a:r>
              <a:rPr kumimoji="1" lang="en-US" altLang="ja-JP" sz="1400">
                <a:latin typeface="Yu Gothic UI" panose="020B0500000000000000" pitchFamily="34" charset="-128"/>
                <a:ea typeface="Yu Gothic UI" panose="020B0500000000000000" pitchFamily="34" charset="-128"/>
              </a:rPr>
              <a:t> Web </a:t>
            </a:r>
            <a:r>
              <a:rPr kumimoji="1" lang="ja-JP" altLang="en-US" sz="1400">
                <a:latin typeface="Yu Gothic UI" panose="020B0500000000000000" pitchFamily="34" charset="-128"/>
                <a:ea typeface="Yu Gothic UI" panose="020B0500000000000000" pitchFamily="34" charset="-128"/>
              </a:rPr>
              <a:t>アプリケーション構築</a:t>
            </a:r>
            <a:r>
              <a:rPr kumimoji="1" lang="en-US" altLang="ja-JP" sz="1400">
                <a:latin typeface="Yu Gothic UI" panose="020B0500000000000000" pitchFamily="34" charset="-128"/>
                <a:ea typeface="Yu Gothic UI" panose="020B0500000000000000" pitchFamily="34" charset="-128"/>
              </a:rPr>
              <a:t> (</a:t>
            </a:r>
            <a:r>
              <a:rPr kumimoji="1" lang="ja-JP" altLang="en-US" sz="1400">
                <a:latin typeface="Yu Gothic UI" panose="020B0500000000000000" pitchFamily="34" charset="-128"/>
                <a:ea typeface="Yu Gothic UI" panose="020B0500000000000000" pitchFamily="34" charset="-128"/>
              </a:rPr>
              <a:t>後半</a:t>
            </a:r>
            <a:r>
              <a:rPr kumimoji="1" lang="en-US" altLang="ja-JP" sz="1400">
                <a:latin typeface="Yu Gothic UI" panose="020B0500000000000000" pitchFamily="34" charset="-128"/>
                <a:ea typeface="Yu Gothic UI" panose="020B0500000000000000" pitchFamily="34" charset="-128"/>
              </a:rPr>
              <a:t>)</a:t>
            </a:r>
          </a:p>
        </p:txBody>
      </p:sp>
      <p:pic>
        <p:nvPicPr>
          <p:cNvPr id="38" name="グラフィックス 37">
            <a:extLst>
              <a:ext uri="{FF2B5EF4-FFF2-40B4-BE49-F238E27FC236}">
                <a16:creationId xmlns:a16="http://schemas.microsoft.com/office/drawing/2014/main" id="{743437CF-CA23-2CF0-470E-83FEB82E6E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0073" y="4892446"/>
            <a:ext cx="462764" cy="462764"/>
          </a:xfrm>
          <a:prstGeom prst="rect">
            <a:avLst/>
          </a:prstGeom>
        </p:spPr>
      </p:pic>
      <p:pic>
        <p:nvPicPr>
          <p:cNvPr id="40" name="グラフィックス 39">
            <a:extLst>
              <a:ext uri="{FF2B5EF4-FFF2-40B4-BE49-F238E27FC236}">
                <a16:creationId xmlns:a16="http://schemas.microsoft.com/office/drawing/2014/main" id="{0582B0C8-9EB3-4534-2A34-767C82F97D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7396" y="4858002"/>
            <a:ext cx="497208" cy="497208"/>
          </a:xfrm>
          <a:prstGeom prst="rect">
            <a:avLst/>
          </a:prstGeom>
        </p:spPr>
      </p:pic>
      <p:pic>
        <p:nvPicPr>
          <p:cNvPr id="42" name="グラフィックス 41">
            <a:extLst>
              <a:ext uri="{FF2B5EF4-FFF2-40B4-BE49-F238E27FC236}">
                <a16:creationId xmlns:a16="http://schemas.microsoft.com/office/drawing/2014/main" id="{AE5FF98F-00B0-E9B3-01E4-A73241CF6F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4286" y="4892446"/>
            <a:ext cx="452065" cy="452065"/>
          </a:xfrm>
          <a:prstGeom prst="rect">
            <a:avLst/>
          </a:prstGeom>
        </p:spPr>
      </p:pic>
      <p:pic>
        <p:nvPicPr>
          <p:cNvPr id="44" name="グラフィックス 43">
            <a:extLst>
              <a:ext uri="{FF2B5EF4-FFF2-40B4-BE49-F238E27FC236}">
                <a16:creationId xmlns:a16="http://schemas.microsoft.com/office/drawing/2014/main" id="{3F2C7979-9E12-87F7-74C2-2FFA41E202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20668" y="4881747"/>
            <a:ext cx="462764" cy="462764"/>
          </a:xfrm>
          <a:prstGeom prst="rect">
            <a:avLst/>
          </a:prstGeom>
        </p:spPr>
      </p:pic>
      <p:pic>
        <p:nvPicPr>
          <p:cNvPr id="46" name="図 45">
            <a:extLst>
              <a:ext uri="{FF2B5EF4-FFF2-40B4-BE49-F238E27FC236}">
                <a16:creationId xmlns:a16="http://schemas.microsoft.com/office/drawing/2014/main" id="{47CE1D2F-5594-4285-608D-6657267CE3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89449" y="4930463"/>
            <a:ext cx="394786" cy="386729"/>
          </a:xfrm>
          <a:prstGeom prst="rect">
            <a:avLst/>
          </a:prstGeom>
        </p:spPr>
      </p:pic>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1085E2C-CAC8-412C-8053-E0E9C17E96AA}"/>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アプリケーションの基本</a:t>
            </a:r>
          </a:p>
        </p:txBody>
      </p:sp>
      <p:sp>
        <p:nvSpPr>
          <p:cNvPr id="2" name="正方形/長方形 1">
            <a:extLst>
              <a:ext uri="{FF2B5EF4-FFF2-40B4-BE49-F238E27FC236}">
                <a16:creationId xmlns:a16="http://schemas.microsoft.com/office/drawing/2014/main" id="{A29AB302-D7E7-4253-BD65-B88305EF31F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F6A2C2F3-CE13-4112-9F25-557481796F5E}"/>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05</a:t>
            </a:r>
          </a:p>
        </p:txBody>
      </p:sp>
      <p:sp>
        <p:nvSpPr>
          <p:cNvPr id="4" name="正方形/長方形 3">
            <a:extLst>
              <a:ext uri="{FF2B5EF4-FFF2-40B4-BE49-F238E27FC236}">
                <a16:creationId xmlns:a16="http://schemas.microsoft.com/office/drawing/2014/main" id="{09C0B61E-71B5-4D57-89F3-A09C10FE961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FDE327B-BD91-4CD7-B0D9-6AB1931C94CB}"/>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アプリケーションは、ブラウザーからの要求を受け取り、サーバー側の処理を経て、HTML や JSON などの結果を返す一連の仕組みです。</a:t>
            </a:r>
          </a:p>
        </p:txBody>
      </p:sp>
      <p:sp>
        <p:nvSpPr>
          <p:cNvPr id="6" name="正方形/長方形 5">
            <a:extLst>
              <a:ext uri="{FF2B5EF4-FFF2-40B4-BE49-F238E27FC236}">
                <a16:creationId xmlns:a16="http://schemas.microsoft.com/office/drawing/2014/main" id="{49B2392F-F0DE-4625-B497-ECA7904843D3}"/>
              </a:ext>
            </a:extLst>
          </p:cNvPr>
          <p:cNvSpPr>
            <a:spLocks noGrp="1"/>
          </p:cNvSpPr>
          <p:nvPr/>
        </p:nvSpPr>
        <p:spPr>
          <a:xfrm>
            <a:off x="685800" y="2038350"/>
            <a:ext cx="10820400" cy="4070219"/>
          </a:xfrm>
          <a:prstGeom prst="rect">
            <a:avLst/>
          </a:prstGeom>
          <a:solidFill>
            <a:srgbClr val="FFFFFF"/>
          </a:solidFill>
          <a:ln w="9525">
            <a:solidFill>
              <a:srgbClr val="D0D5DD"/>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C4D33302-09CA-47E1-9DB3-E0662EF2FBC3}"/>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5 / 32</a:t>
            </a:r>
          </a:p>
        </p:txBody>
      </p:sp>
      <p:sp>
        <p:nvSpPr>
          <p:cNvPr id="10" name="角丸四角形 9">
            <a:extLst>
              <a:ext uri="{FF2B5EF4-FFF2-40B4-BE49-F238E27FC236}">
                <a16:creationId xmlns:a16="http://schemas.microsoft.com/office/drawing/2014/main" id="{CECD2CA3-A07D-EA7B-196D-FBA10A0D0300}"/>
              </a:ext>
            </a:extLst>
          </p:cNvPr>
          <p:cNvSpPr/>
          <p:nvPr/>
        </p:nvSpPr>
        <p:spPr>
          <a:xfrm>
            <a:off x="1225485" y="3186260"/>
            <a:ext cx="1809946"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34686A53-6B46-B6EE-E9E5-5902B58B309A}"/>
              </a:ext>
            </a:extLst>
          </p:cNvPr>
          <p:cNvSpPr/>
          <p:nvPr/>
        </p:nvSpPr>
        <p:spPr>
          <a:xfrm>
            <a:off x="1353532" y="4085685"/>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81B509D8-97BE-1489-C8F6-586254D0100B}"/>
              </a:ext>
            </a:extLst>
          </p:cNvPr>
          <p:cNvSpPr/>
          <p:nvPr/>
        </p:nvSpPr>
        <p:spPr>
          <a:xfrm>
            <a:off x="1353532" y="3367726"/>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DC11E79C-8860-71A3-33E3-BFCAF79B1C8E}"/>
              </a:ext>
            </a:extLst>
          </p:cNvPr>
          <p:cNvSpPr txBox="1"/>
          <p:nvPr/>
        </p:nvSpPr>
        <p:spPr>
          <a:xfrm>
            <a:off x="1461155" y="480364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クライアント</a:t>
            </a:r>
          </a:p>
        </p:txBody>
      </p:sp>
      <p:sp>
        <p:nvSpPr>
          <p:cNvPr id="14" name="テキスト ボックス 13">
            <a:extLst>
              <a:ext uri="{FF2B5EF4-FFF2-40B4-BE49-F238E27FC236}">
                <a16:creationId xmlns:a16="http://schemas.microsoft.com/office/drawing/2014/main" id="{A707D91E-715B-232E-2C62-D84E9B7456B5}"/>
              </a:ext>
            </a:extLst>
          </p:cNvPr>
          <p:cNvSpPr txBox="1"/>
          <p:nvPr/>
        </p:nvSpPr>
        <p:spPr>
          <a:xfrm>
            <a:off x="1461155" y="4174583"/>
            <a:ext cx="1338606"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OS</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 name="テキスト ボックス 14">
            <a:extLst>
              <a:ext uri="{FF2B5EF4-FFF2-40B4-BE49-F238E27FC236}">
                <a16:creationId xmlns:a16="http://schemas.microsoft.com/office/drawing/2014/main" id="{BCFC6953-6B51-EAD6-803E-9F4F3519333A}"/>
              </a:ext>
            </a:extLst>
          </p:cNvPr>
          <p:cNvSpPr txBox="1"/>
          <p:nvPr/>
        </p:nvSpPr>
        <p:spPr>
          <a:xfrm>
            <a:off x="1461155" y="3461150"/>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pic>
        <p:nvPicPr>
          <p:cNvPr id="17" name="グラフィックス 16" descr="ユーザー 枠線">
            <a:extLst>
              <a:ext uri="{FF2B5EF4-FFF2-40B4-BE49-F238E27FC236}">
                <a16:creationId xmlns:a16="http://schemas.microsoft.com/office/drawing/2014/main" id="{D896F840-ACA1-B15C-3DBD-34265779C7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18195" y="2318896"/>
            <a:ext cx="582105" cy="582105"/>
          </a:xfrm>
          <a:prstGeom prst="rect">
            <a:avLst/>
          </a:prstGeom>
        </p:spPr>
      </p:pic>
      <p:sp>
        <p:nvSpPr>
          <p:cNvPr id="18" name="円/楕円 17">
            <a:extLst>
              <a:ext uri="{FF2B5EF4-FFF2-40B4-BE49-F238E27FC236}">
                <a16:creationId xmlns:a16="http://schemas.microsoft.com/office/drawing/2014/main" id="{07AED37B-0CAB-0520-A33A-57A3C9303C9C}"/>
              </a:ext>
            </a:extLst>
          </p:cNvPr>
          <p:cNvSpPr/>
          <p:nvPr/>
        </p:nvSpPr>
        <p:spPr>
          <a:xfrm>
            <a:off x="3337285" y="4174583"/>
            <a:ext cx="2507530" cy="1001002"/>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1"/>
                </a:solidFill>
                <a:latin typeface="Yu Gothic UI" panose="020B0500000000000000" pitchFamily="34" charset="-128"/>
                <a:ea typeface="Yu Gothic UI" panose="020B0500000000000000" pitchFamily="34" charset="-128"/>
              </a:rPr>
              <a:t>インターネット</a:t>
            </a:r>
          </a:p>
        </p:txBody>
      </p:sp>
      <p:sp>
        <p:nvSpPr>
          <p:cNvPr id="19" name="角丸四角形 18">
            <a:extLst>
              <a:ext uri="{FF2B5EF4-FFF2-40B4-BE49-F238E27FC236}">
                <a16:creationId xmlns:a16="http://schemas.microsoft.com/office/drawing/2014/main" id="{1BCD70FE-D15E-03FF-54B4-B453ACBF9039}"/>
              </a:ext>
            </a:extLst>
          </p:cNvPr>
          <p:cNvSpPr/>
          <p:nvPr/>
        </p:nvSpPr>
        <p:spPr>
          <a:xfrm>
            <a:off x="6213836" y="3226324"/>
            <a:ext cx="4624632"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68450FB9-2E71-2982-F1D1-72ED0439C12B}"/>
              </a:ext>
            </a:extLst>
          </p:cNvPr>
          <p:cNvSpPr/>
          <p:nvPr/>
        </p:nvSpPr>
        <p:spPr>
          <a:xfrm>
            <a:off x="6417298" y="3403098"/>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8D2AFAB-BFF8-B7B3-1D56-AAA032FBEBFC}"/>
              </a:ext>
            </a:extLst>
          </p:cNvPr>
          <p:cNvSpPr txBox="1"/>
          <p:nvPr/>
        </p:nvSpPr>
        <p:spPr>
          <a:xfrm>
            <a:off x="7438731" y="4818640"/>
            <a:ext cx="2174842"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22" name="角丸四角形 21">
            <a:extLst>
              <a:ext uri="{FF2B5EF4-FFF2-40B4-BE49-F238E27FC236}">
                <a16:creationId xmlns:a16="http://schemas.microsoft.com/office/drawing/2014/main" id="{42C05B86-9ED4-FB3F-ED17-4F06C7DCE665}"/>
              </a:ext>
            </a:extLst>
          </p:cNvPr>
          <p:cNvSpPr/>
          <p:nvPr/>
        </p:nvSpPr>
        <p:spPr>
          <a:xfrm>
            <a:off x="7987646" y="3403120"/>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 22">
            <a:extLst>
              <a:ext uri="{FF2B5EF4-FFF2-40B4-BE49-F238E27FC236}">
                <a16:creationId xmlns:a16="http://schemas.microsoft.com/office/drawing/2014/main" id="{3055CBAC-D7B0-A588-8136-0A8C39AA3156}"/>
              </a:ext>
            </a:extLst>
          </p:cNvPr>
          <p:cNvSpPr/>
          <p:nvPr/>
        </p:nvSpPr>
        <p:spPr>
          <a:xfrm>
            <a:off x="9556816" y="3419595"/>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B8E86AF1-8587-5619-B3D6-4F463DB9979E}"/>
              </a:ext>
            </a:extLst>
          </p:cNvPr>
          <p:cNvSpPr txBox="1"/>
          <p:nvPr/>
        </p:nvSpPr>
        <p:spPr>
          <a:xfrm>
            <a:off x="6565377" y="3461150"/>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sp>
        <p:nvSpPr>
          <p:cNvPr id="25" name="テキスト ボックス 24">
            <a:extLst>
              <a:ext uri="{FF2B5EF4-FFF2-40B4-BE49-F238E27FC236}">
                <a16:creationId xmlns:a16="http://schemas.microsoft.com/office/drawing/2014/main" id="{76E9CD7F-652D-D3BF-CE48-836727F56D42}"/>
              </a:ext>
            </a:extLst>
          </p:cNvPr>
          <p:cNvSpPr txBox="1"/>
          <p:nvPr/>
        </p:nvSpPr>
        <p:spPr>
          <a:xfrm>
            <a:off x="8134547" y="3461150"/>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sp>
        <p:nvSpPr>
          <p:cNvPr id="26" name="テキスト ボックス 25">
            <a:extLst>
              <a:ext uri="{FF2B5EF4-FFF2-40B4-BE49-F238E27FC236}">
                <a16:creationId xmlns:a16="http://schemas.microsoft.com/office/drawing/2014/main" id="{415B1C53-10F2-67D1-028D-FB41926903DA}"/>
              </a:ext>
            </a:extLst>
          </p:cNvPr>
          <p:cNvSpPr txBox="1"/>
          <p:nvPr/>
        </p:nvSpPr>
        <p:spPr>
          <a:xfrm>
            <a:off x="9704305" y="3447875"/>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cxnSp>
        <p:nvCxnSpPr>
          <p:cNvPr id="28" name="直線コネクタ 27">
            <a:extLst>
              <a:ext uri="{FF2B5EF4-FFF2-40B4-BE49-F238E27FC236}">
                <a16:creationId xmlns:a16="http://schemas.microsoft.com/office/drawing/2014/main" id="{0239F252-DCA3-305A-77E3-6C86251DF6CB}"/>
              </a:ext>
            </a:extLst>
          </p:cNvPr>
          <p:cNvCxnSpPr>
            <a:cxnSpLocks/>
          </p:cNvCxnSpPr>
          <p:nvPr/>
        </p:nvCxnSpPr>
        <p:spPr>
          <a:xfrm>
            <a:off x="2234153" y="3784315"/>
            <a:ext cx="0" cy="390268"/>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9886A7F-174D-AA95-2EA9-86DE0BC50A99}"/>
              </a:ext>
            </a:extLst>
          </p:cNvPr>
          <p:cNvCxnSpPr>
            <a:cxnSpLocks/>
          </p:cNvCxnSpPr>
          <p:nvPr/>
        </p:nvCxnSpPr>
        <p:spPr>
          <a:xfrm>
            <a:off x="2234153" y="4153124"/>
            <a:ext cx="3861847"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D1B3CEAF-BDB9-16E7-2417-96AEC2D4D215}"/>
              </a:ext>
            </a:extLst>
          </p:cNvPr>
          <p:cNvSpPr txBox="1"/>
          <p:nvPr/>
        </p:nvSpPr>
        <p:spPr>
          <a:xfrm>
            <a:off x="3404452" y="3738149"/>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リクエスト</a:t>
            </a:r>
          </a:p>
        </p:txBody>
      </p:sp>
      <p:cxnSp>
        <p:nvCxnSpPr>
          <p:cNvPr id="33" name="直線コネクタ 32">
            <a:extLst>
              <a:ext uri="{FF2B5EF4-FFF2-40B4-BE49-F238E27FC236}">
                <a16:creationId xmlns:a16="http://schemas.microsoft.com/office/drawing/2014/main" id="{D25B4A23-C741-4DFD-504F-F216E00EE3C2}"/>
              </a:ext>
            </a:extLst>
          </p:cNvPr>
          <p:cNvCxnSpPr>
            <a:cxnSpLocks/>
          </p:cNvCxnSpPr>
          <p:nvPr/>
        </p:nvCxnSpPr>
        <p:spPr>
          <a:xfrm>
            <a:off x="1818195" y="4475207"/>
            <a:ext cx="4277805" cy="0"/>
          </a:xfrm>
          <a:prstGeom prst="line">
            <a:avLst/>
          </a:prstGeom>
          <a:ln w="44450">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1F54F68A-DE56-8AAF-88EA-C776AB28A8D0}"/>
              </a:ext>
            </a:extLst>
          </p:cNvPr>
          <p:cNvCxnSpPr>
            <a:cxnSpLocks/>
          </p:cNvCxnSpPr>
          <p:nvPr/>
        </p:nvCxnSpPr>
        <p:spPr>
          <a:xfrm>
            <a:off x="2234153" y="2969443"/>
            <a:ext cx="0" cy="59053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6435261F-BA51-4BF4-3655-64EDE23DF298}"/>
              </a:ext>
            </a:extLst>
          </p:cNvPr>
          <p:cNvSpPr txBox="1"/>
          <p:nvPr/>
        </p:nvSpPr>
        <p:spPr>
          <a:xfrm>
            <a:off x="2288258" y="2897801"/>
            <a:ext cx="651727" cy="307777"/>
          </a:xfrm>
          <a:prstGeom prst="rect">
            <a:avLst/>
          </a:prstGeom>
          <a:noFill/>
        </p:spPr>
        <p:txBody>
          <a:bodyPr wrap="square" rtlCol="0">
            <a:spAutoFit/>
          </a:bodyPr>
          <a:lstStyle/>
          <a:p>
            <a:r>
              <a:rPr kumimoji="1" lang="ja-JP" altLang="en-US" sz="1400">
                <a:latin typeface="Yu Gothic UI" panose="020B0500000000000000" pitchFamily="34" charset="-128"/>
                <a:ea typeface="Yu Gothic UI" panose="020B0500000000000000" pitchFamily="34" charset="-128"/>
              </a:rPr>
              <a:t>操作</a:t>
            </a:r>
          </a:p>
        </p:txBody>
      </p:sp>
      <p:cxnSp>
        <p:nvCxnSpPr>
          <p:cNvPr id="40" name="直線コネクタ 39">
            <a:extLst>
              <a:ext uri="{FF2B5EF4-FFF2-40B4-BE49-F238E27FC236}">
                <a16:creationId xmlns:a16="http://schemas.microsoft.com/office/drawing/2014/main" id="{1DCCC1DF-F32A-EB39-7A54-C56A44B3B354}"/>
              </a:ext>
            </a:extLst>
          </p:cNvPr>
          <p:cNvCxnSpPr>
            <a:cxnSpLocks/>
          </p:cNvCxnSpPr>
          <p:nvPr/>
        </p:nvCxnSpPr>
        <p:spPr>
          <a:xfrm>
            <a:off x="1837049" y="3803169"/>
            <a:ext cx="0" cy="690892"/>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5AE46547-2174-C7BB-C705-C744E7EC44B7}"/>
              </a:ext>
            </a:extLst>
          </p:cNvPr>
          <p:cNvCxnSpPr>
            <a:cxnSpLocks/>
          </p:cNvCxnSpPr>
          <p:nvPr/>
        </p:nvCxnSpPr>
        <p:spPr>
          <a:xfrm flipV="1">
            <a:off x="1826444" y="2936429"/>
            <a:ext cx="0" cy="52472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7CC126BD-39D7-DF39-96ED-8320CD7B7C84}"/>
              </a:ext>
            </a:extLst>
          </p:cNvPr>
          <p:cNvSpPr txBox="1"/>
          <p:nvPr/>
        </p:nvSpPr>
        <p:spPr>
          <a:xfrm>
            <a:off x="596542" y="2905780"/>
            <a:ext cx="1181590" cy="523220"/>
          </a:xfrm>
          <a:prstGeom prst="rect">
            <a:avLst/>
          </a:prstGeom>
          <a:noFill/>
        </p:spPr>
        <p:txBody>
          <a:bodyPr wrap="square" rtlCol="0">
            <a:spAutoFit/>
          </a:bodyPr>
          <a:lstStyle/>
          <a:p>
            <a:pPr algn="r"/>
            <a:r>
              <a:rPr kumimoji="1" lang="ja-JP" altLang="en-US" sz="1400">
                <a:latin typeface="Yu Gothic UI" panose="020B0500000000000000" pitchFamily="34" charset="-128"/>
                <a:ea typeface="Yu Gothic UI" panose="020B0500000000000000" pitchFamily="34" charset="-128"/>
              </a:rPr>
              <a:t>画面描画等の反応</a:t>
            </a:r>
          </a:p>
        </p:txBody>
      </p:sp>
      <p:sp>
        <p:nvSpPr>
          <p:cNvPr id="49" name="テキスト ボックス 48">
            <a:extLst>
              <a:ext uri="{FF2B5EF4-FFF2-40B4-BE49-F238E27FC236}">
                <a16:creationId xmlns:a16="http://schemas.microsoft.com/office/drawing/2014/main" id="{E10EB7B7-C652-2ACF-00EA-4FD4B294B5F8}"/>
              </a:ext>
            </a:extLst>
          </p:cNvPr>
          <p:cNvSpPr txBox="1"/>
          <p:nvPr/>
        </p:nvSpPr>
        <p:spPr>
          <a:xfrm>
            <a:off x="2094323" y="4571150"/>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レスポンス</a:t>
            </a:r>
          </a:p>
        </p:txBody>
      </p:sp>
      <p:sp>
        <p:nvSpPr>
          <p:cNvPr id="50" name="円形吹き出し 49">
            <a:extLst>
              <a:ext uri="{FF2B5EF4-FFF2-40B4-BE49-F238E27FC236}">
                <a16:creationId xmlns:a16="http://schemas.microsoft.com/office/drawing/2014/main" id="{0F603DEA-9E47-929C-208C-80A604683A1C}"/>
              </a:ext>
            </a:extLst>
          </p:cNvPr>
          <p:cNvSpPr/>
          <p:nvPr/>
        </p:nvSpPr>
        <p:spPr>
          <a:xfrm>
            <a:off x="2109247" y="5281368"/>
            <a:ext cx="2858679" cy="614607"/>
          </a:xfrm>
          <a:prstGeom prst="wedgeEllipseCallout">
            <a:avLst>
              <a:gd name="adj1" fmla="val -12259"/>
              <a:gd name="adj2" fmla="val -11542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51" name="フローチャート: 書類 50">
            <a:extLst>
              <a:ext uri="{FF2B5EF4-FFF2-40B4-BE49-F238E27FC236}">
                <a16:creationId xmlns:a16="http://schemas.microsoft.com/office/drawing/2014/main" id="{7F90AB6A-2C73-4A8B-49D2-FB84C9A0CC31}"/>
              </a:ext>
            </a:extLst>
          </p:cNvPr>
          <p:cNvSpPr/>
          <p:nvPr/>
        </p:nvSpPr>
        <p:spPr>
          <a:xfrm>
            <a:off x="2907383" y="5410986"/>
            <a:ext cx="1207417" cy="411048"/>
          </a:xfrm>
          <a:prstGeom prst="flowChartDocument">
            <a:avLst/>
          </a:prstGeom>
          <a:solidFill>
            <a:schemeClr val="bg1"/>
          </a:solid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52" name="テキスト ボックス 51">
            <a:extLst>
              <a:ext uri="{FF2B5EF4-FFF2-40B4-BE49-F238E27FC236}">
                <a16:creationId xmlns:a16="http://schemas.microsoft.com/office/drawing/2014/main" id="{7EF7D679-2AB1-80F4-89B7-A004A6167C44}"/>
              </a:ext>
            </a:extLst>
          </p:cNvPr>
          <p:cNvSpPr txBox="1"/>
          <p:nvPr/>
        </p:nvSpPr>
        <p:spPr>
          <a:xfrm>
            <a:off x="2907383" y="5428757"/>
            <a:ext cx="1207417"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HTML/JSON</a:t>
            </a:r>
            <a:endParaRPr kumimoji="1" lang="ja-JP" altLang="en-US" sz="1400">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8607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8D47843-662C-4BF7-ADA9-45E6EBF1B1E2}"/>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1台ですべて動かす構成</a:t>
            </a:r>
            <a:r>
              <a:rPr lang="en-US" sz="2100" b="1">
                <a:solidFill>
                  <a:srgbClr val="1F2937"/>
                </a:solidFill>
                <a:latin typeface="Meiryo UI"/>
                <a:ea typeface="Meiryo UI"/>
                <a:cs typeface="Meiryo UI"/>
              </a:rPr>
              <a:t> (モノリシック構成)</a:t>
            </a:r>
            <a:endParaRPr sz="2100" b="1">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A141B04D-F80E-4F87-84B6-2AF292B7F12A}"/>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30C94C53-BF82-427D-9E1D-84940AF502A2}"/>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06</a:t>
            </a:r>
          </a:p>
        </p:txBody>
      </p:sp>
      <p:sp>
        <p:nvSpPr>
          <p:cNvPr id="4" name="正方形/長方形 3">
            <a:extLst>
              <a:ext uri="{FF2B5EF4-FFF2-40B4-BE49-F238E27FC236}">
                <a16:creationId xmlns:a16="http://schemas.microsoft.com/office/drawing/2014/main" id="{64A36ED4-CC04-472E-8819-80057C8FC27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733E7D5-BCDC-4382-A851-22AA4ACB9F70}"/>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小規模な構成では Web、アプリケーション、DB を1台に同居させることもあり、まずはこの単純な形から役割の違いを見ていきます。</a:t>
            </a:r>
          </a:p>
        </p:txBody>
      </p:sp>
      <p:sp>
        <p:nvSpPr>
          <p:cNvPr id="6" name="正方形/長方形 5">
            <a:extLst>
              <a:ext uri="{FF2B5EF4-FFF2-40B4-BE49-F238E27FC236}">
                <a16:creationId xmlns:a16="http://schemas.microsoft.com/office/drawing/2014/main" id="{53B0C26C-9592-4310-BBAC-A92D7EE6B48E}"/>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1D64685D-35CE-4D26-BA78-74A576272915}"/>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6 / 32</a:t>
            </a:r>
          </a:p>
        </p:txBody>
      </p:sp>
      <p:sp>
        <p:nvSpPr>
          <p:cNvPr id="18" name="角丸四角形 17">
            <a:extLst>
              <a:ext uri="{FF2B5EF4-FFF2-40B4-BE49-F238E27FC236}">
                <a16:creationId xmlns:a16="http://schemas.microsoft.com/office/drawing/2014/main" id="{7DAED7F9-E6F7-53EE-BFAF-484F6997C9FA}"/>
              </a:ext>
            </a:extLst>
          </p:cNvPr>
          <p:cNvSpPr/>
          <p:nvPr/>
        </p:nvSpPr>
        <p:spPr>
          <a:xfrm>
            <a:off x="1225485" y="3186260"/>
            <a:ext cx="1809946"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BC118EC9-3038-6830-C170-CBA64F0FEEFD}"/>
              </a:ext>
            </a:extLst>
          </p:cNvPr>
          <p:cNvSpPr/>
          <p:nvPr/>
        </p:nvSpPr>
        <p:spPr>
          <a:xfrm>
            <a:off x="1353532" y="4085685"/>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6C3F33D8-168D-48E6-19EA-B8413A2B9900}"/>
              </a:ext>
            </a:extLst>
          </p:cNvPr>
          <p:cNvSpPr/>
          <p:nvPr/>
        </p:nvSpPr>
        <p:spPr>
          <a:xfrm>
            <a:off x="1353532" y="3367726"/>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AE281034-C684-DBB7-2944-D9784C8E4F1B}"/>
              </a:ext>
            </a:extLst>
          </p:cNvPr>
          <p:cNvSpPr txBox="1"/>
          <p:nvPr/>
        </p:nvSpPr>
        <p:spPr>
          <a:xfrm>
            <a:off x="1461155" y="480364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クライアント</a:t>
            </a:r>
          </a:p>
        </p:txBody>
      </p:sp>
      <p:sp>
        <p:nvSpPr>
          <p:cNvPr id="22" name="テキスト ボックス 21">
            <a:extLst>
              <a:ext uri="{FF2B5EF4-FFF2-40B4-BE49-F238E27FC236}">
                <a16:creationId xmlns:a16="http://schemas.microsoft.com/office/drawing/2014/main" id="{1B746E0B-099F-9B08-8913-3AA94587B16E}"/>
              </a:ext>
            </a:extLst>
          </p:cNvPr>
          <p:cNvSpPr txBox="1"/>
          <p:nvPr/>
        </p:nvSpPr>
        <p:spPr>
          <a:xfrm>
            <a:off x="1461155" y="4174583"/>
            <a:ext cx="1338606"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OS</a:t>
            </a: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3" name="テキスト ボックス 22">
            <a:extLst>
              <a:ext uri="{FF2B5EF4-FFF2-40B4-BE49-F238E27FC236}">
                <a16:creationId xmlns:a16="http://schemas.microsoft.com/office/drawing/2014/main" id="{DB330520-7285-E044-8D0C-3087AA5B61B5}"/>
              </a:ext>
            </a:extLst>
          </p:cNvPr>
          <p:cNvSpPr txBox="1"/>
          <p:nvPr/>
        </p:nvSpPr>
        <p:spPr>
          <a:xfrm>
            <a:off x="1461155" y="3461150"/>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pic>
        <p:nvPicPr>
          <p:cNvPr id="24" name="グラフィックス 23" descr="ユーザー 枠線">
            <a:extLst>
              <a:ext uri="{FF2B5EF4-FFF2-40B4-BE49-F238E27FC236}">
                <a16:creationId xmlns:a16="http://schemas.microsoft.com/office/drawing/2014/main" id="{401A921B-3F09-18D0-8DC5-B095A2342F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18195" y="2318896"/>
            <a:ext cx="582105" cy="582105"/>
          </a:xfrm>
          <a:prstGeom prst="rect">
            <a:avLst/>
          </a:prstGeom>
        </p:spPr>
      </p:pic>
      <p:sp>
        <p:nvSpPr>
          <p:cNvPr id="25" name="円/楕円 24">
            <a:extLst>
              <a:ext uri="{FF2B5EF4-FFF2-40B4-BE49-F238E27FC236}">
                <a16:creationId xmlns:a16="http://schemas.microsoft.com/office/drawing/2014/main" id="{18FF39C2-0E5E-FF95-06F9-8045A50416FE}"/>
              </a:ext>
            </a:extLst>
          </p:cNvPr>
          <p:cNvSpPr/>
          <p:nvPr/>
        </p:nvSpPr>
        <p:spPr>
          <a:xfrm>
            <a:off x="3337285" y="4174583"/>
            <a:ext cx="2507530" cy="1001002"/>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1"/>
                </a:solidFill>
                <a:latin typeface="Yu Gothic UI" panose="020B0500000000000000" pitchFamily="34" charset="-128"/>
                <a:ea typeface="Yu Gothic UI" panose="020B0500000000000000" pitchFamily="34" charset="-128"/>
              </a:rPr>
              <a:t>インターネット</a:t>
            </a:r>
          </a:p>
        </p:txBody>
      </p:sp>
      <p:sp>
        <p:nvSpPr>
          <p:cNvPr id="26" name="角丸四角形 25">
            <a:extLst>
              <a:ext uri="{FF2B5EF4-FFF2-40B4-BE49-F238E27FC236}">
                <a16:creationId xmlns:a16="http://schemas.microsoft.com/office/drawing/2014/main" id="{AB543DC0-7BD7-43E1-97B9-D127406899E7}"/>
              </a:ext>
            </a:extLst>
          </p:cNvPr>
          <p:cNvSpPr/>
          <p:nvPr/>
        </p:nvSpPr>
        <p:spPr>
          <a:xfrm>
            <a:off x="6213836" y="3226324"/>
            <a:ext cx="4624632" cy="2055044"/>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角丸四角形 26">
            <a:extLst>
              <a:ext uri="{FF2B5EF4-FFF2-40B4-BE49-F238E27FC236}">
                <a16:creationId xmlns:a16="http://schemas.microsoft.com/office/drawing/2014/main" id="{86810C81-4F94-48BD-BDEB-A04FD4DE2933}"/>
              </a:ext>
            </a:extLst>
          </p:cNvPr>
          <p:cNvSpPr/>
          <p:nvPr/>
        </p:nvSpPr>
        <p:spPr>
          <a:xfrm>
            <a:off x="6417298" y="3403098"/>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8E49CD7A-03AC-313B-24D7-1AA381C087EF}"/>
              </a:ext>
            </a:extLst>
          </p:cNvPr>
          <p:cNvSpPr txBox="1"/>
          <p:nvPr/>
        </p:nvSpPr>
        <p:spPr>
          <a:xfrm>
            <a:off x="7438731" y="4818640"/>
            <a:ext cx="2174842"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29" name="角丸四角形 28">
            <a:extLst>
              <a:ext uri="{FF2B5EF4-FFF2-40B4-BE49-F238E27FC236}">
                <a16:creationId xmlns:a16="http://schemas.microsoft.com/office/drawing/2014/main" id="{3492A1CA-4160-D480-557E-D5BEC13050DA}"/>
              </a:ext>
            </a:extLst>
          </p:cNvPr>
          <p:cNvSpPr/>
          <p:nvPr/>
        </p:nvSpPr>
        <p:spPr>
          <a:xfrm>
            <a:off x="7987646" y="3403120"/>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29">
            <a:extLst>
              <a:ext uri="{FF2B5EF4-FFF2-40B4-BE49-F238E27FC236}">
                <a16:creationId xmlns:a16="http://schemas.microsoft.com/office/drawing/2014/main" id="{8F3487FC-8B2E-0089-9FDD-0CE7D9007D30}"/>
              </a:ext>
            </a:extLst>
          </p:cNvPr>
          <p:cNvSpPr/>
          <p:nvPr/>
        </p:nvSpPr>
        <p:spPr>
          <a:xfrm>
            <a:off x="9556816" y="3419595"/>
            <a:ext cx="1077012" cy="1238768"/>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59DAF6F-13D9-AFDB-008C-9593DCA5EA2F}"/>
              </a:ext>
            </a:extLst>
          </p:cNvPr>
          <p:cNvSpPr txBox="1"/>
          <p:nvPr/>
        </p:nvSpPr>
        <p:spPr>
          <a:xfrm>
            <a:off x="6565377" y="3461150"/>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a:t>
            </a:r>
          </a:p>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sp>
        <p:nvSpPr>
          <p:cNvPr id="32" name="テキスト ボックス 31">
            <a:extLst>
              <a:ext uri="{FF2B5EF4-FFF2-40B4-BE49-F238E27FC236}">
                <a16:creationId xmlns:a16="http://schemas.microsoft.com/office/drawing/2014/main" id="{01080A7B-E99F-2E7B-EC5D-E48FDB7466D0}"/>
              </a:ext>
            </a:extLst>
          </p:cNvPr>
          <p:cNvSpPr txBox="1"/>
          <p:nvPr/>
        </p:nvSpPr>
        <p:spPr>
          <a:xfrm>
            <a:off x="8134547" y="3461150"/>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sp>
        <p:nvSpPr>
          <p:cNvPr id="33" name="テキスト ボックス 32">
            <a:extLst>
              <a:ext uri="{FF2B5EF4-FFF2-40B4-BE49-F238E27FC236}">
                <a16:creationId xmlns:a16="http://schemas.microsoft.com/office/drawing/2014/main" id="{4B3D14C4-940F-27BA-6D29-71FA38572598}"/>
              </a:ext>
            </a:extLst>
          </p:cNvPr>
          <p:cNvSpPr txBox="1"/>
          <p:nvPr/>
        </p:nvSpPr>
        <p:spPr>
          <a:xfrm>
            <a:off x="9704305" y="3447875"/>
            <a:ext cx="782033" cy="646331"/>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cxnSp>
        <p:nvCxnSpPr>
          <p:cNvPr id="34" name="直線コネクタ 33">
            <a:extLst>
              <a:ext uri="{FF2B5EF4-FFF2-40B4-BE49-F238E27FC236}">
                <a16:creationId xmlns:a16="http://schemas.microsoft.com/office/drawing/2014/main" id="{90A484BB-A235-E484-1872-1132D32064EF}"/>
              </a:ext>
            </a:extLst>
          </p:cNvPr>
          <p:cNvCxnSpPr>
            <a:cxnSpLocks/>
          </p:cNvCxnSpPr>
          <p:nvPr/>
        </p:nvCxnSpPr>
        <p:spPr>
          <a:xfrm>
            <a:off x="2234153" y="3784315"/>
            <a:ext cx="0" cy="390268"/>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FC3C49DA-E67A-3069-D762-F2102A512EFE}"/>
              </a:ext>
            </a:extLst>
          </p:cNvPr>
          <p:cNvCxnSpPr>
            <a:cxnSpLocks/>
          </p:cNvCxnSpPr>
          <p:nvPr/>
        </p:nvCxnSpPr>
        <p:spPr>
          <a:xfrm>
            <a:off x="2234153" y="4153124"/>
            <a:ext cx="3861847"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B8E25BD0-5D2C-78CA-A019-1BEF046CABC4}"/>
              </a:ext>
            </a:extLst>
          </p:cNvPr>
          <p:cNvSpPr txBox="1"/>
          <p:nvPr/>
        </p:nvSpPr>
        <p:spPr>
          <a:xfrm>
            <a:off x="3404452" y="3738149"/>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リクエスト</a:t>
            </a:r>
          </a:p>
        </p:txBody>
      </p:sp>
      <p:cxnSp>
        <p:nvCxnSpPr>
          <p:cNvPr id="37" name="直線コネクタ 36">
            <a:extLst>
              <a:ext uri="{FF2B5EF4-FFF2-40B4-BE49-F238E27FC236}">
                <a16:creationId xmlns:a16="http://schemas.microsoft.com/office/drawing/2014/main" id="{4C905F71-D462-B933-38F2-37A5207677F0}"/>
              </a:ext>
            </a:extLst>
          </p:cNvPr>
          <p:cNvCxnSpPr>
            <a:cxnSpLocks/>
          </p:cNvCxnSpPr>
          <p:nvPr/>
        </p:nvCxnSpPr>
        <p:spPr>
          <a:xfrm>
            <a:off x="1818195" y="4475207"/>
            <a:ext cx="4277805" cy="0"/>
          </a:xfrm>
          <a:prstGeom prst="line">
            <a:avLst/>
          </a:prstGeom>
          <a:ln w="44450">
            <a:tailEnd type="none"/>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62E3E80A-3037-8DB5-3715-D8DE8355016A}"/>
              </a:ext>
            </a:extLst>
          </p:cNvPr>
          <p:cNvCxnSpPr>
            <a:cxnSpLocks/>
          </p:cNvCxnSpPr>
          <p:nvPr/>
        </p:nvCxnSpPr>
        <p:spPr>
          <a:xfrm>
            <a:off x="2234153" y="2969443"/>
            <a:ext cx="0" cy="590533"/>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3429478-DF25-5798-AF13-379A2DFF2D74}"/>
              </a:ext>
            </a:extLst>
          </p:cNvPr>
          <p:cNvSpPr txBox="1"/>
          <p:nvPr/>
        </p:nvSpPr>
        <p:spPr>
          <a:xfrm>
            <a:off x="2288258" y="2897801"/>
            <a:ext cx="651727" cy="307777"/>
          </a:xfrm>
          <a:prstGeom prst="rect">
            <a:avLst/>
          </a:prstGeom>
          <a:noFill/>
        </p:spPr>
        <p:txBody>
          <a:bodyPr wrap="square" rtlCol="0">
            <a:spAutoFit/>
          </a:bodyPr>
          <a:lstStyle/>
          <a:p>
            <a:r>
              <a:rPr kumimoji="1" lang="ja-JP" altLang="en-US" sz="1400">
                <a:latin typeface="Yu Gothic UI" panose="020B0500000000000000" pitchFamily="34" charset="-128"/>
                <a:ea typeface="Yu Gothic UI" panose="020B0500000000000000" pitchFamily="34" charset="-128"/>
              </a:rPr>
              <a:t>操作</a:t>
            </a:r>
          </a:p>
        </p:txBody>
      </p:sp>
      <p:cxnSp>
        <p:nvCxnSpPr>
          <p:cNvPr id="40" name="直線コネクタ 39">
            <a:extLst>
              <a:ext uri="{FF2B5EF4-FFF2-40B4-BE49-F238E27FC236}">
                <a16:creationId xmlns:a16="http://schemas.microsoft.com/office/drawing/2014/main" id="{205BB512-2B9D-EDDB-B316-D2A808C89E32}"/>
              </a:ext>
            </a:extLst>
          </p:cNvPr>
          <p:cNvCxnSpPr>
            <a:cxnSpLocks/>
          </p:cNvCxnSpPr>
          <p:nvPr/>
        </p:nvCxnSpPr>
        <p:spPr>
          <a:xfrm>
            <a:off x="1837049" y="3803169"/>
            <a:ext cx="0" cy="690892"/>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12E1CFAC-D810-D74C-BF4C-2FF861CC9286}"/>
              </a:ext>
            </a:extLst>
          </p:cNvPr>
          <p:cNvCxnSpPr>
            <a:cxnSpLocks/>
          </p:cNvCxnSpPr>
          <p:nvPr/>
        </p:nvCxnSpPr>
        <p:spPr>
          <a:xfrm flipV="1">
            <a:off x="1826444" y="2936429"/>
            <a:ext cx="0" cy="52472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B865D029-542C-40F7-EA88-838398B6E83B}"/>
              </a:ext>
            </a:extLst>
          </p:cNvPr>
          <p:cNvSpPr txBox="1"/>
          <p:nvPr/>
        </p:nvSpPr>
        <p:spPr>
          <a:xfrm>
            <a:off x="596542" y="2905780"/>
            <a:ext cx="1181590" cy="523220"/>
          </a:xfrm>
          <a:prstGeom prst="rect">
            <a:avLst/>
          </a:prstGeom>
          <a:noFill/>
        </p:spPr>
        <p:txBody>
          <a:bodyPr wrap="square" rtlCol="0">
            <a:spAutoFit/>
          </a:bodyPr>
          <a:lstStyle/>
          <a:p>
            <a:pPr algn="r"/>
            <a:r>
              <a:rPr kumimoji="1" lang="ja-JP" altLang="en-US" sz="1400">
                <a:latin typeface="Yu Gothic UI" panose="020B0500000000000000" pitchFamily="34" charset="-128"/>
                <a:ea typeface="Yu Gothic UI" panose="020B0500000000000000" pitchFamily="34" charset="-128"/>
              </a:rPr>
              <a:t>画面描画等の反応</a:t>
            </a:r>
          </a:p>
        </p:txBody>
      </p:sp>
      <p:sp>
        <p:nvSpPr>
          <p:cNvPr id="43" name="テキスト ボックス 42">
            <a:extLst>
              <a:ext uri="{FF2B5EF4-FFF2-40B4-BE49-F238E27FC236}">
                <a16:creationId xmlns:a16="http://schemas.microsoft.com/office/drawing/2014/main" id="{29009C25-8C7C-0757-44C0-3BF30E406C37}"/>
              </a:ext>
            </a:extLst>
          </p:cNvPr>
          <p:cNvSpPr txBox="1"/>
          <p:nvPr/>
        </p:nvSpPr>
        <p:spPr>
          <a:xfrm>
            <a:off x="2094323" y="4571150"/>
            <a:ext cx="2338044"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HTTP </a:t>
            </a:r>
            <a:r>
              <a:rPr kumimoji="1" lang="ja-JP" altLang="en-US" sz="1400">
                <a:latin typeface="Yu Gothic UI" panose="020B0500000000000000" pitchFamily="34" charset="-128"/>
                <a:ea typeface="Yu Gothic UI" panose="020B0500000000000000" pitchFamily="34" charset="-128"/>
              </a:rPr>
              <a:t>レスポンス</a:t>
            </a:r>
          </a:p>
        </p:txBody>
      </p:sp>
      <p:sp>
        <p:nvSpPr>
          <p:cNvPr id="44" name="円形吹き出し 43">
            <a:extLst>
              <a:ext uri="{FF2B5EF4-FFF2-40B4-BE49-F238E27FC236}">
                <a16:creationId xmlns:a16="http://schemas.microsoft.com/office/drawing/2014/main" id="{C23137C2-24C4-2795-0DE6-535A17667E8D}"/>
              </a:ext>
            </a:extLst>
          </p:cNvPr>
          <p:cNvSpPr/>
          <p:nvPr/>
        </p:nvSpPr>
        <p:spPr>
          <a:xfrm>
            <a:off x="2109247" y="5281368"/>
            <a:ext cx="2858679" cy="614607"/>
          </a:xfrm>
          <a:prstGeom prst="wedgeEllipseCallout">
            <a:avLst>
              <a:gd name="adj1" fmla="val -12259"/>
              <a:gd name="adj2" fmla="val -11542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45" name="フローチャート: 書類 44">
            <a:extLst>
              <a:ext uri="{FF2B5EF4-FFF2-40B4-BE49-F238E27FC236}">
                <a16:creationId xmlns:a16="http://schemas.microsoft.com/office/drawing/2014/main" id="{2DCECCD5-E2EC-A6BB-9D81-C887AA7C20F9}"/>
              </a:ext>
            </a:extLst>
          </p:cNvPr>
          <p:cNvSpPr/>
          <p:nvPr/>
        </p:nvSpPr>
        <p:spPr>
          <a:xfrm>
            <a:off x="2907383" y="5410986"/>
            <a:ext cx="1207417" cy="411048"/>
          </a:xfrm>
          <a:prstGeom prst="flowChartDocument">
            <a:avLst/>
          </a:prstGeom>
          <a:solidFill>
            <a:schemeClr val="bg1"/>
          </a:solid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latin typeface="Yu Gothic UI" panose="020B0500000000000000" pitchFamily="34" charset="-128"/>
              <a:ea typeface="Yu Gothic UI" panose="020B0500000000000000" pitchFamily="34" charset="-128"/>
            </a:endParaRPr>
          </a:p>
        </p:txBody>
      </p:sp>
      <p:sp>
        <p:nvSpPr>
          <p:cNvPr id="46" name="テキスト ボックス 45">
            <a:extLst>
              <a:ext uri="{FF2B5EF4-FFF2-40B4-BE49-F238E27FC236}">
                <a16:creationId xmlns:a16="http://schemas.microsoft.com/office/drawing/2014/main" id="{1102B7F1-0B51-B0AF-4012-565B665E0422}"/>
              </a:ext>
            </a:extLst>
          </p:cNvPr>
          <p:cNvSpPr txBox="1"/>
          <p:nvPr/>
        </p:nvSpPr>
        <p:spPr>
          <a:xfrm>
            <a:off x="2907383" y="5428757"/>
            <a:ext cx="1207417" cy="307777"/>
          </a:xfrm>
          <a:prstGeom prst="rect">
            <a:avLst/>
          </a:prstGeom>
          <a:noFill/>
        </p:spPr>
        <p:txBody>
          <a:bodyPr wrap="square" rtlCol="0">
            <a:spAutoFit/>
          </a:bodyPr>
          <a:lstStyle/>
          <a:p>
            <a:pPr algn="ctr"/>
            <a:r>
              <a:rPr kumimoji="1" lang="en-US" altLang="ja-JP" sz="1400">
                <a:latin typeface="Yu Gothic UI" panose="020B0500000000000000" pitchFamily="34" charset="-128"/>
                <a:ea typeface="Yu Gothic UI" panose="020B0500000000000000" pitchFamily="34" charset="-128"/>
              </a:rPr>
              <a:t>HTML/JSON</a:t>
            </a:r>
            <a:endParaRPr kumimoji="1" lang="ja-JP" altLang="en-US" sz="1400">
              <a:latin typeface="Yu Gothic UI" panose="020B0500000000000000" pitchFamily="34" charset="-128"/>
              <a:ea typeface="Yu Gothic UI" panose="020B0500000000000000" pitchFamily="34" charset="-128"/>
            </a:endParaRPr>
          </a:p>
        </p:txBody>
      </p:sp>
      <p:sp>
        <p:nvSpPr>
          <p:cNvPr id="47" name="角丸四角形 46">
            <a:extLst>
              <a:ext uri="{FF2B5EF4-FFF2-40B4-BE49-F238E27FC236}">
                <a16:creationId xmlns:a16="http://schemas.microsoft.com/office/drawing/2014/main" id="{E3EE5A9F-F950-CC98-89AE-E998C9997F6B}"/>
              </a:ext>
            </a:extLst>
          </p:cNvPr>
          <p:cNvSpPr/>
          <p:nvPr/>
        </p:nvSpPr>
        <p:spPr>
          <a:xfrm>
            <a:off x="6034825" y="2969443"/>
            <a:ext cx="4956043" cy="276709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CC457A2F-ED49-708A-0F58-7CC0C6FF3A37}"/>
              </a:ext>
            </a:extLst>
          </p:cNvPr>
          <p:cNvSpPr txBox="1"/>
          <p:nvPr/>
        </p:nvSpPr>
        <p:spPr>
          <a:xfrm>
            <a:off x="7438731" y="5330465"/>
            <a:ext cx="2174842" cy="369332"/>
          </a:xfrm>
          <a:prstGeom prst="rect">
            <a:avLst/>
          </a:prstGeom>
          <a:noFill/>
        </p:spPr>
        <p:txBody>
          <a:bodyPr wrap="square" rtlCol="0">
            <a:spAutoFit/>
          </a:bodyPr>
          <a:lstStyle/>
          <a:p>
            <a:pPr algn="ctr"/>
            <a:r>
              <a:rPr kumimoji="1" lang="ja-JP" altLang="en-US" b="1" u="sng">
                <a:solidFill>
                  <a:srgbClr val="FF0000"/>
                </a:solidFill>
                <a:latin typeface="Yu Gothic UI" panose="020B0500000000000000" pitchFamily="34" charset="-128"/>
                <a:ea typeface="Yu Gothic UI" panose="020B0500000000000000" pitchFamily="34" charset="-128"/>
              </a:rPr>
              <a:t>サーバハードウェア</a:t>
            </a:r>
          </a:p>
        </p:txBody>
      </p:sp>
    </p:spTree>
    <p:extLst>
      <p:ext uri="{BB962C8B-B14F-4D97-AF65-F5344CB8AC3E}">
        <p14:creationId xmlns:p14="http://schemas.microsoft.com/office/powerpoint/2010/main" val="118607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87A9E0FD-D66C-4878-846D-34598BEFDE91}"/>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モノリシック構成の利点と注意点</a:t>
            </a:r>
          </a:p>
        </p:txBody>
      </p:sp>
      <p:sp>
        <p:nvSpPr>
          <p:cNvPr id="2" name="正方形/長方形 1">
            <a:extLst>
              <a:ext uri="{FF2B5EF4-FFF2-40B4-BE49-F238E27FC236}">
                <a16:creationId xmlns:a16="http://schemas.microsoft.com/office/drawing/2014/main" id="{EC63FF04-2CCC-43DE-BD1C-A4DEB43FF49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AD470DC3-3434-4C42-AB6D-775B44DB78DD}"/>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07</a:t>
            </a:r>
          </a:p>
        </p:txBody>
      </p:sp>
      <p:sp>
        <p:nvSpPr>
          <p:cNvPr id="4" name="正方形/長方形 3">
            <a:extLst>
              <a:ext uri="{FF2B5EF4-FFF2-40B4-BE49-F238E27FC236}">
                <a16:creationId xmlns:a16="http://schemas.microsoft.com/office/drawing/2014/main" id="{65435B1B-A59B-441E-8E44-B43CA86FD85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5E2BA15-A867-47B0-8227-F9CAEFD4F4B8}"/>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1台にまとめた構成は始めやすい一方で、規模が大きくなると拡張、障害対応、変更範囲の分離が難しくなるため、利点と注意点をセットで確認します。</a:t>
            </a:r>
          </a:p>
        </p:txBody>
      </p:sp>
      <p:sp>
        <p:nvSpPr>
          <p:cNvPr id="6" name="正方形/長方形 5">
            <a:extLst>
              <a:ext uri="{FF2B5EF4-FFF2-40B4-BE49-F238E27FC236}">
                <a16:creationId xmlns:a16="http://schemas.microsoft.com/office/drawing/2014/main" id="{054A4194-564A-499B-9DD9-C13A86CBFA8E}"/>
              </a:ext>
            </a:extLst>
          </p:cNvPr>
          <p:cNvSpPr>
            <a:spLocks noGrp="1"/>
          </p:cNvSpPr>
          <p:nvPr/>
        </p:nvSpPr>
        <p:spPr>
          <a:xfrm>
            <a:off x="876300" y="2114550"/>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7" name="正方形/長方形 6">
            <a:extLst>
              <a:ext uri="{FF2B5EF4-FFF2-40B4-BE49-F238E27FC236}">
                <a16:creationId xmlns:a16="http://schemas.microsoft.com/office/drawing/2014/main" id="{8E8FA693-A916-4903-AB33-F078CAF0EA7E}"/>
              </a:ext>
            </a:extLst>
          </p:cNvPr>
          <p:cNvSpPr>
            <a:spLocks noGrp="1"/>
          </p:cNvSpPr>
          <p:nvPr/>
        </p:nvSpPr>
        <p:spPr>
          <a:xfrm>
            <a:off x="9525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観点</a:t>
            </a:r>
          </a:p>
        </p:txBody>
      </p:sp>
      <p:sp>
        <p:nvSpPr>
          <p:cNvPr id="8" name="正方形/長方形 7">
            <a:extLst>
              <a:ext uri="{FF2B5EF4-FFF2-40B4-BE49-F238E27FC236}">
                <a16:creationId xmlns:a16="http://schemas.microsoft.com/office/drawing/2014/main" id="{F700DB19-EB0B-4C58-8873-7401D57C0D0A}"/>
              </a:ext>
            </a:extLst>
          </p:cNvPr>
          <p:cNvSpPr>
            <a:spLocks noGrp="1"/>
          </p:cNvSpPr>
          <p:nvPr/>
        </p:nvSpPr>
        <p:spPr>
          <a:xfrm>
            <a:off x="4356100" y="2114550"/>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9" name="正方形/長方形 8">
            <a:extLst>
              <a:ext uri="{FF2B5EF4-FFF2-40B4-BE49-F238E27FC236}">
                <a16:creationId xmlns:a16="http://schemas.microsoft.com/office/drawing/2014/main" id="{970CD62F-4C00-42B2-AF85-766FFBA08934}"/>
              </a:ext>
            </a:extLst>
          </p:cNvPr>
          <p:cNvSpPr>
            <a:spLocks noGrp="1"/>
          </p:cNvSpPr>
          <p:nvPr/>
        </p:nvSpPr>
        <p:spPr>
          <a:xfrm>
            <a:off x="44323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利点</a:t>
            </a:r>
          </a:p>
        </p:txBody>
      </p:sp>
      <p:sp>
        <p:nvSpPr>
          <p:cNvPr id="10" name="正方形/長方形 9">
            <a:extLst>
              <a:ext uri="{FF2B5EF4-FFF2-40B4-BE49-F238E27FC236}">
                <a16:creationId xmlns:a16="http://schemas.microsoft.com/office/drawing/2014/main" id="{25FF9212-E497-4847-8D8E-65BEEFD32C58}"/>
              </a:ext>
            </a:extLst>
          </p:cNvPr>
          <p:cNvSpPr>
            <a:spLocks noGrp="1"/>
          </p:cNvSpPr>
          <p:nvPr/>
        </p:nvSpPr>
        <p:spPr>
          <a:xfrm>
            <a:off x="7835900" y="2114550"/>
            <a:ext cx="3479800" cy="438150"/>
          </a:xfrm>
          <a:prstGeom prst="rect">
            <a:avLst/>
          </a:prstGeom>
          <a:solidFill>
            <a:srgbClr val="244A8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1" name="正方形/長方形 10">
            <a:extLst>
              <a:ext uri="{FF2B5EF4-FFF2-40B4-BE49-F238E27FC236}">
                <a16:creationId xmlns:a16="http://schemas.microsoft.com/office/drawing/2014/main" id="{8CC49470-AE30-446C-8167-BD5ED3707090}"/>
              </a:ext>
            </a:extLst>
          </p:cNvPr>
          <p:cNvSpPr>
            <a:spLocks noGrp="1"/>
          </p:cNvSpPr>
          <p:nvPr/>
        </p:nvSpPr>
        <p:spPr>
          <a:xfrm>
            <a:off x="79121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1600" b="1">
                <a:solidFill>
                  <a:srgbClr val="FFFFFF"/>
                </a:solidFill>
                <a:latin typeface="Yu Gothic UI" panose="020B0500000000000000" pitchFamily="34" charset="-128"/>
                <a:ea typeface="Yu Gothic UI" panose="020B0500000000000000" pitchFamily="34" charset="-128"/>
                <a:cs typeface="Yu Gothic UI"/>
              </a:rPr>
              <a:t>注意点</a:t>
            </a:r>
          </a:p>
        </p:txBody>
      </p:sp>
      <p:sp>
        <p:nvSpPr>
          <p:cNvPr id="12" name="正方形/長方形 11">
            <a:extLst>
              <a:ext uri="{FF2B5EF4-FFF2-40B4-BE49-F238E27FC236}">
                <a16:creationId xmlns:a16="http://schemas.microsoft.com/office/drawing/2014/main" id="{E790CF4F-1EAA-4D9F-A047-1172385C6E6C}"/>
              </a:ext>
            </a:extLst>
          </p:cNvPr>
          <p:cNvSpPr>
            <a:spLocks noGrp="1"/>
          </p:cNvSpPr>
          <p:nvPr/>
        </p:nvSpPr>
        <p:spPr>
          <a:xfrm>
            <a:off x="876300" y="2552700"/>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D4B1FBB3-912D-4107-B9C9-150778F85685}"/>
              </a:ext>
            </a:extLst>
          </p:cNvPr>
          <p:cNvSpPr>
            <a:spLocks noGrp="1"/>
          </p:cNvSpPr>
          <p:nvPr/>
        </p:nvSpPr>
        <p:spPr>
          <a:xfrm>
            <a:off x="9525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構築</a:t>
            </a:r>
          </a:p>
        </p:txBody>
      </p:sp>
      <p:sp>
        <p:nvSpPr>
          <p:cNvPr id="14" name="正方形/長方形 13">
            <a:extLst>
              <a:ext uri="{FF2B5EF4-FFF2-40B4-BE49-F238E27FC236}">
                <a16:creationId xmlns:a16="http://schemas.microsoft.com/office/drawing/2014/main" id="{E98D0EB2-EEF8-406C-B225-237D9860646A}"/>
              </a:ext>
            </a:extLst>
          </p:cNvPr>
          <p:cNvSpPr>
            <a:spLocks noGrp="1"/>
          </p:cNvSpPr>
          <p:nvPr/>
        </p:nvSpPr>
        <p:spPr>
          <a:xfrm>
            <a:off x="4356100" y="25527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5" name="正方形/長方形 14">
            <a:extLst>
              <a:ext uri="{FF2B5EF4-FFF2-40B4-BE49-F238E27FC236}">
                <a16:creationId xmlns:a16="http://schemas.microsoft.com/office/drawing/2014/main" id="{DFF3EBC4-F647-46AC-8BE1-9C81840083BE}"/>
              </a:ext>
            </a:extLst>
          </p:cNvPr>
          <p:cNvSpPr>
            <a:spLocks noGrp="1"/>
          </p:cNvSpPr>
          <p:nvPr/>
        </p:nvSpPr>
        <p:spPr>
          <a:xfrm>
            <a:off x="44323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必要なサーバやネットワーク構成が少ない。</a:t>
            </a:r>
          </a:p>
        </p:txBody>
      </p:sp>
      <p:sp>
        <p:nvSpPr>
          <p:cNvPr id="16" name="正方形/長方形 15">
            <a:extLst>
              <a:ext uri="{FF2B5EF4-FFF2-40B4-BE49-F238E27FC236}">
                <a16:creationId xmlns:a16="http://schemas.microsoft.com/office/drawing/2014/main" id="{BC1B1EEA-4437-4EF7-8B72-5DF5D6609325}"/>
              </a:ext>
            </a:extLst>
          </p:cNvPr>
          <p:cNvSpPr>
            <a:spLocks noGrp="1"/>
          </p:cNvSpPr>
          <p:nvPr/>
        </p:nvSpPr>
        <p:spPr>
          <a:xfrm>
            <a:off x="7835900" y="25527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7" name="正方形/長方形 16">
            <a:extLst>
              <a:ext uri="{FF2B5EF4-FFF2-40B4-BE49-F238E27FC236}">
                <a16:creationId xmlns:a16="http://schemas.microsoft.com/office/drawing/2014/main" id="{9ECE65F4-4E64-4999-B292-39AF2C8E2E81}"/>
              </a:ext>
            </a:extLst>
          </p:cNvPr>
          <p:cNvSpPr>
            <a:spLocks noGrp="1"/>
          </p:cNvSpPr>
          <p:nvPr/>
        </p:nvSpPr>
        <p:spPr>
          <a:xfrm>
            <a:off x="79121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役割が同居するため、後から責任範囲を分けにくい。</a:t>
            </a:r>
          </a:p>
        </p:txBody>
      </p:sp>
      <p:sp>
        <p:nvSpPr>
          <p:cNvPr id="18" name="正方形/長方形 17">
            <a:extLst>
              <a:ext uri="{FF2B5EF4-FFF2-40B4-BE49-F238E27FC236}">
                <a16:creationId xmlns:a16="http://schemas.microsoft.com/office/drawing/2014/main" id="{04760074-F06E-4155-95AD-4B2B469700CC}"/>
              </a:ext>
            </a:extLst>
          </p:cNvPr>
          <p:cNvSpPr>
            <a:spLocks noGrp="1"/>
          </p:cNvSpPr>
          <p:nvPr/>
        </p:nvSpPr>
        <p:spPr>
          <a:xfrm>
            <a:off x="876300" y="3486150"/>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19" name="正方形/長方形 18">
            <a:extLst>
              <a:ext uri="{FF2B5EF4-FFF2-40B4-BE49-F238E27FC236}">
                <a16:creationId xmlns:a16="http://schemas.microsoft.com/office/drawing/2014/main" id="{A11A12ED-00B6-4AAD-8776-7B99ED60293C}"/>
              </a:ext>
            </a:extLst>
          </p:cNvPr>
          <p:cNvSpPr>
            <a:spLocks noGrp="1"/>
          </p:cNvSpPr>
          <p:nvPr/>
        </p:nvSpPr>
        <p:spPr>
          <a:xfrm>
            <a:off x="9525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通信</a:t>
            </a:r>
          </a:p>
        </p:txBody>
      </p:sp>
      <p:sp>
        <p:nvSpPr>
          <p:cNvPr id="20" name="正方形/長方形 19">
            <a:extLst>
              <a:ext uri="{FF2B5EF4-FFF2-40B4-BE49-F238E27FC236}">
                <a16:creationId xmlns:a16="http://schemas.microsoft.com/office/drawing/2014/main" id="{D6F1A014-967D-48B9-A2FD-D2742FF9141C}"/>
              </a:ext>
            </a:extLst>
          </p:cNvPr>
          <p:cNvSpPr>
            <a:spLocks noGrp="1"/>
          </p:cNvSpPr>
          <p:nvPr/>
        </p:nvSpPr>
        <p:spPr>
          <a:xfrm>
            <a:off x="4356100" y="348615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1" name="正方形/長方形 20">
            <a:extLst>
              <a:ext uri="{FF2B5EF4-FFF2-40B4-BE49-F238E27FC236}">
                <a16:creationId xmlns:a16="http://schemas.microsoft.com/office/drawing/2014/main" id="{46F57D05-242C-4780-B0FA-9369707CC43E}"/>
              </a:ext>
            </a:extLst>
          </p:cNvPr>
          <p:cNvSpPr>
            <a:spLocks noGrp="1"/>
          </p:cNvSpPr>
          <p:nvPr/>
        </p:nvSpPr>
        <p:spPr>
          <a:xfrm>
            <a:off x="44323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同じサーバ内で処理できるため、経路が単純。</a:t>
            </a:r>
          </a:p>
        </p:txBody>
      </p:sp>
      <p:sp>
        <p:nvSpPr>
          <p:cNvPr id="22" name="正方形/長方形 21">
            <a:extLst>
              <a:ext uri="{FF2B5EF4-FFF2-40B4-BE49-F238E27FC236}">
                <a16:creationId xmlns:a16="http://schemas.microsoft.com/office/drawing/2014/main" id="{950F85BA-62E0-4BF7-97D7-E0E492CA1615}"/>
              </a:ext>
            </a:extLst>
          </p:cNvPr>
          <p:cNvSpPr>
            <a:spLocks noGrp="1"/>
          </p:cNvSpPr>
          <p:nvPr/>
        </p:nvSpPr>
        <p:spPr>
          <a:xfrm>
            <a:off x="7835900" y="348615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3" name="正方形/長方形 22">
            <a:extLst>
              <a:ext uri="{FF2B5EF4-FFF2-40B4-BE49-F238E27FC236}">
                <a16:creationId xmlns:a16="http://schemas.microsoft.com/office/drawing/2014/main" id="{47A60937-2718-4F4E-ACA7-07908A05AC8B}"/>
              </a:ext>
            </a:extLst>
          </p:cNvPr>
          <p:cNvSpPr>
            <a:spLocks noGrp="1"/>
          </p:cNvSpPr>
          <p:nvPr/>
        </p:nvSpPr>
        <p:spPr>
          <a:xfrm>
            <a:off x="79121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障害が起きたとき、影響範囲が Web/AP/DB 全体へ広がりやすい。</a:t>
            </a:r>
          </a:p>
        </p:txBody>
      </p:sp>
      <p:sp>
        <p:nvSpPr>
          <p:cNvPr id="24" name="正方形/長方形 23">
            <a:extLst>
              <a:ext uri="{FF2B5EF4-FFF2-40B4-BE49-F238E27FC236}">
                <a16:creationId xmlns:a16="http://schemas.microsoft.com/office/drawing/2014/main" id="{D69198DF-D877-42C3-88B6-6C5A64F64DE7}"/>
              </a:ext>
            </a:extLst>
          </p:cNvPr>
          <p:cNvSpPr>
            <a:spLocks noGrp="1"/>
          </p:cNvSpPr>
          <p:nvPr/>
        </p:nvSpPr>
        <p:spPr>
          <a:xfrm>
            <a:off x="876300" y="4419600"/>
            <a:ext cx="3479800" cy="933450"/>
          </a:xfrm>
          <a:prstGeom prst="rect">
            <a:avLst/>
          </a:prstGeom>
          <a:solidFill>
            <a:srgbClr val="EAF1FB"/>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5" name="正方形/長方形 24">
            <a:extLst>
              <a:ext uri="{FF2B5EF4-FFF2-40B4-BE49-F238E27FC236}">
                <a16:creationId xmlns:a16="http://schemas.microsoft.com/office/drawing/2014/main" id="{E697D23B-20D3-4C8A-BD3F-15619512B972}"/>
              </a:ext>
            </a:extLst>
          </p:cNvPr>
          <p:cNvSpPr>
            <a:spLocks noGrp="1"/>
          </p:cNvSpPr>
          <p:nvPr/>
        </p:nvSpPr>
        <p:spPr>
          <a:xfrm>
            <a:off x="9525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1400" b="1">
                <a:solidFill>
                  <a:srgbClr val="344054"/>
                </a:solidFill>
                <a:latin typeface="Yu Gothic UI" panose="020B0500000000000000" pitchFamily="34" charset="-128"/>
                <a:ea typeface="Yu Gothic UI" panose="020B0500000000000000" pitchFamily="34" charset="-128"/>
                <a:cs typeface="Yu Gothic UI"/>
              </a:rPr>
              <a:t>運用</a:t>
            </a:r>
          </a:p>
        </p:txBody>
      </p:sp>
      <p:sp>
        <p:nvSpPr>
          <p:cNvPr id="26" name="正方形/長方形 25">
            <a:extLst>
              <a:ext uri="{FF2B5EF4-FFF2-40B4-BE49-F238E27FC236}">
                <a16:creationId xmlns:a16="http://schemas.microsoft.com/office/drawing/2014/main" id="{2C410093-25EA-487B-9F78-F86A121A44E2}"/>
              </a:ext>
            </a:extLst>
          </p:cNvPr>
          <p:cNvSpPr>
            <a:spLocks noGrp="1"/>
          </p:cNvSpPr>
          <p:nvPr/>
        </p:nvSpPr>
        <p:spPr>
          <a:xfrm>
            <a:off x="4356100" y="44196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7" name="正方形/長方形 26">
            <a:extLst>
              <a:ext uri="{FF2B5EF4-FFF2-40B4-BE49-F238E27FC236}">
                <a16:creationId xmlns:a16="http://schemas.microsoft.com/office/drawing/2014/main" id="{5183D80F-D5D3-4BC9-87D8-8D09E2BD5D19}"/>
              </a:ext>
            </a:extLst>
          </p:cNvPr>
          <p:cNvSpPr>
            <a:spLocks noGrp="1"/>
          </p:cNvSpPr>
          <p:nvPr/>
        </p:nvSpPr>
        <p:spPr>
          <a:xfrm>
            <a:off x="44323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見る対象が少なく、初期学習で全体を追いやすい。</a:t>
            </a:r>
          </a:p>
        </p:txBody>
      </p:sp>
      <p:sp>
        <p:nvSpPr>
          <p:cNvPr id="28" name="正方形/長方形 27">
            <a:extLst>
              <a:ext uri="{FF2B5EF4-FFF2-40B4-BE49-F238E27FC236}">
                <a16:creationId xmlns:a16="http://schemas.microsoft.com/office/drawing/2014/main" id="{2E5BF79D-95B3-4C7A-8D99-8791ECDC5F81}"/>
              </a:ext>
            </a:extLst>
          </p:cNvPr>
          <p:cNvSpPr>
            <a:spLocks noGrp="1"/>
          </p:cNvSpPr>
          <p:nvPr/>
        </p:nvSpPr>
        <p:spPr>
          <a:xfrm>
            <a:off x="7835900" y="4419600"/>
            <a:ext cx="3479800" cy="933450"/>
          </a:xfrm>
          <a:prstGeom prst="rect">
            <a:avLst/>
          </a:prstGeom>
          <a:solidFill>
            <a:srgbClr val="FFFFFF"/>
          </a:solidFill>
          <a:ln w="11430">
            <a:solidFill>
              <a:srgbClr val="FFFFFF"/>
            </a:solidFill>
            <a:prstDash val="solid"/>
          </a:ln>
        </p:spPr>
        <p:txBody>
          <a:bodyPr/>
          <a:lstStyle/>
          <a:p>
            <a:endParaRPr lang="ja-JP" altLang="en-US" sz="4000">
              <a:latin typeface="Yu Gothic UI" panose="020B0500000000000000" pitchFamily="34" charset="-128"/>
              <a:ea typeface="Yu Gothic UI" panose="020B0500000000000000" pitchFamily="34" charset="-128"/>
            </a:endParaRPr>
          </a:p>
        </p:txBody>
      </p:sp>
      <p:sp>
        <p:nvSpPr>
          <p:cNvPr id="29" name="正方形/長方形 28">
            <a:extLst>
              <a:ext uri="{FF2B5EF4-FFF2-40B4-BE49-F238E27FC236}">
                <a16:creationId xmlns:a16="http://schemas.microsoft.com/office/drawing/2014/main" id="{B4F4366C-D4BB-42E7-9A16-DA3846D73617}"/>
              </a:ext>
            </a:extLst>
          </p:cNvPr>
          <p:cNvSpPr>
            <a:spLocks noGrp="1"/>
          </p:cNvSpPr>
          <p:nvPr/>
        </p:nvSpPr>
        <p:spPr>
          <a:xfrm>
            <a:off x="79121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1400" b="0">
                <a:solidFill>
                  <a:srgbClr val="344054"/>
                </a:solidFill>
                <a:latin typeface="Yu Gothic UI" panose="020B0500000000000000" pitchFamily="34" charset="-128"/>
                <a:ea typeface="Yu Gothic UI" panose="020B0500000000000000" pitchFamily="34" charset="-128"/>
                <a:cs typeface="Yu Gothic UI"/>
              </a:rPr>
              <a:t>規模が大きくなると、一部だけを拡張・変更しにくい。</a:t>
            </a:r>
          </a:p>
        </p:txBody>
      </p:sp>
      <p:sp>
        <p:nvSpPr>
          <p:cNvPr id="30" name="正方形/長方形 29">
            <a:extLst>
              <a:ext uri="{FF2B5EF4-FFF2-40B4-BE49-F238E27FC236}">
                <a16:creationId xmlns:a16="http://schemas.microsoft.com/office/drawing/2014/main" id="{26088C79-F70E-4791-952A-EFACE61691EA}"/>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7 / 32</a:t>
            </a:r>
          </a:p>
        </p:txBody>
      </p:sp>
    </p:spTree>
    <p:extLst>
      <p:ext uri="{BB962C8B-B14F-4D97-AF65-F5344CB8AC3E}">
        <p14:creationId xmlns:p14="http://schemas.microsoft.com/office/powerpoint/2010/main" val="1186077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D3A15AF-985E-4E81-8ADD-BE9387164C3D}"/>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3層アーキテクチャ</a:t>
            </a:r>
          </a:p>
        </p:txBody>
      </p:sp>
      <p:sp>
        <p:nvSpPr>
          <p:cNvPr id="2" name="正方形/長方形 1">
            <a:extLst>
              <a:ext uri="{FF2B5EF4-FFF2-40B4-BE49-F238E27FC236}">
                <a16:creationId xmlns:a16="http://schemas.microsoft.com/office/drawing/2014/main" id="{BFE0772A-75AD-4BD2-AA98-C51621765A59}"/>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DC4BEDF5-CFF0-46E9-9DCF-16F239D26F48}"/>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08</a:t>
            </a:r>
          </a:p>
        </p:txBody>
      </p:sp>
      <p:sp>
        <p:nvSpPr>
          <p:cNvPr id="4" name="正方形/長方形 3">
            <a:extLst>
              <a:ext uri="{FF2B5EF4-FFF2-40B4-BE49-F238E27FC236}">
                <a16:creationId xmlns:a16="http://schemas.microsoft.com/office/drawing/2014/main" id="{EEBC56E4-B4CF-45F2-9562-1877BA50223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785E404-AE36-4CE3-A072-EFE94A5030F3}"/>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3層では、利用者に近い</a:t>
            </a:r>
            <a:r>
              <a:rPr lang="ja-JP" altLang="en-US" sz="1200" b="0">
                <a:solidFill>
                  <a:srgbClr val="344054"/>
                </a:solidFill>
                <a:latin typeface="Yu Gothic UI"/>
                <a:ea typeface="Yu Gothic UI"/>
                <a:cs typeface="Yu Gothic UI"/>
              </a:rPr>
              <a:t>リクエスト受け付け</a:t>
            </a:r>
            <a:r>
              <a:rPr sz="1200" b="0">
                <a:solidFill>
                  <a:srgbClr val="344054"/>
                </a:solidFill>
                <a:latin typeface="Yu Gothic UI"/>
                <a:ea typeface="Yu Gothic UI"/>
                <a:cs typeface="Yu Gothic UI"/>
              </a:rPr>
              <a:t>、業務処理、データ管理を分け、どの処理をどの層が担当するかを論理的な役割として整理します。</a:t>
            </a:r>
            <a:endParaRPr lang="en-US" sz="1200" b="0">
              <a:solidFill>
                <a:srgbClr val="344054"/>
              </a:solidFill>
              <a:latin typeface="Yu Gothic UI"/>
              <a:ea typeface="Yu Gothic UI"/>
              <a:cs typeface="Yu Gothic UI"/>
            </a:endParaRPr>
          </a:p>
          <a:p>
            <a:pPr>
              <a:defRPr sz="1200" b="0">
                <a:solidFill>
                  <a:srgbClr val="344054"/>
                </a:solidFill>
                <a:latin typeface="Yu Gothic UI"/>
                <a:ea typeface="Yu Gothic UI"/>
                <a:cs typeface="Yu Gothic UI"/>
              </a:defRPr>
            </a:pPr>
            <a:r>
              <a:rPr lang="ja-JP" altLang="en-US" sz="1200">
                <a:solidFill>
                  <a:srgbClr val="344054"/>
                </a:solidFill>
                <a:latin typeface="Yu Gothic UI"/>
                <a:ea typeface="Yu Gothic UI"/>
                <a:cs typeface="Yu Gothic UI"/>
              </a:rPr>
              <a:t>ブラウザーからの要求が </a:t>
            </a:r>
            <a:r>
              <a:rPr lang="en" altLang="ja-JP" sz="1200">
                <a:solidFill>
                  <a:srgbClr val="344054"/>
                </a:solidFill>
                <a:latin typeface="Yu Gothic UI"/>
                <a:ea typeface="Yu Gothic UI"/>
                <a:cs typeface="Yu Gothic UI"/>
              </a:rPr>
              <a:t>Web </a:t>
            </a:r>
            <a:r>
              <a:rPr lang="ja-JP" altLang="en-US" sz="1200">
                <a:solidFill>
                  <a:srgbClr val="344054"/>
                </a:solidFill>
                <a:latin typeface="Yu Gothic UI"/>
                <a:ea typeface="Yu Gothic UI"/>
                <a:cs typeface="Yu Gothic UI"/>
              </a:rPr>
              <a:t>層で受け付けられ、</a:t>
            </a:r>
            <a:r>
              <a:rPr lang="en" altLang="ja-JP" sz="1200">
                <a:solidFill>
                  <a:srgbClr val="344054"/>
                </a:solidFill>
                <a:latin typeface="Yu Gothic UI"/>
                <a:ea typeface="Yu Gothic UI"/>
                <a:cs typeface="Yu Gothic UI"/>
              </a:rPr>
              <a:t>AP </a:t>
            </a:r>
            <a:r>
              <a:rPr lang="ja-JP" altLang="en-US" sz="1200">
                <a:solidFill>
                  <a:srgbClr val="344054"/>
                </a:solidFill>
                <a:latin typeface="Yu Gothic UI"/>
                <a:ea typeface="Yu Gothic UI"/>
                <a:cs typeface="Yu Gothic UI"/>
              </a:rPr>
              <a:t>層で処理され、必要に応じて </a:t>
            </a:r>
            <a:r>
              <a:rPr lang="en" altLang="ja-JP" sz="1200">
                <a:solidFill>
                  <a:srgbClr val="344054"/>
                </a:solidFill>
                <a:latin typeface="Yu Gothic UI"/>
                <a:ea typeface="Yu Gothic UI"/>
                <a:cs typeface="Yu Gothic UI"/>
              </a:rPr>
              <a:t>DB </a:t>
            </a:r>
            <a:r>
              <a:rPr lang="ja-JP" altLang="en-US" sz="1200">
                <a:solidFill>
                  <a:srgbClr val="344054"/>
                </a:solidFill>
                <a:latin typeface="Yu Gothic UI"/>
                <a:ea typeface="Yu Gothic UI"/>
                <a:cs typeface="Yu Gothic UI"/>
              </a:rPr>
              <a:t>層を参照して結果が返る流れを順番に追ってみましょう。</a:t>
            </a:r>
          </a:p>
          <a:p>
            <a:pPr algn="l">
              <a:defRPr sz="1200" b="0">
                <a:solidFill>
                  <a:srgbClr val="344054"/>
                </a:solidFill>
                <a:latin typeface="Yu Gothic UI"/>
                <a:ea typeface="Yu Gothic UI"/>
                <a:cs typeface="Yu Gothic UI"/>
              </a:defRPr>
            </a:pPr>
            <a:endParaRPr sz="1200" b="0">
              <a:solidFill>
                <a:srgbClr val="344054"/>
              </a:solidFill>
              <a:latin typeface="Yu Gothic UI"/>
              <a:ea typeface="Yu Gothic UI"/>
              <a:cs typeface="Yu Gothic UI"/>
            </a:endParaRPr>
          </a:p>
        </p:txBody>
      </p:sp>
      <p:sp>
        <p:nvSpPr>
          <p:cNvPr id="6" name="正方形/長方形 5">
            <a:extLst>
              <a:ext uri="{FF2B5EF4-FFF2-40B4-BE49-F238E27FC236}">
                <a16:creationId xmlns:a16="http://schemas.microsoft.com/office/drawing/2014/main" id="{28886C4A-9286-430B-9636-1F6F2C1438C7}"/>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3D309574-EF2C-4D3C-9545-3873FDE585E9}"/>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8 / 32</a:t>
            </a:r>
          </a:p>
        </p:txBody>
      </p:sp>
      <p:sp>
        <p:nvSpPr>
          <p:cNvPr id="10" name="角丸四角形 9">
            <a:extLst>
              <a:ext uri="{FF2B5EF4-FFF2-40B4-BE49-F238E27FC236}">
                <a16:creationId xmlns:a16="http://schemas.microsoft.com/office/drawing/2014/main" id="{3BC74F86-7E02-0559-B37A-720EE970CCCE}"/>
              </a:ext>
            </a:extLst>
          </p:cNvPr>
          <p:cNvSpPr/>
          <p:nvPr/>
        </p:nvSpPr>
        <p:spPr>
          <a:xfrm>
            <a:off x="4919201" y="2806262"/>
            <a:ext cx="6421244" cy="247510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11A77FB0-6FD5-72BD-B6DF-39B2B5B16353}"/>
              </a:ext>
            </a:extLst>
          </p:cNvPr>
          <p:cNvSpPr/>
          <p:nvPr/>
        </p:nvSpPr>
        <p:spPr>
          <a:xfrm>
            <a:off x="5084094" y="315831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FA74C24-2632-AD21-18E0-F0E1D6BFE7F4}"/>
              </a:ext>
            </a:extLst>
          </p:cNvPr>
          <p:cNvSpPr txBox="1"/>
          <p:nvPr/>
        </p:nvSpPr>
        <p:spPr>
          <a:xfrm>
            <a:off x="6486997" y="4817679"/>
            <a:ext cx="2783674"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a:t>
            </a:r>
          </a:p>
        </p:txBody>
      </p:sp>
      <p:sp>
        <p:nvSpPr>
          <p:cNvPr id="13" name="角丸四角形 12">
            <a:extLst>
              <a:ext uri="{FF2B5EF4-FFF2-40B4-BE49-F238E27FC236}">
                <a16:creationId xmlns:a16="http://schemas.microsoft.com/office/drawing/2014/main" id="{C8AF80B2-0310-F80A-923C-F28A2796C31B}"/>
              </a:ext>
            </a:extLst>
          </p:cNvPr>
          <p:cNvSpPr/>
          <p:nvPr/>
        </p:nvSpPr>
        <p:spPr>
          <a:xfrm>
            <a:off x="7252679" y="315831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0D597BAD-7381-9C12-99F7-F2363EE34C16}"/>
              </a:ext>
            </a:extLst>
          </p:cNvPr>
          <p:cNvSpPr/>
          <p:nvPr/>
        </p:nvSpPr>
        <p:spPr>
          <a:xfrm>
            <a:off x="9421265" y="315831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648C832-275D-7AAF-AD62-E75F8A034FE4}"/>
              </a:ext>
            </a:extLst>
          </p:cNvPr>
          <p:cNvSpPr txBox="1"/>
          <p:nvPr/>
        </p:nvSpPr>
        <p:spPr>
          <a:xfrm>
            <a:off x="5485786" y="3291276"/>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6" name="テキスト ボックス 15">
            <a:extLst>
              <a:ext uri="{FF2B5EF4-FFF2-40B4-BE49-F238E27FC236}">
                <a16:creationId xmlns:a16="http://schemas.microsoft.com/office/drawing/2014/main" id="{3875E3DD-1028-3FB4-C9A1-AC4AFC17C761}"/>
              </a:ext>
            </a:extLst>
          </p:cNvPr>
          <p:cNvSpPr txBox="1"/>
          <p:nvPr/>
        </p:nvSpPr>
        <p:spPr>
          <a:xfrm>
            <a:off x="7583646" y="3260524"/>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17" name="テキスト ボックス 16">
            <a:extLst>
              <a:ext uri="{FF2B5EF4-FFF2-40B4-BE49-F238E27FC236}">
                <a16:creationId xmlns:a16="http://schemas.microsoft.com/office/drawing/2014/main" id="{FB627DA5-90F4-F17B-4BE5-592F66E9C20D}"/>
              </a:ext>
            </a:extLst>
          </p:cNvPr>
          <p:cNvSpPr txBox="1"/>
          <p:nvPr/>
        </p:nvSpPr>
        <p:spPr>
          <a:xfrm>
            <a:off x="9849024" y="3252454"/>
            <a:ext cx="1000958"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DB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20" name="角丸四角形 19">
            <a:extLst>
              <a:ext uri="{FF2B5EF4-FFF2-40B4-BE49-F238E27FC236}">
                <a16:creationId xmlns:a16="http://schemas.microsoft.com/office/drawing/2014/main" id="{0C08D619-3499-0037-555B-D19E5BDFE7F4}"/>
              </a:ext>
            </a:extLst>
          </p:cNvPr>
          <p:cNvSpPr/>
          <p:nvPr/>
        </p:nvSpPr>
        <p:spPr>
          <a:xfrm>
            <a:off x="1117861" y="3593470"/>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E426487-4AC5-4B46-E4DF-6543078F4D96}"/>
              </a:ext>
            </a:extLst>
          </p:cNvPr>
          <p:cNvSpPr txBox="1"/>
          <p:nvPr/>
        </p:nvSpPr>
        <p:spPr>
          <a:xfrm>
            <a:off x="1225484" y="368689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22" name="直線コネクタ 21">
            <a:extLst>
              <a:ext uri="{FF2B5EF4-FFF2-40B4-BE49-F238E27FC236}">
                <a16:creationId xmlns:a16="http://schemas.microsoft.com/office/drawing/2014/main" id="{1E0388E9-A91A-0387-D716-4FC882360446}"/>
              </a:ext>
            </a:extLst>
          </p:cNvPr>
          <p:cNvCxnSpPr>
            <a:cxnSpLocks/>
          </p:cNvCxnSpPr>
          <p:nvPr/>
        </p:nvCxnSpPr>
        <p:spPr>
          <a:xfrm>
            <a:off x="2770735" y="3722529"/>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DD622DC4-C17B-F8B1-7B91-660ED661B565}"/>
              </a:ext>
            </a:extLst>
          </p:cNvPr>
          <p:cNvSpPr txBox="1"/>
          <p:nvPr/>
        </p:nvSpPr>
        <p:spPr>
          <a:xfrm>
            <a:off x="3232722" y="3460635"/>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25" name="テキスト ボックス 24">
            <a:extLst>
              <a:ext uri="{FF2B5EF4-FFF2-40B4-BE49-F238E27FC236}">
                <a16:creationId xmlns:a16="http://schemas.microsoft.com/office/drawing/2014/main" id="{CEC2A8C9-B2AA-588F-768B-82B46A533C41}"/>
              </a:ext>
            </a:extLst>
          </p:cNvPr>
          <p:cNvSpPr txBox="1"/>
          <p:nvPr/>
        </p:nvSpPr>
        <p:spPr>
          <a:xfrm>
            <a:off x="5088834" y="3762335"/>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sp>
        <p:nvSpPr>
          <p:cNvPr id="27" name="テキスト ボックス 26">
            <a:extLst>
              <a:ext uri="{FF2B5EF4-FFF2-40B4-BE49-F238E27FC236}">
                <a16:creationId xmlns:a16="http://schemas.microsoft.com/office/drawing/2014/main" id="{2D676DDD-5BA2-7C79-55B2-3DA83AFA0E36}"/>
              </a:ext>
            </a:extLst>
          </p:cNvPr>
          <p:cNvSpPr txBox="1"/>
          <p:nvPr/>
        </p:nvSpPr>
        <p:spPr>
          <a:xfrm>
            <a:off x="7276143" y="3755354"/>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28" name="直線コネクタ 27">
            <a:extLst>
              <a:ext uri="{FF2B5EF4-FFF2-40B4-BE49-F238E27FC236}">
                <a16:creationId xmlns:a16="http://schemas.microsoft.com/office/drawing/2014/main" id="{0AAA6A12-FEAF-9668-1216-42A9F6FD8CE4}"/>
              </a:ext>
            </a:extLst>
          </p:cNvPr>
          <p:cNvCxnSpPr>
            <a:cxnSpLocks/>
          </p:cNvCxnSpPr>
          <p:nvPr/>
        </p:nvCxnSpPr>
        <p:spPr>
          <a:xfrm>
            <a:off x="6839680" y="3715175"/>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A58918F8-81AE-B77A-36E7-B18A442BD723}"/>
              </a:ext>
            </a:extLst>
          </p:cNvPr>
          <p:cNvSpPr txBox="1"/>
          <p:nvPr/>
        </p:nvSpPr>
        <p:spPr>
          <a:xfrm>
            <a:off x="6454097" y="3229721"/>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31" name="直線コネクタ 30">
            <a:extLst>
              <a:ext uri="{FF2B5EF4-FFF2-40B4-BE49-F238E27FC236}">
                <a16:creationId xmlns:a16="http://schemas.microsoft.com/office/drawing/2014/main" id="{D4EA9F7B-D375-C850-EBB5-60B8D5415205}"/>
              </a:ext>
            </a:extLst>
          </p:cNvPr>
          <p:cNvCxnSpPr>
            <a:cxnSpLocks/>
          </p:cNvCxnSpPr>
          <p:nvPr/>
        </p:nvCxnSpPr>
        <p:spPr>
          <a:xfrm>
            <a:off x="9008266" y="3722529"/>
            <a:ext cx="412999"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7681B111-A32D-3843-C646-D0CAB04CBE11}"/>
              </a:ext>
            </a:extLst>
          </p:cNvPr>
          <p:cNvSpPr txBox="1"/>
          <p:nvPr/>
        </p:nvSpPr>
        <p:spPr>
          <a:xfrm>
            <a:off x="8683727" y="3108663"/>
            <a:ext cx="1000958" cy="577081"/>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データ処理</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リクエスト</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 (CRUD</a:t>
            </a: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操作</a:t>
            </a:r>
            <a:r>
              <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rPr>
              <a:t>)</a:t>
            </a:r>
          </a:p>
        </p:txBody>
      </p:sp>
      <p:cxnSp>
        <p:nvCxnSpPr>
          <p:cNvPr id="33" name="直線コネクタ 32">
            <a:extLst>
              <a:ext uri="{FF2B5EF4-FFF2-40B4-BE49-F238E27FC236}">
                <a16:creationId xmlns:a16="http://schemas.microsoft.com/office/drawing/2014/main" id="{D808CCDF-8FF7-1129-CB40-99EDF96869BE}"/>
              </a:ext>
            </a:extLst>
          </p:cNvPr>
          <p:cNvCxnSpPr>
            <a:cxnSpLocks/>
          </p:cNvCxnSpPr>
          <p:nvPr/>
        </p:nvCxnSpPr>
        <p:spPr>
          <a:xfrm flipH="1">
            <a:off x="9008265" y="4233148"/>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6578F5E9-6B36-A1C0-9DC4-CF21E513AC80}"/>
              </a:ext>
            </a:extLst>
          </p:cNvPr>
          <p:cNvCxnSpPr>
            <a:cxnSpLocks/>
          </p:cNvCxnSpPr>
          <p:nvPr/>
        </p:nvCxnSpPr>
        <p:spPr>
          <a:xfrm flipH="1">
            <a:off x="6827174" y="4233148"/>
            <a:ext cx="41300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A4C44E6A-B13F-169F-E9E3-04043D18234C}"/>
              </a:ext>
            </a:extLst>
          </p:cNvPr>
          <p:cNvCxnSpPr>
            <a:cxnSpLocks/>
          </p:cNvCxnSpPr>
          <p:nvPr/>
        </p:nvCxnSpPr>
        <p:spPr>
          <a:xfrm flipH="1">
            <a:off x="2746050" y="4036472"/>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A828138B-7296-2F63-5ED4-6F3D7F5CE872}"/>
              </a:ext>
            </a:extLst>
          </p:cNvPr>
          <p:cNvSpPr txBox="1"/>
          <p:nvPr/>
        </p:nvSpPr>
        <p:spPr>
          <a:xfrm>
            <a:off x="3232721" y="4100038"/>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39" name="テキスト ボックス 38">
            <a:extLst>
              <a:ext uri="{FF2B5EF4-FFF2-40B4-BE49-F238E27FC236}">
                <a16:creationId xmlns:a16="http://schemas.microsoft.com/office/drawing/2014/main" id="{6DF629E2-9B5C-24ED-DA1F-311D94A3CEDA}"/>
              </a:ext>
            </a:extLst>
          </p:cNvPr>
          <p:cNvSpPr txBox="1"/>
          <p:nvPr/>
        </p:nvSpPr>
        <p:spPr>
          <a:xfrm>
            <a:off x="9397928" y="3735395"/>
            <a:ext cx="1708657" cy="938719"/>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データの永続化、保存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データの検索</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データの作成</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データの更新</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データの削除</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0" name="テキスト ボックス 39">
            <a:extLst>
              <a:ext uri="{FF2B5EF4-FFF2-40B4-BE49-F238E27FC236}">
                <a16:creationId xmlns:a16="http://schemas.microsoft.com/office/drawing/2014/main" id="{41A86033-48AC-CF5C-1C58-34413F76E5A8}"/>
              </a:ext>
            </a:extLst>
          </p:cNvPr>
          <p:cNvSpPr txBox="1"/>
          <p:nvPr/>
        </p:nvSpPr>
        <p:spPr>
          <a:xfrm>
            <a:off x="8863473" y="4295967"/>
            <a:ext cx="67809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データ</a:t>
            </a:r>
          </a:p>
        </p:txBody>
      </p:sp>
      <p:sp>
        <p:nvSpPr>
          <p:cNvPr id="41" name="テキスト ボックス 40">
            <a:extLst>
              <a:ext uri="{FF2B5EF4-FFF2-40B4-BE49-F238E27FC236}">
                <a16:creationId xmlns:a16="http://schemas.microsoft.com/office/drawing/2014/main" id="{6E0D5380-6B45-10F3-6605-9B5FAA537000}"/>
              </a:ext>
            </a:extLst>
          </p:cNvPr>
          <p:cNvSpPr txBox="1"/>
          <p:nvPr/>
        </p:nvSpPr>
        <p:spPr>
          <a:xfrm>
            <a:off x="6727111" y="4306765"/>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Tree>
    <p:extLst>
      <p:ext uri="{BB962C8B-B14F-4D97-AF65-F5344CB8AC3E}">
        <p14:creationId xmlns:p14="http://schemas.microsoft.com/office/powerpoint/2010/main" val="118607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C10EF80-88DE-4B6F-9931-784C7F75F073}"/>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層の役割</a:t>
            </a:r>
          </a:p>
        </p:txBody>
      </p:sp>
      <p:sp>
        <p:nvSpPr>
          <p:cNvPr id="2" name="正方形/長方形 1">
            <a:extLst>
              <a:ext uri="{FF2B5EF4-FFF2-40B4-BE49-F238E27FC236}">
                <a16:creationId xmlns:a16="http://schemas.microsoft.com/office/drawing/2014/main" id="{A19FD9A7-AFD7-4AD1-935B-107D3737055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81F75C85-B2D8-4431-91A0-C983CCAC60B3}"/>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12</a:t>
            </a:r>
          </a:p>
        </p:txBody>
      </p:sp>
      <p:sp>
        <p:nvSpPr>
          <p:cNvPr id="4" name="正方形/長方形 3">
            <a:extLst>
              <a:ext uri="{FF2B5EF4-FFF2-40B4-BE49-F238E27FC236}">
                <a16:creationId xmlns:a16="http://schemas.microsoft.com/office/drawing/2014/main" id="{2D2F2441-DBD3-4FCB-9755-E013101E274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5DC5369-7B21-4357-8A27-AB6F20303D19}"/>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層は利用者から最初にアクセスされる入口であり、</a:t>
            </a:r>
            <a:r>
              <a:rPr lang="en" altLang="ja-JP" sz="1200">
                <a:solidFill>
                  <a:srgbClr val="344054"/>
                </a:solidFill>
                <a:latin typeface="Yu Gothic UI"/>
                <a:ea typeface="Yu Gothic UI"/>
                <a:cs typeface="Yu Gothic UI"/>
              </a:rPr>
              <a:t> HTTP/HTTPS </a:t>
            </a:r>
            <a:r>
              <a:rPr lang="ja-JP" altLang="en-US" sz="1200">
                <a:solidFill>
                  <a:srgbClr val="344054"/>
                </a:solidFill>
                <a:latin typeface="Yu Gothic UI"/>
                <a:ea typeface="Yu Gothic UI"/>
                <a:cs typeface="Yu Gothic UI"/>
              </a:rPr>
              <a:t>の受け付け、リクエストされた</a:t>
            </a:r>
            <a:r>
              <a:rPr lang="en-US" altLang="ja-JP" sz="1200">
                <a:solidFill>
                  <a:srgbClr val="344054"/>
                </a:solidFill>
                <a:latin typeface="Yu Gothic UI"/>
                <a:ea typeface="Yu Gothic UI"/>
                <a:cs typeface="Yu Gothic UI"/>
              </a:rPr>
              <a:t> HTTP </a:t>
            </a:r>
            <a:r>
              <a:rPr lang="ja-JP" altLang="en-US" sz="1200">
                <a:solidFill>
                  <a:srgbClr val="344054"/>
                </a:solidFill>
                <a:latin typeface="Yu Gothic UI"/>
                <a:ea typeface="Yu Gothic UI"/>
                <a:cs typeface="Yu Gothic UI"/>
              </a:rPr>
              <a:t>のメッセージに従って、</a:t>
            </a:r>
            <a:r>
              <a:rPr sz="1200" b="0">
                <a:solidFill>
                  <a:srgbClr val="344054"/>
                </a:solidFill>
                <a:latin typeface="Yu Gothic UI"/>
                <a:ea typeface="Yu Gothic UI"/>
                <a:cs typeface="Yu Gothic UI"/>
              </a:rPr>
              <a:t>静的ファイル</a:t>
            </a:r>
            <a:r>
              <a:rPr lang="ja-JP" altLang="en-US" sz="1200" b="0">
                <a:solidFill>
                  <a:srgbClr val="344054"/>
                </a:solidFill>
                <a:latin typeface="Yu Gothic UI"/>
                <a:ea typeface="Yu Gothic UI"/>
                <a:cs typeface="Yu Gothic UI"/>
              </a:rPr>
              <a:t>を配信するか</a:t>
            </a:r>
            <a:r>
              <a:rPr sz="1200" b="0">
                <a:solidFill>
                  <a:srgbClr val="344054"/>
                </a:solidFill>
                <a:latin typeface="Yu Gothic UI"/>
                <a:ea typeface="Yu Gothic UI"/>
                <a:cs typeface="Yu Gothic UI"/>
              </a:rPr>
              <a:t>、AP 層</a:t>
            </a:r>
            <a:r>
              <a:rPr lang="ja-JP" altLang="en-US" sz="1200" b="0">
                <a:solidFill>
                  <a:srgbClr val="344054"/>
                </a:solidFill>
                <a:latin typeface="Yu Gothic UI"/>
                <a:ea typeface="Yu Gothic UI"/>
                <a:cs typeface="Yu Gothic UI"/>
              </a:rPr>
              <a:t>で</a:t>
            </a:r>
            <a:r>
              <a:rPr lang="ja-JP" altLang="en-US" sz="1200">
                <a:solidFill>
                  <a:srgbClr val="344054"/>
                </a:solidFill>
                <a:latin typeface="Yu Gothic UI"/>
                <a:ea typeface="Yu Gothic UI"/>
                <a:cs typeface="Yu Gothic UI"/>
              </a:rPr>
              <a:t>作成した</a:t>
            </a:r>
            <a:r>
              <a:rPr lang="ja-JP" altLang="en-US" sz="1200" b="0">
                <a:solidFill>
                  <a:srgbClr val="344054"/>
                </a:solidFill>
                <a:latin typeface="Yu Gothic UI"/>
                <a:ea typeface="Yu Gothic UI"/>
                <a:cs typeface="Yu Gothic UI"/>
              </a:rPr>
              <a:t>動的レスポンスを返すかの依頼を判断し、レスポンスを</a:t>
            </a:r>
            <a:r>
              <a:rPr sz="1200" b="0">
                <a:solidFill>
                  <a:srgbClr val="344054"/>
                </a:solidFill>
                <a:latin typeface="Yu Gothic UI"/>
                <a:ea typeface="Yu Gothic UI"/>
                <a:cs typeface="Yu Gothic UI"/>
              </a:rPr>
              <a:t>などを担当します。</a:t>
            </a:r>
          </a:p>
        </p:txBody>
      </p:sp>
      <p:sp>
        <p:nvSpPr>
          <p:cNvPr id="9" name="正方形/長方形 8">
            <a:extLst>
              <a:ext uri="{FF2B5EF4-FFF2-40B4-BE49-F238E27FC236}">
                <a16:creationId xmlns:a16="http://schemas.microsoft.com/office/drawing/2014/main" id="{26CDD590-8C94-492A-8152-F563A7743FFF}"/>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12 / 32</a:t>
            </a:r>
          </a:p>
        </p:txBody>
      </p:sp>
      <p:sp>
        <p:nvSpPr>
          <p:cNvPr id="11" name="正方形/長方形 10">
            <a:extLst>
              <a:ext uri="{FF2B5EF4-FFF2-40B4-BE49-F238E27FC236}">
                <a16:creationId xmlns:a16="http://schemas.microsoft.com/office/drawing/2014/main" id="{4EB824D1-8791-EC15-8A64-F618CF5B6577}"/>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sp>
        <p:nvSpPr>
          <p:cNvPr id="12" name="角丸四角形 11">
            <a:extLst>
              <a:ext uri="{FF2B5EF4-FFF2-40B4-BE49-F238E27FC236}">
                <a16:creationId xmlns:a16="http://schemas.microsoft.com/office/drawing/2014/main" id="{193AA5D8-199F-7E78-442C-7AFFBFB27BAD}"/>
              </a:ext>
            </a:extLst>
          </p:cNvPr>
          <p:cNvSpPr/>
          <p:nvPr/>
        </p:nvSpPr>
        <p:spPr>
          <a:xfrm>
            <a:off x="5084094" y="3158314"/>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9C354603-EFB3-477F-1FE4-8F305B5BD076}"/>
              </a:ext>
            </a:extLst>
          </p:cNvPr>
          <p:cNvSpPr txBox="1"/>
          <p:nvPr/>
        </p:nvSpPr>
        <p:spPr>
          <a:xfrm>
            <a:off x="5306034" y="3274486"/>
            <a:ext cx="1311706"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サーバ</a:t>
            </a:r>
          </a:p>
        </p:txBody>
      </p:sp>
      <p:sp>
        <p:nvSpPr>
          <p:cNvPr id="14" name="角丸四角形 13">
            <a:extLst>
              <a:ext uri="{FF2B5EF4-FFF2-40B4-BE49-F238E27FC236}">
                <a16:creationId xmlns:a16="http://schemas.microsoft.com/office/drawing/2014/main" id="{44702782-EDBF-E647-A000-32790C3F5A55}"/>
              </a:ext>
            </a:extLst>
          </p:cNvPr>
          <p:cNvSpPr/>
          <p:nvPr/>
        </p:nvSpPr>
        <p:spPr>
          <a:xfrm>
            <a:off x="1117861" y="3593470"/>
            <a:ext cx="1553851" cy="556181"/>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8072C78-E7E5-304C-7934-6661EF6C58B6}"/>
              </a:ext>
            </a:extLst>
          </p:cNvPr>
          <p:cNvSpPr txBox="1"/>
          <p:nvPr/>
        </p:nvSpPr>
        <p:spPr>
          <a:xfrm>
            <a:off x="1225484" y="3686894"/>
            <a:ext cx="1338606" cy="369332"/>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ブラウザ</a:t>
            </a:r>
          </a:p>
        </p:txBody>
      </p:sp>
      <p:cxnSp>
        <p:nvCxnSpPr>
          <p:cNvPr id="16" name="直線コネクタ 15">
            <a:extLst>
              <a:ext uri="{FF2B5EF4-FFF2-40B4-BE49-F238E27FC236}">
                <a16:creationId xmlns:a16="http://schemas.microsoft.com/office/drawing/2014/main" id="{A8CE8483-C1E8-09EB-1889-6AB525995683}"/>
              </a:ext>
            </a:extLst>
          </p:cNvPr>
          <p:cNvCxnSpPr>
            <a:cxnSpLocks/>
          </p:cNvCxnSpPr>
          <p:nvPr/>
        </p:nvCxnSpPr>
        <p:spPr>
          <a:xfrm>
            <a:off x="2770735" y="3722529"/>
            <a:ext cx="2244325"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5B7935D1-960A-062A-C62F-B48AA4EA2399}"/>
              </a:ext>
            </a:extLst>
          </p:cNvPr>
          <p:cNvSpPr txBox="1"/>
          <p:nvPr/>
        </p:nvSpPr>
        <p:spPr>
          <a:xfrm>
            <a:off x="3232722" y="3460635"/>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リクエスト</a:t>
            </a:r>
          </a:p>
        </p:txBody>
      </p:sp>
      <p:sp>
        <p:nvSpPr>
          <p:cNvPr id="18" name="テキスト ボックス 17">
            <a:extLst>
              <a:ext uri="{FF2B5EF4-FFF2-40B4-BE49-F238E27FC236}">
                <a16:creationId xmlns:a16="http://schemas.microsoft.com/office/drawing/2014/main" id="{EBEDC6D4-6681-8F6D-D0B2-0947FB1E7AC2}"/>
              </a:ext>
            </a:extLst>
          </p:cNvPr>
          <p:cNvSpPr txBox="1"/>
          <p:nvPr/>
        </p:nvSpPr>
        <p:spPr>
          <a:xfrm>
            <a:off x="5088834" y="3762335"/>
            <a:ext cx="1708657" cy="769441"/>
          </a:xfrm>
          <a:prstGeom prst="rect">
            <a:avLst/>
          </a:prstGeom>
          <a:noFill/>
        </p:spPr>
        <p:txBody>
          <a:bodyPr wrap="square" rtlCol="0">
            <a:spAutoFit/>
          </a:bodyPr>
          <a:lstStyle/>
          <a:p>
            <a:pPr marL="171450" indent="-171450">
              <a:buFont typeface="Arial" panose="020B0604020202020204" pitchFamily="34" charset="0"/>
              <a:buChar char="•"/>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リクエストの受付</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リクエストごとに静的、動的レスポンスの判断</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レスポンスの返却</a:t>
            </a:r>
          </a:p>
        </p:txBody>
      </p:sp>
      <p:cxnSp>
        <p:nvCxnSpPr>
          <p:cNvPr id="19" name="直線コネクタ 18">
            <a:extLst>
              <a:ext uri="{FF2B5EF4-FFF2-40B4-BE49-F238E27FC236}">
                <a16:creationId xmlns:a16="http://schemas.microsoft.com/office/drawing/2014/main" id="{FECB3193-77E5-CCF2-7F67-1A902D699AE5}"/>
              </a:ext>
            </a:extLst>
          </p:cNvPr>
          <p:cNvCxnSpPr>
            <a:cxnSpLocks/>
          </p:cNvCxnSpPr>
          <p:nvPr/>
        </p:nvCxnSpPr>
        <p:spPr>
          <a:xfrm flipH="1">
            <a:off x="2746050" y="4036472"/>
            <a:ext cx="2269010" cy="0"/>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DAF48EBC-6B6F-C252-4963-720106B829F7}"/>
              </a:ext>
            </a:extLst>
          </p:cNvPr>
          <p:cNvSpPr txBox="1"/>
          <p:nvPr/>
        </p:nvSpPr>
        <p:spPr>
          <a:xfrm>
            <a:off x="3232721" y="4100038"/>
            <a:ext cx="1295665" cy="261610"/>
          </a:xfrm>
          <a:prstGeom prst="rect">
            <a:avLst/>
          </a:prstGeom>
          <a:noFill/>
        </p:spPr>
        <p:txBody>
          <a:bodyPr wrap="square" rtlCol="0">
            <a:spAutoFit/>
          </a:bodyPr>
          <a:lstStyle/>
          <a:p>
            <a:pPr algn="ctr"/>
            <a:r>
              <a:rPr kumimoji="1" lang="en-US" altLang="ja-JP" sz="1100">
                <a:solidFill>
                  <a:schemeClr val="tx1">
                    <a:lumMod val="50000"/>
                    <a:lumOff val="50000"/>
                  </a:schemeClr>
                </a:solidFill>
                <a:latin typeface="Yu Gothic UI" panose="020B0500000000000000" pitchFamily="34" charset="-128"/>
                <a:ea typeface="Yu Gothic UI" panose="020B0500000000000000" pitchFamily="34" charset="-128"/>
              </a:rPr>
              <a:t>HTTP </a:t>
            </a:r>
            <a:r>
              <a:rPr kumimoji="1" lang="ja-JP" altLang="en-US" sz="1100">
                <a:solidFill>
                  <a:schemeClr val="tx1">
                    <a:lumMod val="50000"/>
                    <a:lumOff val="50000"/>
                  </a:schemeClr>
                </a:solidFill>
                <a:latin typeface="Yu Gothic UI" panose="020B0500000000000000" pitchFamily="34" charset="-128"/>
                <a:ea typeface="Yu Gothic UI" panose="020B0500000000000000" pitchFamily="34" charset="-128"/>
              </a:rPr>
              <a:t>レスポンス</a:t>
            </a:r>
          </a:p>
        </p:txBody>
      </p:sp>
      <p:sp>
        <p:nvSpPr>
          <p:cNvPr id="22" name="角丸四角形 21">
            <a:extLst>
              <a:ext uri="{FF2B5EF4-FFF2-40B4-BE49-F238E27FC236}">
                <a16:creationId xmlns:a16="http://schemas.microsoft.com/office/drawing/2014/main" id="{7FA4898A-3E20-E4F8-C04C-69DDA856D976}"/>
              </a:ext>
            </a:extLst>
          </p:cNvPr>
          <p:cNvSpPr/>
          <p:nvPr/>
        </p:nvSpPr>
        <p:spPr>
          <a:xfrm>
            <a:off x="8048887" y="4100038"/>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E6BF823-CADA-296B-88CC-1CFE719FE903}"/>
              </a:ext>
            </a:extLst>
          </p:cNvPr>
          <p:cNvSpPr txBox="1"/>
          <p:nvPr/>
        </p:nvSpPr>
        <p:spPr>
          <a:xfrm>
            <a:off x="8379854" y="4202248"/>
            <a:ext cx="1149035" cy="369332"/>
          </a:xfrm>
          <a:prstGeom prst="rect">
            <a:avLst/>
          </a:prstGeom>
          <a:noFill/>
        </p:spPr>
        <p:txBody>
          <a:bodyPr wrap="square" rtlCol="0">
            <a:spAutoFit/>
          </a:bodyPr>
          <a:lstStyle/>
          <a:p>
            <a:pPr algn="ct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層</a:t>
            </a:r>
          </a:p>
        </p:txBody>
      </p:sp>
      <p:sp>
        <p:nvSpPr>
          <p:cNvPr id="24" name="テキスト ボックス 23">
            <a:extLst>
              <a:ext uri="{FF2B5EF4-FFF2-40B4-BE49-F238E27FC236}">
                <a16:creationId xmlns:a16="http://schemas.microsoft.com/office/drawing/2014/main" id="{7462BC51-4B5A-C722-9ED7-6CEC3584BCC4}"/>
              </a:ext>
            </a:extLst>
          </p:cNvPr>
          <p:cNvSpPr txBox="1"/>
          <p:nvPr/>
        </p:nvSpPr>
        <p:spPr>
          <a:xfrm>
            <a:off x="8072351" y="4697078"/>
            <a:ext cx="1708657" cy="600164"/>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ビジネスロジック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プログラム</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に従った処理による動的レスポンスの作成</a:t>
            </a:r>
          </a:p>
        </p:txBody>
      </p:sp>
      <p:cxnSp>
        <p:nvCxnSpPr>
          <p:cNvPr id="25" name="直線コネクタ 24">
            <a:extLst>
              <a:ext uri="{FF2B5EF4-FFF2-40B4-BE49-F238E27FC236}">
                <a16:creationId xmlns:a16="http://schemas.microsoft.com/office/drawing/2014/main" id="{9ED6CF0C-42D6-5E64-5C17-A5D62679B435}"/>
              </a:ext>
            </a:extLst>
          </p:cNvPr>
          <p:cNvCxnSpPr>
            <a:cxnSpLocks/>
          </p:cNvCxnSpPr>
          <p:nvPr/>
        </p:nvCxnSpPr>
        <p:spPr>
          <a:xfrm>
            <a:off x="6908714" y="4257355"/>
            <a:ext cx="1140173" cy="55686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874C4615-9550-5E69-E572-B69129768284}"/>
              </a:ext>
            </a:extLst>
          </p:cNvPr>
          <p:cNvSpPr txBox="1"/>
          <p:nvPr/>
        </p:nvSpPr>
        <p:spPr>
          <a:xfrm>
            <a:off x="6914092" y="4008665"/>
            <a:ext cx="1134795" cy="430887"/>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ビジネスロジック</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処理依頼</a:t>
            </a:r>
          </a:p>
        </p:txBody>
      </p:sp>
      <p:cxnSp>
        <p:nvCxnSpPr>
          <p:cNvPr id="27" name="直線コネクタ 26">
            <a:extLst>
              <a:ext uri="{FF2B5EF4-FFF2-40B4-BE49-F238E27FC236}">
                <a16:creationId xmlns:a16="http://schemas.microsoft.com/office/drawing/2014/main" id="{EBF8C89C-00F9-D8EF-9341-ADEB8AFA3807}"/>
              </a:ext>
            </a:extLst>
          </p:cNvPr>
          <p:cNvCxnSpPr>
            <a:cxnSpLocks/>
          </p:cNvCxnSpPr>
          <p:nvPr/>
        </p:nvCxnSpPr>
        <p:spPr>
          <a:xfrm flipH="1" flipV="1">
            <a:off x="6908714" y="4531776"/>
            <a:ext cx="1127668" cy="643096"/>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2BF9CC29-FED1-02F5-DDCF-D765D946D0C5}"/>
              </a:ext>
            </a:extLst>
          </p:cNvPr>
          <p:cNvSpPr txBox="1"/>
          <p:nvPr/>
        </p:nvSpPr>
        <p:spPr>
          <a:xfrm>
            <a:off x="6981180" y="4906440"/>
            <a:ext cx="719626" cy="253916"/>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処理結果</a:t>
            </a:r>
          </a:p>
        </p:txBody>
      </p:sp>
      <p:sp>
        <p:nvSpPr>
          <p:cNvPr id="29" name="角丸四角形 28">
            <a:extLst>
              <a:ext uri="{FF2B5EF4-FFF2-40B4-BE49-F238E27FC236}">
                <a16:creationId xmlns:a16="http://schemas.microsoft.com/office/drawing/2014/main" id="{F9CEF4F4-4D82-1EC3-3AC8-E5EEF271BCBA}"/>
              </a:ext>
            </a:extLst>
          </p:cNvPr>
          <p:cNvSpPr/>
          <p:nvPr/>
        </p:nvSpPr>
        <p:spPr>
          <a:xfrm>
            <a:off x="8048888" y="2250441"/>
            <a:ext cx="1755586" cy="1491979"/>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5E39B17F-7981-03CE-4859-8745FEFDFDA0}"/>
              </a:ext>
            </a:extLst>
          </p:cNvPr>
          <p:cNvSpPr txBox="1"/>
          <p:nvPr/>
        </p:nvSpPr>
        <p:spPr>
          <a:xfrm>
            <a:off x="8072351" y="2272440"/>
            <a:ext cx="1708657" cy="523220"/>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ストレージ</a:t>
            </a:r>
            <a:endParaRPr kumimoji="1"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内蔵ディスクや外部ストレージ</a:t>
            </a:r>
            <a:r>
              <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1" name="角丸四角形 30">
            <a:extLst>
              <a:ext uri="{FF2B5EF4-FFF2-40B4-BE49-F238E27FC236}">
                <a16:creationId xmlns:a16="http://schemas.microsoft.com/office/drawing/2014/main" id="{4ADDB80E-EC6E-B2A0-EACF-9C33395EE1AE}"/>
              </a:ext>
            </a:extLst>
          </p:cNvPr>
          <p:cNvSpPr/>
          <p:nvPr/>
        </p:nvSpPr>
        <p:spPr>
          <a:xfrm>
            <a:off x="8201288" y="2877802"/>
            <a:ext cx="1483486" cy="647486"/>
          </a:xfrm>
          <a:prstGeom prst="roundRect">
            <a:avLst>
              <a:gd name="adj" fmla="val 8334"/>
            </a:avLst>
          </a:prstGeom>
          <a:noFill/>
          <a:ln w="158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56CC95DB-D13D-9E8A-DD70-49B5EFD6D5F4}"/>
              </a:ext>
            </a:extLst>
          </p:cNvPr>
          <p:cNvSpPr txBox="1"/>
          <p:nvPr/>
        </p:nvSpPr>
        <p:spPr>
          <a:xfrm>
            <a:off x="8098048" y="2890363"/>
            <a:ext cx="1708657" cy="600164"/>
          </a:xfrm>
          <a:prstGeom prst="rect">
            <a:avLst/>
          </a:prstGeom>
          <a:noFill/>
        </p:spPr>
        <p:txBody>
          <a:bodyPr wrap="square" rtlCol="0">
            <a:spAutoFit/>
          </a:bodyPr>
          <a:lstStyle/>
          <a:p>
            <a:pPr algn="ct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静的ファイル</a:t>
            </a:r>
            <a:endParaRPr kumimoji="1"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algn="ctr">
              <a:spcBef>
                <a:spcPts val="600"/>
              </a:spcBef>
            </a:pPr>
            <a:r>
              <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rPr>
              <a:t>HTML / CSS / </a:t>
            </a:r>
            <a:r>
              <a:rPr kumimoji="1" lang="ja-JP" altLang="en-US" sz="1000">
                <a:solidFill>
                  <a:schemeClr val="tx1">
                    <a:lumMod val="75000"/>
                    <a:lumOff val="25000"/>
                  </a:schemeClr>
                </a:solidFill>
                <a:latin typeface="Yu Gothic UI" panose="020B0500000000000000" pitchFamily="34" charset="-128"/>
                <a:ea typeface="Yu Gothic UI" panose="020B0500000000000000" pitchFamily="34" charset="-128"/>
              </a:rPr>
              <a:t>画像</a:t>
            </a:r>
            <a:endParaRPr kumimoji="1" lang="en-US" altLang="ja-JP" sz="10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33" name="直線コネクタ 32">
            <a:extLst>
              <a:ext uri="{FF2B5EF4-FFF2-40B4-BE49-F238E27FC236}">
                <a16:creationId xmlns:a16="http://schemas.microsoft.com/office/drawing/2014/main" id="{73A8E5E0-4F6E-66D9-67A2-1F3CC04ADAE8}"/>
              </a:ext>
            </a:extLst>
          </p:cNvPr>
          <p:cNvCxnSpPr>
            <a:cxnSpLocks/>
          </p:cNvCxnSpPr>
          <p:nvPr/>
        </p:nvCxnSpPr>
        <p:spPr>
          <a:xfrm flipV="1">
            <a:off x="6860711" y="2534050"/>
            <a:ext cx="1117637" cy="701699"/>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1E78636B-B1D1-5685-A29D-BDF68FB16C7C}"/>
              </a:ext>
            </a:extLst>
          </p:cNvPr>
          <p:cNvSpPr txBox="1"/>
          <p:nvPr/>
        </p:nvSpPr>
        <p:spPr>
          <a:xfrm>
            <a:off x="6702699" y="2374773"/>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取得</a:t>
            </a:r>
          </a:p>
        </p:txBody>
      </p:sp>
      <p:cxnSp>
        <p:nvCxnSpPr>
          <p:cNvPr id="40" name="直線コネクタ 39">
            <a:extLst>
              <a:ext uri="{FF2B5EF4-FFF2-40B4-BE49-F238E27FC236}">
                <a16:creationId xmlns:a16="http://schemas.microsoft.com/office/drawing/2014/main" id="{1F547671-4350-AE49-28A3-BFF3CC0F76E9}"/>
              </a:ext>
            </a:extLst>
          </p:cNvPr>
          <p:cNvCxnSpPr>
            <a:cxnSpLocks/>
          </p:cNvCxnSpPr>
          <p:nvPr/>
        </p:nvCxnSpPr>
        <p:spPr>
          <a:xfrm flipV="1">
            <a:off x="6905209" y="2871897"/>
            <a:ext cx="1117637" cy="701699"/>
          </a:xfrm>
          <a:prstGeom prst="line">
            <a:avLst/>
          </a:prstGeom>
          <a:ln w="44450">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4694E0CC-0590-DEE9-DC4A-BACDB2567E20}"/>
              </a:ext>
            </a:extLst>
          </p:cNvPr>
          <p:cNvSpPr txBox="1"/>
          <p:nvPr/>
        </p:nvSpPr>
        <p:spPr>
          <a:xfrm>
            <a:off x="7032825" y="3356081"/>
            <a:ext cx="1134795" cy="415498"/>
          </a:xfrm>
          <a:prstGeom prst="rect">
            <a:avLst/>
          </a:prstGeom>
          <a:noFill/>
        </p:spPr>
        <p:txBody>
          <a:bodyPr wrap="square" rtlCol="0">
            <a:spAutoFit/>
          </a:bodyPr>
          <a:lstStyle/>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静的ファイルの</a:t>
            </a:r>
            <a:endParaRPr kumimoji="1" lang="en-US" altLang="ja-JP" sz="1050">
              <a:solidFill>
                <a:schemeClr val="tx1">
                  <a:lumMod val="50000"/>
                  <a:lumOff val="50000"/>
                </a:schemeClr>
              </a:solidFill>
              <a:latin typeface="Yu Gothic UI" panose="020B0500000000000000" pitchFamily="34" charset="-128"/>
              <a:ea typeface="Yu Gothic UI" panose="020B0500000000000000" pitchFamily="34" charset="-128"/>
            </a:endParaRPr>
          </a:p>
          <a:p>
            <a:pPr algn="ctr"/>
            <a:r>
              <a:rPr kumimoji="1" lang="ja-JP" altLang="en-US" sz="1050">
                <a:solidFill>
                  <a:schemeClr val="tx1">
                    <a:lumMod val="50000"/>
                    <a:lumOff val="50000"/>
                  </a:schemeClr>
                </a:solidFill>
                <a:latin typeface="Yu Gothic UI" panose="020B0500000000000000" pitchFamily="34" charset="-128"/>
                <a:ea typeface="Yu Gothic UI" panose="020B0500000000000000" pitchFamily="34" charset="-128"/>
              </a:rPr>
              <a:t>応答</a:t>
            </a:r>
          </a:p>
        </p:txBody>
      </p:sp>
    </p:spTree>
    <p:extLst>
      <p:ext uri="{BB962C8B-B14F-4D97-AF65-F5344CB8AC3E}">
        <p14:creationId xmlns:p14="http://schemas.microsoft.com/office/powerpoint/2010/main" val="1186077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DB4D8824-4FC7-4D70-A930-04876716BC3D}"/>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静的コンテンツと動的コンテンツ</a:t>
            </a:r>
          </a:p>
        </p:txBody>
      </p:sp>
      <p:sp>
        <p:nvSpPr>
          <p:cNvPr id="2" name="正方形/長方形 1">
            <a:extLst>
              <a:ext uri="{FF2B5EF4-FFF2-40B4-BE49-F238E27FC236}">
                <a16:creationId xmlns:a16="http://schemas.microsoft.com/office/drawing/2014/main" id="{D392EC82-3001-4153-9614-BD9EAFDA082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73C81B6E-D7A6-4A39-BEDA-46657F09554B}"/>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13</a:t>
            </a:r>
          </a:p>
        </p:txBody>
      </p:sp>
      <p:sp>
        <p:nvSpPr>
          <p:cNvPr id="4" name="正方形/長方形 3">
            <a:extLst>
              <a:ext uri="{FF2B5EF4-FFF2-40B4-BE49-F238E27FC236}">
                <a16:creationId xmlns:a16="http://schemas.microsoft.com/office/drawing/2014/main" id="{F7E2F47C-C9CD-499A-BDE9-B55AFCD31C5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BCA3D23-876D-40DD-A814-E9344320A65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画面や画像のようにそのまま返せる静的コンテンツと、検索結果や Todo 一覧のように処理後に生成される動的コンテンツを区別します。</a:t>
            </a:r>
          </a:p>
        </p:txBody>
      </p:sp>
      <p:sp>
        <p:nvSpPr>
          <p:cNvPr id="6" name="正方形/長方形 5">
            <a:extLst>
              <a:ext uri="{FF2B5EF4-FFF2-40B4-BE49-F238E27FC236}">
                <a16:creationId xmlns:a16="http://schemas.microsoft.com/office/drawing/2014/main" id="{A8250F04-6E9E-43EE-A7F4-1230523B970C}"/>
              </a:ext>
            </a:extLst>
          </p:cNvPr>
          <p:cNvSpPr>
            <a:spLocks noGrp="1"/>
          </p:cNvSpPr>
          <p:nvPr/>
        </p:nvSpPr>
        <p:spPr>
          <a:xfrm>
            <a:off x="895350" y="1898240"/>
            <a:ext cx="10470740" cy="1866286"/>
          </a:xfrm>
          <a:prstGeom prst="rect">
            <a:avLst/>
          </a:prstGeom>
          <a:solidFill>
            <a:srgbClr val="FFFFFF"/>
          </a:solidFill>
          <a:ln w="9525">
            <a:solidFill>
              <a:srgbClr val="D0D5DD"/>
            </a:solidFill>
            <a:prstDash val="solid"/>
          </a:ln>
        </p:spPr>
        <p:txBody>
          <a:bodyPr/>
          <a:lstStyle/>
          <a:p>
            <a:endParaRPr lang="ja-JP" altLang="en-US" sz="2800"/>
          </a:p>
        </p:txBody>
      </p:sp>
      <p:sp>
        <p:nvSpPr>
          <p:cNvPr id="7" name="正方形/長方形 6">
            <a:extLst>
              <a:ext uri="{FF2B5EF4-FFF2-40B4-BE49-F238E27FC236}">
                <a16:creationId xmlns:a16="http://schemas.microsoft.com/office/drawing/2014/main" id="{D8D22B94-569E-4F15-952C-81F62D97E721}"/>
              </a:ext>
            </a:extLst>
          </p:cNvPr>
          <p:cNvSpPr>
            <a:spLocks noGrp="1"/>
          </p:cNvSpPr>
          <p:nvPr/>
        </p:nvSpPr>
        <p:spPr>
          <a:xfrm>
            <a:off x="895350" y="1898240"/>
            <a:ext cx="161088" cy="1866286"/>
          </a:xfrm>
          <a:prstGeom prst="rect">
            <a:avLst/>
          </a:prstGeom>
          <a:solidFill>
            <a:srgbClr val="0F766E"/>
          </a:solidFill>
          <a:ln w="0">
            <a:solidFill>
              <a:srgbClr val="0F766E"/>
            </a:solidFill>
            <a:prstDash val="solid"/>
          </a:ln>
        </p:spPr>
        <p:txBody>
          <a:bodyPr/>
          <a:lstStyle/>
          <a:p>
            <a:endParaRPr lang="ja-JP" altLang="en-US" sz="2800"/>
          </a:p>
        </p:txBody>
      </p:sp>
      <p:sp>
        <p:nvSpPr>
          <p:cNvPr id="8" name="正方形/長方形 7">
            <a:extLst>
              <a:ext uri="{FF2B5EF4-FFF2-40B4-BE49-F238E27FC236}">
                <a16:creationId xmlns:a16="http://schemas.microsoft.com/office/drawing/2014/main" id="{3888B3F0-982C-46F9-B21B-4C2028F187C7}"/>
              </a:ext>
            </a:extLst>
          </p:cNvPr>
          <p:cNvSpPr>
            <a:spLocks noGrp="1"/>
          </p:cNvSpPr>
          <p:nvPr/>
        </p:nvSpPr>
        <p:spPr>
          <a:xfrm>
            <a:off x="1123950" y="2069690"/>
            <a:ext cx="9584754" cy="1694836"/>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F766E"/>
                </a:solidFill>
                <a:latin typeface="Yu Gothic UI"/>
                <a:ea typeface="Yu Gothic UI"/>
                <a:cs typeface="Yu Gothic UI"/>
              </a:defRPr>
            </a:pPr>
            <a:r>
              <a:rPr sz="2000">
                <a:solidFill>
                  <a:srgbClr val="0F766E"/>
                </a:solidFill>
                <a:latin typeface="Yu Gothic UI"/>
                <a:ea typeface="Yu Gothic UI"/>
                <a:cs typeface="Yu Gothic UI"/>
              </a:rPr>
              <a:t>静的コンテンツ</a:t>
            </a:r>
            <a:endParaRPr lang="en-US" sz="2000">
              <a:solidFill>
                <a:srgbClr val="0F766E"/>
              </a:solidFill>
              <a:latin typeface="Yu Gothic UI"/>
              <a:ea typeface="Yu Gothic UI"/>
              <a:cs typeface="Yu Gothic UI"/>
            </a:endParaRPr>
          </a:p>
          <a:p>
            <a:pPr marL="223838" lvl="1">
              <a:spcBef>
                <a:spcPts val="1200"/>
              </a:spcBef>
              <a:defRPr sz="750" b="1">
                <a:solidFill>
                  <a:srgbClr val="0F766E"/>
                </a:solidFill>
                <a:latin typeface="Yu Gothic UI"/>
                <a:ea typeface="Yu Gothic UI"/>
                <a:cs typeface="Yu Gothic UI"/>
              </a:defRPr>
            </a:pPr>
            <a:r>
              <a:rPr lang="ja-JP" altLang="en-US" sz="1600" b="1">
                <a:solidFill>
                  <a:srgbClr val="1F2937"/>
                </a:solidFill>
                <a:latin typeface="Meiryo UI"/>
                <a:ea typeface="Meiryo UI"/>
                <a:cs typeface="Meiryo UI"/>
              </a:rPr>
              <a:t>ファイルをそのまま返す</a:t>
            </a:r>
            <a:endParaRPr lang="en-US" altLang="ja-JP" sz="1600" b="1">
              <a:solidFill>
                <a:srgbClr val="1F2937"/>
              </a:solidFill>
              <a:latin typeface="Meiryo UI"/>
              <a:ea typeface="Meiryo UI"/>
              <a:cs typeface="Meiryo UI"/>
            </a:endParaRPr>
          </a:p>
          <a:p>
            <a:pPr marL="223838" lvl="1">
              <a:defRPr sz="750" b="1">
                <a:solidFill>
                  <a:srgbClr val="0F766E"/>
                </a:solidFill>
                <a:latin typeface="Yu Gothic UI"/>
                <a:ea typeface="Yu Gothic UI"/>
                <a:cs typeface="Yu Gothic UI"/>
              </a:defRPr>
            </a:pPr>
            <a:r>
              <a:rPr lang="en" altLang="ja-JP" sz="1600">
                <a:solidFill>
                  <a:srgbClr val="344054"/>
                </a:solidFill>
                <a:latin typeface="Yu Gothic UI" panose="020B0500000000000000" pitchFamily="34" charset="-128"/>
                <a:ea typeface="Yu Gothic UI" panose="020B0500000000000000" pitchFamily="34" charset="-128"/>
                <a:cs typeface="Yu Gothic UI"/>
              </a:rPr>
              <a:t>HTML</a:t>
            </a:r>
            <a:r>
              <a:rPr lang="ja-JP" altLang="en" sz="1600">
                <a:solidFill>
                  <a:srgbClr val="344054"/>
                </a:solidFill>
                <a:latin typeface="Yu Gothic UI" panose="020B0500000000000000" pitchFamily="34" charset="-128"/>
                <a:ea typeface="Yu Gothic UI" panose="020B0500000000000000" pitchFamily="34" charset="-128"/>
                <a:cs typeface="Yu Gothic UI"/>
              </a:rPr>
              <a:t>、</a:t>
            </a:r>
            <a:r>
              <a:rPr lang="en" altLang="ja-JP" sz="1600">
                <a:solidFill>
                  <a:srgbClr val="344054"/>
                </a:solidFill>
                <a:latin typeface="Yu Gothic UI" panose="020B0500000000000000" pitchFamily="34" charset="-128"/>
                <a:ea typeface="Yu Gothic UI" panose="020B0500000000000000" pitchFamily="34" charset="-128"/>
                <a:cs typeface="Yu Gothic UI"/>
              </a:rPr>
              <a:t>CSS</a:t>
            </a:r>
            <a:r>
              <a:rPr lang="ja-JP" altLang="en" sz="1600">
                <a:solidFill>
                  <a:srgbClr val="344054"/>
                </a:solidFill>
                <a:latin typeface="Yu Gothic UI" panose="020B0500000000000000" pitchFamily="34" charset="-128"/>
                <a:ea typeface="Yu Gothic UI" panose="020B0500000000000000" pitchFamily="34" charset="-128"/>
                <a:cs typeface="Yu Gothic UI"/>
              </a:rPr>
              <a:t>、</a:t>
            </a:r>
            <a:r>
              <a:rPr lang="en" altLang="ja-JP" sz="1600">
                <a:solidFill>
                  <a:srgbClr val="344054"/>
                </a:solidFill>
                <a:latin typeface="Yu Gothic UI" panose="020B0500000000000000" pitchFamily="34" charset="-128"/>
                <a:ea typeface="Yu Gothic UI" panose="020B0500000000000000" pitchFamily="34" charset="-128"/>
                <a:cs typeface="Yu Gothic UI"/>
              </a:rPr>
              <a:t>JavaScript</a:t>
            </a:r>
            <a:r>
              <a:rPr lang="ja-JP" altLang="en" sz="1600">
                <a:solidFill>
                  <a:srgbClr val="344054"/>
                </a:solidFill>
                <a:latin typeface="Yu Gothic UI" panose="020B0500000000000000" pitchFamily="34" charset="-128"/>
                <a:ea typeface="Yu Gothic UI" panose="020B0500000000000000" pitchFamily="34" charset="-128"/>
                <a:cs typeface="Yu Gothic UI"/>
              </a:rPr>
              <a:t>、</a:t>
            </a:r>
            <a:r>
              <a:rPr lang="ja-JP" altLang="en-US" sz="1600">
                <a:solidFill>
                  <a:srgbClr val="344054"/>
                </a:solidFill>
                <a:latin typeface="Yu Gothic UI" panose="020B0500000000000000" pitchFamily="34" charset="-128"/>
                <a:ea typeface="Yu Gothic UI" panose="020B0500000000000000" pitchFamily="34" charset="-128"/>
                <a:cs typeface="Yu Gothic UI"/>
              </a:rPr>
              <a:t>画像など。内容は事前に用意されている。</a:t>
            </a:r>
          </a:p>
          <a:p>
            <a:pPr marL="223838" lvl="1">
              <a:defRPr sz="750" b="1">
                <a:solidFill>
                  <a:srgbClr val="0F766E"/>
                </a:solidFill>
                <a:latin typeface="Yu Gothic UI"/>
                <a:ea typeface="Yu Gothic UI"/>
                <a:cs typeface="Yu Gothic UI"/>
              </a:defRPr>
            </a:pPr>
            <a:endParaRPr lang="ja-JP" altLang="en-US" sz="1600">
              <a:solidFill>
                <a:srgbClr val="1F2937"/>
              </a:solidFill>
              <a:latin typeface="Yu Gothic UI" panose="020B0500000000000000" pitchFamily="34" charset="-128"/>
              <a:ea typeface="Yu Gothic UI" panose="020B0500000000000000" pitchFamily="34" charset="-128"/>
              <a:cs typeface="Meiryo UI"/>
            </a:endParaRPr>
          </a:p>
          <a:p>
            <a:pPr algn="l">
              <a:defRPr sz="750" b="1">
                <a:solidFill>
                  <a:srgbClr val="0F766E"/>
                </a:solidFill>
                <a:latin typeface="Yu Gothic UI"/>
                <a:ea typeface="Yu Gothic UI"/>
                <a:cs typeface="Yu Gothic UI"/>
              </a:defRPr>
            </a:pPr>
            <a:endParaRPr sz="2000">
              <a:solidFill>
                <a:srgbClr val="0F766E"/>
              </a:solidFill>
              <a:latin typeface="Yu Gothic UI"/>
              <a:ea typeface="Yu Gothic UI"/>
              <a:cs typeface="Yu Gothic UI"/>
            </a:endParaRPr>
          </a:p>
        </p:txBody>
      </p:sp>
      <p:sp>
        <p:nvSpPr>
          <p:cNvPr id="11" name="正方形/長方形 10">
            <a:extLst>
              <a:ext uri="{FF2B5EF4-FFF2-40B4-BE49-F238E27FC236}">
                <a16:creationId xmlns:a16="http://schemas.microsoft.com/office/drawing/2014/main" id="{29A3B9DE-92B3-4BB6-A156-5B378F3F94D7}"/>
              </a:ext>
            </a:extLst>
          </p:cNvPr>
          <p:cNvSpPr>
            <a:spLocks noGrp="1"/>
          </p:cNvSpPr>
          <p:nvPr/>
        </p:nvSpPr>
        <p:spPr>
          <a:xfrm>
            <a:off x="895350" y="4139996"/>
            <a:ext cx="10470740" cy="1866286"/>
          </a:xfrm>
          <a:prstGeom prst="rect">
            <a:avLst/>
          </a:prstGeom>
          <a:solidFill>
            <a:srgbClr val="FFFFFF"/>
          </a:solidFill>
          <a:ln w="9525">
            <a:solidFill>
              <a:srgbClr val="D0D5DD"/>
            </a:solidFill>
            <a:prstDash val="solid"/>
          </a:ln>
        </p:spPr>
        <p:txBody>
          <a:bodyPr/>
          <a:lstStyle/>
          <a:p>
            <a:endParaRPr lang="ja-JP" altLang="en-US" sz="2800"/>
          </a:p>
        </p:txBody>
      </p:sp>
      <p:sp>
        <p:nvSpPr>
          <p:cNvPr id="12" name="正方形/長方形 11">
            <a:extLst>
              <a:ext uri="{FF2B5EF4-FFF2-40B4-BE49-F238E27FC236}">
                <a16:creationId xmlns:a16="http://schemas.microsoft.com/office/drawing/2014/main" id="{A3D4B0D2-B197-475E-B553-C58AB75A4890}"/>
              </a:ext>
            </a:extLst>
          </p:cNvPr>
          <p:cNvSpPr>
            <a:spLocks noGrp="1"/>
          </p:cNvSpPr>
          <p:nvPr/>
        </p:nvSpPr>
        <p:spPr>
          <a:xfrm>
            <a:off x="895350" y="4139996"/>
            <a:ext cx="161088" cy="1866286"/>
          </a:xfrm>
          <a:prstGeom prst="rect">
            <a:avLst/>
          </a:prstGeom>
          <a:solidFill>
            <a:srgbClr val="70AD47"/>
          </a:solidFill>
          <a:ln w="0">
            <a:solidFill>
              <a:srgbClr val="70AD47"/>
            </a:solidFill>
            <a:prstDash val="solid"/>
          </a:ln>
        </p:spPr>
        <p:txBody>
          <a:bodyPr/>
          <a:lstStyle/>
          <a:p>
            <a:endParaRPr lang="ja-JP" altLang="en-US" sz="2800"/>
          </a:p>
        </p:txBody>
      </p:sp>
      <p:sp>
        <p:nvSpPr>
          <p:cNvPr id="13" name="正方形/長方形 12">
            <a:extLst>
              <a:ext uri="{FF2B5EF4-FFF2-40B4-BE49-F238E27FC236}">
                <a16:creationId xmlns:a16="http://schemas.microsoft.com/office/drawing/2014/main" id="{F12EAACC-91EB-466D-A9DA-13CB1D984113}"/>
              </a:ext>
            </a:extLst>
          </p:cNvPr>
          <p:cNvSpPr>
            <a:spLocks noGrp="1"/>
          </p:cNvSpPr>
          <p:nvPr/>
        </p:nvSpPr>
        <p:spPr>
          <a:xfrm>
            <a:off x="1123950" y="4370440"/>
            <a:ext cx="9584754" cy="32668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70AD47"/>
                </a:solidFill>
                <a:latin typeface="Yu Gothic UI"/>
                <a:ea typeface="Yu Gothic UI"/>
                <a:cs typeface="Yu Gothic UI"/>
              </a:defRPr>
            </a:pPr>
            <a:r>
              <a:rPr sz="1600" b="1">
                <a:solidFill>
                  <a:srgbClr val="70AD47"/>
                </a:solidFill>
                <a:latin typeface="Yu Gothic UI"/>
                <a:ea typeface="Yu Gothic UI"/>
                <a:cs typeface="Yu Gothic UI"/>
              </a:rPr>
              <a:t>動的コンテンツ</a:t>
            </a:r>
          </a:p>
        </p:txBody>
      </p:sp>
      <p:sp>
        <p:nvSpPr>
          <p:cNvPr id="14" name="正方形/長方形 13">
            <a:extLst>
              <a:ext uri="{FF2B5EF4-FFF2-40B4-BE49-F238E27FC236}">
                <a16:creationId xmlns:a16="http://schemas.microsoft.com/office/drawing/2014/main" id="{2AEEB7AA-51BF-442B-91EC-127EDF4C2DF4}"/>
              </a:ext>
            </a:extLst>
          </p:cNvPr>
          <p:cNvSpPr>
            <a:spLocks noGrp="1"/>
          </p:cNvSpPr>
          <p:nvPr/>
        </p:nvSpPr>
        <p:spPr>
          <a:xfrm>
            <a:off x="1123950" y="4785239"/>
            <a:ext cx="9584754" cy="522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Meiryo UI"/>
                <a:ea typeface="Meiryo UI"/>
                <a:cs typeface="Meiryo UI"/>
              </a:defRPr>
            </a:pPr>
            <a:r>
              <a:rPr b="1">
                <a:solidFill>
                  <a:srgbClr val="1F2937"/>
                </a:solidFill>
                <a:latin typeface="Meiryo UI"/>
                <a:ea typeface="Meiryo UI"/>
                <a:cs typeface="Meiryo UI"/>
              </a:rPr>
              <a:t>処理結果を返す</a:t>
            </a:r>
          </a:p>
        </p:txBody>
      </p:sp>
      <p:sp>
        <p:nvSpPr>
          <p:cNvPr id="15" name="正方形/長方形 14">
            <a:extLst>
              <a:ext uri="{FF2B5EF4-FFF2-40B4-BE49-F238E27FC236}">
                <a16:creationId xmlns:a16="http://schemas.microsoft.com/office/drawing/2014/main" id="{18E3E9FF-4BEB-4E8E-9A8A-CE451266978F}"/>
              </a:ext>
            </a:extLst>
          </p:cNvPr>
          <p:cNvSpPr>
            <a:spLocks noGrp="1"/>
          </p:cNvSpPr>
          <p:nvPr/>
        </p:nvSpPr>
        <p:spPr>
          <a:xfrm>
            <a:off x="1123950" y="5204339"/>
            <a:ext cx="9584754" cy="522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1100" b="0">
                <a:solidFill>
                  <a:srgbClr val="344054"/>
                </a:solidFill>
                <a:latin typeface="Yu Gothic UI"/>
                <a:ea typeface="Yu Gothic UI"/>
                <a:cs typeface="Yu Gothic UI"/>
              </a:rPr>
              <a:t>ログイン結果、注文結果、Todo 一覧、API レスポンスなど。AP 層や DB 層と連携する。</a:t>
            </a:r>
          </a:p>
        </p:txBody>
      </p:sp>
      <p:sp>
        <p:nvSpPr>
          <p:cNvPr id="16" name="正方形/長方形 15">
            <a:extLst>
              <a:ext uri="{FF2B5EF4-FFF2-40B4-BE49-F238E27FC236}">
                <a16:creationId xmlns:a16="http://schemas.microsoft.com/office/drawing/2014/main" id="{7DCFECE6-914C-4EF4-8257-B7B63A88FFC7}"/>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13 / 32</a:t>
            </a:r>
          </a:p>
        </p:txBody>
      </p:sp>
    </p:spTree>
    <p:extLst>
      <p:ext uri="{BB962C8B-B14F-4D97-AF65-F5344CB8AC3E}">
        <p14:creationId xmlns:p14="http://schemas.microsoft.com/office/powerpoint/2010/main" val="1186077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CEAABF3B-758D-4093-B8B7-68372FDDE5B5}"/>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サーバの代表例</a:t>
            </a:r>
          </a:p>
        </p:txBody>
      </p:sp>
      <p:sp>
        <p:nvSpPr>
          <p:cNvPr id="2" name="正方形/長方形 1">
            <a:extLst>
              <a:ext uri="{FF2B5EF4-FFF2-40B4-BE49-F238E27FC236}">
                <a16:creationId xmlns:a16="http://schemas.microsoft.com/office/drawing/2014/main" id="{6E4C9C41-C045-4BF1-9978-F9CD9722EDAC}"/>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65E8AA39-DD3D-48A7-9215-9F47CEFE9F20}"/>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14</a:t>
            </a:r>
          </a:p>
        </p:txBody>
      </p:sp>
      <p:sp>
        <p:nvSpPr>
          <p:cNvPr id="4" name="正方形/長方形 3">
            <a:extLst>
              <a:ext uri="{FF2B5EF4-FFF2-40B4-BE49-F238E27FC236}">
                <a16:creationId xmlns:a16="http://schemas.microsoft.com/office/drawing/2014/main" id="{BB0BCBAD-5C04-430C-A41C-2C30FAFC0FA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DEA04D6-EF38-462E-A6A4-6791374B15FA}"/>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サーバには NGINX、Apache HTTP Server、IIS などがあり、第3回では Azure VM 上に NGINX を配置して入口の役割を体験します。</a:t>
            </a:r>
          </a:p>
        </p:txBody>
      </p:sp>
      <p:sp>
        <p:nvSpPr>
          <p:cNvPr id="6" name="正方形/長方形 5">
            <a:extLst>
              <a:ext uri="{FF2B5EF4-FFF2-40B4-BE49-F238E27FC236}">
                <a16:creationId xmlns:a16="http://schemas.microsoft.com/office/drawing/2014/main" id="{0FE2050A-D270-4F3B-9355-9BD19C0D9B0B}"/>
              </a:ext>
            </a:extLst>
          </p:cNvPr>
          <p:cNvSpPr>
            <a:spLocks noGrp="1"/>
          </p:cNvSpPr>
          <p:nvPr/>
        </p:nvSpPr>
        <p:spPr>
          <a:xfrm>
            <a:off x="876300" y="2114550"/>
            <a:ext cx="5219700" cy="438150"/>
          </a:xfrm>
          <a:prstGeom prst="rect">
            <a:avLst/>
          </a:prstGeom>
          <a:solidFill>
            <a:srgbClr val="244A8F"/>
          </a:solidFill>
          <a:ln w="11430">
            <a:solidFill>
              <a:srgbClr val="FFFFFF"/>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7ACC92A0-0158-48EE-A095-FB4BB982D1DD}"/>
              </a:ext>
            </a:extLst>
          </p:cNvPr>
          <p:cNvSpPr>
            <a:spLocks noGrp="1"/>
          </p:cNvSpPr>
          <p:nvPr/>
        </p:nvSpPr>
        <p:spPr>
          <a:xfrm>
            <a:off x="9525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名前</a:t>
            </a:r>
          </a:p>
        </p:txBody>
      </p:sp>
      <p:sp>
        <p:nvSpPr>
          <p:cNvPr id="8" name="正方形/長方形 7">
            <a:extLst>
              <a:ext uri="{FF2B5EF4-FFF2-40B4-BE49-F238E27FC236}">
                <a16:creationId xmlns:a16="http://schemas.microsoft.com/office/drawing/2014/main" id="{D559D157-F3BD-48A7-82C2-54554B33E535}"/>
              </a:ext>
            </a:extLst>
          </p:cNvPr>
          <p:cNvSpPr>
            <a:spLocks noGrp="1"/>
          </p:cNvSpPr>
          <p:nvPr/>
        </p:nvSpPr>
        <p:spPr>
          <a:xfrm>
            <a:off x="6096000" y="2114550"/>
            <a:ext cx="5219700" cy="438150"/>
          </a:xfrm>
          <a:prstGeom prst="rect">
            <a:avLst/>
          </a:prstGeom>
          <a:solidFill>
            <a:srgbClr val="244A8F"/>
          </a:solidFill>
          <a:ln w="11430">
            <a:solidFill>
              <a:srgbClr val="FFFFFF"/>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61A9E041-924B-4264-96DA-BCB97D145147}"/>
              </a:ext>
            </a:extLst>
          </p:cNvPr>
          <p:cNvSpPr>
            <a:spLocks noGrp="1"/>
          </p:cNvSpPr>
          <p:nvPr/>
        </p:nvSpPr>
        <p:spPr>
          <a:xfrm>
            <a:off x="61722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よくある使われ方</a:t>
            </a:r>
          </a:p>
        </p:txBody>
      </p:sp>
      <p:sp>
        <p:nvSpPr>
          <p:cNvPr id="10" name="正方形/長方形 9">
            <a:extLst>
              <a:ext uri="{FF2B5EF4-FFF2-40B4-BE49-F238E27FC236}">
                <a16:creationId xmlns:a16="http://schemas.microsoft.com/office/drawing/2014/main" id="{AA166E44-8DF3-4B4C-AE56-3B2071D92B5F}"/>
              </a:ext>
            </a:extLst>
          </p:cNvPr>
          <p:cNvSpPr>
            <a:spLocks noGrp="1"/>
          </p:cNvSpPr>
          <p:nvPr/>
        </p:nvSpPr>
        <p:spPr>
          <a:xfrm>
            <a:off x="876300" y="2552700"/>
            <a:ext cx="5219700" cy="933450"/>
          </a:xfrm>
          <a:prstGeom prst="rect">
            <a:avLst/>
          </a:prstGeom>
          <a:solidFill>
            <a:srgbClr val="EAF1FB"/>
          </a:solidFill>
          <a:ln w="11430">
            <a:solidFill>
              <a:srgbClr val="FFFFFF"/>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BF52370E-45C2-4DE8-9DB0-FF62509C5F37}"/>
              </a:ext>
            </a:extLst>
          </p:cNvPr>
          <p:cNvSpPr>
            <a:spLocks noGrp="1"/>
          </p:cNvSpPr>
          <p:nvPr/>
        </p:nvSpPr>
        <p:spPr>
          <a:xfrm>
            <a:off x="952500" y="26098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NGINX</a:t>
            </a:r>
          </a:p>
        </p:txBody>
      </p:sp>
      <p:sp>
        <p:nvSpPr>
          <p:cNvPr id="12" name="正方形/長方形 11">
            <a:extLst>
              <a:ext uri="{FF2B5EF4-FFF2-40B4-BE49-F238E27FC236}">
                <a16:creationId xmlns:a16="http://schemas.microsoft.com/office/drawing/2014/main" id="{7476E982-8DF6-4097-BACE-E7E2956A00B7}"/>
              </a:ext>
            </a:extLst>
          </p:cNvPr>
          <p:cNvSpPr>
            <a:spLocks noGrp="1"/>
          </p:cNvSpPr>
          <p:nvPr/>
        </p:nvSpPr>
        <p:spPr>
          <a:xfrm>
            <a:off x="6096000" y="2552700"/>
            <a:ext cx="5219700" cy="933450"/>
          </a:xfrm>
          <a:prstGeom prst="rect">
            <a:avLst/>
          </a:prstGeom>
          <a:solidFill>
            <a:srgbClr val="FFFFFF"/>
          </a:solidFill>
          <a:ln w="11430">
            <a:solidFill>
              <a:srgbClr val="FFFFFF"/>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0266F392-7F25-4313-A04B-3CA2FC083AA7}"/>
              </a:ext>
            </a:extLst>
          </p:cNvPr>
          <p:cNvSpPr>
            <a:spLocks noGrp="1"/>
          </p:cNvSpPr>
          <p:nvPr/>
        </p:nvSpPr>
        <p:spPr>
          <a:xfrm>
            <a:off x="6172200" y="26098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静的配信、リバースプロキシ、軽量な Web サーバ。</a:t>
            </a:r>
          </a:p>
        </p:txBody>
      </p:sp>
      <p:sp>
        <p:nvSpPr>
          <p:cNvPr id="14" name="正方形/長方形 13">
            <a:extLst>
              <a:ext uri="{FF2B5EF4-FFF2-40B4-BE49-F238E27FC236}">
                <a16:creationId xmlns:a16="http://schemas.microsoft.com/office/drawing/2014/main" id="{5523367B-A232-4A5B-8D80-38CE63C8F19D}"/>
              </a:ext>
            </a:extLst>
          </p:cNvPr>
          <p:cNvSpPr>
            <a:spLocks noGrp="1"/>
          </p:cNvSpPr>
          <p:nvPr/>
        </p:nvSpPr>
        <p:spPr>
          <a:xfrm>
            <a:off x="876300" y="3486150"/>
            <a:ext cx="5219700" cy="933450"/>
          </a:xfrm>
          <a:prstGeom prst="rect">
            <a:avLst/>
          </a:prstGeom>
          <a:solidFill>
            <a:srgbClr val="EAF1FB"/>
          </a:solidFill>
          <a:ln w="11430">
            <a:solidFill>
              <a:srgbClr val="FFFFFF"/>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7F52B26A-AA35-46C7-BB51-62BF13C58B1E}"/>
              </a:ext>
            </a:extLst>
          </p:cNvPr>
          <p:cNvSpPr>
            <a:spLocks noGrp="1"/>
          </p:cNvSpPr>
          <p:nvPr/>
        </p:nvSpPr>
        <p:spPr>
          <a:xfrm>
            <a:off x="952500" y="354330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Apache HTTP Server</a:t>
            </a:r>
          </a:p>
        </p:txBody>
      </p:sp>
      <p:sp>
        <p:nvSpPr>
          <p:cNvPr id="16" name="正方形/長方形 15">
            <a:extLst>
              <a:ext uri="{FF2B5EF4-FFF2-40B4-BE49-F238E27FC236}">
                <a16:creationId xmlns:a16="http://schemas.microsoft.com/office/drawing/2014/main" id="{25CA6302-60B6-4285-86E4-3ACE4E6C3595}"/>
              </a:ext>
            </a:extLst>
          </p:cNvPr>
          <p:cNvSpPr>
            <a:spLocks noGrp="1"/>
          </p:cNvSpPr>
          <p:nvPr/>
        </p:nvSpPr>
        <p:spPr>
          <a:xfrm>
            <a:off x="6096000" y="3486150"/>
            <a:ext cx="5219700" cy="933450"/>
          </a:xfrm>
          <a:prstGeom prst="rect">
            <a:avLst/>
          </a:prstGeom>
          <a:solidFill>
            <a:srgbClr val="FFFFFF"/>
          </a:solidFill>
          <a:ln w="11430">
            <a:solidFill>
              <a:srgbClr val="FFFFFF"/>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F21E2F89-49F9-40B3-8690-275AD2597580}"/>
              </a:ext>
            </a:extLst>
          </p:cNvPr>
          <p:cNvSpPr>
            <a:spLocks noGrp="1"/>
          </p:cNvSpPr>
          <p:nvPr/>
        </p:nvSpPr>
        <p:spPr>
          <a:xfrm>
            <a:off x="6172200" y="354330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幅広い環境で使われる汎用 Web サーバ。</a:t>
            </a:r>
          </a:p>
        </p:txBody>
      </p:sp>
      <p:sp>
        <p:nvSpPr>
          <p:cNvPr id="18" name="正方形/長方形 17">
            <a:extLst>
              <a:ext uri="{FF2B5EF4-FFF2-40B4-BE49-F238E27FC236}">
                <a16:creationId xmlns:a16="http://schemas.microsoft.com/office/drawing/2014/main" id="{D213963C-465F-4FFF-9DC1-18D30D5703D4}"/>
              </a:ext>
            </a:extLst>
          </p:cNvPr>
          <p:cNvSpPr>
            <a:spLocks noGrp="1"/>
          </p:cNvSpPr>
          <p:nvPr/>
        </p:nvSpPr>
        <p:spPr>
          <a:xfrm>
            <a:off x="876300" y="4419600"/>
            <a:ext cx="5219700" cy="933450"/>
          </a:xfrm>
          <a:prstGeom prst="rect">
            <a:avLst/>
          </a:prstGeom>
          <a:solidFill>
            <a:srgbClr val="EAF1FB"/>
          </a:solidFill>
          <a:ln w="11430">
            <a:solidFill>
              <a:srgbClr val="FFFFFF"/>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BF175FA6-6791-4846-AD79-C1F67AF72E3C}"/>
              </a:ext>
            </a:extLst>
          </p:cNvPr>
          <p:cNvSpPr>
            <a:spLocks noGrp="1"/>
          </p:cNvSpPr>
          <p:nvPr/>
        </p:nvSpPr>
        <p:spPr>
          <a:xfrm>
            <a:off x="952500" y="44767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IIS</a:t>
            </a:r>
          </a:p>
        </p:txBody>
      </p:sp>
      <p:sp>
        <p:nvSpPr>
          <p:cNvPr id="20" name="正方形/長方形 19">
            <a:extLst>
              <a:ext uri="{FF2B5EF4-FFF2-40B4-BE49-F238E27FC236}">
                <a16:creationId xmlns:a16="http://schemas.microsoft.com/office/drawing/2014/main" id="{9FBA9D77-D23C-4B4E-941B-4A64125E8F3B}"/>
              </a:ext>
            </a:extLst>
          </p:cNvPr>
          <p:cNvSpPr>
            <a:spLocks noGrp="1"/>
          </p:cNvSpPr>
          <p:nvPr/>
        </p:nvSpPr>
        <p:spPr>
          <a:xfrm>
            <a:off x="6096000" y="4419600"/>
            <a:ext cx="5219700" cy="933450"/>
          </a:xfrm>
          <a:prstGeom prst="rect">
            <a:avLst/>
          </a:prstGeom>
          <a:solidFill>
            <a:srgbClr val="FFFFFF"/>
          </a:solidFill>
          <a:ln w="11430">
            <a:solidFill>
              <a:srgbClr val="FFFFFF"/>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A574EABC-09AC-468B-8751-1C7344A6F8B7}"/>
              </a:ext>
            </a:extLst>
          </p:cNvPr>
          <p:cNvSpPr>
            <a:spLocks noGrp="1"/>
          </p:cNvSpPr>
          <p:nvPr/>
        </p:nvSpPr>
        <p:spPr>
          <a:xfrm>
            <a:off x="6172200" y="4476750"/>
            <a:ext cx="50673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Windows Server と組み合わせて使われる Web サーバ。</a:t>
            </a:r>
          </a:p>
        </p:txBody>
      </p:sp>
      <p:sp>
        <p:nvSpPr>
          <p:cNvPr id="22" name="正方形/長方形 21">
            <a:extLst>
              <a:ext uri="{FF2B5EF4-FFF2-40B4-BE49-F238E27FC236}">
                <a16:creationId xmlns:a16="http://schemas.microsoft.com/office/drawing/2014/main" id="{6CA867DF-2522-4231-86D2-CE9F5E00CAA6}"/>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14 / 32</a:t>
            </a:r>
          </a:p>
        </p:txBody>
      </p:sp>
    </p:spTree>
    <p:extLst>
      <p:ext uri="{BB962C8B-B14F-4D97-AF65-F5344CB8AC3E}">
        <p14:creationId xmlns:p14="http://schemas.microsoft.com/office/powerpoint/2010/main" val="118607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F18F595-CB37-4D6E-9EEA-F3DB98AAF274}"/>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3層は必ず3台ではない</a:t>
            </a:r>
          </a:p>
        </p:txBody>
      </p:sp>
      <p:sp>
        <p:nvSpPr>
          <p:cNvPr id="2" name="正方形/長方形 1">
            <a:extLst>
              <a:ext uri="{FF2B5EF4-FFF2-40B4-BE49-F238E27FC236}">
                <a16:creationId xmlns:a16="http://schemas.microsoft.com/office/drawing/2014/main" id="{DA4ACCC1-9323-401F-862C-0735B512118A}"/>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5F6D5091-EB4E-429A-87CF-569129BA3AC9}"/>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09</a:t>
            </a:r>
          </a:p>
        </p:txBody>
      </p:sp>
      <p:sp>
        <p:nvSpPr>
          <p:cNvPr id="4" name="正方形/長方形 3">
            <a:extLst>
              <a:ext uri="{FF2B5EF4-FFF2-40B4-BE49-F238E27FC236}">
                <a16:creationId xmlns:a16="http://schemas.microsoft.com/office/drawing/2014/main" id="{442C080F-BDA8-4E16-BDAA-48BA51FA72E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1A2E37B-99A6-47B9-922C-8F7EF71E1BC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3層はサーバー台数の指定ではなく役割分担の考え方なので、1台同居、複数台分離、マネージドサービス利用のどれでも表現できます。</a:t>
            </a:r>
          </a:p>
        </p:txBody>
      </p:sp>
      <p:sp>
        <p:nvSpPr>
          <p:cNvPr id="6" name="正方形/長方形 5">
            <a:extLst>
              <a:ext uri="{FF2B5EF4-FFF2-40B4-BE49-F238E27FC236}">
                <a16:creationId xmlns:a16="http://schemas.microsoft.com/office/drawing/2014/main" id="{61911C5E-61F9-4F55-B6C4-0355D8BDDD9A}"/>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01306487-ABEC-4571-922F-D62DCB97484D}"/>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9 / 32</a:t>
            </a:r>
          </a:p>
        </p:txBody>
      </p:sp>
    </p:spTree>
    <p:extLst>
      <p:ext uri="{BB962C8B-B14F-4D97-AF65-F5344CB8AC3E}">
        <p14:creationId xmlns:p14="http://schemas.microsoft.com/office/powerpoint/2010/main" val="1186077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5AF7263-DB45-4E4A-8F38-2CBC7349D812}"/>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処理の流れを追う</a:t>
            </a:r>
          </a:p>
        </p:txBody>
      </p:sp>
      <p:sp>
        <p:nvSpPr>
          <p:cNvPr id="2" name="正方形/長方形 1">
            <a:extLst>
              <a:ext uri="{FF2B5EF4-FFF2-40B4-BE49-F238E27FC236}">
                <a16:creationId xmlns:a16="http://schemas.microsoft.com/office/drawing/2014/main" id="{83ED2CC2-0A45-4BC7-97B0-228CFFF8712B}"/>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D7B5B15A-69E2-4741-A955-02F3795426EF}"/>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10</a:t>
            </a:r>
          </a:p>
        </p:txBody>
      </p:sp>
      <p:sp>
        <p:nvSpPr>
          <p:cNvPr id="4" name="正方形/長方形 3">
            <a:extLst>
              <a:ext uri="{FF2B5EF4-FFF2-40B4-BE49-F238E27FC236}">
                <a16:creationId xmlns:a16="http://schemas.microsoft.com/office/drawing/2014/main" id="{E6C7D5B0-4350-4BF0-8264-B8535AED3C0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B7271EE-F94E-4A8E-AFA3-9E66E9A4A066}"/>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ブラウザーからの要求が Web 層で受け付けられ、AP 層で処理され、必要に応じて DB 層を参照して結果が返る流れを順番に追います。</a:t>
            </a:r>
          </a:p>
        </p:txBody>
      </p:sp>
      <p:sp>
        <p:nvSpPr>
          <p:cNvPr id="6" name="正方形/長方形 5">
            <a:extLst>
              <a:ext uri="{FF2B5EF4-FFF2-40B4-BE49-F238E27FC236}">
                <a16:creationId xmlns:a16="http://schemas.microsoft.com/office/drawing/2014/main" id="{DDAD64D6-1D3C-4C4A-806A-F41B8D92763D}"/>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64B4945D-CFAE-4494-9C5F-808DC6490D6D}"/>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10 / 32</a:t>
            </a:r>
          </a:p>
        </p:txBody>
      </p:sp>
    </p:spTree>
    <p:extLst>
      <p:ext uri="{BB962C8B-B14F-4D97-AF65-F5344CB8AC3E}">
        <p14:creationId xmlns:p14="http://schemas.microsoft.com/office/powerpoint/2010/main" val="1186077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7B959E47-B216-4CB3-9759-C849660C7CDE}"/>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3層のメリットと注意点</a:t>
            </a:r>
          </a:p>
        </p:txBody>
      </p:sp>
      <p:sp>
        <p:nvSpPr>
          <p:cNvPr id="2" name="正方形/長方形 1">
            <a:extLst>
              <a:ext uri="{FF2B5EF4-FFF2-40B4-BE49-F238E27FC236}">
                <a16:creationId xmlns:a16="http://schemas.microsoft.com/office/drawing/2014/main" id="{CE18259F-AAB2-4172-BF9E-A1F603097201}"/>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A49415B8-DA52-493B-A4B2-CF35D2D5C5CF}"/>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11</a:t>
            </a:r>
          </a:p>
        </p:txBody>
      </p:sp>
      <p:sp>
        <p:nvSpPr>
          <p:cNvPr id="4" name="正方形/長方形 3">
            <a:extLst>
              <a:ext uri="{FF2B5EF4-FFF2-40B4-BE49-F238E27FC236}">
                <a16:creationId xmlns:a16="http://schemas.microsoft.com/office/drawing/2014/main" id="{575E2AEE-185F-405D-AB4A-8761EE3EE83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39E346F-6DBA-46AE-82BD-5DBD30366559}"/>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層を分けると責任範囲や拡張単位を整理しやすくなりますが、その分だけ通信経路、認証、監視対象が増えることも理解します。</a:t>
            </a:r>
          </a:p>
        </p:txBody>
      </p:sp>
      <p:sp>
        <p:nvSpPr>
          <p:cNvPr id="6" name="正方形/長方形 5">
            <a:extLst>
              <a:ext uri="{FF2B5EF4-FFF2-40B4-BE49-F238E27FC236}">
                <a16:creationId xmlns:a16="http://schemas.microsoft.com/office/drawing/2014/main" id="{9026F860-8273-4948-AE32-1CE017F7A03D}"/>
              </a:ext>
            </a:extLst>
          </p:cNvPr>
          <p:cNvSpPr>
            <a:spLocks noGrp="1"/>
          </p:cNvSpPr>
          <p:nvPr/>
        </p:nvSpPr>
        <p:spPr>
          <a:xfrm>
            <a:off x="8953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F72A735C-7E46-4F70-B9E0-E73BBCC218C3}"/>
              </a:ext>
            </a:extLst>
          </p:cNvPr>
          <p:cNvSpPr>
            <a:spLocks noGrp="1"/>
          </p:cNvSpPr>
          <p:nvPr/>
        </p:nvSpPr>
        <p:spPr>
          <a:xfrm>
            <a:off x="895350" y="2114550"/>
            <a:ext cx="76200" cy="129540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0ABCB6A4-B2BD-4BD8-8C7A-504323A2770F}"/>
              </a:ext>
            </a:extLst>
          </p:cNvPr>
          <p:cNvSpPr>
            <a:spLocks noGrp="1"/>
          </p:cNvSpPr>
          <p:nvPr/>
        </p:nvSpPr>
        <p:spPr>
          <a:xfrm>
            <a:off x="1123950" y="22860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F766E"/>
                </a:solidFill>
                <a:latin typeface="Yu Gothic UI"/>
                <a:ea typeface="Yu Gothic UI"/>
                <a:cs typeface="Yu Gothic UI"/>
              </a:defRPr>
            </a:pPr>
            <a:r>
              <a:rPr sz="750" b="1">
                <a:solidFill>
                  <a:srgbClr val="0F766E"/>
                </a:solidFill>
                <a:latin typeface="Yu Gothic UI"/>
                <a:ea typeface="Yu Gothic UI"/>
                <a:cs typeface="Yu Gothic UI"/>
              </a:rPr>
              <a:t>メリット</a:t>
            </a:r>
          </a:p>
        </p:txBody>
      </p:sp>
      <p:sp>
        <p:nvSpPr>
          <p:cNvPr id="9" name="正方形/長方形 8">
            <a:extLst>
              <a:ext uri="{FF2B5EF4-FFF2-40B4-BE49-F238E27FC236}">
                <a16:creationId xmlns:a16="http://schemas.microsoft.com/office/drawing/2014/main" id="{5CCA8C04-FB91-4363-B2EE-6D2876605C4C}"/>
              </a:ext>
            </a:extLst>
          </p:cNvPr>
          <p:cNvSpPr>
            <a:spLocks noGrp="1"/>
          </p:cNvSpPr>
          <p:nvPr/>
        </p:nvSpPr>
        <p:spPr>
          <a:xfrm>
            <a:off x="1123950" y="25336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0" name="正方形/長方形 9">
            <a:extLst>
              <a:ext uri="{FF2B5EF4-FFF2-40B4-BE49-F238E27FC236}">
                <a16:creationId xmlns:a16="http://schemas.microsoft.com/office/drawing/2014/main" id="{08E23802-B15B-450A-BE7B-9A94FB5EA130}"/>
              </a:ext>
            </a:extLst>
          </p:cNvPr>
          <p:cNvSpPr>
            <a:spLocks noGrp="1"/>
          </p:cNvSpPr>
          <p:nvPr/>
        </p:nvSpPr>
        <p:spPr>
          <a:xfrm>
            <a:off x="1123950" y="29527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層ごとに役割を説明しやすい。</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Web、AP、DB を別々に拡張しやすい。</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担当範囲や変更範囲を分けやすい。</a:t>
            </a:r>
          </a:p>
        </p:txBody>
      </p:sp>
      <p:sp>
        <p:nvSpPr>
          <p:cNvPr id="11" name="正方形/長方形 10">
            <a:extLst>
              <a:ext uri="{FF2B5EF4-FFF2-40B4-BE49-F238E27FC236}">
                <a16:creationId xmlns:a16="http://schemas.microsoft.com/office/drawing/2014/main" id="{26812B0A-4B14-4A27-A097-61CF8F2DE625}"/>
              </a:ext>
            </a:extLst>
          </p:cNvPr>
          <p:cNvSpPr>
            <a:spLocks noGrp="1"/>
          </p:cNvSpPr>
          <p:nvPr/>
        </p:nvSpPr>
        <p:spPr>
          <a:xfrm>
            <a:off x="6115050" y="2114550"/>
            <a:ext cx="4953000" cy="129540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2239FBA4-79BF-4482-9D9E-DB22B6E13620}"/>
              </a:ext>
            </a:extLst>
          </p:cNvPr>
          <p:cNvSpPr>
            <a:spLocks noGrp="1"/>
          </p:cNvSpPr>
          <p:nvPr/>
        </p:nvSpPr>
        <p:spPr>
          <a:xfrm>
            <a:off x="6115050" y="2114550"/>
            <a:ext cx="76200" cy="129540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978A8E04-2DFA-4B95-A951-30EEDACC4172}"/>
              </a:ext>
            </a:extLst>
          </p:cNvPr>
          <p:cNvSpPr>
            <a:spLocks noGrp="1"/>
          </p:cNvSpPr>
          <p:nvPr/>
        </p:nvSpPr>
        <p:spPr>
          <a:xfrm>
            <a:off x="6343650" y="2286000"/>
            <a:ext cx="4533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70AD47"/>
                </a:solidFill>
                <a:latin typeface="Yu Gothic UI"/>
                <a:ea typeface="Yu Gothic UI"/>
                <a:cs typeface="Yu Gothic UI"/>
              </a:defRPr>
            </a:pPr>
            <a:r>
              <a:rPr sz="750" b="1">
                <a:solidFill>
                  <a:srgbClr val="70AD47"/>
                </a:solidFill>
                <a:latin typeface="Yu Gothic UI"/>
                <a:ea typeface="Yu Gothic UI"/>
                <a:cs typeface="Yu Gothic UI"/>
              </a:rPr>
              <a:t>注意点</a:t>
            </a:r>
          </a:p>
        </p:txBody>
      </p:sp>
      <p:sp>
        <p:nvSpPr>
          <p:cNvPr id="14" name="正方形/長方形 13">
            <a:extLst>
              <a:ext uri="{FF2B5EF4-FFF2-40B4-BE49-F238E27FC236}">
                <a16:creationId xmlns:a16="http://schemas.microsoft.com/office/drawing/2014/main" id="{55B0A44D-FD0E-49FB-B662-F9970F0CADDF}"/>
              </a:ext>
            </a:extLst>
          </p:cNvPr>
          <p:cNvSpPr>
            <a:spLocks noGrp="1"/>
          </p:cNvSpPr>
          <p:nvPr/>
        </p:nvSpPr>
        <p:spPr>
          <a:xfrm>
            <a:off x="6343650" y="25336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5" name="正方形/長方形 14">
            <a:extLst>
              <a:ext uri="{FF2B5EF4-FFF2-40B4-BE49-F238E27FC236}">
                <a16:creationId xmlns:a16="http://schemas.microsoft.com/office/drawing/2014/main" id="{2BA63328-6396-4950-8499-213D7A9C0E49}"/>
              </a:ext>
            </a:extLst>
          </p:cNvPr>
          <p:cNvSpPr>
            <a:spLocks noGrp="1"/>
          </p:cNvSpPr>
          <p:nvPr/>
        </p:nvSpPr>
        <p:spPr>
          <a:xfrm>
            <a:off x="6343650" y="2952750"/>
            <a:ext cx="45339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ネットワークや認証の設計が必要になる。</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監視する対象が増える。</a:t>
            </a:r>
          </a:p>
          <a:p>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 障害時に通信経路を追う力が必要になる。</a:t>
            </a:r>
          </a:p>
        </p:txBody>
      </p:sp>
      <p:sp>
        <p:nvSpPr>
          <p:cNvPr id="16" name="正方形/長方形 15">
            <a:extLst>
              <a:ext uri="{FF2B5EF4-FFF2-40B4-BE49-F238E27FC236}">
                <a16:creationId xmlns:a16="http://schemas.microsoft.com/office/drawing/2014/main" id="{143D4288-7A54-462F-A06E-E59999E3F587}"/>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11 / 32</a:t>
            </a:r>
          </a:p>
        </p:txBody>
      </p:sp>
    </p:spTree>
    <p:extLst>
      <p:ext uri="{BB962C8B-B14F-4D97-AF65-F5344CB8AC3E}">
        <p14:creationId xmlns:p14="http://schemas.microsoft.com/office/powerpoint/2010/main" val="1186077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9E37DDFC-44E5-4077-A56D-918C9C407B8A}"/>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第3回で作る Web 層</a:t>
            </a:r>
          </a:p>
        </p:txBody>
      </p:sp>
      <p:sp>
        <p:nvSpPr>
          <p:cNvPr id="2" name="正方形/長方形 1">
            <a:extLst>
              <a:ext uri="{FF2B5EF4-FFF2-40B4-BE49-F238E27FC236}">
                <a16:creationId xmlns:a16="http://schemas.microsoft.com/office/drawing/2014/main" id="{A5C4A040-8AA5-42E9-A3F7-505675207FE1}"/>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3C78A366-4517-415E-BBBE-3DCDD2BD4667}"/>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15</a:t>
            </a:r>
          </a:p>
        </p:txBody>
      </p:sp>
      <p:sp>
        <p:nvSpPr>
          <p:cNvPr id="4" name="正方形/長方形 3">
            <a:extLst>
              <a:ext uri="{FF2B5EF4-FFF2-40B4-BE49-F238E27FC236}">
                <a16:creationId xmlns:a16="http://schemas.microsoft.com/office/drawing/2014/main" id="{03A3DF9A-B2A0-4E8D-96A9-681C4FEB961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2502A60-8C8C-477A-A581-A809E7F67921}"/>
              </a:ext>
            </a:extLst>
          </p:cNvPr>
          <p:cNvSpPr>
            <a:spLocks noGrp="1"/>
          </p:cNvSpPr>
          <p:nvPr/>
        </p:nvSpPr>
        <p:spPr>
          <a:xfrm>
            <a:off x="685800" y="1352550"/>
            <a:ext cx="436245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第3回では Public IP、NSG、Azure VM、NGINX をつなげ、インターネットから Web 層に到達できる状態を Azure Portal で確認します。</a:t>
            </a:r>
          </a:p>
        </p:txBody>
      </p:sp>
      <p:sp>
        <p:nvSpPr>
          <p:cNvPr id="6" name="正方形/長方形 5">
            <a:extLst>
              <a:ext uri="{FF2B5EF4-FFF2-40B4-BE49-F238E27FC236}">
                <a16:creationId xmlns:a16="http://schemas.microsoft.com/office/drawing/2014/main" id="{8CDA3E6E-FDA6-4630-B982-874430B755B8}"/>
              </a:ext>
            </a:extLst>
          </p:cNvPr>
          <p:cNvSpPr>
            <a:spLocks noGrp="1"/>
          </p:cNvSpPr>
          <p:nvPr/>
        </p:nvSpPr>
        <p:spPr>
          <a:xfrm>
            <a:off x="800100" y="2171700"/>
            <a:ext cx="4000500" cy="16192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Public IP から VM にアクセスする。</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NSG で HTTP 通信を許可する。</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NGINX の画面が見えれば入口まで到達できている。</a:t>
            </a:r>
          </a:p>
        </p:txBody>
      </p:sp>
      <p:sp>
        <p:nvSpPr>
          <p:cNvPr id="7" name="正方形/長方形 6">
            <a:extLst>
              <a:ext uri="{FF2B5EF4-FFF2-40B4-BE49-F238E27FC236}">
                <a16:creationId xmlns:a16="http://schemas.microsoft.com/office/drawing/2014/main" id="{2CFD9B13-A171-4323-A106-91340F018F84}"/>
              </a:ext>
            </a:extLst>
          </p:cNvPr>
          <p:cNvSpPr>
            <a:spLocks noGrp="1"/>
          </p:cNvSpPr>
          <p:nvPr/>
        </p:nvSpPr>
        <p:spPr>
          <a:xfrm>
            <a:off x="5562600" y="1676400"/>
            <a:ext cx="5753100" cy="2266950"/>
          </a:xfrm>
          <a:prstGeom prst="rect">
            <a:avLst/>
          </a:prstGeom>
          <a:solidFill>
            <a:srgbClr val="FFFFFF"/>
          </a:solidFill>
          <a:ln w="9525">
            <a:solidFill>
              <a:srgbClr val="D0D5DD"/>
            </a:solidFill>
            <a:prstDash val="solid"/>
          </a:ln>
        </p:spPr>
        <p:txBody>
          <a:bodyPr/>
          <a:lstStyle/>
          <a:p>
            <a:endParaRPr lang="ja-JP" altLang="en-US"/>
          </a:p>
        </p:txBody>
      </p:sp>
      <p:pic>
        <p:nvPicPr>
          <p:cNvPr id="8" name="図 7"/>
          <p:cNvPicPr>
            <a:picLocks noChangeAspect="1"/>
          </p:cNvPicPr>
          <p:nvPr/>
        </p:nvPicPr>
        <p:blipFill>
          <a:blip r:embed="rId3"/>
          <a:stretch/>
        </p:blipFill>
        <p:spPr>
          <a:xfrm>
            <a:off x="5695950" y="1809750"/>
            <a:ext cx="5486400" cy="2000250"/>
          </a:xfrm>
          <a:prstGeom prst="rect">
            <a:avLst/>
          </a:prstGeom>
        </p:spPr>
      </p:pic>
      <p:sp>
        <p:nvSpPr>
          <p:cNvPr id="9" name="正方形/長方形 8">
            <a:extLst>
              <a:ext uri="{FF2B5EF4-FFF2-40B4-BE49-F238E27FC236}">
                <a16:creationId xmlns:a16="http://schemas.microsoft.com/office/drawing/2014/main" id="{B9721743-3E6E-4BB6-BD4E-A69D11E76169}"/>
              </a:ext>
            </a:extLst>
          </p:cNvPr>
          <p:cNvSpPr>
            <a:spLocks noGrp="1"/>
          </p:cNvSpPr>
          <p:nvPr/>
        </p:nvSpPr>
        <p:spPr>
          <a:xfrm>
            <a:off x="5562600" y="4095750"/>
            <a:ext cx="5753100" cy="1771650"/>
          </a:xfrm>
          <a:prstGeom prst="rect">
            <a:avLst/>
          </a:prstGeom>
          <a:solidFill>
            <a:srgbClr val="FFFFFF"/>
          </a:solidFill>
          <a:ln w="9525">
            <a:solidFill>
              <a:srgbClr val="D0D5DD"/>
            </a:solidFill>
            <a:prstDash val="solid"/>
          </a:ln>
        </p:spPr>
        <p:txBody>
          <a:bodyPr/>
          <a:lstStyle/>
          <a:p>
            <a:endParaRPr lang="ja-JP" altLang="en-US"/>
          </a:p>
        </p:txBody>
      </p:sp>
      <p:pic>
        <p:nvPicPr>
          <p:cNvPr id="10" name="図 9"/>
          <p:cNvPicPr>
            <a:picLocks noChangeAspect="1"/>
          </p:cNvPicPr>
          <p:nvPr/>
        </p:nvPicPr>
        <p:blipFill>
          <a:blip r:embed="rId4"/>
          <a:stretch/>
        </p:blipFill>
        <p:spPr>
          <a:xfrm>
            <a:off x="7236883" y="4229100"/>
            <a:ext cx="2404533" cy="1352550"/>
          </a:xfrm>
          <a:prstGeom prst="rect">
            <a:avLst/>
          </a:prstGeom>
        </p:spPr>
      </p:pic>
      <p:sp>
        <p:nvSpPr>
          <p:cNvPr id="11" name="正方形/長方形 10">
            <a:extLst>
              <a:ext uri="{FF2B5EF4-FFF2-40B4-BE49-F238E27FC236}">
                <a16:creationId xmlns:a16="http://schemas.microsoft.com/office/drawing/2014/main" id="{3DEF210A-F5B9-46FA-A226-D3D943FF4C3A}"/>
              </a:ext>
            </a:extLst>
          </p:cNvPr>
          <p:cNvSpPr>
            <a:spLocks noGrp="1"/>
          </p:cNvSpPr>
          <p:nvPr/>
        </p:nvSpPr>
        <p:spPr>
          <a:xfrm>
            <a:off x="5715000" y="5619750"/>
            <a:ext cx="5448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第3回の予告用参考画像: Azure VM 一覧</a:t>
            </a:r>
          </a:p>
        </p:txBody>
      </p:sp>
      <p:sp>
        <p:nvSpPr>
          <p:cNvPr id="12" name="正方形/長方形 11">
            <a:extLst>
              <a:ext uri="{FF2B5EF4-FFF2-40B4-BE49-F238E27FC236}">
                <a16:creationId xmlns:a16="http://schemas.microsoft.com/office/drawing/2014/main" id="{E8EDB9CB-D0D1-4C0F-8771-B793E1DF9CC5}"/>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15 / 32</a:t>
            </a:r>
          </a:p>
        </p:txBody>
      </p:sp>
    </p:spTree>
    <p:extLst>
      <p:ext uri="{BB962C8B-B14F-4D97-AF65-F5344CB8AC3E}">
        <p14:creationId xmlns:p14="http://schemas.microsoft.com/office/powerpoint/2010/main" val="118607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826B3CC-3CD7-4C0C-B75F-062D12EB7B3E}"/>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AP 層の役割</a:t>
            </a:r>
          </a:p>
        </p:txBody>
      </p:sp>
      <p:sp>
        <p:nvSpPr>
          <p:cNvPr id="2" name="正方形/長方形 1">
            <a:extLst>
              <a:ext uri="{FF2B5EF4-FFF2-40B4-BE49-F238E27FC236}">
                <a16:creationId xmlns:a16="http://schemas.microsoft.com/office/drawing/2014/main" id="{EBB7D12A-9079-4B91-8BAA-6AE599F9F24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1E51EDE6-6A88-4EB3-9B43-74358E4EB0BE}"/>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16</a:t>
            </a:r>
          </a:p>
        </p:txBody>
      </p:sp>
      <p:sp>
        <p:nvSpPr>
          <p:cNvPr id="4" name="正方形/長方形 3">
            <a:extLst>
              <a:ext uri="{FF2B5EF4-FFF2-40B4-BE49-F238E27FC236}">
                <a16:creationId xmlns:a16="http://schemas.microsoft.com/office/drawing/2014/main" id="{642AB3B4-3908-4737-B7DC-22919A2E04B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C468807-CBAA-4B3A-83A0-3F286DD8132A}"/>
              </a:ext>
            </a:extLst>
          </p:cNvPr>
          <p:cNvSpPr>
            <a:spLocks noGrp="1"/>
          </p:cNvSpPr>
          <p:nvPr/>
        </p:nvSpPr>
        <p:spPr>
          <a:xfrm>
            <a:off x="685800" y="1352550"/>
            <a:ext cx="40005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AP 層は利用者の入力や API リクエストを受け取り、入力チェック、業務ルール、DB への問い合わせなどアプリ固有の処理を担当します。</a:t>
            </a:r>
          </a:p>
        </p:txBody>
      </p:sp>
      <p:sp>
        <p:nvSpPr>
          <p:cNvPr id="6" name="正方形/長方形 5">
            <a:extLst>
              <a:ext uri="{FF2B5EF4-FFF2-40B4-BE49-F238E27FC236}">
                <a16:creationId xmlns:a16="http://schemas.microsoft.com/office/drawing/2014/main" id="{22604416-EA94-45FC-9972-EE856BD6DEE8}"/>
              </a:ext>
            </a:extLst>
          </p:cNvPr>
          <p:cNvSpPr>
            <a:spLocks noGrp="1"/>
          </p:cNvSpPr>
          <p:nvPr/>
        </p:nvSpPr>
        <p:spPr>
          <a:xfrm>
            <a:off x="800100" y="2381250"/>
            <a:ext cx="3810000" cy="1809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API リクエストを受け取る。</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入力チェックや業務ロジックを実行する。</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必要なデータを DB 層に問い合わせる。</a:t>
            </a:r>
          </a:p>
        </p:txBody>
      </p:sp>
      <p:sp>
        <p:nvSpPr>
          <p:cNvPr id="7" name="正方形/長方形 6">
            <a:extLst>
              <a:ext uri="{FF2B5EF4-FFF2-40B4-BE49-F238E27FC236}">
                <a16:creationId xmlns:a16="http://schemas.microsoft.com/office/drawing/2014/main" id="{AC6343E0-2918-4CB6-AEF6-BA84157CCA6A}"/>
              </a:ext>
            </a:extLst>
          </p:cNvPr>
          <p:cNvSpPr>
            <a:spLocks noGrp="1"/>
          </p:cNvSpPr>
          <p:nvPr/>
        </p:nvSpPr>
        <p:spPr>
          <a:xfrm>
            <a:off x="5162550" y="1676400"/>
            <a:ext cx="6153150" cy="4000500"/>
          </a:xfrm>
          <a:prstGeom prst="rect">
            <a:avLst/>
          </a:prstGeom>
          <a:solidFill>
            <a:srgbClr val="FFFFFF"/>
          </a:solidFill>
          <a:ln w="9525">
            <a:solidFill>
              <a:srgbClr val="D0D5DD"/>
            </a:solidFill>
            <a:prstDash val="solid"/>
          </a:ln>
        </p:spPr>
        <p:txBody>
          <a:bodyPr/>
          <a:lstStyle/>
          <a:p>
            <a:endParaRPr lang="ja-JP" altLang="en-US"/>
          </a:p>
        </p:txBody>
      </p:sp>
      <p:pic>
        <p:nvPicPr>
          <p:cNvPr id="8" name="図 7"/>
          <p:cNvPicPr>
            <a:picLocks noChangeAspect="1"/>
          </p:cNvPicPr>
          <p:nvPr/>
        </p:nvPicPr>
        <p:blipFill>
          <a:blip r:embed="rId3"/>
          <a:stretch/>
        </p:blipFill>
        <p:spPr>
          <a:xfrm>
            <a:off x="5334000" y="1828800"/>
            <a:ext cx="5810250" cy="3695700"/>
          </a:xfrm>
          <a:prstGeom prst="rect">
            <a:avLst/>
          </a:prstGeom>
        </p:spPr>
      </p:pic>
      <p:sp>
        <p:nvSpPr>
          <p:cNvPr id="9" name="正方形/長方形 8">
            <a:extLst>
              <a:ext uri="{FF2B5EF4-FFF2-40B4-BE49-F238E27FC236}">
                <a16:creationId xmlns:a16="http://schemas.microsoft.com/office/drawing/2014/main" id="{485B2990-E995-42FC-BE48-F3217704765F}"/>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16 / 32</a:t>
            </a:r>
          </a:p>
        </p:txBody>
      </p:sp>
    </p:spTree>
    <p:extLst>
      <p:ext uri="{BB962C8B-B14F-4D97-AF65-F5344CB8AC3E}">
        <p14:creationId xmlns:p14="http://schemas.microsoft.com/office/powerpoint/2010/main" val="1186077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ED6C60FF-FBBC-4A84-AE64-025AB0D68F1C}"/>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AP サーバの代表例</a:t>
            </a:r>
          </a:p>
        </p:txBody>
      </p:sp>
      <p:sp>
        <p:nvSpPr>
          <p:cNvPr id="2" name="正方形/長方形 1">
            <a:extLst>
              <a:ext uri="{FF2B5EF4-FFF2-40B4-BE49-F238E27FC236}">
                <a16:creationId xmlns:a16="http://schemas.microsoft.com/office/drawing/2014/main" id="{B96FCBF6-0555-457E-B770-C0335EB73DE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BB8BCDEF-8CED-4EF7-BB6E-4A6191AEED9D}"/>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17</a:t>
            </a:r>
          </a:p>
        </p:txBody>
      </p:sp>
      <p:sp>
        <p:nvSpPr>
          <p:cNvPr id="4" name="正方形/長方形 3">
            <a:extLst>
              <a:ext uri="{FF2B5EF4-FFF2-40B4-BE49-F238E27FC236}">
                <a16:creationId xmlns:a16="http://schemas.microsoft.com/office/drawing/2014/main" id="{F845A85A-C098-4D17-840B-F12F0BC5174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A88CB65-EB2C-499D-AA0F-2F151B7EE9F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AP 層の実装は Node.js、Java/Spring、.NET、Python/FastAPI など多様で、ここでは製品比較ではなく役割の違いに注目します。</a:t>
            </a:r>
          </a:p>
        </p:txBody>
      </p:sp>
      <p:sp>
        <p:nvSpPr>
          <p:cNvPr id="6" name="正方形/長方形 5">
            <a:extLst>
              <a:ext uri="{FF2B5EF4-FFF2-40B4-BE49-F238E27FC236}">
                <a16:creationId xmlns:a16="http://schemas.microsoft.com/office/drawing/2014/main" id="{6369529D-9D29-42D9-98F6-9E6ED05A19AF}"/>
              </a:ext>
            </a:extLst>
          </p:cNvPr>
          <p:cNvSpPr>
            <a:spLocks noGrp="1"/>
          </p:cNvSpPr>
          <p:nvPr/>
        </p:nvSpPr>
        <p:spPr>
          <a:xfrm>
            <a:off x="876300" y="2114550"/>
            <a:ext cx="5219700" cy="438150"/>
          </a:xfrm>
          <a:prstGeom prst="rect">
            <a:avLst/>
          </a:prstGeom>
          <a:solidFill>
            <a:srgbClr val="244A8F"/>
          </a:solidFill>
          <a:ln w="11430">
            <a:solidFill>
              <a:srgbClr val="FFFFFF"/>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105B17C0-925C-4FBF-85F7-5170F423DDCF}"/>
              </a:ext>
            </a:extLst>
          </p:cNvPr>
          <p:cNvSpPr>
            <a:spLocks noGrp="1"/>
          </p:cNvSpPr>
          <p:nvPr/>
        </p:nvSpPr>
        <p:spPr>
          <a:xfrm>
            <a:off x="9525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例</a:t>
            </a:r>
          </a:p>
        </p:txBody>
      </p:sp>
      <p:sp>
        <p:nvSpPr>
          <p:cNvPr id="8" name="正方形/長方形 7">
            <a:extLst>
              <a:ext uri="{FF2B5EF4-FFF2-40B4-BE49-F238E27FC236}">
                <a16:creationId xmlns:a16="http://schemas.microsoft.com/office/drawing/2014/main" id="{A5B35150-60B4-43C9-8079-54DCB733A3B9}"/>
              </a:ext>
            </a:extLst>
          </p:cNvPr>
          <p:cNvSpPr>
            <a:spLocks noGrp="1"/>
          </p:cNvSpPr>
          <p:nvPr/>
        </p:nvSpPr>
        <p:spPr>
          <a:xfrm>
            <a:off x="6096000" y="2114550"/>
            <a:ext cx="5219700" cy="438150"/>
          </a:xfrm>
          <a:prstGeom prst="rect">
            <a:avLst/>
          </a:prstGeom>
          <a:solidFill>
            <a:srgbClr val="244A8F"/>
          </a:solidFill>
          <a:ln w="11430">
            <a:solidFill>
              <a:srgbClr val="FFFFFF"/>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25156C8E-DEF7-4763-9AAF-A1D71B83D517}"/>
              </a:ext>
            </a:extLst>
          </p:cNvPr>
          <p:cNvSpPr>
            <a:spLocks noGrp="1"/>
          </p:cNvSpPr>
          <p:nvPr/>
        </p:nvSpPr>
        <p:spPr>
          <a:xfrm>
            <a:off x="61722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位置づけ</a:t>
            </a:r>
          </a:p>
        </p:txBody>
      </p:sp>
      <p:sp>
        <p:nvSpPr>
          <p:cNvPr id="10" name="正方形/長方形 9">
            <a:extLst>
              <a:ext uri="{FF2B5EF4-FFF2-40B4-BE49-F238E27FC236}">
                <a16:creationId xmlns:a16="http://schemas.microsoft.com/office/drawing/2014/main" id="{E91CAF52-C96D-4B2F-BEEA-1241F527E9E5}"/>
              </a:ext>
            </a:extLst>
          </p:cNvPr>
          <p:cNvSpPr>
            <a:spLocks noGrp="1"/>
          </p:cNvSpPr>
          <p:nvPr/>
        </p:nvSpPr>
        <p:spPr>
          <a:xfrm>
            <a:off x="876300" y="255270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529356AB-05C6-49EE-8013-6D2ABB190E8A}"/>
              </a:ext>
            </a:extLst>
          </p:cNvPr>
          <p:cNvSpPr>
            <a:spLocks noGrp="1"/>
          </p:cNvSpPr>
          <p:nvPr/>
        </p:nvSpPr>
        <p:spPr>
          <a:xfrm>
            <a:off x="9525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Node.js</a:t>
            </a:r>
          </a:p>
        </p:txBody>
      </p:sp>
      <p:sp>
        <p:nvSpPr>
          <p:cNvPr id="12" name="正方形/長方形 11">
            <a:extLst>
              <a:ext uri="{FF2B5EF4-FFF2-40B4-BE49-F238E27FC236}">
                <a16:creationId xmlns:a16="http://schemas.microsoft.com/office/drawing/2014/main" id="{D3CA973F-F592-49D2-809B-BFFF4FDFE79F}"/>
              </a:ext>
            </a:extLst>
          </p:cNvPr>
          <p:cNvSpPr>
            <a:spLocks noGrp="1"/>
          </p:cNvSpPr>
          <p:nvPr/>
        </p:nvSpPr>
        <p:spPr>
          <a:xfrm>
            <a:off x="6096000" y="255270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8133BA66-A1FB-413F-9EA4-6CE8FF4F7DB2}"/>
              </a:ext>
            </a:extLst>
          </p:cNvPr>
          <p:cNvSpPr>
            <a:spLocks noGrp="1"/>
          </p:cNvSpPr>
          <p:nvPr/>
        </p:nvSpPr>
        <p:spPr>
          <a:xfrm>
            <a:off x="61722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JavaScript / TypeScript で API を実装する選択肢。</a:t>
            </a:r>
          </a:p>
        </p:txBody>
      </p:sp>
      <p:sp>
        <p:nvSpPr>
          <p:cNvPr id="14" name="正方形/長方形 13">
            <a:extLst>
              <a:ext uri="{FF2B5EF4-FFF2-40B4-BE49-F238E27FC236}">
                <a16:creationId xmlns:a16="http://schemas.microsoft.com/office/drawing/2014/main" id="{C2C6A989-DD85-4417-86A1-79A0514D7036}"/>
              </a:ext>
            </a:extLst>
          </p:cNvPr>
          <p:cNvSpPr>
            <a:spLocks noGrp="1"/>
          </p:cNvSpPr>
          <p:nvPr/>
        </p:nvSpPr>
        <p:spPr>
          <a:xfrm>
            <a:off x="876300" y="337185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763F0922-D6AA-4098-BD3A-51CF718610AF}"/>
              </a:ext>
            </a:extLst>
          </p:cNvPr>
          <p:cNvSpPr>
            <a:spLocks noGrp="1"/>
          </p:cNvSpPr>
          <p:nvPr/>
        </p:nvSpPr>
        <p:spPr>
          <a:xfrm>
            <a:off x="9525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Java / Spring</a:t>
            </a:r>
          </a:p>
        </p:txBody>
      </p:sp>
      <p:sp>
        <p:nvSpPr>
          <p:cNvPr id="16" name="正方形/長方形 15">
            <a:extLst>
              <a:ext uri="{FF2B5EF4-FFF2-40B4-BE49-F238E27FC236}">
                <a16:creationId xmlns:a16="http://schemas.microsoft.com/office/drawing/2014/main" id="{3E52D4BD-EB83-412C-AAEC-4FCFC540F23D}"/>
              </a:ext>
            </a:extLst>
          </p:cNvPr>
          <p:cNvSpPr>
            <a:spLocks noGrp="1"/>
          </p:cNvSpPr>
          <p:nvPr/>
        </p:nvSpPr>
        <p:spPr>
          <a:xfrm>
            <a:off x="6096000" y="337185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6A742C9F-940A-4B69-A557-4D586ED05620}"/>
              </a:ext>
            </a:extLst>
          </p:cNvPr>
          <p:cNvSpPr>
            <a:spLocks noGrp="1"/>
          </p:cNvSpPr>
          <p:nvPr/>
        </p:nvSpPr>
        <p:spPr>
          <a:xfrm>
            <a:off x="61722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業務アプリケーションでよく使われる実装基盤。</a:t>
            </a:r>
          </a:p>
        </p:txBody>
      </p:sp>
      <p:sp>
        <p:nvSpPr>
          <p:cNvPr id="18" name="正方形/長方形 17">
            <a:extLst>
              <a:ext uri="{FF2B5EF4-FFF2-40B4-BE49-F238E27FC236}">
                <a16:creationId xmlns:a16="http://schemas.microsoft.com/office/drawing/2014/main" id="{E61C6A5A-9193-4770-B960-E79BE1F0BC0A}"/>
              </a:ext>
            </a:extLst>
          </p:cNvPr>
          <p:cNvSpPr>
            <a:spLocks noGrp="1"/>
          </p:cNvSpPr>
          <p:nvPr/>
        </p:nvSpPr>
        <p:spPr>
          <a:xfrm>
            <a:off x="876300" y="419100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FC9195A7-FE1F-4211-9928-70BF4ABAE0A2}"/>
              </a:ext>
            </a:extLst>
          </p:cNvPr>
          <p:cNvSpPr>
            <a:spLocks noGrp="1"/>
          </p:cNvSpPr>
          <p:nvPr/>
        </p:nvSpPr>
        <p:spPr>
          <a:xfrm>
            <a:off x="9525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.NET</a:t>
            </a:r>
          </a:p>
        </p:txBody>
      </p:sp>
      <p:sp>
        <p:nvSpPr>
          <p:cNvPr id="20" name="正方形/長方形 19">
            <a:extLst>
              <a:ext uri="{FF2B5EF4-FFF2-40B4-BE49-F238E27FC236}">
                <a16:creationId xmlns:a16="http://schemas.microsoft.com/office/drawing/2014/main" id="{F9F30564-6452-4FEE-9FB4-F6F98D1C8112}"/>
              </a:ext>
            </a:extLst>
          </p:cNvPr>
          <p:cNvSpPr>
            <a:spLocks noGrp="1"/>
          </p:cNvSpPr>
          <p:nvPr/>
        </p:nvSpPr>
        <p:spPr>
          <a:xfrm>
            <a:off x="6096000" y="419100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74A0225E-D4FE-4485-B7D0-798705C7B0D2}"/>
              </a:ext>
            </a:extLst>
          </p:cNvPr>
          <p:cNvSpPr>
            <a:spLocks noGrp="1"/>
          </p:cNvSpPr>
          <p:nvPr/>
        </p:nvSpPr>
        <p:spPr>
          <a:xfrm>
            <a:off x="61722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Web API や業務処理を構築できる Microsoft 系の基盤。</a:t>
            </a:r>
          </a:p>
        </p:txBody>
      </p:sp>
      <p:sp>
        <p:nvSpPr>
          <p:cNvPr id="22" name="正方形/長方形 21">
            <a:extLst>
              <a:ext uri="{FF2B5EF4-FFF2-40B4-BE49-F238E27FC236}">
                <a16:creationId xmlns:a16="http://schemas.microsoft.com/office/drawing/2014/main" id="{2694D831-5D46-476A-B708-42B2C5C7226B}"/>
              </a:ext>
            </a:extLst>
          </p:cNvPr>
          <p:cNvSpPr>
            <a:spLocks noGrp="1"/>
          </p:cNvSpPr>
          <p:nvPr/>
        </p:nvSpPr>
        <p:spPr>
          <a:xfrm>
            <a:off x="876300" y="501015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7E87F31F-C545-4785-9047-BBF06BB758C7}"/>
              </a:ext>
            </a:extLst>
          </p:cNvPr>
          <p:cNvSpPr>
            <a:spLocks noGrp="1"/>
          </p:cNvSpPr>
          <p:nvPr/>
        </p:nvSpPr>
        <p:spPr>
          <a:xfrm>
            <a:off x="9525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Python / FastAPI</a:t>
            </a:r>
          </a:p>
        </p:txBody>
      </p:sp>
      <p:sp>
        <p:nvSpPr>
          <p:cNvPr id="24" name="正方形/長方形 23">
            <a:extLst>
              <a:ext uri="{FF2B5EF4-FFF2-40B4-BE49-F238E27FC236}">
                <a16:creationId xmlns:a16="http://schemas.microsoft.com/office/drawing/2014/main" id="{762F7E26-4506-491B-B8B1-11CF0517D04F}"/>
              </a:ext>
            </a:extLst>
          </p:cNvPr>
          <p:cNvSpPr>
            <a:spLocks noGrp="1"/>
          </p:cNvSpPr>
          <p:nvPr/>
        </p:nvSpPr>
        <p:spPr>
          <a:xfrm>
            <a:off x="6096000" y="501015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FD21950F-71D6-4B3A-BE97-ADFF16407564}"/>
              </a:ext>
            </a:extLst>
          </p:cNvPr>
          <p:cNvSpPr>
            <a:spLocks noGrp="1"/>
          </p:cNvSpPr>
          <p:nvPr/>
        </p:nvSpPr>
        <p:spPr>
          <a:xfrm>
            <a:off x="61722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軽量な API やデータ処理と組み合わせやすい選択肢。</a:t>
            </a:r>
          </a:p>
        </p:txBody>
      </p:sp>
      <p:sp>
        <p:nvSpPr>
          <p:cNvPr id="26" name="正方形/長方形 25">
            <a:extLst>
              <a:ext uri="{FF2B5EF4-FFF2-40B4-BE49-F238E27FC236}">
                <a16:creationId xmlns:a16="http://schemas.microsoft.com/office/drawing/2014/main" id="{0F17E99A-5C32-4DE7-AC51-5EC96431D185}"/>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17 / 32</a:t>
            </a:r>
          </a:p>
        </p:txBody>
      </p:sp>
    </p:spTree>
    <p:extLst>
      <p:ext uri="{BB962C8B-B14F-4D97-AF65-F5344CB8AC3E}">
        <p14:creationId xmlns:p14="http://schemas.microsoft.com/office/powerpoint/2010/main" val="1186077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35746B9-62AD-468D-B895-0BEFD4D3AF23}"/>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Web 層と AP 層の関係</a:t>
            </a:r>
          </a:p>
        </p:txBody>
      </p:sp>
      <p:sp>
        <p:nvSpPr>
          <p:cNvPr id="2" name="正方形/長方形 1">
            <a:extLst>
              <a:ext uri="{FF2B5EF4-FFF2-40B4-BE49-F238E27FC236}">
                <a16:creationId xmlns:a16="http://schemas.microsoft.com/office/drawing/2014/main" id="{B9F8C6A6-E9ED-44B6-A262-B0591110BA22}"/>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8B630EC8-788D-4447-B50D-951F76353ED0}"/>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18</a:t>
            </a:r>
          </a:p>
        </p:txBody>
      </p:sp>
      <p:sp>
        <p:nvSpPr>
          <p:cNvPr id="4" name="正方形/長方形 3">
            <a:extLst>
              <a:ext uri="{FF2B5EF4-FFF2-40B4-BE49-F238E27FC236}">
                <a16:creationId xmlns:a16="http://schemas.microsoft.com/office/drawing/2014/main" id="{8B068F12-9EB0-44D3-AA5E-C7014FC2526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A9CD2C0-9ED8-48CA-9599-38C1A1C16D82}"/>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層と AP 層を分けることで、利用者の入口、静的配信、API 処理、業務ロジックを別々に変更・拡張しやすくなります。</a:t>
            </a:r>
          </a:p>
        </p:txBody>
      </p:sp>
      <p:sp>
        <p:nvSpPr>
          <p:cNvPr id="6" name="正方形/長方形 5">
            <a:extLst>
              <a:ext uri="{FF2B5EF4-FFF2-40B4-BE49-F238E27FC236}">
                <a16:creationId xmlns:a16="http://schemas.microsoft.com/office/drawing/2014/main" id="{4A0FFEFF-13D2-45E8-9643-0542CE48DFB5}"/>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5A35219E-B1C5-4B18-BF38-00849831EAE2}"/>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32</a:t>
            </a:r>
          </a:p>
        </p:txBody>
      </p:sp>
    </p:spTree>
    <p:extLst>
      <p:ext uri="{BB962C8B-B14F-4D97-AF65-F5344CB8AC3E}">
        <p14:creationId xmlns:p14="http://schemas.microsoft.com/office/powerpoint/2010/main" val="1186077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2128B818-DACA-483C-B674-A6DE56A01484}"/>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DB 層の役割</a:t>
            </a:r>
          </a:p>
        </p:txBody>
      </p:sp>
      <p:sp>
        <p:nvSpPr>
          <p:cNvPr id="2" name="正方形/長方形 1">
            <a:extLst>
              <a:ext uri="{FF2B5EF4-FFF2-40B4-BE49-F238E27FC236}">
                <a16:creationId xmlns:a16="http://schemas.microsoft.com/office/drawing/2014/main" id="{142AED96-1FF1-41EF-BDAA-CA63A455B1CB}"/>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51922179-C28F-4234-B6FF-2A717CF4F8FA}"/>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19</a:t>
            </a:r>
          </a:p>
        </p:txBody>
      </p:sp>
      <p:sp>
        <p:nvSpPr>
          <p:cNvPr id="4" name="正方形/長方形 3">
            <a:extLst>
              <a:ext uri="{FF2B5EF4-FFF2-40B4-BE49-F238E27FC236}">
                <a16:creationId xmlns:a16="http://schemas.microsoft.com/office/drawing/2014/main" id="{D6D823E6-8F63-486D-BC97-06BD6B26B53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2BD7C10-C620-4A02-8EA9-3C8C80AE7052}"/>
              </a:ext>
            </a:extLst>
          </p:cNvPr>
          <p:cNvSpPr>
            <a:spLocks noGrp="1"/>
          </p:cNvSpPr>
          <p:nvPr/>
        </p:nvSpPr>
        <p:spPr>
          <a:xfrm>
            <a:off x="685800" y="1352550"/>
            <a:ext cx="40005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DB 層はアプリケーションのデータを安全に保存し、検索、更新、同時アクセス、トランザクションなどを扱う信頼できるデータ管理場所です。</a:t>
            </a:r>
          </a:p>
        </p:txBody>
      </p:sp>
      <p:sp>
        <p:nvSpPr>
          <p:cNvPr id="6" name="正方形/長方形 5">
            <a:extLst>
              <a:ext uri="{FF2B5EF4-FFF2-40B4-BE49-F238E27FC236}">
                <a16:creationId xmlns:a16="http://schemas.microsoft.com/office/drawing/2014/main" id="{1F86CB40-768E-482E-9272-5F29E873FC19}"/>
              </a:ext>
            </a:extLst>
          </p:cNvPr>
          <p:cNvSpPr>
            <a:spLocks noGrp="1"/>
          </p:cNvSpPr>
          <p:nvPr/>
        </p:nvSpPr>
        <p:spPr>
          <a:xfrm>
            <a:off x="800100" y="2381250"/>
            <a:ext cx="3810000" cy="1809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データの保存、検索、更新を担当する。</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同時アクセスや整合性を扱う。</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アプリケーションにとって信頼できるデータ管理場所になる。</a:t>
            </a:r>
          </a:p>
        </p:txBody>
      </p:sp>
      <p:sp>
        <p:nvSpPr>
          <p:cNvPr id="7" name="正方形/長方形 6">
            <a:extLst>
              <a:ext uri="{FF2B5EF4-FFF2-40B4-BE49-F238E27FC236}">
                <a16:creationId xmlns:a16="http://schemas.microsoft.com/office/drawing/2014/main" id="{2D5F08A6-EAB6-4F99-900E-7C5280C804DC}"/>
              </a:ext>
            </a:extLst>
          </p:cNvPr>
          <p:cNvSpPr>
            <a:spLocks noGrp="1"/>
          </p:cNvSpPr>
          <p:nvPr/>
        </p:nvSpPr>
        <p:spPr>
          <a:xfrm>
            <a:off x="5162550" y="1676400"/>
            <a:ext cx="6153150" cy="4000500"/>
          </a:xfrm>
          <a:prstGeom prst="rect">
            <a:avLst/>
          </a:prstGeom>
          <a:solidFill>
            <a:srgbClr val="FFFFFF"/>
          </a:solidFill>
          <a:ln w="9525">
            <a:solidFill>
              <a:srgbClr val="D0D5DD"/>
            </a:solidFill>
            <a:prstDash val="solid"/>
          </a:ln>
        </p:spPr>
        <p:txBody>
          <a:bodyPr/>
          <a:lstStyle/>
          <a:p>
            <a:endParaRPr lang="ja-JP" altLang="en-US"/>
          </a:p>
        </p:txBody>
      </p:sp>
      <p:pic>
        <p:nvPicPr>
          <p:cNvPr id="8" name="図 7"/>
          <p:cNvPicPr>
            <a:picLocks noChangeAspect="1"/>
          </p:cNvPicPr>
          <p:nvPr/>
        </p:nvPicPr>
        <p:blipFill>
          <a:blip r:embed="rId3"/>
          <a:stretch/>
        </p:blipFill>
        <p:spPr>
          <a:xfrm>
            <a:off x="5334000" y="1828800"/>
            <a:ext cx="5810250" cy="3695700"/>
          </a:xfrm>
          <a:prstGeom prst="rect">
            <a:avLst/>
          </a:prstGeom>
        </p:spPr>
      </p:pic>
      <p:sp>
        <p:nvSpPr>
          <p:cNvPr id="9" name="正方形/長方形 8">
            <a:extLst>
              <a:ext uri="{FF2B5EF4-FFF2-40B4-BE49-F238E27FC236}">
                <a16:creationId xmlns:a16="http://schemas.microsoft.com/office/drawing/2014/main" id="{F0C16DC7-505F-4FCE-B4C4-2F704A08102A}"/>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19 / 32</a:t>
            </a:r>
          </a:p>
        </p:txBody>
      </p:sp>
    </p:spTree>
    <p:extLst>
      <p:ext uri="{BB962C8B-B14F-4D97-AF65-F5344CB8AC3E}">
        <p14:creationId xmlns:p14="http://schemas.microsoft.com/office/powerpoint/2010/main" val="1186077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9BBD01C3-1B7C-4C69-8F37-5CA7AB2C918A}"/>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DB サーバの代表例</a:t>
            </a:r>
          </a:p>
        </p:txBody>
      </p:sp>
      <p:sp>
        <p:nvSpPr>
          <p:cNvPr id="2" name="正方形/長方形 1">
            <a:extLst>
              <a:ext uri="{FF2B5EF4-FFF2-40B4-BE49-F238E27FC236}">
                <a16:creationId xmlns:a16="http://schemas.microsoft.com/office/drawing/2014/main" id="{C5B4A431-A7F0-4075-A18C-EB0805BCFAE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E7446BD1-4D80-4DBA-8D33-672FA2239BE1}"/>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20</a:t>
            </a:r>
          </a:p>
        </p:txBody>
      </p:sp>
      <p:sp>
        <p:nvSpPr>
          <p:cNvPr id="4" name="正方形/長方形 3">
            <a:extLst>
              <a:ext uri="{FF2B5EF4-FFF2-40B4-BE49-F238E27FC236}">
                <a16:creationId xmlns:a16="http://schemas.microsoft.com/office/drawing/2014/main" id="{6D1AFCF0-C35A-43E6-81C4-567896C48C8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86870AA-DC71-4B59-A039-816AB59F2559}"/>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代表的な RDBMS には PostgreSQL、MySQL、SQL Server、Oracle Database があり、第5回から第6回では PostgreSQL を使います。</a:t>
            </a:r>
          </a:p>
        </p:txBody>
      </p:sp>
      <p:sp>
        <p:nvSpPr>
          <p:cNvPr id="6" name="正方形/長方形 5">
            <a:extLst>
              <a:ext uri="{FF2B5EF4-FFF2-40B4-BE49-F238E27FC236}">
                <a16:creationId xmlns:a16="http://schemas.microsoft.com/office/drawing/2014/main" id="{954ED1EB-992A-489B-8C11-CD5854D4BAD7}"/>
              </a:ext>
            </a:extLst>
          </p:cNvPr>
          <p:cNvSpPr>
            <a:spLocks noGrp="1"/>
          </p:cNvSpPr>
          <p:nvPr/>
        </p:nvSpPr>
        <p:spPr>
          <a:xfrm>
            <a:off x="876300" y="2114550"/>
            <a:ext cx="5219700" cy="438150"/>
          </a:xfrm>
          <a:prstGeom prst="rect">
            <a:avLst/>
          </a:prstGeom>
          <a:solidFill>
            <a:srgbClr val="244A8F"/>
          </a:solidFill>
          <a:ln w="11430">
            <a:solidFill>
              <a:srgbClr val="FFFFFF"/>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4E95F475-FAAF-4150-8B16-08DAEA409546}"/>
              </a:ext>
            </a:extLst>
          </p:cNvPr>
          <p:cNvSpPr>
            <a:spLocks noGrp="1"/>
          </p:cNvSpPr>
          <p:nvPr/>
        </p:nvSpPr>
        <p:spPr>
          <a:xfrm>
            <a:off x="9525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名前</a:t>
            </a:r>
          </a:p>
        </p:txBody>
      </p:sp>
      <p:sp>
        <p:nvSpPr>
          <p:cNvPr id="8" name="正方形/長方形 7">
            <a:extLst>
              <a:ext uri="{FF2B5EF4-FFF2-40B4-BE49-F238E27FC236}">
                <a16:creationId xmlns:a16="http://schemas.microsoft.com/office/drawing/2014/main" id="{7ACE70BF-59ED-46AF-92F4-8D6A237D87BA}"/>
              </a:ext>
            </a:extLst>
          </p:cNvPr>
          <p:cNvSpPr>
            <a:spLocks noGrp="1"/>
          </p:cNvSpPr>
          <p:nvPr/>
        </p:nvSpPr>
        <p:spPr>
          <a:xfrm>
            <a:off x="6096000" y="2114550"/>
            <a:ext cx="5219700" cy="438150"/>
          </a:xfrm>
          <a:prstGeom prst="rect">
            <a:avLst/>
          </a:prstGeom>
          <a:solidFill>
            <a:srgbClr val="244A8F"/>
          </a:solidFill>
          <a:ln w="11430">
            <a:solidFill>
              <a:srgbClr val="FFFFFF"/>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5BA04554-402C-4216-9752-85A4B4475E45}"/>
              </a:ext>
            </a:extLst>
          </p:cNvPr>
          <p:cNvSpPr>
            <a:spLocks noGrp="1"/>
          </p:cNvSpPr>
          <p:nvPr/>
        </p:nvSpPr>
        <p:spPr>
          <a:xfrm>
            <a:off x="6172200" y="2171700"/>
            <a:ext cx="50673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補足</a:t>
            </a:r>
          </a:p>
        </p:txBody>
      </p:sp>
      <p:sp>
        <p:nvSpPr>
          <p:cNvPr id="10" name="正方形/長方形 9">
            <a:extLst>
              <a:ext uri="{FF2B5EF4-FFF2-40B4-BE49-F238E27FC236}">
                <a16:creationId xmlns:a16="http://schemas.microsoft.com/office/drawing/2014/main" id="{19E4FC1A-4CC2-4C4B-A11F-2788FB8BD6C5}"/>
              </a:ext>
            </a:extLst>
          </p:cNvPr>
          <p:cNvSpPr>
            <a:spLocks noGrp="1"/>
          </p:cNvSpPr>
          <p:nvPr/>
        </p:nvSpPr>
        <p:spPr>
          <a:xfrm>
            <a:off x="876300" y="255270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73D1AEB7-A32B-48B1-8202-BCDFFD44255C}"/>
              </a:ext>
            </a:extLst>
          </p:cNvPr>
          <p:cNvSpPr>
            <a:spLocks noGrp="1"/>
          </p:cNvSpPr>
          <p:nvPr/>
        </p:nvSpPr>
        <p:spPr>
          <a:xfrm>
            <a:off x="9525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PostgreSQL</a:t>
            </a:r>
          </a:p>
        </p:txBody>
      </p:sp>
      <p:sp>
        <p:nvSpPr>
          <p:cNvPr id="12" name="正方形/長方形 11">
            <a:extLst>
              <a:ext uri="{FF2B5EF4-FFF2-40B4-BE49-F238E27FC236}">
                <a16:creationId xmlns:a16="http://schemas.microsoft.com/office/drawing/2014/main" id="{D71E0718-4C34-4AAB-9C4A-D9B95763AEB0}"/>
              </a:ext>
            </a:extLst>
          </p:cNvPr>
          <p:cNvSpPr>
            <a:spLocks noGrp="1"/>
          </p:cNvSpPr>
          <p:nvPr/>
        </p:nvSpPr>
        <p:spPr>
          <a:xfrm>
            <a:off x="6096000" y="255270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1F8D014D-B6A9-4701-9C1F-1827D6CC4A3E}"/>
              </a:ext>
            </a:extLst>
          </p:cNvPr>
          <p:cNvSpPr>
            <a:spLocks noGrp="1"/>
          </p:cNvSpPr>
          <p:nvPr/>
        </p:nvSpPr>
        <p:spPr>
          <a:xfrm>
            <a:off x="6172200" y="26098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第5回から第6回で Azure Database for PostgreSQL として扱う。</a:t>
            </a:r>
          </a:p>
        </p:txBody>
      </p:sp>
      <p:sp>
        <p:nvSpPr>
          <p:cNvPr id="14" name="正方形/長方形 13">
            <a:extLst>
              <a:ext uri="{FF2B5EF4-FFF2-40B4-BE49-F238E27FC236}">
                <a16:creationId xmlns:a16="http://schemas.microsoft.com/office/drawing/2014/main" id="{4353F06B-82D1-4373-ACA4-AB0704D6D505}"/>
              </a:ext>
            </a:extLst>
          </p:cNvPr>
          <p:cNvSpPr>
            <a:spLocks noGrp="1"/>
          </p:cNvSpPr>
          <p:nvPr/>
        </p:nvSpPr>
        <p:spPr>
          <a:xfrm>
            <a:off x="876300" y="337185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FBFF83ED-0CDD-4B05-8F29-CEAFABF64DCA}"/>
              </a:ext>
            </a:extLst>
          </p:cNvPr>
          <p:cNvSpPr>
            <a:spLocks noGrp="1"/>
          </p:cNvSpPr>
          <p:nvPr/>
        </p:nvSpPr>
        <p:spPr>
          <a:xfrm>
            <a:off x="9525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MySQL</a:t>
            </a:r>
          </a:p>
        </p:txBody>
      </p:sp>
      <p:sp>
        <p:nvSpPr>
          <p:cNvPr id="16" name="正方形/長方形 15">
            <a:extLst>
              <a:ext uri="{FF2B5EF4-FFF2-40B4-BE49-F238E27FC236}">
                <a16:creationId xmlns:a16="http://schemas.microsoft.com/office/drawing/2014/main" id="{0C970428-901D-476B-AC1D-C52C2486EBCC}"/>
              </a:ext>
            </a:extLst>
          </p:cNvPr>
          <p:cNvSpPr>
            <a:spLocks noGrp="1"/>
          </p:cNvSpPr>
          <p:nvPr/>
        </p:nvSpPr>
        <p:spPr>
          <a:xfrm>
            <a:off x="6096000" y="337185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302B8E0F-41D1-4F82-B8EA-C6CF4369A09B}"/>
              </a:ext>
            </a:extLst>
          </p:cNvPr>
          <p:cNvSpPr>
            <a:spLocks noGrp="1"/>
          </p:cNvSpPr>
          <p:nvPr/>
        </p:nvSpPr>
        <p:spPr>
          <a:xfrm>
            <a:off x="6172200" y="34290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Web アプリケーションで広く使われる RDBMS。</a:t>
            </a:r>
          </a:p>
        </p:txBody>
      </p:sp>
      <p:sp>
        <p:nvSpPr>
          <p:cNvPr id="18" name="正方形/長方形 17">
            <a:extLst>
              <a:ext uri="{FF2B5EF4-FFF2-40B4-BE49-F238E27FC236}">
                <a16:creationId xmlns:a16="http://schemas.microsoft.com/office/drawing/2014/main" id="{A829BFF4-5851-45C2-BC1F-2FF24A7F57C4}"/>
              </a:ext>
            </a:extLst>
          </p:cNvPr>
          <p:cNvSpPr>
            <a:spLocks noGrp="1"/>
          </p:cNvSpPr>
          <p:nvPr/>
        </p:nvSpPr>
        <p:spPr>
          <a:xfrm>
            <a:off x="876300" y="419100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8578765A-C840-476F-BCA8-B82266661083}"/>
              </a:ext>
            </a:extLst>
          </p:cNvPr>
          <p:cNvSpPr>
            <a:spLocks noGrp="1"/>
          </p:cNvSpPr>
          <p:nvPr/>
        </p:nvSpPr>
        <p:spPr>
          <a:xfrm>
            <a:off x="9525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SQL Server</a:t>
            </a:r>
          </a:p>
        </p:txBody>
      </p:sp>
      <p:sp>
        <p:nvSpPr>
          <p:cNvPr id="20" name="正方形/長方形 19">
            <a:extLst>
              <a:ext uri="{FF2B5EF4-FFF2-40B4-BE49-F238E27FC236}">
                <a16:creationId xmlns:a16="http://schemas.microsoft.com/office/drawing/2014/main" id="{F288E8A1-C7AB-4843-9727-C722C7C951F5}"/>
              </a:ext>
            </a:extLst>
          </p:cNvPr>
          <p:cNvSpPr>
            <a:spLocks noGrp="1"/>
          </p:cNvSpPr>
          <p:nvPr/>
        </p:nvSpPr>
        <p:spPr>
          <a:xfrm>
            <a:off x="6096000" y="419100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9726078B-D0FB-4998-81C9-0A2CBF2BA340}"/>
              </a:ext>
            </a:extLst>
          </p:cNvPr>
          <p:cNvSpPr>
            <a:spLocks noGrp="1"/>
          </p:cNvSpPr>
          <p:nvPr/>
        </p:nvSpPr>
        <p:spPr>
          <a:xfrm>
            <a:off x="6172200" y="424815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Azure SQL Database など Microsoft のマネージド DB とつながる。</a:t>
            </a:r>
          </a:p>
        </p:txBody>
      </p:sp>
      <p:sp>
        <p:nvSpPr>
          <p:cNvPr id="22" name="正方形/長方形 21">
            <a:extLst>
              <a:ext uri="{FF2B5EF4-FFF2-40B4-BE49-F238E27FC236}">
                <a16:creationId xmlns:a16="http://schemas.microsoft.com/office/drawing/2014/main" id="{0E529999-D9A5-4FA3-A732-57F4FB5E1BBE}"/>
              </a:ext>
            </a:extLst>
          </p:cNvPr>
          <p:cNvSpPr>
            <a:spLocks noGrp="1"/>
          </p:cNvSpPr>
          <p:nvPr/>
        </p:nvSpPr>
        <p:spPr>
          <a:xfrm>
            <a:off x="876300" y="5010150"/>
            <a:ext cx="5219700" cy="819150"/>
          </a:xfrm>
          <a:prstGeom prst="rect">
            <a:avLst/>
          </a:prstGeom>
          <a:solidFill>
            <a:srgbClr val="EAF1FB"/>
          </a:solidFill>
          <a:ln w="11430">
            <a:solidFill>
              <a:srgbClr val="FFFFFF"/>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FF14E8D5-E13B-4CFE-8FE0-E2B8DEC155BA}"/>
              </a:ext>
            </a:extLst>
          </p:cNvPr>
          <p:cNvSpPr>
            <a:spLocks noGrp="1"/>
          </p:cNvSpPr>
          <p:nvPr/>
        </p:nvSpPr>
        <p:spPr>
          <a:xfrm>
            <a:off x="9525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Oracle Database</a:t>
            </a:r>
          </a:p>
        </p:txBody>
      </p:sp>
      <p:sp>
        <p:nvSpPr>
          <p:cNvPr id="24" name="正方形/長方形 23">
            <a:extLst>
              <a:ext uri="{FF2B5EF4-FFF2-40B4-BE49-F238E27FC236}">
                <a16:creationId xmlns:a16="http://schemas.microsoft.com/office/drawing/2014/main" id="{0C422735-C762-4A88-861E-6E168F5EB6B9}"/>
              </a:ext>
            </a:extLst>
          </p:cNvPr>
          <p:cNvSpPr>
            <a:spLocks noGrp="1"/>
          </p:cNvSpPr>
          <p:nvPr/>
        </p:nvSpPr>
        <p:spPr>
          <a:xfrm>
            <a:off x="6096000" y="5010150"/>
            <a:ext cx="5219700" cy="819150"/>
          </a:xfrm>
          <a:prstGeom prst="rect">
            <a:avLst/>
          </a:prstGeom>
          <a:solidFill>
            <a:srgbClr val="FFFFFF"/>
          </a:solidFill>
          <a:ln w="11430">
            <a:solidFill>
              <a:srgbClr val="FFFFFF"/>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2E82F466-4245-4A2D-B4AD-06502983332D}"/>
              </a:ext>
            </a:extLst>
          </p:cNvPr>
          <p:cNvSpPr>
            <a:spLocks noGrp="1"/>
          </p:cNvSpPr>
          <p:nvPr/>
        </p:nvSpPr>
        <p:spPr>
          <a:xfrm>
            <a:off x="6172200" y="5067300"/>
            <a:ext cx="5067300" cy="704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大規模な基幹系システムで見かけることが多い。</a:t>
            </a:r>
          </a:p>
        </p:txBody>
      </p:sp>
      <p:sp>
        <p:nvSpPr>
          <p:cNvPr id="26" name="正方形/長方形 25">
            <a:extLst>
              <a:ext uri="{FF2B5EF4-FFF2-40B4-BE49-F238E27FC236}">
                <a16:creationId xmlns:a16="http://schemas.microsoft.com/office/drawing/2014/main" id="{AE1B4CB9-7CA6-4C95-BE8D-62D3433E3874}"/>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20 / 32</a:t>
            </a:r>
          </a:p>
        </p:txBody>
      </p:sp>
    </p:spTree>
    <p:extLst>
      <p:ext uri="{BB962C8B-B14F-4D97-AF65-F5344CB8AC3E}">
        <p14:creationId xmlns:p14="http://schemas.microsoft.com/office/powerpoint/2010/main" val="1186077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07BDDB8-5DFA-478D-8FB7-19037552EE35}"/>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AP 層と DB 層の関係</a:t>
            </a:r>
          </a:p>
        </p:txBody>
      </p:sp>
      <p:sp>
        <p:nvSpPr>
          <p:cNvPr id="2" name="正方形/長方形 1">
            <a:extLst>
              <a:ext uri="{FF2B5EF4-FFF2-40B4-BE49-F238E27FC236}">
                <a16:creationId xmlns:a16="http://schemas.microsoft.com/office/drawing/2014/main" id="{32B1341F-7786-4AC9-8FD1-A7EB005A3214}"/>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834420A9-44E3-4E13-86D7-88D37746B31B}"/>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21</a:t>
            </a:r>
          </a:p>
        </p:txBody>
      </p:sp>
      <p:sp>
        <p:nvSpPr>
          <p:cNvPr id="4" name="正方形/長方形 3">
            <a:extLst>
              <a:ext uri="{FF2B5EF4-FFF2-40B4-BE49-F238E27FC236}">
                <a16:creationId xmlns:a16="http://schemas.microsoft.com/office/drawing/2014/main" id="{E7C04D5F-8F6B-4E24-AA6F-8CCEB95AABF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AC4E121-75E8-4D3F-9726-85E5C7483BEE}"/>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AP 層は自分でデータを保持せず、認証情報、接続設定、ネットワーク到達性を使って DB 層に問い合わせ、必要な結果を受け取ります。</a:t>
            </a:r>
          </a:p>
        </p:txBody>
      </p:sp>
      <p:sp>
        <p:nvSpPr>
          <p:cNvPr id="6" name="正方形/長方形 5">
            <a:extLst>
              <a:ext uri="{FF2B5EF4-FFF2-40B4-BE49-F238E27FC236}">
                <a16:creationId xmlns:a16="http://schemas.microsoft.com/office/drawing/2014/main" id="{AC9D5187-3048-42FB-A9BE-C84D26DC310E}"/>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8C522BFB-83E6-4DEB-BAB1-A1DF902B3FE3}"/>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21 / 32</a:t>
            </a:r>
          </a:p>
        </p:txBody>
      </p:sp>
    </p:spTree>
    <p:extLst>
      <p:ext uri="{BB962C8B-B14F-4D97-AF65-F5344CB8AC3E}">
        <p14:creationId xmlns:p14="http://schemas.microsoft.com/office/powerpoint/2010/main" val="1186077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1D1828F-321A-41A2-B4AE-AB76A239283D}"/>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第5回から第6回で作る DB 層</a:t>
            </a:r>
          </a:p>
        </p:txBody>
      </p:sp>
      <p:sp>
        <p:nvSpPr>
          <p:cNvPr id="2" name="正方形/長方形 1">
            <a:extLst>
              <a:ext uri="{FF2B5EF4-FFF2-40B4-BE49-F238E27FC236}">
                <a16:creationId xmlns:a16="http://schemas.microsoft.com/office/drawing/2014/main" id="{A210C394-B88D-4F34-A29F-81C37BF32FA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5471737A-052B-4079-8155-6A5B0F934C03}"/>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22</a:t>
            </a:r>
          </a:p>
        </p:txBody>
      </p:sp>
      <p:sp>
        <p:nvSpPr>
          <p:cNvPr id="4" name="正方形/長方形 3">
            <a:extLst>
              <a:ext uri="{FF2B5EF4-FFF2-40B4-BE49-F238E27FC236}">
                <a16:creationId xmlns:a16="http://schemas.microsoft.com/office/drawing/2014/main" id="{0C3C7574-667C-4A88-8F4E-2509E9B7FF0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87BF7C3-58AF-43B4-B86B-9B6909A9B2C8}"/>
              </a:ext>
            </a:extLst>
          </p:cNvPr>
          <p:cNvSpPr>
            <a:spLocks noGrp="1"/>
          </p:cNvSpPr>
          <p:nvPr/>
        </p:nvSpPr>
        <p:spPr>
          <a:xfrm>
            <a:off x="685800" y="1352550"/>
            <a:ext cx="436245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第5回から第6回では Azure Database for PostgreSQL を使い、Todo アプリのデータ保存を Azure のマネージド DB として扱います。</a:t>
            </a:r>
          </a:p>
        </p:txBody>
      </p:sp>
      <p:sp>
        <p:nvSpPr>
          <p:cNvPr id="6" name="正方形/長方形 5">
            <a:extLst>
              <a:ext uri="{FF2B5EF4-FFF2-40B4-BE49-F238E27FC236}">
                <a16:creationId xmlns:a16="http://schemas.microsoft.com/office/drawing/2014/main" id="{11F7384B-51F5-4721-87A5-F3E29D624B49}"/>
              </a:ext>
            </a:extLst>
          </p:cNvPr>
          <p:cNvSpPr>
            <a:spLocks noGrp="1"/>
          </p:cNvSpPr>
          <p:nvPr/>
        </p:nvSpPr>
        <p:spPr>
          <a:xfrm>
            <a:off x="800100" y="2171700"/>
            <a:ext cx="4000500" cy="16192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DB サーバを自分で構築する代わりに、Azure のマネージド DB を使う。</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アプリケーションは DB に接続して Todo を保存する。</a:t>
            </a:r>
          </a:p>
        </p:txBody>
      </p:sp>
      <p:sp>
        <p:nvSpPr>
          <p:cNvPr id="7" name="正方形/長方形 6">
            <a:extLst>
              <a:ext uri="{FF2B5EF4-FFF2-40B4-BE49-F238E27FC236}">
                <a16:creationId xmlns:a16="http://schemas.microsoft.com/office/drawing/2014/main" id="{1883EA69-FCBD-4EAC-B25D-D824B06769F9}"/>
              </a:ext>
            </a:extLst>
          </p:cNvPr>
          <p:cNvSpPr>
            <a:spLocks noGrp="1"/>
          </p:cNvSpPr>
          <p:nvPr/>
        </p:nvSpPr>
        <p:spPr>
          <a:xfrm>
            <a:off x="5562600" y="1676400"/>
            <a:ext cx="5753100" cy="2266950"/>
          </a:xfrm>
          <a:prstGeom prst="rect">
            <a:avLst/>
          </a:prstGeom>
          <a:solidFill>
            <a:srgbClr val="FFFFFF"/>
          </a:solidFill>
          <a:ln w="9525">
            <a:solidFill>
              <a:srgbClr val="D0D5DD"/>
            </a:solidFill>
            <a:prstDash val="solid"/>
          </a:ln>
        </p:spPr>
        <p:txBody>
          <a:bodyPr/>
          <a:lstStyle/>
          <a:p>
            <a:endParaRPr lang="ja-JP" altLang="en-US"/>
          </a:p>
        </p:txBody>
      </p:sp>
      <p:pic>
        <p:nvPicPr>
          <p:cNvPr id="8" name="図 7"/>
          <p:cNvPicPr>
            <a:picLocks noChangeAspect="1"/>
          </p:cNvPicPr>
          <p:nvPr/>
        </p:nvPicPr>
        <p:blipFill>
          <a:blip r:embed="rId3"/>
          <a:stretch/>
        </p:blipFill>
        <p:spPr>
          <a:xfrm>
            <a:off x="5695950" y="1809750"/>
            <a:ext cx="5486400" cy="2000250"/>
          </a:xfrm>
          <a:prstGeom prst="rect">
            <a:avLst/>
          </a:prstGeom>
        </p:spPr>
      </p:pic>
      <p:sp>
        <p:nvSpPr>
          <p:cNvPr id="9" name="正方形/長方形 8">
            <a:extLst>
              <a:ext uri="{FF2B5EF4-FFF2-40B4-BE49-F238E27FC236}">
                <a16:creationId xmlns:a16="http://schemas.microsoft.com/office/drawing/2014/main" id="{AA8434E4-37F0-4BD3-9489-DECD2D8DB962}"/>
              </a:ext>
            </a:extLst>
          </p:cNvPr>
          <p:cNvSpPr>
            <a:spLocks noGrp="1"/>
          </p:cNvSpPr>
          <p:nvPr/>
        </p:nvSpPr>
        <p:spPr>
          <a:xfrm>
            <a:off x="5562600" y="4095750"/>
            <a:ext cx="5753100" cy="1771650"/>
          </a:xfrm>
          <a:prstGeom prst="rect">
            <a:avLst/>
          </a:prstGeom>
          <a:solidFill>
            <a:srgbClr val="FFFFFF"/>
          </a:solidFill>
          <a:ln w="9525">
            <a:solidFill>
              <a:srgbClr val="D0D5DD"/>
            </a:solidFill>
            <a:prstDash val="solid"/>
          </a:ln>
        </p:spPr>
        <p:txBody>
          <a:bodyPr/>
          <a:lstStyle/>
          <a:p>
            <a:endParaRPr lang="ja-JP" altLang="en-US"/>
          </a:p>
        </p:txBody>
      </p:sp>
      <p:pic>
        <p:nvPicPr>
          <p:cNvPr id="10" name="図 9"/>
          <p:cNvPicPr>
            <a:picLocks noChangeAspect="1"/>
          </p:cNvPicPr>
          <p:nvPr/>
        </p:nvPicPr>
        <p:blipFill>
          <a:blip r:embed="rId4"/>
          <a:stretch/>
        </p:blipFill>
        <p:spPr>
          <a:xfrm>
            <a:off x="7236883" y="4229100"/>
            <a:ext cx="2404533" cy="1352550"/>
          </a:xfrm>
          <a:prstGeom prst="rect">
            <a:avLst/>
          </a:prstGeom>
        </p:spPr>
      </p:pic>
      <p:sp>
        <p:nvSpPr>
          <p:cNvPr id="11" name="正方形/長方形 10">
            <a:extLst>
              <a:ext uri="{FF2B5EF4-FFF2-40B4-BE49-F238E27FC236}">
                <a16:creationId xmlns:a16="http://schemas.microsoft.com/office/drawing/2014/main" id="{051009B9-B76F-4B59-BBA2-F4F758775185}"/>
              </a:ext>
            </a:extLst>
          </p:cNvPr>
          <p:cNvSpPr>
            <a:spLocks noGrp="1"/>
          </p:cNvSpPr>
          <p:nvPr/>
        </p:nvSpPr>
        <p:spPr>
          <a:xfrm>
            <a:off x="5715000" y="5619750"/>
            <a:ext cx="5448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第5回から第6回の予告用参考画像: PostgreSQL 一覧</a:t>
            </a:r>
          </a:p>
        </p:txBody>
      </p:sp>
      <p:sp>
        <p:nvSpPr>
          <p:cNvPr id="12" name="正方形/長方形 11">
            <a:extLst>
              <a:ext uri="{FF2B5EF4-FFF2-40B4-BE49-F238E27FC236}">
                <a16:creationId xmlns:a16="http://schemas.microsoft.com/office/drawing/2014/main" id="{EED4A53D-70BB-49EB-BB11-AFB7947242BC}"/>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22 / 32</a:t>
            </a:r>
          </a:p>
        </p:txBody>
      </p:sp>
    </p:spTree>
    <p:extLst>
      <p:ext uri="{BB962C8B-B14F-4D97-AF65-F5344CB8AC3E}">
        <p14:creationId xmlns:p14="http://schemas.microsoft.com/office/powerpoint/2010/main" val="1186077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E6E4D68-92FB-4E77-9073-5851A73A21C0}"/>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Azure IaaS で構成する Web 3層</a:t>
            </a:r>
          </a:p>
        </p:txBody>
      </p:sp>
      <p:sp>
        <p:nvSpPr>
          <p:cNvPr id="2" name="正方形/長方形 1">
            <a:extLst>
              <a:ext uri="{FF2B5EF4-FFF2-40B4-BE49-F238E27FC236}">
                <a16:creationId xmlns:a16="http://schemas.microsoft.com/office/drawing/2014/main" id="{5D2EDF5C-200A-4865-A221-BEC4DDE75126}"/>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B31F67A9-8393-4B16-9950-FF0E50B985CC}"/>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23</a:t>
            </a:r>
          </a:p>
        </p:txBody>
      </p:sp>
      <p:sp>
        <p:nvSpPr>
          <p:cNvPr id="4" name="正方形/長方形 3">
            <a:extLst>
              <a:ext uri="{FF2B5EF4-FFF2-40B4-BE49-F238E27FC236}">
                <a16:creationId xmlns:a16="http://schemas.microsoft.com/office/drawing/2014/main" id="{DB89A704-6F4A-4843-B873-A0F4C6C1782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9D243FE0-6D61-4D82-8F3A-6087DF74E6C0}"/>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Azure VM を使った IaaS 構成では、Web/AP/DB の各層を分けて配置し、ネットワーク、負荷分散、DB の高可用性を組み合わせます。</a:t>
            </a:r>
          </a:p>
        </p:txBody>
      </p:sp>
      <p:sp>
        <p:nvSpPr>
          <p:cNvPr id="6" name="正方形/長方形 5">
            <a:extLst>
              <a:ext uri="{FF2B5EF4-FFF2-40B4-BE49-F238E27FC236}">
                <a16:creationId xmlns:a16="http://schemas.microsoft.com/office/drawing/2014/main" id="{7B1082D2-4C07-4A2B-837E-F46A2A7FE5A6}"/>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9FD764B1-749D-4F97-BE07-47142F88ED67}"/>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23 / 32</a:t>
            </a:r>
          </a:p>
        </p:txBody>
      </p:sp>
    </p:spTree>
    <p:extLst>
      <p:ext uri="{BB962C8B-B14F-4D97-AF65-F5344CB8AC3E}">
        <p14:creationId xmlns:p14="http://schemas.microsoft.com/office/powerpoint/2010/main" val="1186077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0D77FED-6DE0-4F5A-82BD-44A2753B1014}"/>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VM 構成で自分が管理する範囲</a:t>
            </a:r>
          </a:p>
        </p:txBody>
      </p:sp>
      <p:sp>
        <p:nvSpPr>
          <p:cNvPr id="2" name="正方形/長方形 1">
            <a:extLst>
              <a:ext uri="{FF2B5EF4-FFF2-40B4-BE49-F238E27FC236}">
                <a16:creationId xmlns:a16="http://schemas.microsoft.com/office/drawing/2014/main" id="{5C520247-50DE-4AAE-8E3A-4F7DC3926BB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4668EFC1-0ABA-4D80-AAF0-19848F536771}"/>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24</a:t>
            </a:r>
          </a:p>
        </p:txBody>
      </p:sp>
      <p:sp>
        <p:nvSpPr>
          <p:cNvPr id="4" name="正方形/長方形 3">
            <a:extLst>
              <a:ext uri="{FF2B5EF4-FFF2-40B4-BE49-F238E27FC236}">
                <a16:creationId xmlns:a16="http://schemas.microsoft.com/office/drawing/2014/main" id="{A585B341-8067-48AE-B412-38461E71007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22BCA3D-105A-4A7F-9661-9AAA24D25065}"/>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VM を使う構成では自由度が高い一方、OS、ミドルウェア、パッチ、監視、スケールなど利用者が設計・運用する範囲も広がります。</a:t>
            </a:r>
          </a:p>
        </p:txBody>
      </p:sp>
      <p:sp>
        <p:nvSpPr>
          <p:cNvPr id="6" name="正方形/長方形 5">
            <a:extLst>
              <a:ext uri="{FF2B5EF4-FFF2-40B4-BE49-F238E27FC236}">
                <a16:creationId xmlns:a16="http://schemas.microsoft.com/office/drawing/2014/main" id="{5970AC83-EF35-470B-AC58-B9F375192D2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17165DD6-E21D-4023-8BE7-1CBDA161E83D}"/>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24 / 32</a:t>
            </a:r>
          </a:p>
        </p:txBody>
      </p:sp>
    </p:spTree>
    <p:extLst>
      <p:ext uri="{BB962C8B-B14F-4D97-AF65-F5344CB8AC3E}">
        <p14:creationId xmlns:p14="http://schemas.microsoft.com/office/powerpoint/2010/main" val="1186077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D87A4CD-EC0E-4A49-847A-94F2CF9EA078}"/>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第3回のハンズオンとの接続</a:t>
            </a:r>
          </a:p>
        </p:txBody>
      </p:sp>
      <p:sp>
        <p:nvSpPr>
          <p:cNvPr id="2" name="正方形/長方形 1">
            <a:extLst>
              <a:ext uri="{FF2B5EF4-FFF2-40B4-BE49-F238E27FC236}">
                <a16:creationId xmlns:a16="http://schemas.microsoft.com/office/drawing/2014/main" id="{B9A389F5-C70C-44BB-B5C3-EB6BBB797719}"/>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20740491-B02F-4D11-8471-46AD19ADFD8F}"/>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25</a:t>
            </a:r>
          </a:p>
        </p:txBody>
      </p:sp>
      <p:sp>
        <p:nvSpPr>
          <p:cNvPr id="4" name="正方形/長方形 3">
            <a:extLst>
              <a:ext uri="{FF2B5EF4-FFF2-40B4-BE49-F238E27FC236}">
                <a16:creationId xmlns:a16="http://schemas.microsoft.com/office/drawing/2014/main" id="{5B62720E-D5E1-44CD-BEEC-9D93C499E38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79800E18-5855-413A-A4B0-05423D5ABF41}"/>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第3回では Web 3層すべてを作るのではなく、まず Web 層に相当する NGINX on Azure VM を作り、入口までの通信を体験します。</a:t>
            </a:r>
          </a:p>
        </p:txBody>
      </p:sp>
      <p:sp>
        <p:nvSpPr>
          <p:cNvPr id="6" name="正方形/長方形 5">
            <a:extLst>
              <a:ext uri="{FF2B5EF4-FFF2-40B4-BE49-F238E27FC236}">
                <a16:creationId xmlns:a16="http://schemas.microsoft.com/office/drawing/2014/main" id="{B4678A99-82BB-4A8F-BB9D-F43F4E2AFD1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FCEB65A6-E386-4E13-A2EB-F9FC40BC1CE1}"/>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25 / 32</a:t>
            </a:r>
          </a:p>
        </p:txBody>
      </p:sp>
    </p:spTree>
    <p:extLst>
      <p:ext uri="{BB962C8B-B14F-4D97-AF65-F5344CB8AC3E}">
        <p14:creationId xmlns:p14="http://schemas.microsoft.com/office/powerpoint/2010/main" val="1186077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27D29C1-9848-4007-9015-6680E30999AC}"/>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Container Apps で構成する Web 3層</a:t>
            </a:r>
          </a:p>
        </p:txBody>
      </p:sp>
      <p:sp>
        <p:nvSpPr>
          <p:cNvPr id="2" name="正方形/長方形 1">
            <a:extLst>
              <a:ext uri="{FF2B5EF4-FFF2-40B4-BE49-F238E27FC236}">
                <a16:creationId xmlns:a16="http://schemas.microsoft.com/office/drawing/2014/main" id="{B706B74D-E688-4A98-B5D9-B22128519915}"/>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7F2AB60F-4236-4EA9-8656-B09185938349}"/>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26</a:t>
            </a:r>
          </a:p>
        </p:txBody>
      </p:sp>
      <p:sp>
        <p:nvSpPr>
          <p:cNvPr id="4" name="正方形/長方形 3">
            <a:extLst>
              <a:ext uri="{FF2B5EF4-FFF2-40B4-BE49-F238E27FC236}">
                <a16:creationId xmlns:a16="http://schemas.microsoft.com/office/drawing/2014/main" id="{A9DBA577-165C-415C-A999-1B99BE8A8B0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FE5D36C1-631B-4584-BDFA-E2B616368EB4}"/>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Container Apps を使うと、コンテナ化した Web/API をマネージドな実行環境で動かしつつ、DB には PostgreSQL などのサービスを組み合わせられます。</a:t>
            </a:r>
          </a:p>
        </p:txBody>
      </p:sp>
      <p:sp>
        <p:nvSpPr>
          <p:cNvPr id="6" name="正方形/長方形 5">
            <a:extLst>
              <a:ext uri="{FF2B5EF4-FFF2-40B4-BE49-F238E27FC236}">
                <a16:creationId xmlns:a16="http://schemas.microsoft.com/office/drawing/2014/main" id="{830BDECA-8CD8-4244-B83C-81316A3F82F2}"/>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7E6667A1-757A-46AF-B493-A72754662E8C}"/>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26 / 32</a:t>
            </a:r>
          </a:p>
        </p:txBody>
      </p:sp>
    </p:spTree>
    <p:extLst>
      <p:ext uri="{BB962C8B-B14F-4D97-AF65-F5344CB8AC3E}">
        <p14:creationId xmlns:p14="http://schemas.microsoft.com/office/powerpoint/2010/main" val="1186077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41D4144-E18C-49C2-A3FD-E3984E2EF464}"/>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第4回から第6回のつながり</a:t>
            </a:r>
          </a:p>
        </p:txBody>
      </p:sp>
      <p:sp>
        <p:nvSpPr>
          <p:cNvPr id="2" name="正方形/長方形 1">
            <a:extLst>
              <a:ext uri="{FF2B5EF4-FFF2-40B4-BE49-F238E27FC236}">
                <a16:creationId xmlns:a16="http://schemas.microsoft.com/office/drawing/2014/main" id="{527B9A14-CD0D-4299-BDF2-3139001E9C67}"/>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9F518092-DC5F-4404-90E1-41A44B423FAD}"/>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27</a:t>
            </a:r>
          </a:p>
        </p:txBody>
      </p:sp>
      <p:sp>
        <p:nvSpPr>
          <p:cNvPr id="4" name="正方形/長方形 3">
            <a:extLst>
              <a:ext uri="{FF2B5EF4-FFF2-40B4-BE49-F238E27FC236}">
                <a16:creationId xmlns:a16="http://schemas.microsoft.com/office/drawing/2014/main" id="{2B40AC81-88F5-40D2-9E61-F17F388222F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ED5C42DF-8681-4F44-8306-0B8E7F22E5B3}"/>
              </a:ext>
            </a:extLst>
          </p:cNvPr>
          <p:cNvSpPr>
            <a:spLocks noGrp="1"/>
          </p:cNvSpPr>
          <p:nvPr/>
        </p:nvSpPr>
        <p:spPr>
          <a:xfrm>
            <a:off x="685800" y="1352550"/>
            <a:ext cx="436245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第4回では ACI で単体コンテナを動かし、第5回から第6回では ACA、ACR、PostgreSQL を組み合わせた複数サービス構成に進みます。</a:t>
            </a:r>
          </a:p>
        </p:txBody>
      </p:sp>
      <p:sp>
        <p:nvSpPr>
          <p:cNvPr id="6" name="正方形/長方形 5">
            <a:extLst>
              <a:ext uri="{FF2B5EF4-FFF2-40B4-BE49-F238E27FC236}">
                <a16:creationId xmlns:a16="http://schemas.microsoft.com/office/drawing/2014/main" id="{E9DDF3BB-7DEA-4E2C-A440-9BBCFDB93A59}"/>
              </a:ext>
            </a:extLst>
          </p:cNvPr>
          <p:cNvSpPr>
            <a:spLocks noGrp="1"/>
          </p:cNvSpPr>
          <p:nvPr/>
        </p:nvSpPr>
        <p:spPr>
          <a:xfrm>
            <a:off x="800100" y="2171700"/>
            <a:ext cx="4000500" cy="16192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第4回: ACI で NGINX コンテナを動かす。</a:t>
            </a:r>
          </a:p>
          <a:p>
            <a:pPr algn="l">
              <a:defRPr sz="1050" b="0">
                <a:solidFill>
                  <a:srgbClr val="344054"/>
                </a:solidFill>
                <a:latin typeface="Yu Gothic UI"/>
                <a:ea typeface="Yu Gothic UI"/>
                <a:cs typeface="Yu Gothic UI"/>
              </a:defRPr>
            </a:pPr>
            <a:r>
              <a:rPr sz="1050" b="0">
                <a:solidFill>
                  <a:srgbClr val="344054"/>
                </a:solidFill>
                <a:latin typeface="Yu Gothic UI"/>
                <a:ea typeface="Yu Gothic UI"/>
                <a:cs typeface="Yu Gothic UI"/>
              </a:rPr>
              <a:t>• 第5回から第6回: ACA、ACR、PostgreSQL で Todo アプリを作る。</a:t>
            </a:r>
          </a:p>
        </p:txBody>
      </p:sp>
      <p:sp>
        <p:nvSpPr>
          <p:cNvPr id="7" name="正方形/長方形 6">
            <a:extLst>
              <a:ext uri="{FF2B5EF4-FFF2-40B4-BE49-F238E27FC236}">
                <a16:creationId xmlns:a16="http://schemas.microsoft.com/office/drawing/2014/main" id="{452505BF-4759-4474-ACC4-24F4FC4203E2}"/>
              </a:ext>
            </a:extLst>
          </p:cNvPr>
          <p:cNvSpPr>
            <a:spLocks noGrp="1"/>
          </p:cNvSpPr>
          <p:nvPr/>
        </p:nvSpPr>
        <p:spPr>
          <a:xfrm>
            <a:off x="5562600" y="1676400"/>
            <a:ext cx="5753100" cy="2266950"/>
          </a:xfrm>
          <a:prstGeom prst="rect">
            <a:avLst/>
          </a:prstGeom>
          <a:solidFill>
            <a:srgbClr val="FFFFFF"/>
          </a:solidFill>
          <a:ln w="9525">
            <a:solidFill>
              <a:srgbClr val="D0D5DD"/>
            </a:solidFill>
            <a:prstDash val="solid"/>
          </a:ln>
        </p:spPr>
        <p:txBody>
          <a:bodyPr/>
          <a:lstStyle/>
          <a:p>
            <a:endParaRPr lang="ja-JP" altLang="en-US"/>
          </a:p>
        </p:txBody>
      </p:sp>
      <p:pic>
        <p:nvPicPr>
          <p:cNvPr id="8" name="図 7"/>
          <p:cNvPicPr>
            <a:picLocks noChangeAspect="1"/>
          </p:cNvPicPr>
          <p:nvPr/>
        </p:nvPicPr>
        <p:blipFill>
          <a:blip r:embed="rId3"/>
          <a:stretch/>
        </p:blipFill>
        <p:spPr>
          <a:xfrm>
            <a:off x="5695950" y="1809750"/>
            <a:ext cx="5486400" cy="2000250"/>
          </a:xfrm>
          <a:prstGeom prst="rect">
            <a:avLst/>
          </a:prstGeom>
        </p:spPr>
      </p:pic>
      <p:sp>
        <p:nvSpPr>
          <p:cNvPr id="9" name="正方形/長方形 8">
            <a:extLst>
              <a:ext uri="{FF2B5EF4-FFF2-40B4-BE49-F238E27FC236}">
                <a16:creationId xmlns:a16="http://schemas.microsoft.com/office/drawing/2014/main" id="{0DFDB7EF-ADC3-4177-A2B0-E7405F88084F}"/>
              </a:ext>
            </a:extLst>
          </p:cNvPr>
          <p:cNvSpPr>
            <a:spLocks noGrp="1"/>
          </p:cNvSpPr>
          <p:nvPr/>
        </p:nvSpPr>
        <p:spPr>
          <a:xfrm>
            <a:off x="5562600" y="4095750"/>
            <a:ext cx="5753100" cy="1771650"/>
          </a:xfrm>
          <a:prstGeom prst="rect">
            <a:avLst/>
          </a:prstGeom>
          <a:solidFill>
            <a:srgbClr val="FFFFFF"/>
          </a:solidFill>
          <a:ln w="9525">
            <a:solidFill>
              <a:srgbClr val="D0D5DD"/>
            </a:solidFill>
            <a:prstDash val="solid"/>
          </a:ln>
        </p:spPr>
        <p:txBody>
          <a:bodyPr/>
          <a:lstStyle/>
          <a:p>
            <a:endParaRPr lang="ja-JP" altLang="en-US"/>
          </a:p>
        </p:txBody>
      </p:sp>
      <p:pic>
        <p:nvPicPr>
          <p:cNvPr id="10" name="図 9"/>
          <p:cNvPicPr>
            <a:picLocks noChangeAspect="1"/>
          </p:cNvPicPr>
          <p:nvPr/>
        </p:nvPicPr>
        <p:blipFill>
          <a:blip r:embed="rId4"/>
          <a:stretch/>
        </p:blipFill>
        <p:spPr>
          <a:xfrm>
            <a:off x="7236883" y="4229100"/>
            <a:ext cx="2404533" cy="1352550"/>
          </a:xfrm>
          <a:prstGeom prst="rect">
            <a:avLst/>
          </a:prstGeom>
        </p:spPr>
      </p:pic>
      <p:sp>
        <p:nvSpPr>
          <p:cNvPr id="11" name="正方形/長方形 10">
            <a:extLst>
              <a:ext uri="{FF2B5EF4-FFF2-40B4-BE49-F238E27FC236}">
                <a16:creationId xmlns:a16="http://schemas.microsoft.com/office/drawing/2014/main" id="{E4C01D0D-1CE4-4F5C-A17A-4C21B921B001}"/>
              </a:ext>
            </a:extLst>
          </p:cNvPr>
          <p:cNvSpPr>
            <a:spLocks noGrp="1"/>
          </p:cNvSpPr>
          <p:nvPr/>
        </p:nvSpPr>
        <p:spPr>
          <a:xfrm>
            <a:off x="5715000" y="5619750"/>
            <a:ext cx="5448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第5回から第6回の予告用参考画像: Container Apps 一覧</a:t>
            </a:r>
          </a:p>
        </p:txBody>
      </p:sp>
      <p:sp>
        <p:nvSpPr>
          <p:cNvPr id="12" name="正方形/長方形 11">
            <a:extLst>
              <a:ext uri="{FF2B5EF4-FFF2-40B4-BE49-F238E27FC236}">
                <a16:creationId xmlns:a16="http://schemas.microsoft.com/office/drawing/2014/main" id="{922F921B-2D91-4C8D-9749-F08B87FF4A8F}"/>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27 / 32</a:t>
            </a:r>
          </a:p>
        </p:txBody>
      </p:sp>
    </p:spTree>
    <p:extLst>
      <p:ext uri="{BB962C8B-B14F-4D97-AF65-F5344CB8AC3E}">
        <p14:creationId xmlns:p14="http://schemas.microsoft.com/office/powerpoint/2010/main" val="1186077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AF8B0D3-A1EB-4A71-9460-1301794494C7}"/>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SPA という別の見方</a:t>
            </a:r>
          </a:p>
        </p:txBody>
      </p:sp>
      <p:sp>
        <p:nvSpPr>
          <p:cNvPr id="2" name="正方形/長方形 1">
            <a:extLst>
              <a:ext uri="{FF2B5EF4-FFF2-40B4-BE49-F238E27FC236}">
                <a16:creationId xmlns:a16="http://schemas.microsoft.com/office/drawing/2014/main" id="{072D8A56-C8B7-4553-A5FD-E544AA066D6B}"/>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71C9AED7-A1B2-4807-A293-F2D132832F98}"/>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28</a:t>
            </a:r>
          </a:p>
        </p:txBody>
      </p:sp>
      <p:sp>
        <p:nvSpPr>
          <p:cNvPr id="4" name="正方形/長方形 3">
            <a:extLst>
              <a:ext uri="{FF2B5EF4-FFF2-40B4-BE49-F238E27FC236}">
                <a16:creationId xmlns:a16="http://schemas.microsoft.com/office/drawing/2014/main" id="{BA517090-CA53-4163-A713-F70BEC65710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FA6F108-B74A-40A0-9FE2-46344442F6ED}"/>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SPA では画面表示の多くをブラウザー側で行い、静的ホスティング、API、データサービスを組み合わせる構成として Web 3層とは別の見方をします。</a:t>
            </a:r>
          </a:p>
        </p:txBody>
      </p:sp>
      <p:sp>
        <p:nvSpPr>
          <p:cNvPr id="6" name="正方形/長方形 5">
            <a:extLst>
              <a:ext uri="{FF2B5EF4-FFF2-40B4-BE49-F238E27FC236}">
                <a16:creationId xmlns:a16="http://schemas.microsoft.com/office/drawing/2014/main" id="{A6F296C9-8E4B-423B-A20A-8E9F45370B9B}"/>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5A0E95B9-E995-4153-B3D0-FB9FFAED2A23}"/>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28 / 32</a:t>
            </a:r>
          </a:p>
        </p:txBody>
      </p:sp>
    </p:spTree>
    <p:extLst>
      <p:ext uri="{BB962C8B-B14F-4D97-AF65-F5344CB8AC3E}">
        <p14:creationId xmlns:p14="http://schemas.microsoft.com/office/powerpoint/2010/main" val="1186077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3FABC8C-8BA9-4B3B-B653-8202FAB3D797}"/>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Static Web Apps で扱うこと</a:t>
            </a:r>
          </a:p>
        </p:txBody>
      </p:sp>
      <p:sp>
        <p:nvSpPr>
          <p:cNvPr id="2" name="正方形/長方形 1">
            <a:extLst>
              <a:ext uri="{FF2B5EF4-FFF2-40B4-BE49-F238E27FC236}">
                <a16:creationId xmlns:a16="http://schemas.microsoft.com/office/drawing/2014/main" id="{6067431D-0FEA-4D2A-BE99-5FE622A9C26E}"/>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B387BCE7-863A-40D6-A37B-705D87CA07C0}"/>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29</a:t>
            </a:r>
          </a:p>
        </p:txBody>
      </p:sp>
      <p:sp>
        <p:nvSpPr>
          <p:cNvPr id="4" name="正方形/長方形 3">
            <a:extLst>
              <a:ext uri="{FF2B5EF4-FFF2-40B4-BE49-F238E27FC236}">
                <a16:creationId xmlns:a16="http://schemas.microsoft.com/office/drawing/2014/main" id="{1614950D-6565-41D6-99E6-62C22E26AB9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7796AD6-5181-4AEB-8C8D-6CB071E1FCB0}"/>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第9回では Azure Static Web Apps を入口に、静的 Web サイト、SPA、Functions/API、データサービスの関係を改めて整理します。</a:t>
            </a:r>
          </a:p>
        </p:txBody>
      </p:sp>
      <p:sp>
        <p:nvSpPr>
          <p:cNvPr id="6" name="正方形/長方形 5">
            <a:extLst>
              <a:ext uri="{FF2B5EF4-FFF2-40B4-BE49-F238E27FC236}">
                <a16:creationId xmlns:a16="http://schemas.microsoft.com/office/drawing/2014/main" id="{71DCFB5D-6DB0-4423-8112-8D51FB9276B0}"/>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BAB9FBA6-385D-4B8F-AF63-D939F11F33B3}"/>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29 / 32</a:t>
            </a:r>
          </a:p>
        </p:txBody>
      </p:sp>
    </p:spTree>
    <p:extLst>
      <p:ext uri="{BB962C8B-B14F-4D97-AF65-F5344CB8AC3E}">
        <p14:creationId xmlns:p14="http://schemas.microsoft.com/office/powerpoint/2010/main" val="1186077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E7F19E1F-0A3E-47FE-9F83-1539C37A1829}"/>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RDBMS と NoSQL</a:t>
            </a:r>
          </a:p>
        </p:txBody>
      </p:sp>
      <p:sp>
        <p:nvSpPr>
          <p:cNvPr id="2" name="正方形/長方形 1">
            <a:extLst>
              <a:ext uri="{FF2B5EF4-FFF2-40B4-BE49-F238E27FC236}">
                <a16:creationId xmlns:a16="http://schemas.microsoft.com/office/drawing/2014/main" id="{C338B5DA-CD13-47E3-B52F-ABE864A137B0}"/>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E03CB407-A6AF-4389-AFAB-4ADDDF014875}"/>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30</a:t>
            </a:r>
          </a:p>
        </p:txBody>
      </p:sp>
      <p:sp>
        <p:nvSpPr>
          <p:cNvPr id="4" name="正方形/長方形 3">
            <a:extLst>
              <a:ext uri="{FF2B5EF4-FFF2-40B4-BE49-F238E27FC236}">
                <a16:creationId xmlns:a16="http://schemas.microsoft.com/office/drawing/2014/main" id="{80B7B5D9-9A7B-4842-9CD9-B98BD4C5E51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1AFE8EDF-E74A-433E-B76D-F30C24338CDD}"/>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データベースはすべて同じではなく、表形式で整合性を重視する RDBMS と、柔軟なデータ構造や分散を得意とする NoSQL を使い分けます。</a:t>
            </a:r>
          </a:p>
        </p:txBody>
      </p:sp>
      <p:sp>
        <p:nvSpPr>
          <p:cNvPr id="6" name="正方形/長方形 5">
            <a:extLst>
              <a:ext uri="{FF2B5EF4-FFF2-40B4-BE49-F238E27FC236}">
                <a16:creationId xmlns:a16="http://schemas.microsoft.com/office/drawing/2014/main" id="{EF0372E8-4C9D-4506-9C83-A99DA7F65A1F}"/>
              </a:ext>
            </a:extLst>
          </p:cNvPr>
          <p:cNvSpPr>
            <a:spLocks noGrp="1"/>
          </p:cNvSpPr>
          <p:nvPr/>
        </p:nvSpPr>
        <p:spPr>
          <a:xfrm>
            <a:off x="876300" y="2114550"/>
            <a:ext cx="3479800" cy="438150"/>
          </a:xfrm>
          <a:prstGeom prst="rect">
            <a:avLst/>
          </a:prstGeom>
          <a:solidFill>
            <a:srgbClr val="244A8F"/>
          </a:solidFill>
          <a:ln w="11430">
            <a:solidFill>
              <a:srgbClr val="FFFFFF"/>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11E9AA62-1FD7-4D01-88A1-1368BE269611}"/>
              </a:ext>
            </a:extLst>
          </p:cNvPr>
          <p:cNvSpPr>
            <a:spLocks noGrp="1"/>
          </p:cNvSpPr>
          <p:nvPr/>
        </p:nvSpPr>
        <p:spPr>
          <a:xfrm>
            <a:off x="9525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観点</a:t>
            </a:r>
          </a:p>
        </p:txBody>
      </p:sp>
      <p:sp>
        <p:nvSpPr>
          <p:cNvPr id="8" name="正方形/長方形 7">
            <a:extLst>
              <a:ext uri="{FF2B5EF4-FFF2-40B4-BE49-F238E27FC236}">
                <a16:creationId xmlns:a16="http://schemas.microsoft.com/office/drawing/2014/main" id="{34A109B7-DBD6-42D6-A110-49A0E3F6B440}"/>
              </a:ext>
            </a:extLst>
          </p:cNvPr>
          <p:cNvSpPr>
            <a:spLocks noGrp="1"/>
          </p:cNvSpPr>
          <p:nvPr/>
        </p:nvSpPr>
        <p:spPr>
          <a:xfrm>
            <a:off x="4356100" y="2114550"/>
            <a:ext cx="3479800" cy="438150"/>
          </a:xfrm>
          <a:prstGeom prst="rect">
            <a:avLst/>
          </a:prstGeom>
          <a:solidFill>
            <a:srgbClr val="244A8F"/>
          </a:solidFill>
          <a:ln w="11430">
            <a:solidFill>
              <a:srgbClr val="FFFFFF"/>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0894450F-4D4A-4236-BED0-B9B8F8549E88}"/>
              </a:ext>
            </a:extLst>
          </p:cNvPr>
          <p:cNvSpPr>
            <a:spLocks noGrp="1"/>
          </p:cNvSpPr>
          <p:nvPr/>
        </p:nvSpPr>
        <p:spPr>
          <a:xfrm>
            <a:off x="44323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RDBMS</a:t>
            </a:r>
          </a:p>
        </p:txBody>
      </p:sp>
      <p:sp>
        <p:nvSpPr>
          <p:cNvPr id="10" name="正方形/長方形 9">
            <a:extLst>
              <a:ext uri="{FF2B5EF4-FFF2-40B4-BE49-F238E27FC236}">
                <a16:creationId xmlns:a16="http://schemas.microsoft.com/office/drawing/2014/main" id="{EBB2432B-F476-4F6E-BCC2-C8BF52E3C271}"/>
              </a:ext>
            </a:extLst>
          </p:cNvPr>
          <p:cNvSpPr>
            <a:spLocks noGrp="1"/>
          </p:cNvSpPr>
          <p:nvPr/>
        </p:nvSpPr>
        <p:spPr>
          <a:xfrm>
            <a:off x="7835900" y="2114550"/>
            <a:ext cx="3479800" cy="438150"/>
          </a:xfrm>
          <a:prstGeom prst="rect">
            <a:avLst/>
          </a:prstGeom>
          <a:solidFill>
            <a:srgbClr val="244A8F"/>
          </a:solidFill>
          <a:ln w="11430">
            <a:solidFill>
              <a:srgbClr val="FFFFFF"/>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980F72E2-15C7-433F-BFC0-82A91B93214B}"/>
              </a:ext>
            </a:extLst>
          </p:cNvPr>
          <p:cNvSpPr>
            <a:spLocks noGrp="1"/>
          </p:cNvSpPr>
          <p:nvPr/>
        </p:nvSpPr>
        <p:spPr>
          <a:xfrm>
            <a:off x="7912100" y="2171700"/>
            <a:ext cx="3327400" cy="3238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00" b="1">
                <a:solidFill>
                  <a:srgbClr val="FFFFFF"/>
                </a:solidFill>
                <a:latin typeface="Yu Gothic UI"/>
                <a:ea typeface="Yu Gothic UI"/>
                <a:cs typeface="Yu Gothic UI"/>
              </a:defRPr>
            </a:pPr>
            <a:r>
              <a:rPr sz="900" b="1">
                <a:solidFill>
                  <a:srgbClr val="FFFFFF"/>
                </a:solidFill>
                <a:latin typeface="Yu Gothic UI"/>
                <a:ea typeface="Yu Gothic UI"/>
                <a:cs typeface="Yu Gothic UI"/>
              </a:rPr>
              <a:t>NoSQL</a:t>
            </a:r>
          </a:p>
        </p:txBody>
      </p:sp>
      <p:sp>
        <p:nvSpPr>
          <p:cNvPr id="12" name="正方形/長方形 11">
            <a:extLst>
              <a:ext uri="{FF2B5EF4-FFF2-40B4-BE49-F238E27FC236}">
                <a16:creationId xmlns:a16="http://schemas.microsoft.com/office/drawing/2014/main" id="{32E0E9AD-4760-454E-A173-14BC8D16AA42}"/>
              </a:ext>
            </a:extLst>
          </p:cNvPr>
          <p:cNvSpPr>
            <a:spLocks noGrp="1"/>
          </p:cNvSpPr>
          <p:nvPr/>
        </p:nvSpPr>
        <p:spPr>
          <a:xfrm>
            <a:off x="876300" y="2552700"/>
            <a:ext cx="3479800" cy="933450"/>
          </a:xfrm>
          <a:prstGeom prst="rect">
            <a:avLst/>
          </a:prstGeom>
          <a:solidFill>
            <a:srgbClr val="EAF1FB"/>
          </a:solidFill>
          <a:ln w="11430">
            <a:solidFill>
              <a:srgbClr val="FFFFFF"/>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F6F09DBB-F4C6-485D-9AEA-D6A82EFDECBE}"/>
              </a:ext>
            </a:extLst>
          </p:cNvPr>
          <p:cNvSpPr>
            <a:spLocks noGrp="1"/>
          </p:cNvSpPr>
          <p:nvPr/>
        </p:nvSpPr>
        <p:spPr>
          <a:xfrm>
            <a:off x="9525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データの形</a:t>
            </a:r>
          </a:p>
        </p:txBody>
      </p:sp>
      <p:sp>
        <p:nvSpPr>
          <p:cNvPr id="14" name="正方形/長方形 13">
            <a:extLst>
              <a:ext uri="{FF2B5EF4-FFF2-40B4-BE49-F238E27FC236}">
                <a16:creationId xmlns:a16="http://schemas.microsoft.com/office/drawing/2014/main" id="{E8462D23-3359-4C6F-8528-B73BD2038C26}"/>
              </a:ext>
            </a:extLst>
          </p:cNvPr>
          <p:cNvSpPr>
            <a:spLocks noGrp="1"/>
          </p:cNvSpPr>
          <p:nvPr/>
        </p:nvSpPr>
        <p:spPr>
          <a:xfrm>
            <a:off x="4356100" y="2552700"/>
            <a:ext cx="3479800" cy="933450"/>
          </a:xfrm>
          <a:prstGeom prst="rect">
            <a:avLst/>
          </a:prstGeom>
          <a:solidFill>
            <a:srgbClr val="FFFFFF"/>
          </a:solidFill>
          <a:ln w="11430">
            <a:solidFill>
              <a:srgbClr val="FFFFFF"/>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5E0701B4-D35F-41A3-A628-922002358794}"/>
              </a:ext>
            </a:extLst>
          </p:cNvPr>
          <p:cNvSpPr>
            <a:spLocks noGrp="1"/>
          </p:cNvSpPr>
          <p:nvPr/>
        </p:nvSpPr>
        <p:spPr>
          <a:xfrm>
            <a:off x="44323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表、行、列を中心に整理する。</a:t>
            </a:r>
          </a:p>
        </p:txBody>
      </p:sp>
      <p:sp>
        <p:nvSpPr>
          <p:cNvPr id="16" name="正方形/長方形 15">
            <a:extLst>
              <a:ext uri="{FF2B5EF4-FFF2-40B4-BE49-F238E27FC236}">
                <a16:creationId xmlns:a16="http://schemas.microsoft.com/office/drawing/2014/main" id="{7A026C8B-35E5-43D0-BB8B-2FF15939BE82}"/>
              </a:ext>
            </a:extLst>
          </p:cNvPr>
          <p:cNvSpPr>
            <a:spLocks noGrp="1"/>
          </p:cNvSpPr>
          <p:nvPr/>
        </p:nvSpPr>
        <p:spPr>
          <a:xfrm>
            <a:off x="7835900" y="2552700"/>
            <a:ext cx="3479800" cy="933450"/>
          </a:xfrm>
          <a:prstGeom prst="rect">
            <a:avLst/>
          </a:prstGeom>
          <a:solidFill>
            <a:srgbClr val="FFFFFF"/>
          </a:solidFill>
          <a:ln w="11430">
            <a:solidFill>
              <a:srgbClr val="FFFFFF"/>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6CCC2046-0497-4171-B444-261E39FC0DB3}"/>
              </a:ext>
            </a:extLst>
          </p:cNvPr>
          <p:cNvSpPr>
            <a:spLocks noGrp="1"/>
          </p:cNvSpPr>
          <p:nvPr/>
        </p:nvSpPr>
        <p:spPr>
          <a:xfrm>
            <a:off x="7912100" y="26098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ドキュメント、キー値、グラフなど多様。</a:t>
            </a:r>
          </a:p>
        </p:txBody>
      </p:sp>
      <p:sp>
        <p:nvSpPr>
          <p:cNvPr id="18" name="正方形/長方形 17">
            <a:extLst>
              <a:ext uri="{FF2B5EF4-FFF2-40B4-BE49-F238E27FC236}">
                <a16:creationId xmlns:a16="http://schemas.microsoft.com/office/drawing/2014/main" id="{5ADBDAF6-36E1-48C1-819B-5B8E7710AF67}"/>
              </a:ext>
            </a:extLst>
          </p:cNvPr>
          <p:cNvSpPr>
            <a:spLocks noGrp="1"/>
          </p:cNvSpPr>
          <p:nvPr/>
        </p:nvSpPr>
        <p:spPr>
          <a:xfrm>
            <a:off x="876300" y="3486150"/>
            <a:ext cx="3479800" cy="933450"/>
          </a:xfrm>
          <a:prstGeom prst="rect">
            <a:avLst/>
          </a:prstGeom>
          <a:solidFill>
            <a:srgbClr val="EAF1FB"/>
          </a:solidFill>
          <a:ln w="11430">
            <a:solidFill>
              <a:srgbClr val="FFFFFF"/>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970A716A-5530-41B1-9BA0-99434B75F317}"/>
              </a:ext>
            </a:extLst>
          </p:cNvPr>
          <p:cNvSpPr>
            <a:spLocks noGrp="1"/>
          </p:cNvSpPr>
          <p:nvPr/>
        </p:nvSpPr>
        <p:spPr>
          <a:xfrm>
            <a:off x="9525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得意なこと</a:t>
            </a:r>
          </a:p>
        </p:txBody>
      </p:sp>
      <p:sp>
        <p:nvSpPr>
          <p:cNvPr id="20" name="正方形/長方形 19">
            <a:extLst>
              <a:ext uri="{FF2B5EF4-FFF2-40B4-BE49-F238E27FC236}">
                <a16:creationId xmlns:a16="http://schemas.microsoft.com/office/drawing/2014/main" id="{F4A6B331-D22A-4AC6-8FD3-3ABECB57996A}"/>
              </a:ext>
            </a:extLst>
          </p:cNvPr>
          <p:cNvSpPr>
            <a:spLocks noGrp="1"/>
          </p:cNvSpPr>
          <p:nvPr/>
        </p:nvSpPr>
        <p:spPr>
          <a:xfrm>
            <a:off x="4356100" y="3486150"/>
            <a:ext cx="3479800" cy="933450"/>
          </a:xfrm>
          <a:prstGeom prst="rect">
            <a:avLst/>
          </a:prstGeom>
          <a:solidFill>
            <a:srgbClr val="FFFFFF"/>
          </a:solidFill>
          <a:ln w="11430">
            <a:solidFill>
              <a:srgbClr val="FFFFFF"/>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9D86317A-883C-4A65-8509-C03647C89C8D}"/>
              </a:ext>
            </a:extLst>
          </p:cNvPr>
          <p:cNvSpPr>
            <a:spLocks noGrp="1"/>
          </p:cNvSpPr>
          <p:nvPr/>
        </p:nvSpPr>
        <p:spPr>
          <a:xfrm>
            <a:off x="44323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整合性が重要な業務データを扱いやすい。</a:t>
            </a:r>
          </a:p>
        </p:txBody>
      </p:sp>
      <p:sp>
        <p:nvSpPr>
          <p:cNvPr id="22" name="正方形/長方形 21">
            <a:extLst>
              <a:ext uri="{FF2B5EF4-FFF2-40B4-BE49-F238E27FC236}">
                <a16:creationId xmlns:a16="http://schemas.microsoft.com/office/drawing/2014/main" id="{80C93175-3AED-4776-95CA-06DF913EA694}"/>
              </a:ext>
            </a:extLst>
          </p:cNvPr>
          <p:cNvSpPr>
            <a:spLocks noGrp="1"/>
          </p:cNvSpPr>
          <p:nvPr/>
        </p:nvSpPr>
        <p:spPr>
          <a:xfrm>
            <a:off x="7835900" y="3486150"/>
            <a:ext cx="3479800" cy="933450"/>
          </a:xfrm>
          <a:prstGeom prst="rect">
            <a:avLst/>
          </a:prstGeom>
          <a:solidFill>
            <a:srgbClr val="FFFFFF"/>
          </a:solidFill>
          <a:ln w="11430">
            <a:solidFill>
              <a:srgbClr val="FFFFFF"/>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60B57A7B-A6FE-4D19-8294-DE94386E5DB9}"/>
              </a:ext>
            </a:extLst>
          </p:cNvPr>
          <p:cNvSpPr>
            <a:spLocks noGrp="1"/>
          </p:cNvSpPr>
          <p:nvPr/>
        </p:nvSpPr>
        <p:spPr>
          <a:xfrm>
            <a:off x="7912100" y="354330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柔軟なデータ構造や大規模分散に向く。</a:t>
            </a:r>
          </a:p>
        </p:txBody>
      </p:sp>
      <p:sp>
        <p:nvSpPr>
          <p:cNvPr id="24" name="正方形/長方形 23">
            <a:extLst>
              <a:ext uri="{FF2B5EF4-FFF2-40B4-BE49-F238E27FC236}">
                <a16:creationId xmlns:a16="http://schemas.microsoft.com/office/drawing/2014/main" id="{A996D3E8-DE4E-45C1-BB6C-716BC7839575}"/>
              </a:ext>
            </a:extLst>
          </p:cNvPr>
          <p:cNvSpPr>
            <a:spLocks noGrp="1"/>
          </p:cNvSpPr>
          <p:nvPr/>
        </p:nvSpPr>
        <p:spPr>
          <a:xfrm>
            <a:off x="876300" y="4419600"/>
            <a:ext cx="3479800" cy="933450"/>
          </a:xfrm>
          <a:prstGeom prst="rect">
            <a:avLst/>
          </a:prstGeom>
          <a:solidFill>
            <a:srgbClr val="EAF1FB"/>
          </a:solidFill>
          <a:ln w="11430">
            <a:solidFill>
              <a:srgbClr val="FFFFFF"/>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2BF77AD7-A9E4-4EB5-B754-BF77C06A452A}"/>
              </a:ext>
            </a:extLst>
          </p:cNvPr>
          <p:cNvSpPr>
            <a:spLocks noGrp="1"/>
          </p:cNvSpPr>
          <p:nvPr/>
        </p:nvSpPr>
        <p:spPr>
          <a:xfrm>
            <a:off x="9525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1">
                <a:solidFill>
                  <a:srgbClr val="344054"/>
                </a:solidFill>
                <a:latin typeface="Yu Gothic UI"/>
                <a:ea typeface="Yu Gothic UI"/>
                <a:cs typeface="Yu Gothic UI"/>
              </a:defRPr>
            </a:pPr>
            <a:r>
              <a:rPr sz="810" b="1">
                <a:solidFill>
                  <a:srgbClr val="344054"/>
                </a:solidFill>
                <a:latin typeface="Yu Gothic UI"/>
                <a:ea typeface="Yu Gothic UI"/>
                <a:cs typeface="Yu Gothic UI"/>
              </a:rPr>
              <a:t>Azure の例</a:t>
            </a:r>
          </a:p>
        </p:txBody>
      </p:sp>
      <p:sp>
        <p:nvSpPr>
          <p:cNvPr id="26" name="正方形/長方形 25">
            <a:extLst>
              <a:ext uri="{FF2B5EF4-FFF2-40B4-BE49-F238E27FC236}">
                <a16:creationId xmlns:a16="http://schemas.microsoft.com/office/drawing/2014/main" id="{6DA5036B-07A4-4374-9BE0-4B470B788178}"/>
              </a:ext>
            </a:extLst>
          </p:cNvPr>
          <p:cNvSpPr>
            <a:spLocks noGrp="1"/>
          </p:cNvSpPr>
          <p:nvPr/>
        </p:nvSpPr>
        <p:spPr>
          <a:xfrm>
            <a:off x="4356100" y="4419600"/>
            <a:ext cx="3479800" cy="933450"/>
          </a:xfrm>
          <a:prstGeom prst="rect">
            <a:avLst/>
          </a:prstGeom>
          <a:solidFill>
            <a:srgbClr val="FFFFFF"/>
          </a:solidFill>
          <a:ln w="11430">
            <a:solidFill>
              <a:srgbClr val="FFFFFF"/>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F4050C5D-91E2-4F94-A3C7-E4A2530CBFB7}"/>
              </a:ext>
            </a:extLst>
          </p:cNvPr>
          <p:cNvSpPr>
            <a:spLocks noGrp="1"/>
          </p:cNvSpPr>
          <p:nvPr/>
        </p:nvSpPr>
        <p:spPr>
          <a:xfrm>
            <a:off x="44323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Azure SQL Database、Azure Database for PostgreSQL</a:t>
            </a:r>
          </a:p>
        </p:txBody>
      </p:sp>
      <p:sp>
        <p:nvSpPr>
          <p:cNvPr id="28" name="正方形/長方形 27">
            <a:extLst>
              <a:ext uri="{FF2B5EF4-FFF2-40B4-BE49-F238E27FC236}">
                <a16:creationId xmlns:a16="http://schemas.microsoft.com/office/drawing/2014/main" id="{4FC33EE4-FE35-4DB7-9191-5B5A4F94E322}"/>
              </a:ext>
            </a:extLst>
          </p:cNvPr>
          <p:cNvSpPr>
            <a:spLocks noGrp="1"/>
          </p:cNvSpPr>
          <p:nvPr/>
        </p:nvSpPr>
        <p:spPr>
          <a:xfrm>
            <a:off x="7835900" y="4419600"/>
            <a:ext cx="3479800" cy="933450"/>
          </a:xfrm>
          <a:prstGeom prst="rect">
            <a:avLst/>
          </a:prstGeom>
          <a:solidFill>
            <a:srgbClr val="FFFFFF"/>
          </a:solidFill>
          <a:ln w="11430">
            <a:solidFill>
              <a:srgbClr val="FFFFFF"/>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8EF65143-FD12-41A8-8189-12CB769595A3}"/>
              </a:ext>
            </a:extLst>
          </p:cNvPr>
          <p:cNvSpPr>
            <a:spLocks noGrp="1"/>
          </p:cNvSpPr>
          <p:nvPr/>
        </p:nvSpPr>
        <p:spPr>
          <a:xfrm>
            <a:off x="7912100" y="4476750"/>
            <a:ext cx="3327400" cy="81915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10" b="0">
                <a:solidFill>
                  <a:srgbClr val="344054"/>
                </a:solidFill>
                <a:latin typeface="Yu Gothic UI"/>
                <a:ea typeface="Yu Gothic UI"/>
                <a:cs typeface="Yu Gothic UI"/>
              </a:defRPr>
            </a:pPr>
            <a:r>
              <a:rPr sz="810" b="0">
                <a:solidFill>
                  <a:srgbClr val="344054"/>
                </a:solidFill>
                <a:latin typeface="Yu Gothic UI"/>
                <a:ea typeface="Yu Gothic UI"/>
                <a:cs typeface="Yu Gothic UI"/>
              </a:rPr>
              <a:t>Azure Cosmos DB</a:t>
            </a:r>
          </a:p>
        </p:txBody>
      </p:sp>
      <p:sp>
        <p:nvSpPr>
          <p:cNvPr id="30" name="正方形/長方形 29">
            <a:extLst>
              <a:ext uri="{FF2B5EF4-FFF2-40B4-BE49-F238E27FC236}">
                <a16:creationId xmlns:a16="http://schemas.microsoft.com/office/drawing/2014/main" id="{445ACB9C-BD3B-45DA-AE23-AB9403C8B5C9}"/>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30 / 32</a:t>
            </a:r>
          </a:p>
        </p:txBody>
      </p:sp>
    </p:spTree>
    <p:extLst>
      <p:ext uri="{BB962C8B-B14F-4D97-AF65-F5344CB8AC3E}">
        <p14:creationId xmlns:p14="http://schemas.microsoft.com/office/powerpoint/2010/main" val="1186077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D751B8C-448B-45D4-AFB5-E03528F7D9CB}"/>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今日のまとめ</a:t>
            </a:r>
          </a:p>
        </p:txBody>
      </p:sp>
      <p:sp>
        <p:nvSpPr>
          <p:cNvPr id="2" name="正方形/長方形 1">
            <a:extLst>
              <a:ext uri="{FF2B5EF4-FFF2-40B4-BE49-F238E27FC236}">
                <a16:creationId xmlns:a16="http://schemas.microsoft.com/office/drawing/2014/main" id="{8AE2558B-CD62-4E3D-8A8B-36C6FF1C2338}"/>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4F76D0B9-D983-4685-ACA9-DCCF6897C483}"/>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31</a:t>
            </a:r>
          </a:p>
        </p:txBody>
      </p:sp>
      <p:sp>
        <p:nvSpPr>
          <p:cNvPr id="4" name="正方形/長方形 3">
            <a:extLst>
              <a:ext uri="{FF2B5EF4-FFF2-40B4-BE49-F238E27FC236}">
                <a16:creationId xmlns:a16="http://schemas.microsoft.com/office/drawing/2014/main" id="{A5AA9535-F975-4C09-890D-14417198EAD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2F3E23DF-8F02-4130-A207-F3BE8EDB648A}"/>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Web 3層は Azure リソースを理解するための地図であり、次回以降はこの地図の一部を実際の Portal 操作で作って確認します。</a:t>
            </a:r>
          </a:p>
        </p:txBody>
      </p:sp>
      <p:sp>
        <p:nvSpPr>
          <p:cNvPr id="6" name="正方形/長方形 5">
            <a:extLst>
              <a:ext uri="{FF2B5EF4-FFF2-40B4-BE49-F238E27FC236}">
                <a16:creationId xmlns:a16="http://schemas.microsoft.com/office/drawing/2014/main" id="{4B75555B-2355-4945-8303-BB670502E9E4}"/>
              </a:ext>
            </a:extLst>
          </p:cNvPr>
          <p:cNvSpPr>
            <a:spLocks noGrp="1"/>
          </p:cNvSpPr>
          <p:nvPr/>
        </p:nvSpPr>
        <p:spPr>
          <a:xfrm>
            <a:off x="685800" y="2038350"/>
            <a:ext cx="10820400" cy="3857625"/>
          </a:xfrm>
          <a:prstGeom prst="rect">
            <a:avLst/>
          </a:prstGeom>
          <a:solidFill>
            <a:srgbClr val="FFFFFF"/>
          </a:solidFill>
          <a:ln w="9525">
            <a:solidFill>
              <a:srgbClr val="D0D5DD"/>
            </a:solidFill>
            <a:prstDash val="solid"/>
          </a:ln>
        </p:spPr>
        <p:txBody>
          <a:bodyPr/>
          <a:lstStyle/>
          <a:p>
            <a:endParaRPr lang="ja-JP" altLang="en-US"/>
          </a:p>
        </p:txBody>
      </p:sp>
      <p:pic>
        <p:nvPicPr>
          <p:cNvPr id="7" name="図 6"/>
          <p:cNvPicPr>
            <a:picLocks noChangeAspect="1"/>
          </p:cNvPicPr>
          <p:nvPr/>
        </p:nvPicPr>
        <p:blipFill>
          <a:blip r:embed="rId3"/>
          <a:stretch/>
        </p:blipFill>
        <p:spPr>
          <a:xfrm>
            <a:off x="857250" y="2190750"/>
            <a:ext cx="10477500" cy="3552825"/>
          </a:xfrm>
          <a:prstGeom prst="rect">
            <a:avLst/>
          </a:prstGeom>
        </p:spPr>
      </p:pic>
      <p:sp>
        <p:nvSpPr>
          <p:cNvPr id="8" name="正方形/長方形 7">
            <a:extLst>
              <a:ext uri="{FF2B5EF4-FFF2-40B4-BE49-F238E27FC236}">
                <a16:creationId xmlns:a16="http://schemas.microsoft.com/office/drawing/2014/main" id="{4EB11EF8-5729-4D00-9E7F-DF2834EE94B8}"/>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31 / 32</a:t>
            </a:r>
          </a:p>
        </p:txBody>
      </p:sp>
    </p:spTree>
    <p:extLst>
      <p:ext uri="{BB962C8B-B14F-4D97-AF65-F5344CB8AC3E}">
        <p14:creationId xmlns:p14="http://schemas.microsoft.com/office/powerpoint/2010/main" val="1186077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7BCEC748-6948-40A0-99D1-0564939E5103}"/>
              </a:ext>
            </a:extLst>
          </p:cNvPr>
          <p:cNvSpPr>
            <a:spLocks noGrp="1"/>
          </p:cNvSpPr>
          <p:nvPr/>
        </p:nvSpPr>
        <p:spPr>
          <a:xfrm>
            <a:off x="685800" y="400050"/>
            <a:ext cx="7810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自分の言葉で説明する</a:t>
            </a:r>
          </a:p>
        </p:txBody>
      </p:sp>
      <p:sp>
        <p:nvSpPr>
          <p:cNvPr id="2" name="正方形/長方形 1">
            <a:extLst>
              <a:ext uri="{FF2B5EF4-FFF2-40B4-BE49-F238E27FC236}">
                <a16:creationId xmlns:a16="http://schemas.microsoft.com/office/drawing/2014/main" id="{5EFE2D84-3A1E-4A1A-A1F8-5C56B58D343D}"/>
              </a:ext>
            </a:extLst>
          </p:cNvPr>
          <p:cNvSpPr>
            <a:spLocks noGrp="1"/>
          </p:cNvSpPr>
          <p:nvPr/>
        </p:nvSpPr>
        <p:spPr>
          <a:xfrm>
            <a:off x="685800" y="8763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第2回</a:t>
            </a:r>
          </a:p>
        </p:txBody>
      </p:sp>
      <p:sp>
        <p:nvSpPr>
          <p:cNvPr id="3" name="正方形/長方形 2">
            <a:extLst>
              <a:ext uri="{FF2B5EF4-FFF2-40B4-BE49-F238E27FC236}">
                <a16:creationId xmlns:a16="http://schemas.microsoft.com/office/drawing/2014/main" id="{86D5202E-2F2E-44A8-BB0D-14B5784208F1}"/>
              </a:ext>
            </a:extLst>
          </p:cNvPr>
          <p:cNvSpPr>
            <a:spLocks noGrp="1"/>
          </p:cNvSpPr>
          <p:nvPr/>
        </p:nvSpPr>
        <p:spPr>
          <a:xfrm>
            <a:off x="11010900" y="457200"/>
            <a:ext cx="476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32</a:t>
            </a:r>
          </a:p>
        </p:txBody>
      </p:sp>
      <p:sp>
        <p:nvSpPr>
          <p:cNvPr id="4" name="正方形/長方形 3">
            <a:extLst>
              <a:ext uri="{FF2B5EF4-FFF2-40B4-BE49-F238E27FC236}">
                <a16:creationId xmlns:a16="http://schemas.microsoft.com/office/drawing/2014/main" id="{F6AF6C24-3894-4E35-B7EE-8BAD5016142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1E9E62C-5048-48E4-A3FB-B5889780B68C}"/>
              </a:ext>
            </a:extLst>
          </p:cNvPr>
          <p:cNvSpPr>
            <a:spLocks noGrp="1"/>
          </p:cNvSpPr>
          <p:nvPr/>
        </p:nvSpPr>
        <p:spPr>
          <a:xfrm>
            <a:off x="685800" y="1352550"/>
            <a:ext cx="10820400" cy="457200"/>
          </a:xfrm>
          <a:prstGeom prst="rect">
            <a:avLst/>
          </a:prstGeom>
          <a:solidFill>
            <a:srgbClr val="000000">
              <a:alpha val="0"/>
            </a:srgbClr>
          </a:solidFill>
          <a:ln w="0">
            <a:solidFill>
              <a:srgbClr val="000000">
                <a:alpha val="0"/>
              </a:srgbClr>
            </a:solidFill>
            <a:prstDash val="solid"/>
          </a:ln>
        </p:spPr>
        <p:txBody>
          <a:bodyPr lIns="0" tIns="19050" rIns="0" bIns="0" anchor="t"/>
          <a:lstStyle/>
          <a:p>
            <a:pPr algn="l">
              <a:defRPr sz="1200" b="0">
                <a:solidFill>
                  <a:srgbClr val="344054"/>
                </a:solidFill>
                <a:latin typeface="Yu Gothic UI"/>
                <a:ea typeface="Yu Gothic UI"/>
                <a:cs typeface="Yu Gothic UI"/>
              </a:defRPr>
            </a:pPr>
            <a:r>
              <a:rPr sz="1200" b="0">
                <a:solidFill>
                  <a:srgbClr val="344054"/>
                </a:solidFill>
                <a:latin typeface="Yu Gothic UI"/>
                <a:ea typeface="Yu Gothic UI"/>
                <a:cs typeface="Yu Gothic UI"/>
              </a:rPr>
              <a:t>クイズでは、入口となる層、3台必須ではないこと、Todo を保存する層を確認し、自分の言葉で第3回へつながる説明にします。</a:t>
            </a:r>
          </a:p>
        </p:txBody>
      </p:sp>
      <p:sp>
        <p:nvSpPr>
          <p:cNvPr id="6" name="正方形/長方形 5">
            <a:extLst>
              <a:ext uri="{FF2B5EF4-FFF2-40B4-BE49-F238E27FC236}">
                <a16:creationId xmlns:a16="http://schemas.microsoft.com/office/drawing/2014/main" id="{D4F42118-DB52-4C9B-84F7-A4503C17252D}"/>
              </a:ext>
            </a:extLst>
          </p:cNvPr>
          <p:cNvSpPr>
            <a:spLocks noGrp="1"/>
          </p:cNvSpPr>
          <p:nvPr/>
        </p:nvSpPr>
        <p:spPr>
          <a:xfrm>
            <a:off x="685800" y="2457450"/>
            <a:ext cx="3162300" cy="2190750"/>
          </a:xfrm>
          <a:prstGeom prst="rect">
            <a:avLst/>
          </a:prstGeom>
          <a:solidFill>
            <a:srgbClr val="FFFFFF"/>
          </a:solidFill>
          <a:ln w="9525">
            <a:solidFill>
              <a:srgbClr val="D0D5DD"/>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BBB33100-776A-4635-BD1D-C1DC931434E6}"/>
              </a:ext>
            </a:extLst>
          </p:cNvPr>
          <p:cNvSpPr>
            <a:spLocks noGrp="1"/>
          </p:cNvSpPr>
          <p:nvPr/>
        </p:nvSpPr>
        <p:spPr>
          <a:xfrm>
            <a:off x="685800" y="2457450"/>
            <a:ext cx="76200" cy="2190750"/>
          </a:xfrm>
          <a:prstGeom prst="rect">
            <a:avLst/>
          </a:prstGeom>
          <a:solidFill>
            <a:srgbClr val="0F766E"/>
          </a:solidFill>
          <a:ln w="0">
            <a:solidFill>
              <a:srgbClr val="0F766E"/>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6CB84270-5227-4C19-92F3-929BE234DA0D}"/>
              </a:ext>
            </a:extLst>
          </p:cNvPr>
          <p:cNvSpPr>
            <a:spLocks noGrp="1"/>
          </p:cNvSpPr>
          <p:nvPr/>
        </p:nvSpPr>
        <p:spPr>
          <a:xfrm>
            <a:off x="914400" y="26479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F766E"/>
                </a:solidFill>
                <a:latin typeface="Yu Gothic UI"/>
                <a:ea typeface="Yu Gothic UI"/>
                <a:cs typeface="Yu Gothic UI"/>
              </a:defRPr>
            </a:pPr>
            <a:r>
              <a:rPr sz="750" b="1">
                <a:solidFill>
                  <a:srgbClr val="0F766E"/>
                </a:solidFill>
                <a:latin typeface="Yu Gothic UI"/>
                <a:ea typeface="Yu Gothic UI"/>
                <a:cs typeface="Yu Gothic UI"/>
              </a:rPr>
              <a:t>問1</a:t>
            </a:r>
          </a:p>
        </p:txBody>
      </p:sp>
      <p:sp>
        <p:nvSpPr>
          <p:cNvPr id="9" name="正方形/長方形 8">
            <a:extLst>
              <a:ext uri="{FF2B5EF4-FFF2-40B4-BE49-F238E27FC236}">
                <a16:creationId xmlns:a16="http://schemas.microsoft.com/office/drawing/2014/main" id="{8F1D6202-1E19-4A34-8C7C-DB7B11574DEE}"/>
              </a:ext>
            </a:extLst>
          </p:cNvPr>
          <p:cNvSpPr>
            <a:spLocks noGrp="1"/>
          </p:cNvSpPr>
          <p:nvPr/>
        </p:nvSpPr>
        <p:spPr>
          <a:xfrm>
            <a:off x="914400" y="2971800"/>
            <a:ext cx="266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7"/>
                </a:solidFill>
                <a:latin typeface="Meiryo UI"/>
                <a:ea typeface="Meiryo UI"/>
                <a:cs typeface="Meiryo UI"/>
              </a:defRPr>
            </a:pPr>
            <a:r>
              <a:rPr sz="1050" b="1">
                <a:solidFill>
                  <a:srgbClr val="1F2937"/>
                </a:solidFill>
                <a:latin typeface="Meiryo UI"/>
                <a:ea typeface="Meiryo UI"/>
                <a:cs typeface="Meiryo UI"/>
              </a:rPr>
              <a:t>利用者からのリクエストを最初に受ける入口に相当する層はどれですか。</a:t>
            </a:r>
          </a:p>
        </p:txBody>
      </p:sp>
      <p:sp>
        <p:nvSpPr>
          <p:cNvPr id="10" name="正方形/長方形 9">
            <a:extLst>
              <a:ext uri="{FF2B5EF4-FFF2-40B4-BE49-F238E27FC236}">
                <a16:creationId xmlns:a16="http://schemas.microsoft.com/office/drawing/2014/main" id="{E3C86660-99A6-4137-9086-45AFC6A76230}"/>
              </a:ext>
            </a:extLst>
          </p:cNvPr>
          <p:cNvSpPr>
            <a:spLocks noGrp="1"/>
          </p:cNvSpPr>
          <p:nvPr/>
        </p:nvSpPr>
        <p:spPr>
          <a:xfrm>
            <a:off x="914400" y="398145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766E"/>
                </a:solidFill>
                <a:latin typeface="Yu Gothic UI"/>
                <a:ea typeface="Yu Gothic UI"/>
                <a:cs typeface="Yu Gothic UI"/>
              </a:defRPr>
            </a:pPr>
            <a:r>
              <a:rPr sz="900" b="1">
                <a:solidFill>
                  <a:srgbClr val="0F766E"/>
                </a:solidFill>
                <a:latin typeface="Yu Gothic UI"/>
                <a:ea typeface="Yu Gothic UI"/>
                <a:cs typeface="Yu Gothic UI"/>
              </a:rPr>
              <a:t>正解: Web 層</a:t>
            </a:r>
          </a:p>
        </p:txBody>
      </p:sp>
      <p:sp>
        <p:nvSpPr>
          <p:cNvPr id="11" name="正方形/長方形 10">
            <a:extLst>
              <a:ext uri="{FF2B5EF4-FFF2-40B4-BE49-F238E27FC236}">
                <a16:creationId xmlns:a16="http://schemas.microsoft.com/office/drawing/2014/main" id="{810BD8F2-CC10-4558-BAED-CF5165DF40B8}"/>
              </a:ext>
            </a:extLst>
          </p:cNvPr>
          <p:cNvSpPr>
            <a:spLocks noGrp="1"/>
          </p:cNvSpPr>
          <p:nvPr/>
        </p:nvSpPr>
        <p:spPr>
          <a:xfrm>
            <a:off x="4305300" y="2457450"/>
            <a:ext cx="3162300" cy="2190750"/>
          </a:xfrm>
          <a:prstGeom prst="rect">
            <a:avLst/>
          </a:prstGeom>
          <a:solidFill>
            <a:srgbClr val="FFFFFF"/>
          </a:solidFill>
          <a:ln w="9525">
            <a:solidFill>
              <a:srgbClr val="D0D5DD"/>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84A4DD8D-E6B1-4858-A6A0-34ECA06BEC79}"/>
              </a:ext>
            </a:extLst>
          </p:cNvPr>
          <p:cNvSpPr>
            <a:spLocks noGrp="1"/>
          </p:cNvSpPr>
          <p:nvPr/>
        </p:nvSpPr>
        <p:spPr>
          <a:xfrm>
            <a:off x="4305300" y="2457450"/>
            <a:ext cx="76200" cy="2190750"/>
          </a:xfrm>
          <a:prstGeom prst="rect">
            <a:avLst/>
          </a:prstGeom>
          <a:solidFill>
            <a:srgbClr val="70AD47"/>
          </a:solidFill>
          <a:ln w="0">
            <a:solidFill>
              <a:srgbClr val="70AD47"/>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CB558604-DAE3-4592-A703-984975528FBE}"/>
              </a:ext>
            </a:extLst>
          </p:cNvPr>
          <p:cNvSpPr>
            <a:spLocks noGrp="1"/>
          </p:cNvSpPr>
          <p:nvPr/>
        </p:nvSpPr>
        <p:spPr>
          <a:xfrm>
            <a:off x="4533900" y="26479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70AD47"/>
                </a:solidFill>
                <a:latin typeface="Yu Gothic UI"/>
                <a:ea typeface="Yu Gothic UI"/>
                <a:cs typeface="Yu Gothic UI"/>
              </a:defRPr>
            </a:pPr>
            <a:r>
              <a:rPr sz="750" b="1">
                <a:solidFill>
                  <a:srgbClr val="70AD47"/>
                </a:solidFill>
                <a:latin typeface="Yu Gothic UI"/>
                <a:ea typeface="Yu Gothic UI"/>
                <a:cs typeface="Yu Gothic UI"/>
              </a:rPr>
              <a:t>問2</a:t>
            </a:r>
          </a:p>
        </p:txBody>
      </p:sp>
      <p:sp>
        <p:nvSpPr>
          <p:cNvPr id="14" name="正方形/長方形 13">
            <a:extLst>
              <a:ext uri="{FF2B5EF4-FFF2-40B4-BE49-F238E27FC236}">
                <a16:creationId xmlns:a16="http://schemas.microsoft.com/office/drawing/2014/main" id="{70B3D2DE-4ABD-4BC4-8042-FC9F61A64EC6}"/>
              </a:ext>
            </a:extLst>
          </p:cNvPr>
          <p:cNvSpPr>
            <a:spLocks noGrp="1"/>
          </p:cNvSpPr>
          <p:nvPr/>
        </p:nvSpPr>
        <p:spPr>
          <a:xfrm>
            <a:off x="4533900" y="2971800"/>
            <a:ext cx="266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7"/>
                </a:solidFill>
                <a:latin typeface="Meiryo UI"/>
                <a:ea typeface="Meiryo UI"/>
                <a:cs typeface="Meiryo UI"/>
              </a:defRPr>
            </a:pPr>
            <a:r>
              <a:rPr sz="1050" b="1">
                <a:solidFill>
                  <a:srgbClr val="1F2937"/>
                </a:solidFill>
                <a:latin typeface="Meiryo UI"/>
                <a:ea typeface="Meiryo UI"/>
                <a:cs typeface="Meiryo UI"/>
              </a:rPr>
              <a:t>Web 3層アーキテクチャは、必ず3台のサーバで構成しなければならない。正しいですか。</a:t>
            </a:r>
          </a:p>
        </p:txBody>
      </p:sp>
      <p:sp>
        <p:nvSpPr>
          <p:cNvPr id="15" name="正方形/長方形 14">
            <a:extLst>
              <a:ext uri="{FF2B5EF4-FFF2-40B4-BE49-F238E27FC236}">
                <a16:creationId xmlns:a16="http://schemas.microsoft.com/office/drawing/2014/main" id="{342AA78A-7A37-4A6D-94C1-4D338F0085EA}"/>
              </a:ext>
            </a:extLst>
          </p:cNvPr>
          <p:cNvSpPr>
            <a:spLocks noGrp="1"/>
          </p:cNvSpPr>
          <p:nvPr/>
        </p:nvSpPr>
        <p:spPr>
          <a:xfrm>
            <a:off x="4533900" y="398145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70AD47"/>
                </a:solidFill>
                <a:latin typeface="Yu Gothic UI"/>
                <a:ea typeface="Yu Gothic UI"/>
                <a:cs typeface="Yu Gothic UI"/>
              </a:defRPr>
            </a:pPr>
            <a:r>
              <a:rPr sz="900" b="1">
                <a:solidFill>
                  <a:srgbClr val="70AD47"/>
                </a:solidFill>
                <a:latin typeface="Yu Gothic UI"/>
                <a:ea typeface="Yu Gothic UI"/>
                <a:cs typeface="Yu Gothic UI"/>
              </a:rPr>
              <a:t>正解: 正しくない</a:t>
            </a:r>
          </a:p>
        </p:txBody>
      </p:sp>
      <p:sp>
        <p:nvSpPr>
          <p:cNvPr id="16" name="正方形/長方形 15">
            <a:extLst>
              <a:ext uri="{FF2B5EF4-FFF2-40B4-BE49-F238E27FC236}">
                <a16:creationId xmlns:a16="http://schemas.microsoft.com/office/drawing/2014/main" id="{DBDF26AB-0C74-4125-82CD-BA4321FBEFFA}"/>
              </a:ext>
            </a:extLst>
          </p:cNvPr>
          <p:cNvSpPr>
            <a:spLocks noGrp="1"/>
          </p:cNvSpPr>
          <p:nvPr/>
        </p:nvSpPr>
        <p:spPr>
          <a:xfrm>
            <a:off x="7924800" y="2457450"/>
            <a:ext cx="3162300" cy="2190750"/>
          </a:xfrm>
          <a:prstGeom prst="rect">
            <a:avLst/>
          </a:prstGeom>
          <a:solidFill>
            <a:srgbClr val="FFFFFF"/>
          </a:solidFill>
          <a:ln w="9525">
            <a:solidFill>
              <a:srgbClr val="D0D5DD"/>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8ABEF9BE-4127-42F0-8945-98513F7A46A8}"/>
              </a:ext>
            </a:extLst>
          </p:cNvPr>
          <p:cNvSpPr>
            <a:spLocks noGrp="1"/>
          </p:cNvSpPr>
          <p:nvPr/>
        </p:nvSpPr>
        <p:spPr>
          <a:xfrm>
            <a:off x="7924800" y="2457450"/>
            <a:ext cx="76200" cy="2190750"/>
          </a:xfrm>
          <a:prstGeom prst="rect">
            <a:avLst/>
          </a:prstGeom>
          <a:solidFill>
            <a:srgbClr val="ED7D31"/>
          </a:solidFill>
          <a:ln w="0">
            <a:solidFill>
              <a:srgbClr val="ED7D31"/>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4B46C67E-68AE-4572-B937-D4379EFC8020}"/>
              </a:ext>
            </a:extLst>
          </p:cNvPr>
          <p:cNvSpPr>
            <a:spLocks noGrp="1"/>
          </p:cNvSpPr>
          <p:nvPr/>
        </p:nvSpPr>
        <p:spPr>
          <a:xfrm>
            <a:off x="8153400" y="2647950"/>
            <a:ext cx="76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D7D31"/>
                </a:solidFill>
                <a:latin typeface="Yu Gothic UI"/>
                <a:ea typeface="Yu Gothic UI"/>
                <a:cs typeface="Yu Gothic UI"/>
              </a:defRPr>
            </a:pPr>
            <a:r>
              <a:rPr sz="750" b="1">
                <a:solidFill>
                  <a:srgbClr val="ED7D31"/>
                </a:solidFill>
                <a:latin typeface="Yu Gothic UI"/>
                <a:ea typeface="Yu Gothic UI"/>
                <a:cs typeface="Yu Gothic UI"/>
              </a:rPr>
              <a:t>問3</a:t>
            </a:r>
          </a:p>
        </p:txBody>
      </p:sp>
      <p:sp>
        <p:nvSpPr>
          <p:cNvPr id="19" name="正方形/長方形 18">
            <a:extLst>
              <a:ext uri="{FF2B5EF4-FFF2-40B4-BE49-F238E27FC236}">
                <a16:creationId xmlns:a16="http://schemas.microsoft.com/office/drawing/2014/main" id="{12FB7B14-CB7F-430D-8697-DAB28DF2BAC0}"/>
              </a:ext>
            </a:extLst>
          </p:cNvPr>
          <p:cNvSpPr>
            <a:spLocks noGrp="1"/>
          </p:cNvSpPr>
          <p:nvPr/>
        </p:nvSpPr>
        <p:spPr>
          <a:xfrm>
            <a:off x="8153400" y="2971800"/>
            <a:ext cx="2667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F2937"/>
                </a:solidFill>
                <a:latin typeface="Meiryo UI"/>
                <a:ea typeface="Meiryo UI"/>
                <a:cs typeface="Meiryo UI"/>
              </a:defRPr>
            </a:pPr>
            <a:r>
              <a:rPr sz="1050" b="1">
                <a:solidFill>
                  <a:srgbClr val="1F2937"/>
                </a:solidFill>
                <a:latin typeface="Meiryo UI"/>
                <a:ea typeface="Meiryo UI"/>
                <a:cs typeface="Meiryo UI"/>
              </a:rPr>
              <a:t>Todo アプリで「Todo を保存する」役割にもっとも近い層はどれですか。</a:t>
            </a:r>
          </a:p>
        </p:txBody>
      </p:sp>
      <p:sp>
        <p:nvSpPr>
          <p:cNvPr id="20" name="正方形/長方形 19">
            <a:extLst>
              <a:ext uri="{FF2B5EF4-FFF2-40B4-BE49-F238E27FC236}">
                <a16:creationId xmlns:a16="http://schemas.microsoft.com/office/drawing/2014/main" id="{2F2BBE84-B62E-4055-83F7-E2373D71B5A9}"/>
              </a:ext>
            </a:extLst>
          </p:cNvPr>
          <p:cNvSpPr>
            <a:spLocks noGrp="1"/>
          </p:cNvSpPr>
          <p:nvPr/>
        </p:nvSpPr>
        <p:spPr>
          <a:xfrm>
            <a:off x="8153400" y="398145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D7D31"/>
                </a:solidFill>
                <a:latin typeface="Yu Gothic UI"/>
                <a:ea typeface="Yu Gothic UI"/>
                <a:cs typeface="Yu Gothic UI"/>
              </a:defRPr>
            </a:pPr>
            <a:r>
              <a:rPr sz="900" b="1">
                <a:solidFill>
                  <a:srgbClr val="ED7D31"/>
                </a:solidFill>
                <a:latin typeface="Yu Gothic UI"/>
                <a:ea typeface="Yu Gothic UI"/>
                <a:cs typeface="Yu Gothic UI"/>
              </a:rPr>
              <a:t>正解: DB 層</a:t>
            </a:r>
          </a:p>
        </p:txBody>
      </p:sp>
      <p:sp>
        <p:nvSpPr>
          <p:cNvPr id="21" name="正方形/長方形 20">
            <a:extLst>
              <a:ext uri="{FF2B5EF4-FFF2-40B4-BE49-F238E27FC236}">
                <a16:creationId xmlns:a16="http://schemas.microsoft.com/office/drawing/2014/main" id="{D87B4443-8733-45A2-9918-A6235277BD62}"/>
              </a:ext>
            </a:extLst>
          </p:cNvPr>
          <p:cNvSpPr>
            <a:spLocks noGrp="1"/>
          </p:cNvSpPr>
          <p:nvPr/>
        </p:nvSpPr>
        <p:spPr>
          <a:xfrm>
            <a:off x="1238250" y="5095875"/>
            <a:ext cx="9715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244A8F"/>
                </a:solidFill>
                <a:latin typeface="Yu Gothic UI"/>
                <a:ea typeface="Yu Gothic UI"/>
                <a:cs typeface="Yu Gothic UI"/>
              </a:defRPr>
            </a:pPr>
            <a:r>
              <a:rPr sz="1200" b="1">
                <a:solidFill>
                  <a:srgbClr val="244A8F"/>
                </a:solidFill>
                <a:latin typeface="Yu Gothic UI"/>
                <a:ea typeface="Yu Gothic UI"/>
                <a:cs typeface="Yu Gothic UI"/>
              </a:rPr>
              <a:t>第3回に進む前に、Web 3層を“サーバ台数”ではなく“役割”として説明できるかを確認します。</a:t>
            </a:r>
          </a:p>
        </p:txBody>
      </p:sp>
      <p:sp>
        <p:nvSpPr>
          <p:cNvPr id="22" name="正方形/長方形 21">
            <a:extLst>
              <a:ext uri="{FF2B5EF4-FFF2-40B4-BE49-F238E27FC236}">
                <a16:creationId xmlns:a16="http://schemas.microsoft.com/office/drawing/2014/main" id="{38951FEA-57EA-45AE-B7F5-890A4BACBCF0}"/>
              </a:ext>
            </a:extLst>
          </p:cNvPr>
          <p:cNvSpPr>
            <a:spLocks noGrp="1"/>
          </p:cNvSpPr>
          <p:nvPr/>
        </p:nvSpPr>
        <p:spPr>
          <a:xfrm>
            <a:off x="10744200" y="6362700"/>
            <a:ext cx="762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32 / 32</a:t>
            </a:r>
          </a:p>
        </p:txBody>
      </p:sp>
    </p:spTree>
    <p:extLst>
      <p:ext uri="{BB962C8B-B14F-4D97-AF65-F5344CB8AC3E}">
        <p14:creationId xmlns:p14="http://schemas.microsoft.com/office/powerpoint/2010/main" val="118607714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spDef>
      <a:spPr>
        <a:noFill/>
        <a:ln w="15875">
          <a:solidFill>
            <a:schemeClr val="bg2">
              <a:lumMod val="75000"/>
            </a:schemeClr>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kumimoji="1" smtClean="0">
            <a:solidFill>
              <a:schemeClr val="tx1">
                <a:lumMod val="75000"/>
                <a:lumOff val="25000"/>
              </a:schemeClr>
            </a:solidFill>
            <a:latin typeface="Yu Gothic UI" panose="020B0500000000000000" pitchFamily="34" charset="-128"/>
            <a:ea typeface="Yu Gothic UI" panose="020B0500000000000000" pitchFamily="34" charset="-128"/>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108</TotalTime>
  <Words>2501</Words>
  <Application>Microsoft Macintosh PowerPoint</Application>
  <DocSecurity>0</DocSecurity>
  <PresentationFormat>ワイド画面</PresentationFormat>
  <Paragraphs>395</Paragraphs>
  <Slides>31</Slides>
  <Notes>31</Notes>
  <HiddenSlides>2</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31</vt:i4>
      </vt:variant>
    </vt:vector>
  </HeadingPairs>
  <TitlesOfParts>
    <vt:vector size="36" baseType="lpstr">
      <vt:lpstr>Meiryo UI</vt:lpstr>
      <vt:lpstr>Yu Gothic UI</vt:lpstr>
      <vt:lpstr>游ゴシック</vt:lpstr>
      <vt:lpstr>Arial</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Hironari Yamada</cp:lastModifiedBy>
  <cp:revision>3</cp:revision>
  <dcterms:created xsi:type="dcterms:W3CDTF">2026-05-27T01:01:29Z</dcterms:created>
  <dcterms:modified xsi:type="dcterms:W3CDTF">2026-05-28T06:47:06Z</dcterms:modified>
</cp:coreProperties>
</file>