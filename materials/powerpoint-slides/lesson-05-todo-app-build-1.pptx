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306" r:id="rId7"/>
    <p:sldId id="261" r:id="rId8"/>
    <p:sldId id="307" r:id="rId9"/>
    <p:sldId id="308" r:id="rId10"/>
    <p:sldId id="373" r:id="rId11"/>
    <p:sldId id="374" r:id="rId12"/>
    <p:sldId id="375" r:id="rId13"/>
    <p:sldId id="349" r:id="rId14"/>
    <p:sldId id="351" r:id="rId15"/>
    <p:sldId id="350" r:id="rId16"/>
    <p:sldId id="310" r:id="rId17"/>
    <p:sldId id="352" r:id="rId18"/>
    <p:sldId id="311" r:id="rId19"/>
    <p:sldId id="356" r:id="rId20"/>
    <p:sldId id="275" r:id="rId21"/>
    <p:sldId id="353" r:id="rId22"/>
    <p:sldId id="354" r:id="rId23"/>
    <p:sldId id="355" r:id="rId24"/>
    <p:sldId id="357" r:id="rId25"/>
    <p:sldId id="358" r:id="rId26"/>
    <p:sldId id="359" r:id="rId27"/>
    <p:sldId id="312" r:id="rId28"/>
    <p:sldId id="361" r:id="rId29"/>
    <p:sldId id="313" r:id="rId30"/>
    <p:sldId id="314" r:id="rId31"/>
    <p:sldId id="315" r:id="rId32"/>
    <p:sldId id="316" r:id="rId33"/>
    <p:sldId id="317" r:id="rId34"/>
    <p:sldId id="363" r:id="rId35"/>
    <p:sldId id="364" r:id="rId36"/>
    <p:sldId id="365" r:id="rId37"/>
    <p:sldId id="366" r:id="rId38"/>
    <p:sldId id="367" r:id="rId39"/>
    <p:sldId id="318" r:id="rId40"/>
    <p:sldId id="368" r:id="rId41"/>
    <p:sldId id="369" r:id="rId42"/>
    <p:sldId id="370" r:id="rId43"/>
    <p:sldId id="371" r:id="rId44"/>
    <p:sldId id="376" r:id="rId45"/>
    <p:sldId id="319" r:id="rId46"/>
    <p:sldId id="320" r:id="rId47"/>
    <p:sldId id="372" r:id="rId48"/>
    <p:sldId id="322" r:id="rId49"/>
    <p:sldId id="323" r:id="rId50"/>
    <p:sldId id="324" r:id="rId5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574F88-65B2-464A-A143-409DA87A4961}" v="3" dt="2026-06-09T05:00:20.07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77"/>
    <p:restoredTop sz="96213"/>
  </p:normalViewPr>
  <p:slideViewPr>
    <p:cSldViewPr snapToGrid="0">
      <p:cViewPr varScale="1">
        <p:scale>
          <a:sx n="138" d="100"/>
          <a:sy n="138" d="100"/>
        </p:scale>
        <p:origin x="17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nari Yamada" userId="e57621f8-ec3c-449e-bb19-001fffcc008e" providerId="ADAL" clId="{BC0BD879-F267-5CCA-8DEA-E3B2DD07DA4E}"/>
    <pc:docChg chg="modSld">
      <pc:chgData name="Hironari Yamada" userId="e57621f8-ec3c-449e-bb19-001fffcc008e" providerId="ADAL" clId="{BC0BD879-F267-5CCA-8DEA-E3B2DD07DA4E}" dt="2026-06-09T05:00:20.076" v="2" actId="18331"/>
      <pc:docMkLst>
        <pc:docMk/>
      </pc:docMkLst>
      <pc:sldChg chg="modSp">
        <pc:chgData name="Hironari Yamada" userId="e57621f8-ec3c-449e-bb19-001fffcc008e" providerId="ADAL" clId="{BC0BD879-F267-5CCA-8DEA-E3B2DD07DA4E}" dt="2026-06-09T04:59:53.024" v="0" actId="18331"/>
        <pc:sldMkLst>
          <pc:docMk/>
          <pc:sldMk cId="1685417757" sldId="275"/>
        </pc:sldMkLst>
        <pc:picChg chg="mod">
          <ac:chgData name="Hironari Yamada" userId="e57621f8-ec3c-449e-bb19-001fffcc008e" providerId="ADAL" clId="{BC0BD879-F267-5CCA-8DEA-E3B2DD07DA4E}" dt="2026-06-09T04:59:53.024" v="0" actId="18331"/>
          <ac:picMkLst>
            <pc:docMk/>
            <pc:sldMk cId="1685417757" sldId="275"/>
            <ac:picMk id="22" creationId="{23EBCE7E-F9CF-7FF3-AD48-6F4CE5FD972E}"/>
          </ac:picMkLst>
        </pc:picChg>
      </pc:sldChg>
      <pc:sldChg chg="modSp">
        <pc:chgData name="Hironari Yamada" userId="e57621f8-ec3c-449e-bb19-001fffcc008e" providerId="ADAL" clId="{BC0BD879-F267-5CCA-8DEA-E3B2DD07DA4E}" dt="2026-06-09T05:00:09.294" v="1" actId="18331"/>
        <pc:sldMkLst>
          <pc:docMk/>
          <pc:sldMk cId="4116125106" sldId="353"/>
        </pc:sldMkLst>
        <pc:picChg chg="mod">
          <ac:chgData name="Hironari Yamada" userId="e57621f8-ec3c-449e-bb19-001fffcc008e" providerId="ADAL" clId="{BC0BD879-F267-5CCA-8DEA-E3B2DD07DA4E}" dt="2026-06-09T05:00:09.294" v="1" actId="18331"/>
          <ac:picMkLst>
            <pc:docMk/>
            <pc:sldMk cId="4116125106" sldId="353"/>
            <ac:picMk id="14" creationId="{78EC4C13-54FA-2821-25FC-D67E17C3464A}"/>
          </ac:picMkLst>
        </pc:picChg>
        <pc:picChg chg="mod">
          <ac:chgData name="Hironari Yamada" userId="e57621f8-ec3c-449e-bb19-001fffcc008e" providerId="ADAL" clId="{BC0BD879-F267-5CCA-8DEA-E3B2DD07DA4E}" dt="2026-06-09T05:00:09.294" v="1" actId="18331"/>
          <ac:picMkLst>
            <pc:docMk/>
            <pc:sldMk cId="4116125106" sldId="353"/>
            <ac:picMk id="19" creationId="{EBBD5602-15AE-7B0C-4D8E-486753A78962}"/>
          </ac:picMkLst>
        </pc:picChg>
      </pc:sldChg>
      <pc:sldChg chg="modSp">
        <pc:chgData name="Hironari Yamada" userId="e57621f8-ec3c-449e-bb19-001fffcc008e" providerId="ADAL" clId="{BC0BD879-F267-5CCA-8DEA-E3B2DD07DA4E}" dt="2026-06-09T05:00:20.076" v="2" actId="18331"/>
        <pc:sldMkLst>
          <pc:docMk/>
          <pc:sldMk cId="989975386" sldId="354"/>
        </pc:sldMkLst>
        <pc:picChg chg="mod">
          <ac:chgData name="Hironari Yamada" userId="e57621f8-ec3c-449e-bb19-001fffcc008e" providerId="ADAL" clId="{BC0BD879-F267-5CCA-8DEA-E3B2DD07DA4E}" dt="2026-06-09T05:00:20.076" v="2" actId="18331"/>
          <ac:picMkLst>
            <pc:docMk/>
            <pc:sldMk cId="989975386" sldId="354"/>
            <ac:picMk id="8" creationId="{C0182728-E8F1-CB8E-0FD4-CE4B7D51EC06}"/>
          </ac:picMkLst>
        </pc:picChg>
        <pc:picChg chg="mod">
          <ac:chgData name="Hironari Yamada" userId="e57621f8-ec3c-449e-bb19-001fffcc008e" providerId="ADAL" clId="{BC0BD879-F267-5CCA-8DEA-E3B2DD07DA4E}" dt="2026-06-09T05:00:20.076" v="2" actId="18331"/>
          <ac:picMkLst>
            <pc:docMk/>
            <pc:sldMk cId="989975386" sldId="354"/>
            <ac:picMk id="24" creationId="{6DC81E44-5989-9039-52C6-F4CF1EA3833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スライド2「今日のゴール」。本文の粒度は HTML に合わせる。</a:t>
            </a:r>
          </a:p>
          <a:p>
            <a:r>
              <a:t>講師メモ: 第3回の VM と第4回のコンテナ/ACI の責任分界と操作体験の違いを強調する。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DCC4-8228-1197-AD54-C1205BE9ED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8D1DA-A021-F0BC-6CE8-11D13F1CE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438A33-4B1D-D45A-F547-D75EFE5642C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043952E-CF08-1B45-872D-A5D54EEFED6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04175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5D7C2-8879-2699-9C03-616B388F9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BF6F5-68AB-BA04-B86E-A7830ADD9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73636-648A-C1C7-7385-9F86B1259BA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B470301-479A-8B93-B1A2-93B616DBCC7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03454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0F52-DAB6-8D3C-B29F-BF198A19D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C5E52-CD78-D4E2-84C0-F1AC1B1AA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035FC-2BD5-FFD2-328B-6D302228FB0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7525F88-14F6-4AC1-6F47-A5520C97C57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68391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B021D-7DBA-26AE-1AA1-8CB09EC0C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878F6-6A3C-9F58-D694-28B22C9B8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304FD-2011-71AD-4D9A-068EDA925BF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331D53F-125B-54E6-74D1-F3B8D1A5337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93344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D60D0-FCC5-2CB1-9984-72A2083CF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87C5B0-1BF8-BAD6-5317-88E482724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207711-6187-14DF-BD37-25FA79C4DFC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CD00831-9A0D-09D0-E4CC-2E05DC6A515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81340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22AE4-04DD-7CA5-AF70-0CEFCDFD7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9821C-3D55-9359-951A-A8F6EEF27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71DAC-0F25-6446-E5A7-910CCAAD1BF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F24702E-E863-7736-CEB6-50FEEB93DDE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57513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0E2FE-4EC7-F521-975A-95F21104D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9A2BCE-B2B0-5422-4634-2F2959DBD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5A5294-AD6B-B2F2-8B51-DE1E7E904E6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34A7FD9-560B-0554-DE7E-F6C19B60706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88789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03B70-F96C-8CE1-5C39-BDFCC65C2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3021E-FB33-7A12-9D12-CE221E5CF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2209D-1C48-CCBA-5DC9-512FBD06A9B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AA55EE8-4042-53E6-F8A3-BEB9225A13B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520669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90693-FB88-28D0-BB80-38482A9FE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94B14-0CD6-78F0-DD07-A5134D980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30006-61E3-4208-5D31-BB8F71B81B8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8B86524-001A-F92F-D7D6-97767B2C95E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585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8A188-E1B9-9A77-83D9-DA1422A48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27654-AFF0-0951-E874-D52790E8C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13A80-585F-2687-D4DC-4EF949075F8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4A53195-A3AA-E374-B3BD-8AA54ED1296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383258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DCB2D-4410-A2BB-4BBB-A155B75226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9FC67-FC57-59AE-A1CB-BEFC4C0446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2005F-7B38-6816-0845-EEB2D1BDEE2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C3938EF-C556-5B64-F663-66D4567F643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39583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548F2-124E-D165-B767-D86C6113A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E4C95-E844-9329-7934-054E754E6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BD99F-0E01-6D2F-1308-3E42EA1251A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8A50261-8991-E6C5-DDC1-CB1C6BEEC78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76144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779D2-7628-EAD5-0619-2D48343C63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7395E-9C3C-0F99-C028-6DDDAB5C7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FECD6-73AD-3312-C047-166A34C7D1E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E3B2FE0-BB33-B148-3A85-50E6AFE8506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43300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D5654-3383-257F-1BDD-86021AF3E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F37D6-0C55-4834-F80A-DF5335AE2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079514-810D-0B92-C0B9-FA9E7E51202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DA5E54F-E44E-01A0-459C-21A8E319EFD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25585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0364B-B775-BA39-8B6D-E3B4C3F5A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44EF8-B1FC-DA27-A05E-EE6E17E3C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DDDA7-0974-2D39-1F07-5C45240BA24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D9527D9-EA36-C949-0381-B96C64B3B89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437419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0BB2D-FE6E-0238-92A1-E93083FAA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C8578-B460-36BF-B087-853104F80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DB894-64EE-8801-FBF7-2AE31FADCEC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74655A5-A3A1-3E00-1396-FF0B693AB85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644642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D2106-B910-ED8C-E30B-211EC6D00B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DD299-5CE2-0FB6-6881-ACBF943E9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46A72-66AA-CD1C-1D0A-1B71247271A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F071851-3156-3BBF-EDB1-8D3AEA3297F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30348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A9FAD-259C-8586-A572-C4AEF4D4E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87BB6-8D01-035E-F8A4-D9A26BF8A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C68F3A-B9B4-A588-D881-59E0A4BB173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8E8C023-DF13-BD80-E3BF-8279830F1FF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510842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1DCA8-D111-5767-1318-0CA932416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343DF-9B20-FC20-DA63-4DE8EC0D1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380A1-3690-DFDC-9A53-79321671FD9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08CD8DB-B205-0805-FC3D-3E8B1949FA1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687568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02B7A-0BE7-741C-8485-59144948A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90035-74F6-6C40-A042-836727866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E8ED4-86B2-75C1-0207-7941341EB714}"/>
              </a:ext>
            </a:extLst>
          </p:cNvPr>
          <p:cNvSpPr>
            <a:spLocks noGrp="1"/>
          </p:cNvSpPr>
          <p:nvPr>
            <p:ph type="body" idx="1"/>
          </p:nvPr>
        </p:nvSpPr>
        <p:spPr/>
        <p:txBody>
          <a:bodyPr/>
          <a:lstStyle/>
          <a:p>
            <a:pPr algn="l">
              <a:defRPr sz="2325" b="1">
                <a:solidFill>
                  <a:srgbClr val="1F2937"/>
                </a:solidFill>
                <a:latin typeface="Yu Gothic"/>
                <a:ea typeface="Yu Gothic"/>
                <a:cs typeface="Yu Gothic"/>
              </a:defRPr>
            </a:pPr>
            <a:endParaRPr lang="ja-JP" altLang="en-US" sz="1200" b="1" dirty="0">
              <a:solidFill>
                <a:srgbClr val="1F2937"/>
              </a:solidFill>
              <a:latin typeface="Yu Gothic"/>
              <a:ea typeface="Yu Gothic"/>
              <a:cs typeface="Yu Gothic"/>
            </a:endParaRPr>
          </a:p>
        </p:txBody>
      </p:sp>
      <p:sp>
        <p:nvSpPr>
          <p:cNvPr id="4" name="Slide Number Placeholder 3">
            <a:extLst>
              <a:ext uri="{FF2B5EF4-FFF2-40B4-BE49-F238E27FC236}">
                <a16:creationId xmlns:a16="http://schemas.microsoft.com/office/drawing/2014/main" id="{D273CB35-781C-4EE3-080C-980F38D0C05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219949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CE408-1080-3F6B-9EC2-31DA9EBE5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B9A15-30C2-F57D-1FE1-A4147DB0B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5B2C9-2C2A-1C7D-63E2-77B2318F07B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770BFD5-418D-E3AE-83AC-381FEC6F5DC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23987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A7CDA-8865-641E-9D81-9D5FDBB57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5425F-4A5B-E993-5C37-651847E0C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D6D46-01AC-8D0E-B80C-643248A8AF5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0BBDACA-409F-B9E2-A059-5DCB99D581E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16202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70A79-9998-4A22-D5BD-924EF6DC8B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20BBB-B614-16FD-5B3D-D2D3BACE44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03932-0D60-1280-06F9-403C0D6076D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75581BD-793C-7AAB-BCE7-712812A3104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960993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21138-4E33-900A-BAA1-DC1EEF1CF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F79589-B7C6-AE4A-6D6E-BCCB323D79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3FE238-1B13-F7A9-B4DE-4BA35457819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AC52E76-6B33-9086-0118-F31D1FAFEF3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494223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B6F2E-20A8-F097-3823-EB8AF0789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BEFF6-9B41-A6F1-D3EA-E30B2D2A8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60B1CC-6FAD-58A8-190D-976619DB1BF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81E6208-6CBF-3974-FF12-8FF221E5753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883054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C27B0-B0F9-4C59-EA99-7F438FA41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98F25-7887-9F2A-250D-6907397449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08A1C4-2826-C217-59C4-6E17C107C6A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84870BC-3D56-3CD2-0912-A43486DE5E0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518090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FE47-CE6D-5D25-8F2C-D953E23B0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8B193-1FAB-6F4F-C47B-5E4983B189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3F00D8-94C6-1B68-5131-5C0BE833867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440788F-0AAA-B8C2-3B61-865F9E5A536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201260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E1D4B-1F7C-50C0-25DA-0D73A3988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05F10-20F6-649A-633F-587CEB3034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F0C388-B4E7-D8DB-8273-81D33884F09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984BADC-9300-24D4-B2BB-1127FF18CC0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110319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79436-6C50-C55D-FD58-9DA3CC97F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A23DA3-B9D4-2DD9-97DD-3927FE281D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E4493-B290-C0B8-1CD5-1EB909CE8DA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17F3FFA-F34A-1DE9-AC1D-36D201F59CD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722586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F2941-6B9F-C1AF-8A46-77C58F73D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77AB9C-009B-87CB-E957-757DB3EC43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CB776-E054-84FF-0B8E-52180FE4E60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28F0D0F-12A1-7DF8-787D-1177B65F571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452240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3A13-375C-B041-094D-572861AE4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5BFE7-B486-8931-8CB3-C64A77C5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2FFD11-41D5-4111-5C7C-2AE73B110D2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F2B60A0-0435-291F-CADE-49044DD841F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343306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650E9-9404-46F3-17FB-9686BBC88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6226C-BBDE-F3EE-57AE-2307BB458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CF397-F6B2-CE2C-811B-8C7C08C1300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9236E2B-E7C9-CC0D-9567-1A925175ACE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642031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F911A-8C3D-B41C-4AA2-9CFDAE9FA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F0B0C-C9A6-AF90-9661-72573EE2F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DF6EC-AB19-F321-B232-36521387D16C}"/>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AC0C2B63-9BAD-2F06-1A77-47774D8F21D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894902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8945-5033-5FAC-4123-5F14B693A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91DAF-4497-7EAF-8A99-C608A6F35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2B918-87FC-FB7D-F067-706EE46F559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792FF1C-3950-F586-8B17-F2F8113D30E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427659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53049-40DB-52D6-C43F-7D68C65BE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FC1507-8460-495B-7700-0F410A50F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DE1DA-E2F0-D3CA-398D-0A4CCE9CE55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B9582E6-DF4F-F2A5-BD73-26D79B0EC2E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163727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F5593-C378-F06E-E685-9EEC33136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BF79F-E958-793B-4708-A52B230305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FB593D-4B16-07B1-4415-94755D255BE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F676AF6-A16F-018D-DF7D-DEBE2749E82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365435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31A54-94D6-3AAD-AB63-2B23D3D08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73837-EA65-3628-B84D-24DAA7523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5364F-2083-EE79-4238-96BDC1AD9BB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9979F88-F52A-D9FD-2BED-6A76F75F81D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611653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F0B26-DE4A-39A4-B1B5-FC02FC1245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522CA-C47E-14E0-EF3F-B7D27BE0B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85C975-771E-F382-6C64-F9CF632AD0D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C5D5393-15B6-0124-94A3-21A326EB68E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736068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0AF5A-B15E-7778-4A89-2B846C518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53516-C55D-4E2A-1C8E-C2B7283D5E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4341BB-E17D-D6B7-FECB-2F39408DC16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3A15697-72D7-A1EA-F00A-E6AEA737013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403269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FCC5A-3B47-D416-493E-22B49DA8E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5655E-1B6A-1878-FA7F-EF0AC84AF9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38808-9430-A2A4-7DE5-74636324B6E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EB8B50F-056E-E6DF-F599-54DC4E1EC50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002126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58019-B471-428D-34BC-C3038BB3E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ED554-531F-2E99-A6DA-C255704DA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5ECD2-3BEA-F384-7402-FF09B49E28A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85A2CF3-0F21-A76F-8B97-2BA4F46E7B3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359989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4408C-79C7-B6FD-A650-067085B9D3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AA89B-64C1-5190-B173-B4EBDCD1B2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92259A-EEAD-AC7B-D48B-CD046D5DAD7C}"/>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EEAFC9E-0A8E-DFA9-64E4-FA40277C7D3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827880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CCD1A-0FC6-B784-645A-4F067039B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124A8-BCA3-0A59-5768-BAFA649F2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3C737-D8C7-ED90-EFB4-191BB4E336B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2E18175-3ECF-1A4F-75F7-ECDACCAF86B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730572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5EB77-3388-7202-C9B3-104A6F02E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DEBB9-BE9A-77F3-A36F-E04271424A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1B2972-8E0A-A2E2-ECD4-1D83B41443A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6EE483C-CD53-67E2-BFAC-7B03DBDD075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109221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484E9-3755-F6E8-9B63-8B2EB3C78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D0DA2-3555-09AA-7B7D-079F984D16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81F9C-288C-3BF8-E834-72702D5E5B8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02F4B51-1DBF-427A-75B9-F17FF3D2935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28043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Liminghao0922/todomanagement"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8.svg"/><Relationship Id="rId7" Type="http://schemas.openxmlformats.org/officeDocument/2006/relationships/image" Target="../media/image3.svg"/><Relationship Id="rId12" Type="http://schemas.openxmlformats.org/officeDocument/2006/relationships/image" Target="../media/image15.sv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1.svg"/><Relationship Id="rId11" Type="http://schemas.openxmlformats.org/officeDocument/2006/relationships/image" Target="../media/image14.png"/><Relationship Id="rId5" Type="http://schemas.openxmlformats.org/officeDocument/2006/relationships/image" Target="../media/image10.svg"/><Relationship Id="rId10" Type="http://schemas.openxmlformats.org/officeDocument/2006/relationships/image" Target="../media/image13.svg"/><Relationship Id="rId4" Type="http://schemas.openxmlformats.org/officeDocument/2006/relationships/image" Target="../media/image9.svg"/><Relationship Id="rId9" Type="http://schemas.openxmlformats.org/officeDocument/2006/relationships/image" Target="../media/image12.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8.svg"/><Relationship Id="rId7" Type="http://schemas.openxmlformats.org/officeDocument/2006/relationships/image" Target="../media/image3.svg"/><Relationship Id="rId12" Type="http://schemas.openxmlformats.org/officeDocument/2006/relationships/image" Target="../media/image15.sv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1.svg"/><Relationship Id="rId11" Type="http://schemas.openxmlformats.org/officeDocument/2006/relationships/image" Target="../media/image14.png"/><Relationship Id="rId5" Type="http://schemas.openxmlformats.org/officeDocument/2006/relationships/image" Target="../media/image10.svg"/><Relationship Id="rId10" Type="http://schemas.openxmlformats.org/officeDocument/2006/relationships/image" Target="../media/image13.svg"/><Relationship Id="rId4" Type="http://schemas.openxmlformats.org/officeDocument/2006/relationships/image" Target="../media/image9.svg"/><Relationship Id="rId9" Type="http://schemas.openxmlformats.org/officeDocument/2006/relationships/image" Target="../media/image12.sv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hyperlink" Target="https://portal.azure.com/"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hyperlink" Target="https://www.microsoft.com/en-us/download/details.aspx?id=56519" TargetMode="External"/><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60.png"/></Relationships>
</file>

<file path=ppt/slides/_rels/slide4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4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67.png"/></Relationships>
</file>

<file path=ppt/slides/_rels/slide48.xml.rels><?xml version="1.0" encoding="UTF-8" standalone="yes"?>
<Relationships xmlns="http://schemas.openxmlformats.org/package/2006/relationships"><Relationship Id="rId3" Type="http://schemas.openxmlformats.org/officeDocument/2006/relationships/hyperlink" Target="https://github.com/Liminghao0922/todomanagement/blob/main/handson/DEPLOY_GUIDE_GUI-ja_JP.md#%E3%82%B9%E3%83%86%E3%83%83%E3%83%97-19-%E3%82%B5%E3%83%9E%E3%83%AA%E3%83%BC---%E3%81%99%E3%81%B9%E3%81%A6%E3%81%AE%E3%83%AA%E3%82%BD%E3%83%BC%E3%82%B9%E8%A9%B3%E7%B4%B0%E3%82%92%E5%8F%8E%E9%9B%86" TargetMode="External"/><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68.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B3DB332-4829-430D-ABF8-AAA02D2E2F2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3C3942EC-8BBF-4694-8E7D-18483F43DB53}"/>
              </a:ext>
            </a:extLst>
          </p:cNvPr>
          <p:cNvSpPr>
            <a:spLocks noGrp="1"/>
          </p:cNvSpPr>
          <p:nvPr/>
        </p:nvSpPr>
        <p:spPr>
          <a:xfrm>
            <a:off x="0" y="0"/>
            <a:ext cx="462915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28025D4-9544-4FF2-83EA-C8F94EFBD6C1}"/>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0685B20-1434-48E7-9A60-CCE22EA4A975}"/>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9DBD5B95-C9F5-4638-96D9-A8CE4A155095}"/>
              </a:ext>
            </a:extLst>
          </p:cNvPr>
          <p:cNvSpPr>
            <a:spLocks noGrp="1"/>
          </p:cNvSpPr>
          <p:nvPr/>
        </p:nvSpPr>
        <p:spPr>
          <a:xfrm>
            <a:off x="5219700" y="1200150"/>
            <a:ext cx="581025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3300" b="1">
                <a:solidFill>
                  <a:srgbClr val="1F2937"/>
                </a:solidFill>
                <a:latin typeface="Yu Gothic"/>
                <a:ea typeface="Yu Gothic"/>
                <a:cs typeface="Yu Gothic"/>
              </a:defRPr>
            </a:pPr>
            <a:r>
              <a:rPr lang="en" altLang="ja-JP" sz="2800" b="1" dirty="0">
                <a:solidFill>
                  <a:srgbClr val="1F2937"/>
                </a:solidFill>
                <a:latin typeface="Yu Gothic"/>
                <a:ea typeface="Yu Gothic"/>
                <a:cs typeface="Yu Gothic"/>
              </a:rPr>
              <a:t>Todo </a:t>
            </a:r>
            <a:r>
              <a:rPr lang="ja-JP" altLang="en-US" sz="2800" b="1">
                <a:solidFill>
                  <a:srgbClr val="1F2937"/>
                </a:solidFill>
                <a:latin typeface="Yu Gothic"/>
                <a:ea typeface="Yu Gothic"/>
                <a:cs typeface="Yu Gothic"/>
              </a:rPr>
              <a:t>アプリの構築 </a:t>
            </a:r>
            <a:r>
              <a:rPr lang="en-US" altLang="ja-JP" sz="2800" b="1" dirty="0">
                <a:solidFill>
                  <a:srgbClr val="1F2937"/>
                </a:solidFill>
                <a:latin typeface="Yu Gothic"/>
                <a:ea typeface="Yu Gothic"/>
                <a:cs typeface="Yu Gothic"/>
              </a:rPr>
              <a:t>1</a:t>
            </a:r>
          </a:p>
        </p:txBody>
      </p:sp>
      <p:sp>
        <p:nvSpPr>
          <p:cNvPr id="6" name="正方形/長方形 5">
            <a:extLst>
              <a:ext uri="{FF2B5EF4-FFF2-40B4-BE49-F238E27FC236}">
                <a16:creationId xmlns:a16="http://schemas.microsoft.com/office/drawing/2014/main" id="{2769FC6D-0B0A-4C37-8C6D-9B70639859DC}"/>
              </a:ext>
            </a:extLst>
          </p:cNvPr>
          <p:cNvSpPr>
            <a:spLocks noGrp="1"/>
          </p:cNvSpPr>
          <p:nvPr/>
        </p:nvSpPr>
        <p:spPr>
          <a:xfrm>
            <a:off x="5257800" y="2590800"/>
            <a:ext cx="5524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344054"/>
                </a:solidFill>
                <a:latin typeface="Yu Gothic UI"/>
                <a:ea typeface="Yu Gothic UI"/>
                <a:cs typeface="Yu Gothic UI"/>
              </a:defRPr>
            </a:pPr>
            <a:r>
              <a:rPr lang="ja-JP" altLang="en-US" sz="1215" b="0">
                <a:solidFill>
                  <a:srgbClr val="344054"/>
                </a:solidFill>
                <a:latin typeface="Yu Gothic UI"/>
                <a:ea typeface="Yu Gothic UI"/>
                <a:cs typeface="Yu Gothic UI"/>
              </a:rPr>
              <a:t>この回では、</a:t>
            </a:r>
            <a:r>
              <a:rPr lang="en" altLang="ja-JP" sz="1215" b="0" dirty="0">
                <a:solidFill>
                  <a:srgbClr val="344054"/>
                </a:solidFill>
                <a:latin typeface="Yu Gothic UI"/>
                <a:ea typeface="Yu Gothic UI"/>
                <a:cs typeface="Yu Gothic UI"/>
              </a:rPr>
              <a:t>Azure Container Apps </a:t>
            </a:r>
            <a:r>
              <a:rPr lang="ja-JP" altLang="en-US" sz="1215" b="0">
                <a:solidFill>
                  <a:srgbClr val="344054"/>
                </a:solidFill>
                <a:latin typeface="Yu Gothic UI"/>
                <a:ea typeface="Yu Gothic UI"/>
                <a:cs typeface="Yu Gothic UI"/>
              </a:rPr>
              <a:t>と </a:t>
            </a:r>
            <a:r>
              <a:rPr lang="en" altLang="ja-JP" sz="1215" b="0" dirty="0">
                <a:solidFill>
                  <a:srgbClr val="344054"/>
                </a:solidFill>
                <a:latin typeface="Yu Gothic UI"/>
                <a:ea typeface="Yu Gothic UI"/>
                <a:cs typeface="Yu Gothic UI"/>
              </a:rPr>
              <a:t>Azure Database for PostgreSQL </a:t>
            </a:r>
            <a:r>
              <a:rPr lang="ja-JP" altLang="en-US" sz="1215" b="0">
                <a:solidFill>
                  <a:srgbClr val="344054"/>
                </a:solidFill>
                <a:latin typeface="Yu Gothic UI"/>
                <a:ea typeface="Yu Gothic UI"/>
                <a:cs typeface="Yu Gothic UI"/>
              </a:rPr>
              <a:t>を使う </a:t>
            </a:r>
            <a:r>
              <a:rPr lang="en" altLang="ja-JP" sz="1215" b="0" dirty="0">
                <a:solidFill>
                  <a:srgbClr val="344054"/>
                </a:solidFill>
                <a:latin typeface="Yu Gothic UI"/>
                <a:ea typeface="Yu Gothic UI"/>
                <a:cs typeface="Yu Gothic UI"/>
              </a:rPr>
              <a:t>Todo </a:t>
            </a:r>
            <a:r>
              <a:rPr lang="ja-JP" altLang="en-US" sz="1215" b="0">
                <a:solidFill>
                  <a:srgbClr val="344054"/>
                </a:solidFill>
                <a:latin typeface="Yu Gothic UI"/>
                <a:ea typeface="Yu Gothic UI"/>
                <a:cs typeface="Yu Gothic UI"/>
              </a:rPr>
              <a:t>アプリの土台を作り、第</a:t>
            </a:r>
            <a:r>
              <a:rPr lang="en-US" altLang="ja-JP" sz="1215" b="0" dirty="0">
                <a:solidFill>
                  <a:srgbClr val="344054"/>
                </a:solidFill>
                <a:latin typeface="Yu Gothic UI"/>
                <a:ea typeface="Yu Gothic UI"/>
                <a:cs typeface="Yu Gothic UI"/>
              </a:rPr>
              <a:t>6</a:t>
            </a:r>
            <a:r>
              <a:rPr lang="ja-JP" altLang="en-US" sz="1215" b="0">
                <a:solidFill>
                  <a:srgbClr val="344054"/>
                </a:solidFill>
                <a:latin typeface="Yu Gothic UI"/>
                <a:ea typeface="Yu Gothic UI"/>
                <a:cs typeface="Yu Gothic UI"/>
              </a:rPr>
              <a:t>回でデプロイするための値を整理します。</a:t>
            </a:r>
            <a:endParaRPr lang="en-US" altLang="ja-JP" sz="1215" b="0" dirty="0">
              <a:solidFill>
                <a:srgbClr val="344054"/>
              </a:solidFill>
              <a:latin typeface="Yu Gothic UI"/>
              <a:ea typeface="Yu Gothic UI"/>
              <a:cs typeface="Yu Gothic UI"/>
            </a:endParaRPr>
          </a:p>
          <a:p>
            <a:pPr algn="l">
              <a:defRPr sz="1215" b="0">
                <a:solidFill>
                  <a:srgbClr val="344054"/>
                </a:solidFill>
                <a:latin typeface="Yu Gothic UI"/>
                <a:ea typeface="Yu Gothic UI"/>
                <a:cs typeface="Yu Gothic UI"/>
              </a:defRPr>
            </a:pPr>
            <a:endParaRPr lang="en-US" altLang="ja-JP" sz="1215" dirty="0">
              <a:solidFill>
                <a:srgbClr val="344054"/>
              </a:solidFill>
              <a:latin typeface="Yu Gothic UI"/>
              <a:ea typeface="Yu Gothic UI"/>
              <a:cs typeface="Yu Gothic UI"/>
            </a:endParaRPr>
          </a:p>
          <a:p>
            <a:pPr>
              <a:defRPr sz="1215" b="0">
                <a:solidFill>
                  <a:srgbClr val="344054"/>
                </a:solidFill>
                <a:latin typeface="Yu Gothic UI"/>
                <a:ea typeface="Yu Gothic UI"/>
                <a:cs typeface="Yu Gothic UI"/>
              </a:defRPr>
            </a:pPr>
            <a:r>
              <a:rPr lang="ja-JP" altLang="en-US" sz="1200">
                <a:solidFill>
                  <a:srgbClr val="1F2937"/>
                </a:solidFill>
                <a:latin typeface="Yu Gothic"/>
                <a:ea typeface="Yu Gothic"/>
                <a:cs typeface="Yu Gothic"/>
              </a:rPr>
              <a:t>第</a:t>
            </a:r>
            <a:r>
              <a:rPr lang="en-US" altLang="ja-JP" sz="1200" dirty="0">
                <a:solidFill>
                  <a:srgbClr val="1F2937"/>
                </a:solidFill>
                <a:latin typeface="Yu Gothic"/>
                <a:ea typeface="Yu Gothic"/>
                <a:cs typeface="Yu Gothic"/>
              </a:rPr>
              <a:t>6</a:t>
            </a:r>
            <a:r>
              <a:rPr lang="ja-JP" altLang="en-US" sz="1200">
                <a:solidFill>
                  <a:srgbClr val="1F2937"/>
                </a:solidFill>
                <a:latin typeface="Yu Gothic"/>
                <a:ea typeface="Yu Gothic"/>
                <a:cs typeface="Yu Gothic"/>
              </a:rPr>
              <a:t>回に渡すリソースと値を作り、</a:t>
            </a:r>
            <a:r>
              <a:rPr lang="en" altLang="ja-JP" sz="1200" dirty="0">
                <a:solidFill>
                  <a:srgbClr val="1F2937"/>
                </a:solidFill>
                <a:latin typeface="Yu Gothic"/>
                <a:ea typeface="Yu Gothic"/>
                <a:cs typeface="Yu Gothic"/>
              </a:rPr>
              <a:t>PostgreSQL </a:t>
            </a:r>
            <a:r>
              <a:rPr lang="ja-JP" altLang="en-US" sz="1200">
                <a:solidFill>
                  <a:srgbClr val="1F2937"/>
                </a:solidFill>
                <a:latin typeface="Yu Gothic"/>
                <a:ea typeface="Yu Gothic"/>
                <a:cs typeface="Yu Gothic"/>
              </a:rPr>
              <a:t>は停止して引き継ぎます。</a:t>
            </a:r>
          </a:p>
        </p:txBody>
      </p:sp>
      <p:sp>
        <p:nvSpPr>
          <p:cNvPr id="7" name="正方形/長方形 6">
            <a:extLst>
              <a:ext uri="{FF2B5EF4-FFF2-40B4-BE49-F238E27FC236}">
                <a16:creationId xmlns:a16="http://schemas.microsoft.com/office/drawing/2014/main" id="{DFE36B7A-5E3C-45E7-B5C6-DD919C94A7E7}"/>
              </a:ext>
            </a:extLst>
          </p:cNvPr>
          <p:cNvSpPr>
            <a:spLocks noGrp="1"/>
          </p:cNvSpPr>
          <p:nvPr/>
        </p:nvSpPr>
        <p:spPr>
          <a:xfrm>
            <a:off x="5257800" y="4057650"/>
            <a:ext cx="800100" cy="285750"/>
          </a:xfrm>
          <a:prstGeom prst="rect">
            <a:avLst/>
          </a:prstGeom>
          <a:solidFill>
            <a:srgbClr val="4472C4"/>
          </a:solidFill>
          <a:ln w="0">
            <a:solidFill>
              <a:srgbClr val="4472C4"/>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第</a:t>
            </a:r>
            <a:r>
              <a:rPr lang="en-US" sz="765" b="1" dirty="0">
                <a:solidFill>
                  <a:srgbClr val="FFFFFF"/>
                </a:solidFill>
                <a:latin typeface="Yu Gothic UI"/>
                <a:ea typeface="Yu Gothic UI"/>
                <a:cs typeface="Yu Gothic UI"/>
              </a:rPr>
              <a:t>5</a:t>
            </a:r>
            <a:r>
              <a:rPr sz="765" b="1" dirty="0">
                <a:solidFill>
                  <a:srgbClr val="FFFFFF"/>
                </a:solidFill>
                <a:latin typeface="Yu Gothic UI"/>
                <a:ea typeface="Yu Gothic UI"/>
                <a:cs typeface="Yu Gothic UI"/>
              </a:rPr>
              <a:t>回</a:t>
            </a:r>
          </a:p>
        </p:txBody>
      </p:sp>
      <p:sp>
        <p:nvSpPr>
          <p:cNvPr id="8" name="正方形/長方形 7">
            <a:extLst>
              <a:ext uri="{FF2B5EF4-FFF2-40B4-BE49-F238E27FC236}">
                <a16:creationId xmlns:a16="http://schemas.microsoft.com/office/drawing/2014/main" id="{BFE25AC2-4ACC-4216-8714-96B55FB68F91}"/>
              </a:ext>
            </a:extLst>
          </p:cNvPr>
          <p:cNvSpPr>
            <a:spLocks noGrp="1"/>
          </p:cNvSpPr>
          <p:nvPr/>
        </p:nvSpPr>
        <p:spPr>
          <a:xfrm>
            <a:off x="6191250" y="4057650"/>
            <a:ext cx="2076450" cy="285750"/>
          </a:xfrm>
          <a:prstGeom prst="rect">
            <a:avLst/>
          </a:prstGeom>
          <a:solidFill>
            <a:srgbClr val="70AD47"/>
          </a:solidFill>
          <a:ln w="0">
            <a:solidFill>
              <a:srgbClr val="70AD47"/>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オンライン座学 + ハンズオン</a:t>
            </a:r>
          </a:p>
        </p:txBody>
      </p:sp>
      <p:sp>
        <p:nvSpPr>
          <p:cNvPr id="9" name="正方形/長方形 8">
            <a:extLst>
              <a:ext uri="{FF2B5EF4-FFF2-40B4-BE49-F238E27FC236}">
                <a16:creationId xmlns:a16="http://schemas.microsoft.com/office/drawing/2014/main" id="{357FDBAC-8BBB-46B1-A819-9FBE30EC418A}"/>
              </a:ext>
            </a:extLst>
          </p:cNvPr>
          <p:cNvSpPr>
            <a:spLocks noGrp="1"/>
          </p:cNvSpPr>
          <p:nvPr/>
        </p:nvSpPr>
        <p:spPr>
          <a:xfrm>
            <a:off x="8401050" y="4057650"/>
            <a:ext cx="1352550" cy="285750"/>
          </a:xfrm>
          <a:prstGeom prst="rect">
            <a:avLst/>
          </a:prstGeom>
          <a:solidFill>
            <a:srgbClr val="ED7D31"/>
          </a:solidFill>
          <a:ln w="0">
            <a:solidFill>
              <a:srgbClr val="ED7D31"/>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50分 + 10分 QA</a:t>
            </a:r>
          </a:p>
        </p:txBody>
      </p:sp>
      <p:sp>
        <p:nvSpPr>
          <p:cNvPr id="10" name="正方形/長方形 9">
            <a:extLst>
              <a:ext uri="{FF2B5EF4-FFF2-40B4-BE49-F238E27FC236}">
                <a16:creationId xmlns:a16="http://schemas.microsoft.com/office/drawing/2014/main" id="{E22E1A59-BBE7-499C-B63A-23D32A401642}"/>
              </a:ext>
            </a:extLst>
          </p:cNvPr>
          <p:cNvSpPr>
            <a:spLocks noGrp="1"/>
          </p:cNvSpPr>
          <p:nvPr/>
        </p:nvSpPr>
        <p:spPr>
          <a:xfrm>
            <a:off x="9886950" y="4057650"/>
            <a:ext cx="1295400" cy="285750"/>
          </a:xfrm>
          <a:prstGeom prst="rect">
            <a:avLst/>
          </a:prstGeom>
          <a:solidFill>
            <a:srgbClr val="0F766E"/>
          </a:solidFill>
          <a:ln w="0">
            <a:solidFill>
              <a:srgbClr val="0F766E"/>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2026年7月</a:t>
            </a:r>
            <a:r>
              <a:rPr lang="en-US" sz="765" b="1" dirty="0">
                <a:solidFill>
                  <a:srgbClr val="FFFFFF"/>
                </a:solidFill>
                <a:latin typeface="Yu Gothic UI"/>
                <a:ea typeface="Yu Gothic UI"/>
                <a:cs typeface="Yu Gothic UI"/>
              </a:rPr>
              <a:t>16</a:t>
            </a:r>
            <a:r>
              <a:rPr sz="765" b="1" dirty="0">
                <a:solidFill>
                  <a:srgbClr val="FFFFFF"/>
                </a:solidFill>
                <a:latin typeface="Yu Gothic UI"/>
                <a:ea typeface="Yu Gothic UI"/>
                <a:cs typeface="Yu Gothic UI"/>
              </a:rPr>
              <a:t>日</a:t>
            </a:r>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AA6572-0246-49F6-8808-D5E268117F2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今日のゴール</a:t>
            </a:r>
          </a:p>
        </p:txBody>
      </p:sp>
      <p:sp>
        <p:nvSpPr>
          <p:cNvPr id="2" name="正方形/長方形 1">
            <a:extLst>
              <a:ext uri="{FF2B5EF4-FFF2-40B4-BE49-F238E27FC236}">
                <a16:creationId xmlns:a16="http://schemas.microsoft.com/office/drawing/2014/main" id="{09603FD4-D301-438E-8486-12311D03422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677765BF-B68F-418C-AE34-F72DD54EB63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97161D9-5697-427A-A34A-5CD11A5A6657}"/>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今日はアプリを完成させる日ではありません。完成に必要な </a:t>
            </a:r>
            <a:r>
              <a:rPr lang="en" altLang="ja-JP" sz="1200" dirty="0">
                <a:solidFill>
                  <a:srgbClr val="64748B"/>
                </a:solidFill>
                <a:latin typeface="Yu Gothic"/>
                <a:ea typeface="Yu Gothic"/>
                <a:cs typeface="Yu Gothic"/>
              </a:rPr>
              <a:t>Azure </a:t>
            </a:r>
            <a:r>
              <a:rPr lang="ja-JP" altLang="en-US" sz="1200">
                <a:solidFill>
                  <a:srgbClr val="64748B"/>
                </a:solidFill>
                <a:latin typeface="Yu Gothic"/>
                <a:ea typeface="Yu Gothic"/>
                <a:cs typeface="Yu Gothic"/>
              </a:rPr>
              <a:t>リソースを作り、名前、</a:t>
            </a:r>
            <a:r>
              <a:rPr lang="en" altLang="ja-JP" sz="1200" dirty="0">
                <a:solidFill>
                  <a:srgbClr val="64748B"/>
                </a:solidFill>
                <a:latin typeface="Yu Gothic"/>
                <a:ea typeface="Yu Gothic"/>
                <a:cs typeface="Yu Gothic"/>
              </a:rPr>
              <a:t>URL</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ID</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の状態を第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回へ引き継げるようにします。</a:t>
            </a:r>
            <a:endParaRPr lang="ja-JP" altLang="en-US" sz="1200" dirty="0">
              <a:solidFill>
                <a:srgbClr val="64748B"/>
              </a:solidFill>
              <a:latin typeface="Yu Gothic"/>
              <a:ea typeface="Yu Gothic"/>
              <a:cs typeface="Yu Gothic"/>
            </a:endParaRPr>
          </a:p>
        </p:txBody>
      </p:sp>
      <p:sp>
        <p:nvSpPr>
          <p:cNvPr id="3" name="正方形/長方形 2">
            <a:extLst>
              <a:ext uri="{FF2B5EF4-FFF2-40B4-BE49-F238E27FC236}">
                <a16:creationId xmlns:a16="http://schemas.microsoft.com/office/drawing/2014/main" id="{6A12F0C9-DD7D-D8D3-EF45-7E9D67379124}"/>
              </a:ext>
            </a:extLst>
          </p:cNvPr>
          <p:cNvSpPr>
            <a:spLocks noGrp="1"/>
          </p:cNvSpPr>
          <p:nvPr/>
        </p:nvSpPr>
        <p:spPr>
          <a:xfrm>
            <a:off x="8953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F5E230B2-7B7F-53F9-9606-44291B860400}"/>
              </a:ext>
            </a:extLst>
          </p:cNvPr>
          <p:cNvSpPr>
            <a:spLocks noGrp="1"/>
          </p:cNvSpPr>
          <p:nvPr/>
        </p:nvSpPr>
        <p:spPr>
          <a:xfrm>
            <a:off x="895350" y="2114550"/>
            <a:ext cx="76200" cy="1295400"/>
          </a:xfrm>
          <a:prstGeom prst="rect">
            <a:avLst/>
          </a:prstGeom>
          <a:solidFill>
            <a:srgbClr val="0F766E"/>
          </a:solidFill>
          <a:ln w="0">
            <a:solidFill>
              <a:srgbClr val="0F766E"/>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59D2B922-0021-8F48-DAD1-BA6A1C836F74}"/>
              </a:ext>
            </a:extLst>
          </p:cNvPr>
          <p:cNvSpPr>
            <a:spLocks noGrp="1"/>
          </p:cNvSpPr>
          <p:nvPr/>
        </p:nvSpPr>
        <p:spPr>
          <a:xfrm>
            <a:off x="1104900" y="22574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0F766E"/>
                </a:solidFill>
                <a:latin typeface="Yu Gothic UI"/>
                <a:ea typeface="Yu Gothic UI"/>
                <a:cs typeface="Yu Gothic UI"/>
              </a:defRPr>
            </a:pPr>
            <a:r>
              <a:rPr lang="en-US" sz="705" b="1" dirty="0">
                <a:solidFill>
                  <a:srgbClr val="0F766E"/>
                </a:solidFill>
                <a:latin typeface="Yu Gothic UI"/>
                <a:ea typeface="Yu Gothic UI"/>
                <a:cs typeface="Yu Gothic UI"/>
              </a:rPr>
              <a:t>Goal </a:t>
            </a:r>
            <a:r>
              <a:rPr sz="705" b="1" dirty="0">
                <a:solidFill>
                  <a:srgbClr val="0F766E"/>
                </a:solidFill>
                <a:latin typeface="Yu Gothic UI"/>
                <a:ea typeface="Yu Gothic UI"/>
                <a:cs typeface="Yu Gothic UI"/>
              </a:rPr>
              <a:t>1</a:t>
            </a:r>
          </a:p>
        </p:txBody>
      </p:sp>
      <p:sp>
        <p:nvSpPr>
          <p:cNvPr id="10" name="正方形/長方形 9">
            <a:extLst>
              <a:ext uri="{FF2B5EF4-FFF2-40B4-BE49-F238E27FC236}">
                <a16:creationId xmlns:a16="http://schemas.microsoft.com/office/drawing/2014/main" id="{5A000D35-880E-DA2C-0F55-535AA70DB468}"/>
              </a:ext>
            </a:extLst>
          </p:cNvPr>
          <p:cNvSpPr>
            <a:spLocks noGrp="1"/>
          </p:cNvSpPr>
          <p:nvPr/>
        </p:nvSpPr>
        <p:spPr>
          <a:xfrm>
            <a:off x="1104900" y="25050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500" b="1">
                <a:solidFill>
                  <a:srgbClr val="1F2937"/>
                </a:solidFill>
                <a:latin typeface="Yu Gothic"/>
                <a:ea typeface="Yu Gothic"/>
                <a:cs typeface="Yu Gothic"/>
              </a:defRPr>
            </a:pPr>
            <a:r>
              <a:rPr lang="ja-JP" altLang="en-US" sz="1200" b="1">
                <a:solidFill>
                  <a:srgbClr val="1F2937"/>
                </a:solidFill>
                <a:latin typeface="Yu Gothic"/>
                <a:ea typeface="Yu Gothic"/>
                <a:cs typeface="Yu Gothic"/>
              </a:rPr>
              <a:t>全体像を持つ</a:t>
            </a:r>
            <a:endParaRPr lang="ja-JP" altLang="en-US" sz="1200" b="1" dirty="0">
              <a:solidFill>
                <a:srgbClr val="1F2937"/>
              </a:solidFill>
              <a:latin typeface="Yu Gothic"/>
              <a:ea typeface="Yu Gothic"/>
              <a:cs typeface="Yu Gothic"/>
            </a:endParaRPr>
          </a:p>
        </p:txBody>
      </p:sp>
      <p:sp>
        <p:nvSpPr>
          <p:cNvPr id="11" name="正方形/長方形 10">
            <a:extLst>
              <a:ext uri="{FF2B5EF4-FFF2-40B4-BE49-F238E27FC236}">
                <a16:creationId xmlns:a16="http://schemas.microsoft.com/office/drawing/2014/main" id="{59D15100-2B3E-D76B-A75F-975C0850074F}"/>
              </a:ext>
            </a:extLst>
          </p:cNvPr>
          <p:cNvSpPr>
            <a:spLocks noGrp="1"/>
          </p:cNvSpPr>
          <p:nvPr/>
        </p:nvSpPr>
        <p:spPr>
          <a:xfrm>
            <a:off x="1104900" y="28956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125" b="0">
                <a:solidFill>
                  <a:srgbClr val="1F2937"/>
                </a:solidFill>
                <a:latin typeface="Yu Gothic"/>
                <a:ea typeface="Yu Gothic"/>
                <a:cs typeface="Yu Gothic"/>
              </a:defRPr>
            </a:pPr>
            <a:r>
              <a:rPr lang="en" altLang="ja-JP" sz="900" dirty="0">
                <a:solidFill>
                  <a:srgbClr val="1F2937"/>
                </a:solidFill>
                <a:latin typeface="Yu Gothic"/>
                <a:ea typeface="Yu Gothic"/>
                <a:cs typeface="Yu Gothic"/>
              </a:rPr>
              <a:t>Web</a:t>
            </a:r>
            <a:r>
              <a:rPr lang="ja-JP" altLang="en" sz="900">
                <a:solidFill>
                  <a:srgbClr val="1F2937"/>
                </a:solidFill>
                <a:latin typeface="Yu Gothic"/>
                <a:ea typeface="Yu Gothic"/>
                <a:cs typeface="Yu Gothic"/>
              </a:rPr>
              <a:t>、</a:t>
            </a:r>
            <a:r>
              <a:rPr lang="en" altLang="ja-JP" sz="900" dirty="0">
                <a:solidFill>
                  <a:srgbClr val="1F2937"/>
                </a:solidFill>
                <a:latin typeface="Yu Gothic"/>
                <a:ea typeface="Yu Gothic"/>
                <a:cs typeface="Yu Gothic"/>
              </a:rPr>
              <a:t>API</a:t>
            </a:r>
            <a:r>
              <a:rPr lang="ja-JP" altLang="en" sz="900">
                <a:solidFill>
                  <a:srgbClr val="1F2937"/>
                </a:solidFill>
                <a:latin typeface="Yu Gothic"/>
                <a:ea typeface="Yu Gothic"/>
                <a:cs typeface="Yu Gothic"/>
              </a:rPr>
              <a:t>、</a:t>
            </a:r>
            <a:r>
              <a:rPr lang="en" altLang="ja-JP" sz="900" dirty="0">
                <a:solidFill>
                  <a:srgbClr val="1F2937"/>
                </a:solidFill>
                <a:latin typeface="Yu Gothic"/>
                <a:ea typeface="Yu Gothic"/>
                <a:cs typeface="Yu Gothic"/>
              </a:rPr>
              <a:t>DB </a:t>
            </a:r>
            <a:r>
              <a:rPr lang="ja-JP" altLang="en-US" sz="900">
                <a:solidFill>
                  <a:srgbClr val="1F2937"/>
                </a:solidFill>
                <a:latin typeface="Yu Gothic"/>
                <a:ea typeface="Yu Gothic"/>
                <a:cs typeface="Yu Gothic"/>
              </a:rPr>
              <a:t>が </a:t>
            </a:r>
            <a:r>
              <a:rPr lang="en" altLang="ja-JP" sz="900" dirty="0">
                <a:solidFill>
                  <a:srgbClr val="1F2937"/>
                </a:solidFill>
                <a:latin typeface="Yu Gothic"/>
                <a:ea typeface="Yu Gothic"/>
                <a:cs typeface="Yu Gothic"/>
              </a:rPr>
              <a:t>Azure </a:t>
            </a:r>
            <a:r>
              <a:rPr lang="ja-JP" altLang="en-US" sz="900">
                <a:solidFill>
                  <a:srgbClr val="1F2937"/>
                </a:solidFill>
                <a:latin typeface="Yu Gothic"/>
                <a:ea typeface="Yu Gothic"/>
                <a:cs typeface="Yu Gothic"/>
              </a:rPr>
              <a:t>のどのサービスに対応するか説明できる。</a:t>
            </a:r>
            <a:endParaRPr lang="ja-JP" altLang="en-US" sz="900" dirty="0">
              <a:solidFill>
                <a:srgbClr val="1F2937"/>
              </a:solidFill>
              <a:latin typeface="Yu Gothic"/>
              <a:ea typeface="Yu Gothic"/>
              <a:cs typeface="Yu Gothic"/>
            </a:endParaRPr>
          </a:p>
        </p:txBody>
      </p:sp>
      <p:sp>
        <p:nvSpPr>
          <p:cNvPr id="12" name="正方形/長方形 11">
            <a:extLst>
              <a:ext uri="{FF2B5EF4-FFF2-40B4-BE49-F238E27FC236}">
                <a16:creationId xmlns:a16="http://schemas.microsoft.com/office/drawing/2014/main" id="{8CA164CB-27AE-C85D-A3B9-BC0246961991}"/>
              </a:ext>
            </a:extLst>
          </p:cNvPr>
          <p:cNvSpPr>
            <a:spLocks noGrp="1"/>
          </p:cNvSpPr>
          <p:nvPr/>
        </p:nvSpPr>
        <p:spPr>
          <a:xfrm>
            <a:off x="61150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D1830EAD-CA4D-EF13-2C77-E05986271290}"/>
              </a:ext>
            </a:extLst>
          </p:cNvPr>
          <p:cNvSpPr>
            <a:spLocks noGrp="1"/>
          </p:cNvSpPr>
          <p:nvPr/>
        </p:nvSpPr>
        <p:spPr>
          <a:xfrm>
            <a:off x="6115050" y="2114550"/>
            <a:ext cx="76200" cy="1295400"/>
          </a:xfrm>
          <a:prstGeom prst="rect">
            <a:avLst/>
          </a:prstGeom>
          <a:solidFill>
            <a:srgbClr val="70AD47"/>
          </a:solidFill>
          <a:ln w="0">
            <a:solidFill>
              <a:srgbClr val="70AD47"/>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E766275E-AE64-6EE4-94A2-0F42DB17EB22}"/>
              </a:ext>
            </a:extLst>
          </p:cNvPr>
          <p:cNvSpPr>
            <a:spLocks noGrp="1"/>
          </p:cNvSpPr>
          <p:nvPr/>
        </p:nvSpPr>
        <p:spPr>
          <a:xfrm>
            <a:off x="6324600" y="22574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70AD47"/>
                </a:solidFill>
                <a:latin typeface="Yu Gothic UI"/>
                <a:ea typeface="Yu Gothic UI"/>
                <a:cs typeface="Yu Gothic UI"/>
              </a:defRPr>
            </a:pPr>
            <a:r>
              <a:rPr lang="en-US" altLang="ja-JP" sz="705" b="1" dirty="0">
                <a:solidFill>
                  <a:srgbClr val="70AD47"/>
                </a:solidFill>
                <a:latin typeface="Yu Gothic UI"/>
                <a:ea typeface="Yu Gothic UI"/>
                <a:cs typeface="Yu Gothic UI"/>
              </a:rPr>
              <a:t>Goal 2</a:t>
            </a:r>
          </a:p>
        </p:txBody>
      </p:sp>
      <p:sp>
        <p:nvSpPr>
          <p:cNvPr id="15" name="正方形/長方形 14">
            <a:extLst>
              <a:ext uri="{FF2B5EF4-FFF2-40B4-BE49-F238E27FC236}">
                <a16:creationId xmlns:a16="http://schemas.microsoft.com/office/drawing/2014/main" id="{58A0C133-AA37-4CB8-71FC-829264814E1B}"/>
              </a:ext>
            </a:extLst>
          </p:cNvPr>
          <p:cNvSpPr>
            <a:spLocks noGrp="1"/>
          </p:cNvSpPr>
          <p:nvPr/>
        </p:nvSpPr>
        <p:spPr>
          <a:xfrm>
            <a:off x="6324600" y="25050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500" b="1">
                <a:solidFill>
                  <a:srgbClr val="1F2937"/>
                </a:solidFill>
                <a:latin typeface="Yu Gothic"/>
                <a:ea typeface="Yu Gothic"/>
                <a:cs typeface="Yu Gothic"/>
              </a:defRPr>
            </a:pPr>
            <a:r>
              <a:rPr lang="ja-JP" altLang="en-US" sz="1200" b="1">
                <a:solidFill>
                  <a:srgbClr val="1F2937"/>
                </a:solidFill>
                <a:latin typeface="Yu Gothic"/>
                <a:ea typeface="Yu Gothic"/>
                <a:cs typeface="Yu Gothic"/>
              </a:rPr>
              <a:t>土台を作る</a:t>
            </a:r>
            <a:endParaRPr lang="ja-JP" altLang="en-US" sz="1200" b="1" dirty="0">
              <a:solidFill>
                <a:srgbClr val="1F2937"/>
              </a:solidFill>
              <a:latin typeface="Yu Gothic"/>
              <a:ea typeface="Yu Gothic"/>
              <a:cs typeface="Yu Gothic"/>
            </a:endParaRPr>
          </a:p>
        </p:txBody>
      </p:sp>
      <p:sp>
        <p:nvSpPr>
          <p:cNvPr id="16" name="正方形/長方形 15">
            <a:extLst>
              <a:ext uri="{FF2B5EF4-FFF2-40B4-BE49-F238E27FC236}">
                <a16:creationId xmlns:a16="http://schemas.microsoft.com/office/drawing/2014/main" id="{2E920776-BF7C-5874-F27E-7BEC0B67D3F2}"/>
              </a:ext>
            </a:extLst>
          </p:cNvPr>
          <p:cNvSpPr>
            <a:spLocks noGrp="1"/>
          </p:cNvSpPr>
          <p:nvPr/>
        </p:nvSpPr>
        <p:spPr>
          <a:xfrm>
            <a:off x="6324600" y="28956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0">
                <a:solidFill>
                  <a:srgbClr val="344054"/>
                </a:solidFill>
                <a:latin typeface="Yu Gothic UI"/>
                <a:ea typeface="Yu Gothic UI"/>
                <a:cs typeface="Yu Gothic UI"/>
              </a:defRPr>
            </a:pPr>
            <a:r>
              <a:rPr lang="en" altLang="ja-JP" sz="885" b="0" dirty="0">
                <a:solidFill>
                  <a:srgbClr val="344054"/>
                </a:solidFill>
                <a:latin typeface="Yu Gothic UI"/>
                <a:ea typeface="Yu Gothic UI"/>
                <a:cs typeface="Yu Gothic UI"/>
              </a:rPr>
              <a:t>ACR</a:t>
            </a:r>
            <a:r>
              <a:rPr lang="ja-JP" altLang="en" sz="885" b="0">
                <a:solidFill>
                  <a:srgbClr val="344054"/>
                </a:solidFill>
                <a:latin typeface="Yu Gothic UI"/>
                <a:ea typeface="Yu Gothic UI"/>
                <a:cs typeface="Yu Gothic UI"/>
              </a:rPr>
              <a:t>、</a:t>
            </a:r>
            <a:r>
              <a:rPr lang="en" altLang="ja-JP" sz="885" b="0" dirty="0">
                <a:solidFill>
                  <a:srgbClr val="344054"/>
                </a:solidFill>
                <a:latin typeface="Yu Gothic UI"/>
                <a:ea typeface="Yu Gothic UI"/>
                <a:cs typeface="Yu Gothic UI"/>
              </a:rPr>
              <a:t>Container Apps</a:t>
            </a:r>
            <a:r>
              <a:rPr lang="ja-JP" altLang="en" sz="885" b="0">
                <a:solidFill>
                  <a:srgbClr val="344054"/>
                </a:solidFill>
                <a:latin typeface="Yu Gothic UI"/>
                <a:ea typeface="Yu Gothic UI"/>
                <a:cs typeface="Yu Gothic UI"/>
              </a:rPr>
              <a:t>、</a:t>
            </a:r>
            <a:r>
              <a:rPr lang="en" altLang="ja-JP" sz="885" b="0" dirty="0">
                <a:solidFill>
                  <a:srgbClr val="344054"/>
                </a:solidFill>
                <a:latin typeface="Yu Gothic UI"/>
                <a:ea typeface="Yu Gothic UI"/>
                <a:cs typeface="Yu Gothic UI"/>
              </a:rPr>
              <a:t>PostgreSQL</a:t>
            </a:r>
            <a:r>
              <a:rPr lang="ja-JP" altLang="en" sz="885" b="0">
                <a:solidFill>
                  <a:srgbClr val="344054"/>
                </a:solidFill>
                <a:latin typeface="Yu Gothic UI"/>
                <a:ea typeface="Yu Gothic UI"/>
                <a:cs typeface="Yu Gothic UI"/>
              </a:rPr>
              <a:t>、</a:t>
            </a:r>
            <a:r>
              <a:rPr lang="en" altLang="ja-JP" sz="885" b="0" dirty="0" err="1">
                <a:solidFill>
                  <a:srgbClr val="344054"/>
                </a:solidFill>
                <a:latin typeface="Yu Gothic UI"/>
                <a:ea typeface="Yu Gothic UI"/>
                <a:cs typeface="Yu Gothic UI"/>
              </a:rPr>
              <a:t>VNet</a:t>
            </a:r>
            <a:r>
              <a:rPr lang="ja-JP" altLang="en" sz="885" b="0">
                <a:solidFill>
                  <a:srgbClr val="344054"/>
                </a:solidFill>
                <a:latin typeface="Yu Gothic UI"/>
                <a:ea typeface="Yu Gothic UI"/>
                <a:cs typeface="Yu Gothic UI"/>
              </a:rPr>
              <a:t>、</a:t>
            </a:r>
            <a:r>
              <a:rPr lang="en" altLang="ja-JP" sz="885" b="0" dirty="0">
                <a:solidFill>
                  <a:srgbClr val="344054"/>
                </a:solidFill>
                <a:latin typeface="Yu Gothic UI"/>
                <a:ea typeface="Yu Gothic UI"/>
                <a:cs typeface="Yu Gothic UI"/>
              </a:rPr>
              <a:t>Identity </a:t>
            </a:r>
            <a:r>
              <a:rPr lang="ja-JP" altLang="en-US" sz="885" b="0">
                <a:solidFill>
                  <a:srgbClr val="344054"/>
                </a:solidFill>
                <a:latin typeface="Yu Gothic UI"/>
                <a:ea typeface="Yu Gothic UI"/>
                <a:cs typeface="Yu Gothic UI"/>
              </a:rPr>
              <a:t>を作成する。</a:t>
            </a:r>
          </a:p>
        </p:txBody>
      </p:sp>
      <p:sp>
        <p:nvSpPr>
          <p:cNvPr id="17" name="正方形/長方形 16">
            <a:extLst>
              <a:ext uri="{FF2B5EF4-FFF2-40B4-BE49-F238E27FC236}">
                <a16:creationId xmlns:a16="http://schemas.microsoft.com/office/drawing/2014/main" id="{0E9C0F30-AFAA-3A7E-939A-51646CE60B24}"/>
              </a:ext>
            </a:extLst>
          </p:cNvPr>
          <p:cNvSpPr>
            <a:spLocks noGrp="1"/>
          </p:cNvSpPr>
          <p:nvPr/>
        </p:nvSpPr>
        <p:spPr>
          <a:xfrm>
            <a:off x="895350" y="37147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456DDBC7-B2AE-43DA-AD86-55CE19C3B27E}"/>
              </a:ext>
            </a:extLst>
          </p:cNvPr>
          <p:cNvSpPr>
            <a:spLocks noGrp="1"/>
          </p:cNvSpPr>
          <p:nvPr/>
        </p:nvSpPr>
        <p:spPr>
          <a:xfrm>
            <a:off x="895350" y="3714750"/>
            <a:ext cx="76200" cy="1295400"/>
          </a:xfrm>
          <a:prstGeom prst="rect">
            <a:avLst/>
          </a:prstGeom>
          <a:solidFill>
            <a:srgbClr val="ED7D31"/>
          </a:solidFill>
          <a:ln w="0">
            <a:solidFill>
              <a:srgbClr val="ED7D31"/>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A7C52EFC-73D5-286E-4B8E-8170947F7854}"/>
              </a:ext>
            </a:extLst>
          </p:cNvPr>
          <p:cNvSpPr>
            <a:spLocks noGrp="1"/>
          </p:cNvSpPr>
          <p:nvPr/>
        </p:nvSpPr>
        <p:spPr>
          <a:xfrm>
            <a:off x="1104900" y="38576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900" b="1">
                <a:solidFill>
                  <a:srgbClr val="EA580C"/>
                </a:solidFill>
                <a:latin typeface="Yu Gothic"/>
                <a:ea typeface="Yu Gothic"/>
                <a:cs typeface="Yu Gothic"/>
              </a:defRPr>
            </a:pPr>
            <a:r>
              <a:rPr lang="en" altLang="ja-JP" sz="800" b="1" dirty="0">
                <a:solidFill>
                  <a:srgbClr val="EA580C"/>
                </a:solidFill>
                <a:latin typeface="Yu Gothic"/>
                <a:ea typeface="Yu Gothic"/>
                <a:cs typeface="Yu Gothic"/>
              </a:rPr>
              <a:t>Goal 3</a:t>
            </a:r>
          </a:p>
        </p:txBody>
      </p:sp>
      <p:sp>
        <p:nvSpPr>
          <p:cNvPr id="20" name="正方形/長方形 19">
            <a:extLst>
              <a:ext uri="{FF2B5EF4-FFF2-40B4-BE49-F238E27FC236}">
                <a16:creationId xmlns:a16="http://schemas.microsoft.com/office/drawing/2014/main" id="{062FE2C4-AD2A-1546-20E3-5F5EB12C4302}"/>
              </a:ext>
            </a:extLst>
          </p:cNvPr>
          <p:cNvSpPr>
            <a:spLocks noGrp="1"/>
          </p:cNvSpPr>
          <p:nvPr/>
        </p:nvSpPr>
        <p:spPr>
          <a:xfrm>
            <a:off x="1104900" y="41052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500" b="1">
                <a:solidFill>
                  <a:srgbClr val="1F2937"/>
                </a:solidFill>
                <a:latin typeface="Yu Gothic"/>
                <a:ea typeface="Yu Gothic"/>
                <a:cs typeface="Yu Gothic"/>
              </a:defRPr>
            </a:pPr>
            <a:r>
              <a:rPr lang="ja-JP" altLang="en-US" sz="1200" b="1">
                <a:solidFill>
                  <a:srgbClr val="1F2937"/>
                </a:solidFill>
                <a:latin typeface="Yu Gothic"/>
                <a:ea typeface="Yu Gothic"/>
                <a:cs typeface="Yu Gothic"/>
              </a:rPr>
              <a:t>値を記録する</a:t>
            </a:r>
            <a:endParaRPr lang="ja-JP" altLang="en-US" sz="1200" b="1" dirty="0">
              <a:solidFill>
                <a:srgbClr val="1F2937"/>
              </a:solidFill>
              <a:latin typeface="Yu Gothic"/>
              <a:ea typeface="Yu Gothic"/>
              <a:cs typeface="Yu Gothic"/>
            </a:endParaRPr>
          </a:p>
        </p:txBody>
      </p:sp>
      <p:sp>
        <p:nvSpPr>
          <p:cNvPr id="21" name="正方形/長方形 20">
            <a:extLst>
              <a:ext uri="{FF2B5EF4-FFF2-40B4-BE49-F238E27FC236}">
                <a16:creationId xmlns:a16="http://schemas.microsoft.com/office/drawing/2014/main" id="{D663B096-C082-72F5-FB5E-5091626679AD}"/>
              </a:ext>
            </a:extLst>
          </p:cNvPr>
          <p:cNvSpPr>
            <a:spLocks noGrp="1"/>
          </p:cNvSpPr>
          <p:nvPr/>
        </p:nvSpPr>
        <p:spPr>
          <a:xfrm>
            <a:off x="1104900" y="44958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125" b="0">
                <a:solidFill>
                  <a:srgbClr val="1F2937"/>
                </a:solidFill>
                <a:latin typeface="Yu Gothic"/>
                <a:ea typeface="Yu Gothic"/>
                <a:cs typeface="Yu Gothic"/>
              </a:defRPr>
            </a:pPr>
            <a:r>
              <a:rPr lang="ja-JP" altLang="en-US" sz="900">
                <a:solidFill>
                  <a:srgbClr val="1F2937"/>
                </a:solidFill>
                <a:latin typeface="Yu Gothic"/>
                <a:ea typeface="Yu Gothic"/>
                <a:cs typeface="Yu Gothic"/>
              </a:rPr>
              <a:t>第</a:t>
            </a:r>
            <a:r>
              <a:rPr lang="en-US" altLang="ja-JP" sz="900" dirty="0">
                <a:solidFill>
                  <a:srgbClr val="1F2937"/>
                </a:solidFill>
                <a:latin typeface="Yu Gothic"/>
                <a:ea typeface="Yu Gothic"/>
                <a:cs typeface="Yu Gothic"/>
              </a:rPr>
              <a:t>6</a:t>
            </a:r>
            <a:r>
              <a:rPr lang="ja-JP" altLang="en-US" sz="900">
                <a:solidFill>
                  <a:srgbClr val="1F2937"/>
                </a:solidFill>
                <a:latin typeface="Yu Gothic"/>
                <a:ea typeface="Yu Gothic"/>
                <a:cs typeface="Yu Gothic"/>
              </a:rPr>
              <a:t>回で </a:t>
            </a:r>
            <a:r>
              <a:rPr lang="en" altLang="ja-JP" sz="900" dirty="0">
                <a:solidFill>
                  <a:srgbClr val="1F2937"/>
                </a:solidFill>
                <a:latin typeface="Yu Gothic"/>
                <a:ea typeface="Yu Gothic"/>
                <a:cs typeface="Yu Gothic"/>
              </a:rPr>
              <a:t>GitHub Actions </a:t>
            </a:r>
            <a:r>
              <a:rPr lang="ja-JP" altLang="en-US" sz="900">
                <a:solidFill>
                  <a:srgbClr val="1F2937"/>
                </a:solidFill>
                <a:latin typeface="Yu Gothic"/>
                <a:ea typeface="Yu Gothic"/>
                <a:cs typeface="Yu Gothic"/>
              </a:rPr>
              <a:t>に設定する値を一覧に整理する。</a:t>
            </a:r>
            <a:endParaRPr lang="ja-JP" altLang="en-US" sz="900" dirty="0">
              <a:solidFill>
                <a:srgbClr val="1F2937"/>
              </a:solidFill>
              <a:latin typeface="Yu Gothic"/>
              <a:ea typeface="Yu Gothic"/>
              <a:cs typeface="Yu Gothic"/>
            </a:endParaRPr>
          </a:p>
        </p:txBody>
      </p:sp>
      <p:sp>
        <p:nvSpPr>
          <p:cNvPr id="22" name="正方形/長方形 21">
            <a:extLst>
              <a:ext uri="{FF2B5EF4-FFF2-40B4-BE49-F238E27FC236}">
                <a16:creationId xmlns:a16="http://schemas.microsoft.com/office/drawing/2014/main" id="{3B3D6044-9DD0-10DD-E152-A6C35D38A440}"/>
              </a:ext>
            </a:extLst>
          </p:cNvPr>
          <p:cNvSpPr>
            <a:spLocks noGrp="1"/>
          </p:cNvSpPr>
          <p:nvPr/>
        </p:nvSpPr>
        <p:spPr>
          <a:xfrm>
            <a:off x="6115050" y="37147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89D8B656-4DBD-9065-D5D7-99270063E194}"/>
              </a:ext>
            </a:extLst>
          </p:cNvPr>
          <p:cNvSpPr>
            <a:spLocks noGrp="1"/>
          </p:cNvSpPr>
          <p:nvPr/>
        </p:nvSpPr>
        <p:spPr>
          <a:xfrm>
            <a:off x="6115050" y="3714750"/>
            <a:ext cx="76200" cy="1295400"/>
          </a:xfrm>
          <a:prstGeom prst="rect">
            <a:avLst/>
          </a:prstGeom>
          <a:solidFill>
            <a:srgbClr val="4472C4"/>
          </a:solidFill>
          <a:ln w="0">
            <a:solidFill>
              <a:srgbClr val="4472C4"/>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9B566873-F1D4-1901-58C4-EFB407791D26}"/>
              </a:ext>
            </a:extLst>
          </p:cNvPr>
          <p:cNvSpPr>
            <a:spLocks noGrp="1"/>
          </p:cNvSpPr>
          <p:nvPr/>
        </p:nvSpPr>
        <p:spPr>
          <a:xfrm>
            <a:off x="6324600" y="3857625"/>
            <a:ext cx="4552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05" b="1">
                <a:solidFill>
                  <a:srgbClr val="4472C4"/>
                </a:solidFill>
                <a:latin typeface="Yu Gothic UI"/>
                <a:ea typeface="Yu Gothic UI"/>
                <a:cs typeface="Yu Gothic UI"/>
              </a:defRPr>
            </a:pPr>
            <a:r>
              <a:rPr lang="en-US" altLang="ja-JP" sz="705" b="1" dirty="0">
                <a:solidFill>
                  <a:srgbClr val="4472C4"/>
                </a:solidFill>
                <a:latin typeface="Yu Gothic UI"/>
                <a:ea typeface="Yu Gothic UI"/>
                <a:cs typeface="Yu Gothic UI"/>
              </a:rPr>
              <a:t>Goal 4</a:t>
            </a:r>
          </a:p>
        </p:txBody>
      </p:sp>
      <p:sp>
        <p:nvSpPr>
          <p:cNvPr id="25" name="正方形/長方形 24">
            <a:extLst>
              <a:ext uri="{FF2B5EF4-FFF2-40B4-BE49-F238E27FC236}">
                <a16:creationId xmlns:a16="http://schemas.microsoft.com/office/drawing/2014/main" id="{F7BCAA9E-1C07-A9E3-46A3-32AE3FFA10B1}"/>
              </a:ext>
            </a:extLst>
          </p:cNvPr>
          <p:cNvSpPr>
            <a:spLocks noGrp="1"/>
          </p:cNvSpPr>
          <p:nvPr/>
        </p:nvSpPr>
        <p:spPr>
          <a:xfrm>
            <a:off x="6324600" y="4105275"/>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Meiryo UI"/>
                <a:ea typeface="Meiryo UI"/>
                <a:cs typeface="Meiryo UI"/>
              </a:defRPr>
            </a:pPr>
            <a:r>
              <a:rPr lang="en" altLang="ja-JP" sz="1200" b="1" dirty="0">
                <a:solidFill>
                  <a:srgbClr val="1F2937"/>
                </a:solidFill>
                <a:latin typeface="Meiryo UI"/>
                <a:ea typeface="Meiryo UI"/>
                <a:cs typeface="Meiryo UI"/>
              </a:rPr>
              <a:t>DB </a:t>
            </a:r>
            <a:r>
              <a:rPr lang="ja-JP" altLang="en-US" sz="1200" b="1">
                <a:solidFill>
                  <a:srgbClr val="1F2937"/>
                </a:solidFill>
                <a:latin typeface="Meiryo UI"/>
                <a:ea typeface="Meiryo UI"/>
                <a:cs typeface="Meiryo UI"/>
              </a:rPr>
              <a:t>を停止する</a:t>
            </a:r>
          </a:p>
        </p:txBody>
      </p:sp>
      <p:sp>
        <p:nvSpPr>
          <p:cNvPr id="26" name="正方形/長方形 25">
            <a:extLst>
              <a:ext uri="{FF2B5EF4-FFF2-40B4-BE49-F238E27FC236}">
                <a16:creationId xmlns:a16="http://schemas.microsoft.com/office/drawing/2014/main" id="{6FD26045-C6A5-27C9-19E2-F69981563EFA}"/>
              </a:ext>
            </a:extLst>
          </p:cNvPr>
          <p:cNvSpPr>
            <a:spLocks noGrp="1"/>
          </p:cNvSpPr>
          <p:nvPr/>
        </p:nvSpPr>
        <p:spPr>
          <a:xfrm>
            <a:off x="6324600" y="4495800"/>
            <a:ext cx="45529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125" b="0">
                <a:solidFill>
                  <a:srgbClr val="1F2937"/>
                </a:solidFill>
                <a:latin typeface="Yu Gothic"/>
                <a:ea typeface="Yu Gothic"/>
                <a:cs typeface="Yu Gothic"/>
              </a:defRPr>
            </a:pPr>
            <a:r>
              <a:rPr lang="ja-JP" altLang="en-US" sz="900">
                <a:solidFill>
                  <a:srgbClr val="1F2937"/>
                </a:solidFill>
                <a:latin typeface="Yu Gothic"/>
                <a:ea typeface="Yu Gothic"/>
                <a:cs typeface="Yu Gothic"/>
              </a:rPr>
              <a:t>リソースは残しつつ </a:t>
            </a:r>
            <a:r>
              <a:rPr lang="en" altLang="ja-JP" sz="900" dirty="0">
                <a:solidFill>
                  <a:srgbClr val="1F2937"/>
                </a:solidFill>
                <a:latin typeface="Yu Gothic"/>
                <a:ea typeface="Yu Gothic"/>
                <a:cs typeface="Yu Gothic"/>
              </a:rPr>
              <a:t>PostgreSQL </a:t>
            </a:r>
            <a:r>
              <a:rPr lang="ja-JP" altLang="en-US" sz="900">
                <a:solidFill>
                  <a:srgbClr val="1F2937"/>
                </a:solidFill>
                <a:latin typeface="Yu Gothic"/>
                <a:ea typeface="Yu Gothic"/>
                <a:cs typeface="Yu Gothic"/>
              </a:rPr>
              <a:t>のコンピュート課金を抑える。</a:t>
            </a:r>
            <a:endParaRPr lang="ja-JP" altLang="en-US" sz="900" dirty="0">
              <a:solidFill>
                <a:srgbClr val="1F2937"/>
              </a:solidFill>
              <a:latin typeface="Yu Gothic"/>
              <a:ea typeface="Yu Gothic"/>
              <a:cs typeface="Yu Gothic"/>
            </a:endParaRPr>
          </a:p>
        </p:txBody>
      </p:sp>
    </p:spTree>
    <p:extLst>
      <p:ext uri="{BB962C8B-B14F-4D97-AF65-F5344CB8AC3E}">
        <p14:creationId xmlns:p14="http://schemas.microsoft.com/office/powerpoint/2010/main" val="1186077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E94A-053A-0A97-2807-A7A45FAF8B4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B772637-E583-BDD6-D2DA-B8015780D89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ja-JP" altLang="en-US" sz="2000" b="1">
                <a:solidFill>
                  <a:srgbClr val="1F2937"/>
                </a:solidFill>
                <a:latin typeface="Yu Gothic"/>
                <a:ea typeface="Yu Gothic"/>
                <a:cs typeface="Yu Gothic"/>
              </a:rPr>
              <a:t>第</a:t>
            </a:r>
            <a:r>
              <a:rPr lang="en-US" altLang="ja-JP" sz="2000" b="1" dirty="0">
                <a:solidFill>
                  <a:srgbClr val="1F2937"/>
                </a:solidFill>
                <a:latin typeface="Yu Gothic"/>
                <a:ea typeface="Yu Gothic"/>
                <a:cs typeface="Yu Gothic"/>
              </a:rPr>
              <a:t>3</a:t>
            </a:r>
            <a:r>
              <a:rPr lang="ja-JP" altLang="en-US" sz="2000" b="1">
                <a:solidFill>
                  <a:srgbClr val="1F2937"/>
                </a:solidFill>
                <a:latin typeface="Yu Gothic"/>
                <a:ea typeface="Yu Gothic"/>
                <a:cs typeface="Yu Gothic"/>
              </a:rPr>
              <a:t>回から第</a:t>
            </a:r>
            <a:r>
              <a:rPr lang="en-US" altLang="ja-JP" sz="2000" b="1" dirty="0">
                <a:solidFill>
                  <a:srgbClr val="1F2937"/>
                </a:solidFill>
                <a:latin typeface="Yu Gothic"/>
                <a:ea typeface="Yu Gothic"/>
                <a:cs typeface="Yu Gothic"/>
              </a:rPr>
              <a:t>4</a:t>
            </a:r>
            <a:r>
              <a:rPr lang="ja-JP" altLang="en-US" sz="2000" b="1">
                <a:solidFill>
                  <a:srgbClr val="1F2937"/>
                </a:solidFill>
                <a:latin typeface="Yu Gothic"/>
                <a:ea typeface="Yu Gothic"/>
                <a:cs typeface="Yu Gothic"/>
              </a:rPr>
              <a:t>回の振り返り</a:t>
            </a:r>
          </a:p>
        </p:txBody>
      </p:sp>
      <p:sp>
        <p:nvSpPr>
          <p:cNvPr id="2" name="正方形/長方形 1">
            <a:extLst>
              <a:ext uri="{FF2B5EF4-FFF2-40B4-BE49-F238E27FC236}">
                <a16:creationId xmlns:a16="http://schemas.microsoft.com/office/drawing/2014/main" id="{1005CF27-108E-2387-65B6-7F33F5C28E2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68076495-C7B6-00A7-F13A-025105E44A0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6BD4C64-BCF4-4271-A449-B6094AA890D3}"/>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これまでは </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サーバ単体を </a:t>
            </a:r>
            <a:r>
              <a:rPr lang="en" altLang="ja-JP" sz="1200" dirty="0">
                <a:solidFill>
                  <a:srgbClr val="64748B"/>
                </a:solidFill>
                <a:latin typeface="Yu Gothic"/>
                <a:ea typeface="Yu Gothic"/>
                <a:cs typeface="Yu Gothic"/>
              </a:rPr>
              <a:t>VM </a:t>
            </a:r>
            <a:r>
              <a:rPr lang="ja-JP" altLang="en-US" sz="1200">
                <a:solidFill>
                  <a:srgbClr val="64748B"/>
                </a:solidFill>
                <a:latin typeface="Yu Gothic"/>
                <a:ea typeface="Yu Gothic"/>
                <a:cs typeface="Yu Gothic"/>
              </a:rPr>
              <a:t>と </a:t>
            </a:r>
            <a:r>
              <a:rPr lang="en" altLang="ja-JP" sz="1200" dirty="0">
                <a:solidFill>
                  <a:srgbClr val="64748B"/>
                </a:solidFill>
                <a:latin typeface="Yu Gothic"/>
                <a:ea typeface="Yu Gothic"/>
                <a:cs typeface="Yu Gothic"/>
              </a:rPr>
              <a:t>ACI </a:t>
            </a:r>
            <a:r>
              <a:rPr lang="ja-JP" altLang="en-US" sz="1200">
                <a:solidFill>
                  <a:srgbClr val="64748B"/>
                </a:solidFill>
                <a:latin typeface="Yu Gothic"/>
                <a:ea typeface="Yu Gothic"/>
                <a:cs typeface="Yu Gothic"/>
              </a:rPr>
              <a:t>で動かしました。今回は </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だけでなく、</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と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を含む複合アプリへ進みます。</a:t>
            </a:r>
            <a:endParaRPr lang="ja-JP" altLang="en-US" sz="1200" dirty="0">
              <a:solidFill>
                <a:srgbClr val="64748B"/>
              </a:solidFill>
              <a:latin typeface="Yu Gothic"/>
              <a:ea typeface="Yu Gothic"/>
              <a:cs typeface="Yu Gothic"/>
            </a:endParaRPr>
          </a:p>
        </p:txBody>
      </p:sp>
      <p:sp>
        <p:nvSpPr>
          <p:cNvPr id="27" name="角丸四角形 26">
            <a:extLst>
              <a:ext uri="{FF2B5EF4-FFF2-40B4-BE49-F238E27FC236}">
                <a16:creationId xmlns:a16="http://schemas.microsoft.com/office/drawing/2014/main" id="{6436675C-5455-F43F-6E95-33C4F64F1BAA}"/>
              </a:ext>
            </a:extLst>
          </p:cNvPr>
          <p:cNvSpPr/>
          <p:nvPr/>
        </p:nvSpPr>
        <p:spPr>
          <a:xfrm>
            <a:off x="1084729"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3B6BB7CB-4DD4-2BCD-08FF-42C774FF3389}"/>
              </a:ext>
            </a:extLst>
          </p:cNvPr>
          <p:cNvSpPr/>
          <p:nvPr/>
        </p:nvSpPr>
        <p:spPr>
          <a:xfrm>
            <a:off x="3159273" y="2732664"/>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角丸四角形 28">
            <a:extLst>
              <a:ext uri="{FF2B5EF4-FFF2-40B4-BE49-F238E27FC236}">
                <a16:creationId xmlns:a16="http://schemas.microsoft.com/office/drawing/2014/main" id="{7D4308C6-C378-D647-DC99-46CEFC62D75D}"/>
              </a:ext>
            </a:extLst>
          </p:cNvPr>
          <p:cNvSpPr/>
          <p:nvPr/>
        </p:nvSpPr>
        <p:spPr>
          <a:xfrm>
            <a:off x="5233817"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角丸四角形 29">
            <a:extLst>
              <a:ext uri="{FF2B5EF4-FFF2-40B4-BE49-F238E27FC236}">
                <a16:creationId xmlns:a16="http://schemas.microsoft.com/office/drawing/2014/main" id="{26D5115A-B995-F28B-E5ED-C80A5613C7E0}"/>
              </a:ext>
            </a:extLst>
          </p:cNvPr>
          <p:cNvSpPr/>
          <p:nvPr/>
        </p:nvSpPr>
        <p:spPr>
          <a:xfrm>
            <a:off x="7374146" y="2728505"/>
            <a:ext cx="1724366" cy="2929345"/>
          </a:xfrm>
          <a:prstGeom prst="roundRect">
            <a:avLst>
              <a:gd name="adj" fmla="val 5697"/>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6D6CFB9D-1BAD-C84E-E8D0-F2B95DB9374F}"/>
              </a:ext>
            </a:extLst>
          </p:cNvPr>
          <p:cNvSpPr/>
          <p:nvPr/>
        </p:nvSpPr>
        <p:spPr>
          <a:xfrm>
            <a:off x="9524659" y="2728505"/>
            <a:ext cx="1724366" cy="2929345"/>
          </a:xfrm>
          <a:prstGeom prst="roundRect">
            <a:avLst>
              <a:gd name="adj" fmla="val 5697"/>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132200E8-0BE3-004D-ED09-443FA1C66685}"/>
              </a:ext>
            </a:extLst>
          </p:cNvPr>
          <p:cNvSpPr txBox="1"/>
          <p:nvPr/>
        </p:nvSpPr>
        <p:spPr>
          <a:xfrm>
            <a:off x="1263468"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2</a:t>
            </a:r>
            <a:r>
              <a:rPr kumimoji="1" lang="ja-JP" altLang="en-US">
                <a:latin typeface="Yu Gothic UI" panose="020B0500000000000000" pitchFamily="34" charset="-128"/>
                <a:ea typeface="Yu Gothic UI" panose="020B0500000000000000" pitchFamily="34" charset="-128"/>
              </a:rPr>
              <a:t>回</a:t>
            </a:r>
          </a:p>
        </p:txBody>
      </p:sp>
      <p:sp>
        <p:nvSpPr>
          <p:cNvPr id="33" name="テキスト ボックス 32">
            <a:extLst>
              <a:ext uri="{FF2B5EF4-FFF2-40B4-BE49-F238E27FC236}">
                <a16:creationId xmlns:a16="http://schemas.microsoft.com/office/drawing/2014/main" id="{B04B3C73-2917-B1A8-F04C-41EA28F46E8C}"/>
              </a:ext>
            </a:extLst>
          </p:cNvPr>
          <p:cNvSpPr txBox="1"/>
          <p:nvPr/>
        </p:nvSpPr>
        <p:spPr>
          <a:xfrm>
            <a:off x="1094913" y="3508769"/>
            <a:ext cx="1714181" cy="523220"/>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Web 3</a:t>
            </a:r>
            <a:r>
              <a:rPr kumimoji="1" lang="ja-JP" altLang="en-US" sz="1400">
                <a:latin typeface="Yu Gothic UI" panose="020B0500000000000000" pitchFamily="34" charset="-128"/>
                <a:ea typeface="Yu Gothic UI" panose="020B0500000000000000" pitchFamily="34" charset="-128"/>
              </a:rPr>
              <a:t>層アーキテクチャの解説</a:t>
            </a:r>
          </a:p>
        </p:txBody>
      </p:sp>
      <p:sp>
        <p:nvSpPr>
          <p:cNvPr id="34" name="テキスト ボックス 33">
            <a:extLst>
              <a:ext uri="{FF2B5EF4-FFF2-40B4-BE49-F238E27FC236}">
                <a16:creationId xmlns:a16="http://schemas.microsoft.com/office/drawing/2014/main" id="{2BBE286D-1B93-8A11-8ED7-4BA838F94924}"/>
              </a:ext>
            </a:extLst>
          </p:cNvPr>
          <p:cNvSpPr txBox="1"/>
          <p:nvPr/>
        </p:nvSpPr>
        <p:spPr>
          <a:xfrm>
            <a:off x="3338012"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3</a:t>
            </a:r>
            <a:r>
              <a:rPr kumimoji="1" lang="ja-JP" altLang="en-US">
                <a:latin typeface="Yu Gothic UI" panose="020B0500000000000000" pitchFamily="34" charset="-128"/>
                <a:ea typeface="Yu Gothic UI" panose="020B0500000000000000" pitchFamily="34" charset="-128"/>
              </a:rPr>
              <a:t>回</a:t>
            </a:r>
          </a:p>
        </p:txBody>
      </p:sp>
      <p:sp>
        <p:nvSpPr>
          <p:cNvPr id="35" name="テキスト ボックス 34">
            <a:extLst>
              <a:ext uri="{FF2B5EF4-FFF2-40B4-BE49-F238E27FC236}">
                <a16:creationId xmlns:a16="http://schemas.microsoft.com/office/drawing/2014/main" id="{55AB1CAB-7EB8-42ED-13C0-0D210D83242F}"/>
              </a:ext>
            </a:extLst>
          </p:cNvPr>
          <p:cNvSpPr txBox="1"/>
          <p:nvPr/>
        </p:nvSpPr>
        <p:spPr>
          <a:xfrm>
            <a:off x="3169457" y="3508769"/>
            <a:ext cx="1714181" cy="523220"/>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VM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Web </a:t>
            </a:r>
            <a:r>
              <a:rPr kumimoji="1" lang="ja-JP" altLang="en-US" sz="1400">
                <a:latin typeface="Yu Gothic UI" panose="020B0500000000000000" pitchFamily="34" charset="-128"/>
                <a:ea typeface="Yu Gothic UI" panose="020B0500000000000000" pitchFamily="34" charset="-128"/>
              </a:rPr>
              <a:t>サーバの構築</a:t>
            </a:r>
            <a:endParaRPr kumimoji="1" lang="en-US" altLang="ja-JP" sz="1400">
              <a:latin typeface="Yu Gothic UI" panose="020B0500000000000000" pitchFamily="34" charset="-128"/>
              <a:ea typeface="Yu Gothic UI" panose="020B0500000000000000" pitchFamily="34" charset="-128"/>
            </a:endParaRPr>
          </a:p>
        </p:txBody>
      </p:sp>
      <p:sp>
        <p:nvSpPr>
          <p:cNvPr id="36" name="テキスト ボックス 35">
            <a:extLst>
              <a:ext uri="{FF2B5EF4-FFF2-40B4-BE49-F238E27FC236}">
                <a16:creationId xmlns:a16="http://schemas.microsoft.com/office/drawing/2014/main" id="{7F40F05B-493E-0C2D-3B81-55F3B52F6653}"/>
              </a:ext>
            </a:extLst>
          </p:cNvPr>
          <p:cNvSpPr txBox="1"/>
          <p:nvPr/>
        </p:nvSpPr>
        <p:spPr>
          <a:xfrm>
            <a:off x="5412556"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4</a:t>
            </a:r>
            <a:r>
              <a:rPr kumimoji="1" lang="ja-JP" altLang="en-US">
                <a:latin typeface="Yu Gothic UI" panose="020B0500000000000000" pitchFamily="34" charset="-128"/>
                <a:ea typeface="Yu Gothic UI" panose="020B0500000000000000" pitchFamily="34" charset="-128"/>
              </a:rPr>
              <a:t>回</a:t>
            </a:r>
          </a:p>
        </p:txBody>
      </p:sp>
      <p:sp>
        <p:nvSpPr>
          <p:cNvPr id="37" name="テキスト ボックス 36">
            <a:extLst>
              <a:ext uri="{FF2B5EF4-FFF2-40B4-BE49-F238E27FC236}">
                <a16:creationId xmlns:a16="http://schemas.microsoft.com/office/drawing/2014/main" id="{469BD770-3D49-B5FD-3C2C-0D4224F07DF6}"/>
              </a:ext>
            </a:extLst>
          </p:cNvPr>
          <p:cNvSpPr txBox="1"/>
          <p:nvPr/>
        </p:nvSpPr>
        <p:spPr>
          <a:xfrm>
            <a:off x="5244001" y="3508769"/>
            <a:ext cx="1714181" cy="738664"/>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Instances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Web </a:t>
            </a:r>
            <a:r>
              <a:rPr kumimoji="1" lang="ja-JP" altLang="en-US" sz="1400">
                <a:latin typeface="Yu Gothic UI" panose="020B0500000000000000" pitchFamily="34" charset="-128"/>
                <a:ea typeface="Yu Gothic UI" panose="020B0500000000000000" pitchFamily="34" charset="-128"/>
              </a:rPr>
              <a:t>サーバの構築</a:t>
            </a:r>
            <a:endParaRPr kumimoji="1" lang="en-US" altLang="ja-JP" sz="1400">
              <a:latin typeface="Yu Gothic UI" panose="020B0500000000000000" pitchFamily="34" charset="-128"/>
              <a:ea typeface="Yu Gothic UI" panose="020B0500000000000000" pitchFamily="34" charset="-128"/>
            </a:endParaRPr>
          </a:p>
        </p:txBody>
      </p:sp>
      <p:cxnSp>
        <p:nvCxnSpPr>
          <p:cNvPr id="38" name="直線矢印コネクタ 37">
            <a:extLst>
              <a:ext uri="{FF2B5EF4-FFF2-40B4-BE49-F238E27FC236}">
                <a16:creationId xmlns:a16="http://schemas.microsoft.com/office/drawing/2014/main" id="{1E6841B5-5BB8-6735-0D78-CEA5FE8ED03E}"/>
              </a:ext>
            </a:extLst>
          </p:cNvPr>
          <p:cNvCxnSpPr>
            <a:stCxn id="27" idx="3"/>
            <a:endCxn id="28" idx="1"/>
          </p:cNvCxnSpPr>
          <p:nvPr/>
        </p:nvCxnSpPr>
        <p:spPr>
          <a:xfrm>
            <a:off x="2809095" y="4193178"/>
            <a:ext cx="35017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B696FBA8-B236-88BD-563C-39FC8D36F49D}"/>
              </a:ext>
            </a:extLst>
          </p:cNvPr>
          <p:cNvCxnSpPr>
            <a:cxnSpLocks/>
            <a:stCxn id="28" idx="3"/>
            <a:endCxn id="29" idx="1"/>
          </p:cNvCxnSpPr>
          <p:nvPr/>
        </p:nvCxnSpPr>
        <p:spPr>
          <a:xfrm flipV="1">
            <a:off x="4883639" y="4193178"/>
            <a:ext cx="35017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F2D8D4C0-7C83-8A58-FDA7-27526A67B5EA}"/>
              </a:ext>
            </a:extLst>
          </p:cNvPr>
          <p:cNvCxnSpPr>
            <a:cxnSpLocks/>
            <a:stCxn id="29" idx="3"/>
            <a:endCxn id="30" idx="1"/>
          </p:cNvCxnSpPr>
          <p:nvPr/>
        </p:nvCxnSpPr>
        <p:spPr>
          <a:xfrm>
            <a:off x="6958183" y="4193178"/>
            <a:ext cx="4159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65CC56BD-34BA-3960-0EA5-065B7CBAFCAC}"/>
              </a:ext>
            </a:extLst>
          </p:cNvPr>
          <p:cNvCxnSpPr>
            <a:cxnSpLocks/>
            <a:endCxn id="31" idx="1"/>
          </p:cNvCxnSpPr>
          <p:nvPr/>
        </p:nvCxnSpPr>
        <p:spPr>
          <a:xfrm>
            <a:off x="9098512" y="4193178"/>
            <a:ext cx="4261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187E16C8-A2B1-0176-5355-E852A4026239}"/>
              </a:ext>
            </a:extLst>
          </p:cNvPr>
          <p:cNvSpPr txBox="1"/>
          <p:nvPr/>
        </p:nvSpPr>
        <p:spPr>
          <a:xfrm>
            <a:off x="7552885"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5</a:t>
            </a:r>
            <a:r>
              <a:rPr kumimoji="1" lang="ja-JP" altLang="en-US">
                <a:latin typeface="Yu Gothic UI" panose="020B0500000000000000" pitchFamily="34" charset="-128"/>
                <a:ea typeface="Yu Gothic UI" panose="020B0500000000000000" pitchFamily="34" charset="-128"/>
              </a:rPr>
              <a:t>回</a:t>
            </a:r>
          </a:p>
        </p:txBody>
      </p:sp>
      <p:sp>
        <p:nvSpPr>
          <p:cNvPr id="43" name="テキスト ボックス 42">
            <a:extLst>
              <a:ext uri="{FF2B5EF4-FFF2-40B4-BE49-F238E27FC236}">
                <a16:creationId xmlns:a16="http://schemas.microsoft.com/office/drawing/2014/main" id="{9BAACE14-A842-8007-EABB-BABE79F99510}"/>
              </a:ext>
            </a:extLst>
          </p:cNvPr>
          <p:cNvSpPr txBox="1"/>
          <p:nvPr/>
        </p:nvSpPr>
        <p:spPr>
          <a:xfrm>
            <a:off x="7384330" y="3508769"/>
            <a:ext cx="1714181" cy="1169551"/>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Apps </a:t>
            </a:r>
            <a:r>
              <a:rPr kumimoji="1" lang="ja-JP" altLang="en-US" sz="1400">
                <a:latin typeface="Yu Gothic UI" panose="020B0500000000000000" pitchFamily="34" charset="-128"/>
                <a:ea typeface="Yu Gothic UI" panose="020B0500000000000000" pitchFamily="34" charset="-128"/>
              </a:rPr>
              <a:t>と</a:t>
            </a:r>
            <a:r>
              <a:rPr kumimoji="1" lang="en-US" altLang="ja-JP" sz="1400">
                <a:latin typeface="Yu Gothic UI" panose="020B0500000000000000" pitchFamily="34" charset="-128"/>
                <a:ea typeface="Yu Gothic UI" panose="020B0500000000000000" pitchFamily="34" charset="-128"/>
              </a:rPr>
              <a:t> Postgres Flexible Server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 Web </a:t>
            </a:r>
            <a:r>
              <a:rPr kumimoji="1" lang="ja-JP" altLang="en-US" sz="1400">
                <a:latin typeface="Yu Gothic UI" panose="020B0500000000000000" pitchFamily="34" charset="-128"/>
                <a:ea typeface="Yu Gothic UI" panose="020B0500000000000000" pitchFamily="34" charset="-128"/>
              </a:rPr>
              <a:t>アプリケーション構築</a:t>
            </a:r>
            <a:r>
              <a:rPr kumimoji="1" lang="en-US" altLang="ja-JP" sz="1400">
                <a:latin typeface="Yu Gothic UI" panose="020B0500000000000000" pitchFamily="34" charset="-128"/>
                <a:ea typeface="Yu Gothic UI" panose="020B0500000000000000" pitchFamily="34" charset="-128"/>
              </a:rPr>
              <a:t> (</a:t>
            </a:r>
            <a:r>
              <a:rPr kumimoji="1" lang="ja-JP" altLang="en-US" sz="1400">
                <a:latin typeface="Yu Gothic UI" panose="020B0500000000000000" pitchFamily="34" charset="-128"/>
                <a:ea typeface="Yu Gothic UI" panose="020B0500000000000000" pitchFamily="34" charset="-128"/>
              </a:rPr>
              <a:t>前半</a:t>
            </a:r>
            <a:r>
              <a:rPr kumimoji="1" lang="en-US" altLang="ja-JP" sz="1400">
                <a:latin typeface="Yu Gothic UI" panose="020B0500000000000000" pitchFamily="34" charset="-128"/>
                <a:ea typeface="Yu Gothic UI" panose="020B0500000000000000" pitchFamily="34" charset="-128"/>
              </a:rPr>
              <a:t>)</a:t>
            </a:r>
          </a:p>
        </p:txBody>
      </p:sp>
      <p:sp>
        <p:nvSpPr>
          <p:cNvPr id="44" name="テキスト ボックス 43">
            <a:extLst>
              <a:ext uri="{FF2B5EF4-FFF2-40B4-BE49-F238E27FC236}">
                <a16:creationId xmlns:a16="http://schemas.microsoft.com/office/drawing/2014/main" id="{1C17FB58-AE6C-C3D3-22E7-18F278C8C411}"/>
              </a:ext>
            </a:extLst>
          </p:cNvPr>
          <p:cNvSpPr txBox="1"/>
          <p:nvPr/>
        </p:nvSpPr>
        <p:spPr>
          <a:xfrm>
            <a:off x="9703399"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6</a:t>
            </a:r>
            <a:r>
              <a:rPr kumimoji="1" lang="ja-JP" altLang="en-US">
                <a:latin typeface="Yu Gothic UI" panose="020B0500000000000000" pitchFamily="34" charset="-128"/>
                <a:ea typeface="Yu Gothic UI" panose="020B0500000000000000" pitchFamily="34" charset="-128"/>
              </a:rPr>
              <a:t>回</a:t>
            </a:r>
          </a:p>
        </p:txBody>
      </p:sp>
      <p:sp>
        <p:nvSpPr>
          <p:cNvPr id="45" name="テキスト ボックス 44">
            <a:extLst>
              <a:ext uri="{FF2B5EF4-FFF2-40B4-BE49-F238E27FC236}">
                <a16:creationId xmlns:a16="http://schemas.microsoft.com/office/drawing/2014/main" id="{1EF689A7-F21F-E94A-4CDE-9B5A3BDC24B9}"/>
              </a:ext>
            </a:extLst>
          </p:cNvPr>
          <p:cNvSpPr txBox="1"/>
          <p:nvPr/>
        </p:nvSpPr>
        <p:spPr>
          <a:xfrm>
            <a:off x="9534844" y="3508769"/>
            <a:ext cx="1714181" cy="1169551"/>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Apps </a:t>
            </a:r>
            <a:r>
              <a:rPr kumimoji="1" lang="ja-JP" altLang="en-US" sz="1400">
                <a:latin typeface="Yu Gothic UI" panose="020B0500000000000000" pitchFamily="34" charset="-128"/>
                <a:ea typeface="Yu Gothic UI" panose="020B0500000000000000" pitchFamily="34" charset="-128"/>
              </a:rPr>
              <a:t>と</a:t>
            </a:r>
            <a:r>
              <a:rPr kumimoji="1" lang="en-US" altLang="ja-JP" sz="1400">
                <a:latin typeface="Yu Gothic UI" panose="020B0500000000000000" pitchFamily="34" charset="-128"/>
                <a:ea typeface="Yu Gothic UI" panose="020B0500000000000000" pitchFamily="34" charset="-128"/>
              </a:rPr>
              <a:t> Postgres Flexible Server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 Web </a:t>
            </a:r>
            <a:r>
              <a:rPr kumimoji="1" lang="ja-JP" altLang="en-US" sz="1400">
                <a:latin typeface="Yu Gothic UI" panose="020B0500000000000000" pitchFamily="34" charset="-128"/>
                <a:ea typeface="Yu Gothic UI" panose="020B0500000000000000" pitchFamily="34" charset="-128"/>
              </a:rPr>
              <a:t>アプリケーション構築</a:t>
            </a:r>
            <a:r>
              <a:rPr kumimoji="1" lang="en-US" altLang="ja-JP" sz="1400">
                <a:latin typeface="Yu Gothic UI" panose="020B0500000000000000" pitchFamily="34" charset="-128"/>
                <a:ea typeface="Yu Gothic UI" panose="020B0500000000000000" pitchFamily="34" charset="-128"/>
              </a:rPr>
              <a:t> (</a:t>
            </a:r>
            <a:r>
              <a:rPr kumimoji="1" lang="ja-JP" altLang="en-US" sz="1400">
                <a:latin typeface="Yu Gothic UI" panose="020B0500000000000000" pitchFamily="34" charset="-128"/>
                <a:ea typeface="Yu Gothic UI" panose="020B0500000000000000" pitchFamily="34" charset="-128"/>
              </a:rPr>
              <a:t>後半</a:t>
            </a:r>
            <a:r>
              <a:rPr kumimoji="1" lang="en-US" altLang="ja-JP" sz="1400">
                <a:latin typeface="Yu Gothic UI" panose="020B0500000000000000" pitchFamily="34" charset="-128"/>
                <a:ea typeface="Yu Gothic UI" panose="020B0500000000000000" pitchFamily="34" charset="-128"/>
              </a:rPr>
              <a:t>)</a:t>
            </a:r>
          </a:p>
        </p:txBody>
      </p:sp>
      <p:pic>
        <p:nvPicPr>
          <p:cNvPr id="46" name="グラフィックス 45">
            <a:extLst>
              <a:ext uri="{FF2B5EF4-FFF2-40B4-BE49-F238E27FC236}">
                <a16:creationId xmlns:a16="http://schemas.microsoft.com/office/drawing/2014/main" id="{0A71BC69-62D9-0212-129F-A391E658D2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0073" y="4892446"/>
            <a:ext cx="462764" cy="462764"/>
          </a:xfrm>
          <a:prstGeom prst="rect">
            <a:avLst/>
          </a:prstGeom>
        </p:spPr>
      </p:pic>
      <p:pic>
        <p:nvPicPr>
          <p:cNvPr id="47" name="グラフィックス 46">
            <a:extLst>
              <a:ext uri="{FF2B5EF4-FFF2-40B4-BE49-F238E27FC236}">
                <a16:creationId xmlns:a16="http://schemas.microsoft.com/office/drawing/2014/main" id="{A1F8DBD1-A825-BFCA-D81D-26F248F98C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7396" y="4858002"/>
            <a:ext cx="497208" cy="497208"/>
          </a:xfrm>
          <a:prstGeom prst="rect">
            <a:avLst/>
          </a:prstGeom>
        </p:spPr>
      </p:pic>
      <p:pic>
        <p:nvPicPr>
          <p:cNvPr id="48" name="グラフィックス 47">
            <a:extLst>
              <a:ext uri="{FF2B5EF4-FFF2-40B4-BE49-F238E27FC236}">
                <a16:creationId xmlns:a16="http://schemas.microsoft.com/office/drawing/2014/main" id="{867D6FA4-E693-6720-4570-C409355733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44286" y="4892446"/>
            <a:ext cx="452065" cy="452065"/>
          </a:xfrm>
          <a:prstGeom prst="rect">
            <a:avLst/>
          </a:prstGeom>
        </p:spPr>
      </p:pic>
      <p:pic>
        <p:nvPicPr>
          <p:cNvPr id="49" name="グラフィックス 48">
            <a:extLst>
              <a:ext uri="{FF2B5EF4-FFF2-40B4-BE49-F238E27FC236}">
                <a16:creationId xmlns:a16="http://schemas.microsoft.com/office/drawing/2014/main" id="{2601A58F-26E5-6EFC-C431-85762E991E2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20668" y="4881747"/>
            <a:ext cx="462764" cy="462764"/>
          </a:xfrm>
          <a:prstGeom prst="rect">
            <a:avLst/>
          </a:prstGeom>
        </p:spPr>
      </p:pic>
      <p:pic>
        <p:nvPicPr>
          <p:cNvPr id="50" name="図 49">
            <a:extLst>
              <a:ext uri="{FF2B5EF4-FFF2-40B4-BE49-F238E27FC236}">
                <a16:creationId xmlns:a16="http://schemas.microsoft.com/office/drawing/2014/main" id="{CF9CCA93-0CE3-B7C5-17D9-B1DF8AF695C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0189449" y="4930463"/>
            <a:ext cx="394786" cy="386729"/>
          </a:xfrm>
          <a:prstGeom prst="rect">
            <a:avLst/>
          </a:prstGeom>
        </p:spPr>
      </p:pic>
    </p:spTree>
    <p:extLst>
      <p:ext uri="{BB962C8B-B14F-4D97-AF65-F5344CB8AC3E}">
        <p14:creationId xmlns:p14="http://schemas.microsoft.com/office/powerpoint/2010/main" val="4224747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B97CA-D94F-9E0F-0C78-38ADA559A79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667CD011-3D21-C42B-1EC6-54A3CCB078E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単体 </a:t>
            </a:r>
            <a:r>
              <a:rPr lang="en" altLang="ja-JP" sz="2025" b="1" dirty="0">
                <a:solidFill>
                  <a:srgbClr val="1F2937"/>
                </a:solidFill>
                <a:latin typeface="Meiryo UI"/>
                <a:ea typeface="Meiryo UI"/>
                <a:cs typeface="Meiryo UI"/>
              </a:rPr>
              <a:t>Web </a:t>
            </a:r>
            <a:r>
              <a:rPr lang="ja-JP" altLang="en-US" sz="2025" b="1">
                <a:solidFill>
                  <a:srgbClr val="1F2937"/>
                </a:solidFill>
                <a:latin typeface="Meiryo UI"/>
                <a:ea typeface="Meiryo UI"/>
                <a:cs typeface="Meiryo UI"/>
              </a:rPr>
              <a:t>サーバから複合アプリへ</a:t>
            </a:r>
          </a:p>
        </p:txBody>
      </p:sp>
      <p:sp>
        <p:nvSpPr>
          <p:cNvPr id="2" name="正方形/長方形 1">
            <a:extLst>
              <a:ext uri="{FF2B5EF4-FFF2-40B4-BE49-F238E27FC236}">
                <a16:creationId xmlns:a16="http://schemas.microsoft.com/office/drawing/2014/main" id="{280D0AA5-FDAC-CF32-6571-64D3E3FF3E4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4CF39CF7-C6DA-173C-9D68-2741E2AB16F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D42F9CE-B715-7AFC-78A1-1E991CB4A145}"/>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アプリでは画面を表示するだけでなく、</a:t>
            </a: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の保存、更新、削除、サインイン、デプロイの自動化まで複数サービスが連携します。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B1951A04-E863-3CFF-511D-AACFC9C000DD}"/>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sp>
        <p:nvSpPr>
          <p:cNvPr id="27" name="角丸四角形 26">
            <a:extLst>
              <a:ext uri="{FF2B5EF4-FFF2-40B4-BE49-F238E27FC236}">
                <a16:creationId xmlns:a16="http://schemas.microsoft.com/office/drawing/2014/main" id="{0EFC5A5A-DE22-0968-A7F7-DA9E867B0F3F}"/>
              </a:ext>
            </a:extLst>
          </p:cNvPr>
          <p:cNvSpPr/>
          <p:nvPr/>
        </p:nvSpPr>
        <p:spPr>
          <a:xfrm>
            <a:off x="4919201" y="3288044"/>
            <a:ext cx="6421244" cy="2475106"/>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79BD942B-087B-5B5B-A3E4-7F134F95CF5A}"/>
              </a:ext>
            </a:extLst>
          </p:cNvPr>
          <p:cNvSpPr/>
          <p:nvPr/>
        </p:nvSpPr>
        <p:spPr>
          <a:xfrm>
            <a:off x="5084094" y="3640096"/>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9D652083-CF19-C49C-167E-B4579B8D55F1}"/>
              </a:ext>
            </a:extLst>
          </p:cNvPr>
          <p:cNvSpPr txBox="1"/>
          <p:nvPr/>
        </p:nvSpPr>
        <p:spPr>
          <a:xfrm>
            <a:off x="6486997" y="5299461"/>
            <a:ext cx="2783674"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30" name="角丸四角形 29">
            <a:extLst>
              <a:ext uri="{FF2B5EF4-FFF2-40B4-BE49-F238E27FC236}">
                <a16:creationId xmlns:a16="http://schemas.microsoft.com/office/drawing/2014/main" id="{D55F2005-A0C8-94DB-4D16-71C5563FD87B}"/>
              </a:ext>
            </a:extLst>
          </p:cNvPr>
          <p:cNvSpPr/>
          <p:nvPr/>
        </p:nvSpPr>
        <p:spPr>
          <a:xfrm>
            <a:off x="7252679" y="3640096"/>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61C05106-3A54-47E7-511B-76A40D8B10AA}"/>
              </a:ext>
            </a:extLst>
          </p:cNvPr>
          <p:cNvSpPr/>
          <p:nvPr/>
        </p:nvSpPr>
        <p:spPr>
          <a:xfrm>
            <a:off x="9421265" y="3640096"/>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F95D47B7-4F39-AD7D-4F7C-4A55DAFC644A}"/>
              </a:ext>
            </a:extLst>
          </p:cNvPr>
          <p:cNvSpPr txBox="1"/>
          <p:nvPr/>
        </p:nvSpPr>
        <p:spPr>
          <a:xfrm>
            <a:off x="5485786" y="3773058"/>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3" name="テキスト ボックス 32">
            <a:extLst>
              <a:ext uri="{FF2B5EF4-FFF2-40B4-BE49-F238E27FC236}">
                <a16:creationId xmlns:a16="http://schemas.microsoft.com/office/drawing/2014/main" id="{04D2041A-A1BF-3946-6D98-875A327FF652}"/>
              </a:ext>
            </a:extLst>
          </p:cNvPr>
          <p:cNvSpPr txBox="1"/>
          <p:nvPr/>
        </p:nvSpPr>
        <p:spPr>
          <a:xfrm>
            <a:off x="7583646" y="3742306"/>
            <a:ext cx="1149035"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4" name="テキスト ボックス 33">
            <a:extLst>
              <a:ext uri="{FF2B5EF4-FFF2-40B4-BE49-F238E27FC236}">
                <a16:creationId xmlns:a16="http://schemas.microsoft.com/office/drawing/2014/main" id="{854F0716-5241-4DFE-0F44-D4D9CDBC2E90}"/>
              </a:ext>
            </a:extLst>
          </p:cNvPr>
          <p:cNvSpPr txBox="1"/>
          <p:nvPr/>
        </p:nvSpPr>
        <p:spPr>
          <a:xfrm>
            <a:off x="9849024" y="3734236"/>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5" name="角丸四角形 34">
            <a:extLst>
              <a:ext uri="{FF2B5EF4-FFF2-40B4-BE49-F238E27FC236}">
                <a16:creationId xmlns:a16="http://schemas.microsoft.com/office/drawing/2014/main" id="{60848A03-8187-81F6-FFA8-F36A045DB27E}"/>
              </a:ext>
            </a:extLst>
          </p:cNvPr>
          <p:cNvSpPr/>
          <p:nvPr/>
        </p:nvSpPr>
        <p:spPr>
          <a:xfrm>
            <a:off x="1117861" y="4075252"/>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CBB46A7C-312E-C8F9-8B30-D8C61296740E}"/>
              </a:ext>
            </a:extLst>
          </p:cNvPr>
          <p:cNvSpPr txBox="1"/>
          <p:nvPr/>
        </p:nvSpPr>
        <p:spPr>
          <a:xfrm>
            <a:off x="1225484" y="4168676"/>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37" name="直線コネクタ 36">
            <a:extLst>
              <a:ext uri="{FF2B5EF4-FFF2-40B4-BE49-F238E27FC236}">
                <a16:creationId xmlns:a16="http://schemas.microsoft.com/office/drawing/2014/main" id="{889016C0-837D-C9DF-3F4B-EC76569BD059}"/>
              </a:ext>
            </a:extLst>
          </p:cNvPr>
          <p:cNvCxnSpPr>
            <a:cxnSpLocks/>
          </p:cNvCxnSpPr>
          <p:nvPr/>
        </p:nvCxnSpPr>
        <p:spPr>
          <a:xfrm>
            <a:off x="2770735" y="4204311"/>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BEFE9036-37E8-523A-353A-438D09CA4FF1}"/>
              </a:ext>
            </a:extLst>
          </p:cNvPr>
          <p:cNvSpPr txBox="1"/>
          <p:nvPr/>
        </p:nvSpPr>
        <p:spPr>
          <a:xfrm>
            <a:off x="3232722" y="3942417"/>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39" name="テキスト ボックス 38">
            <a:extLst>
              <a:ext uri="{FF2B5EF4-FFF2-40B4-BE49-F238E27FC236}">
                <a16:creationId xmlns:a16="http://schemas.microsoft.com/office/drawing/2014/main" id="{495B3080-C676-9EB5-AF8B-EBD945C135B8}"/>
              </a:ext>
            </a:extLst>
          </p:cNvPr>
          <p:cNvSpPr txBox="1"/>
          <p:nvPr/>
        </p:nvSpPr>
        <p:spPr>
          <a:xfrm>
            <a:off x="5088834" y="4244117"/>
            <a:ext cx="1708657" cy="769441"/>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リクエストの受付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リクエストごとに静的、動的レスポンスの判断</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レスポンスの返却</a:t>
            </a:r>
          </a:p>
        </p:txBody>
      </p:sp>
      <p:sp>
        <p:nvSpPr>
          <p:cNvPr id="40" name="テキスト ボックス 39">
            <a:extLst>
              <a:ext uri="{FF2B5EF4-FFF2-40B4-BE49-F238E27FC236}">
                <a16:creationId xmlns:a16="http://schemas.microsoft.com/office/drawing/2014/main" id="{E7E4942F-1BE5-72A2-C92F-4AF83784BECA}"/>
              </a:ext>
            </a:extLst>
          </p:cNvPr>
          <p:cNvSpPr txBox="1"/>
          <p:nvPr/>
        </p:nvSpPr>
        <p:spPr>
          <a:xfrm>
            <a:off x="7276143" y="4237136"/>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41" name="直線コネクタ 40">
            <a:extLst>
              <a:ext uri="{FF2B5EF4-FFF2-40B4-BE49-F238E27FC236}">
                <a16:creationId xmlns:a16="http://schemas.microsoft.com/office/drawing/2014/main" id="{5C916569-6442-AC40-CB0A-2A71930AF462}"/>
              </a:ext>
            </a:extLst>
          </p:cNvPr>
          <p:cNvCxnSpPr>
            <a:cxnSpLocks/>
          </p:cNvCxnSpPr>
          <p:nvPr/>
        </p:nvCxnSpPr>
        <p:spPr>
          <a:xfrm>
            <a:off x="6839680" y="4196957"/>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9AF5A3D8-6B52-2653-D4EF-D05788BA12A7}"/>
              </a:ext>
            </a:extLst>
          </p:cNvPr>
          <p:cNvSpPr txBox="1"/>
          <p:nvPr/>
        </p:nvSpPr>
        <p:spPr>
          <a:xfrm>
            <a:off x="6454097" y="3711503"/>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43" name="直線コネクタ 42">
            <a:extLst>
              <a:ext uri="{FF2B5EF4-FFF2-40B4-BE49-F238E27FC236}">
                <a16:creationId xmlns:a16="http://schemas.microsoft.com/office/drawing/2014/main" id="{9FC721CE-1657-693F-4D05-CA34AB57BFD5}"/>
              </a:ext>
            </a:extLst>
          </p:cNvPr>
          <p:cNvCxnSpPr>
            <a:cxnSpLocks/>
          </p:cNvCxnSpPr>
          <p:nvPr/>
        </p:nvCxnSpPr>
        <p:spPr>
          <a:xfrm>
            <a:off x="9008266" y="4204311"/>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278A3F4A-3936-C150-799C-E892F24B5E73}"/>
              </a:ext>
            </a:extLst>
          </p:cNvPr>
          <p:cNvSpPr txBox="1"/>
          <p:nvPr/>
        </p:nvSpPr>
        <p:spPr>
          <a:xfrm>
            <a:off x="8683727" y="3590445"/>
            <a:ext cx="1000958" cy="577081"/>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リクエスト</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 (CRUD</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操作</a:t>
            </a: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a:t>
            </a:r>
          </a:p>
        </p:txBody>
      </p:sp>
      <p:cxnSp>
        <p:nvCxnSpPr>
          <p:cNvPr id="45" name="直線コネクタ 44">
            <a:extLst>
              <a:ext uri="{FF2B5EF4-FFF2-40B4-BE49-F238E27FC236}">
                <a16:creationId xmlns:a16="http://schemas.microsoft.com/office/drawing/2014/main" id="{E4180A4C-9BD7-79C7-4A2F-31B212F85914}"/>
              </a:ext>
            </a:extLst>
          </p:cNvPr>
          <p:cNvCxnSpPr>
            <a:cxnSpLocks/>
          </p:cNvCxnSpPr>
          <p:nvPr/>
        </p:nvCxnSpPr>
        <p:spPr>
          <a:xfrm flipH="1">
            <a:off x="9008265" y="4714930"/>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6D7AC0EB-4A67-2148-94D8-74F5831A7282}"/>
              </a:ext>
            </a:extLst>
          </p:cNvPr>
          <p:cNvCxnSpPr>
            <a:cxnSpLocks/>
          </p:cNvCxnSpPr>
          <p:nvPr/>
        </p:nvCxnSpPr>
        <p:spPr>
          <a:xfrm flipH="1">
            <a:off x="6827174" y="4714930"/>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BC5E447-ED69-2587-DD84-487C32FE88EE}"/>
              </a:ext>
            </a:extLst>
          </p:cNvPr>
          <p:cNvCxnSpPr>
            <a:cxnSpLocks/>
          </p:cNvCxnSpPr>
          <p:nvPr/>
        </p:nvCxnSpPr>
        <p:spPr>
          <a:xfrm flipH="1">
            <a:off x="2746050" y="4518254"/>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6CF16026-1436-44FE-D3DB-6954176A1444}"/>
              </a:ext>
            </a:extLst>
          </p:cNvPr>
          <p:cNvSpPr txBox="1"/>
          <p:nvPr/>
        </p:nvSpPr>
        <p:spPr>
          <a:xfrm>
            <a:off x="3232721" y="4581820"/>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49" name="テキスト ボックス 48">
            <a:extLst>
              <a:ext uri="{FF2B5EF4-FFF2-40B4-BE49-F238E27FC236}">
                <a16:creationId xmlns:a16="http://schemas.microsoft.com/office/drawing/2014/main" id="{5A657DE6-39AE-A009-8574-550B237EAE5F}"/>
              </a:ext>
            </a:extLst>
          </p:cNvPr>
          <p:cNvSpPr txBox="1"/>
          <p:nvPr/>
        </p:nvSpPr>
        <p:spPr>
          <a:xfrm>
            <a:off x="9397928" y="4217177"/>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0" name="テキスト ボックス 49">
            <a:extLst>
              <a:ext uri="{FF2B5EF4-FFF2-40B4-BE49-F238E27FC236}">
                <a16:creationId xmlns:a16="http://schemas.microsoft.com/office/drawing/2014/main" id="{C0C4C41A-715C-C138-0516-EBF214D7CDDD}"/>
              </a:ext>
            </a:extLst>
          </p:cNvPr>
          <p:cNvSpPr txBox="1"/>
          <p:nvPr/>
        </p:nvSpPr>
        <p:spPr>
          <a:xfrm>
            <a:off x="8863473" y="4777749"/>
            <a:ext cx="67809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a:t>
            </a:r>
          </a:p>
        </p:txBody>
      </p:sp>
      <p:sp>
        <p:nvSpPr>
          <p:cNvPr id="51" name="テキスト ボックス 50">
            <a:extLst>
              <a:ext uri="{FF2B5EF4-FFF2-40B4-BE49-F238E27FC236}">
                <a16:creationId xmlns:a16="http://schemas.microsoft.com/office/drawing/2014/main" id="{9B4B01BB-581A-EE41-3169-14B69E9F5124}"/>
              </a:ext>
            </a:extLst>
          </p:cNvPr>
          <p:cNvSpPr txBox="1"/>
          <p:nvPr/>
        </p:nvSpPr>
        <p:spPr>
          <a:xfrm>
            <a:off x="6727111" y="4788547"/>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52" name="四角形吹き出し 51">
            <a:extLst>
              <a:ext uri="{FF2B5EF4-FFF2-40B4-BE49-F238E27FC236}">
                <a16:creationId xmlns:a16="http://schemas.microsoft.com/office/drawing/2014/main" id="{E6B292BC-971A-9274-9579-C3DC6D971C03}"/>
              </a:ext>
            </a:extLst>
          </p:cNvPr>
          <p:cNvSpPr/>
          <p:nvPr/>
        </p:nvSpPr>
        <p:spPr>
          <a:xfrm>
            <a:off x="5015060" y="2240650"/>
            <a:ext cx="1755587" cy="1180977"/>
          </a:xfrm>
          <a:prstGeom prst="wedgeRectCallou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3" name="テキスト ボックス 52">
            <a:extLst>
              <a:ext uri="{FF2B5EF4-FFF2-40B4-BE49-F238E27FC236}">
                <a16:creationId xmlns:a16="http://schemas.microsoft.com/office/drawing/2014/main" id="{7B6A5D23-1035-5998-1517-EBB654B417A6}"/>
              </a:ext>
            </a:extLst>
          </p:cNvPr>
          <p:cNvSpPr txBox="1"/>
          <p:nvPr/>
        </p:nvSpPr>
        <p:spPr>
          <a:xfrm>
            <a:off x="5002890" y="2244645"/>
            <a:ext cx="1451207" cy="307777"/>
          </a:xfrm>
          <a:prstGeom prst="rect">
            <a:avLst/>
          </a:prstGeom>
          <a:noFill/>
        </p:spPr>
        <p:txBody>
          <a:bodyPr wrap="square" rtlCol="0">
            <a:spAutoFit/>
          </a:bodyPr>
          <a:lstStyle/>
          <a:p>
            <a:r>
              <a:rPr lang="ja-JP" altLang="en-US" sz="1400" b="1">
                <a:solidFill>
                  <a:srgbClr val="1F2937"/>
                </a:solidFill>
                <a:latin typeface="Yu Gothic UI" panose="020B0500000000000000" pitchFamily="34" charset="-128"/>
                <a:ea typeface="Yu Gothic UI" panose="020B0500000000000000" pitchFamily="34" charset="-128"/>
                <a:cs typeface="Yu Gothic"/>
              </a:rPr>
              <a:t>画面と入口</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4" name="テキスト ボックス 53">
            <a:extLst>
              <a:ext uri="{FF2B5EF4-FFF2-40B4-BE49-F238E27FC236}">
                <a16:creationId xmlns:a16="http://schemas.microsoft.com/office/drawing/2014/main" id="{AEDD08FF-314D-CECC-1A25-69C2D5B11F75}"/>
              </a:ext>
            </a:extLst>
          </p:cNvPr>
          <p:cNvSpPr txBox="1"/>
          <p:nvPr/>
        </p:nvSpPr>
        <p:spPr>
          <a:xfrm>
            <a:off x="5002889" y="2623220"/>
            <a:ext cx="1755587"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ja-JP" altLang="en-US" sz="1400">
                <a:solidFill>
                  <a:srgbClr val="1F2937"/>
                </a:solidFill>
                <a:latin typeface="Yu Gothic UI" panose="020B0500000000000000" pitchFamily="34" charset="-128"/>
                <a:ea typeface="Yu Gothic UI" panose="020B0500000000000000" pitchFamily="34" charset="-128"/>
                <a:cs typeface="Yu Gothic"/>
              </a:rPr>
              <a:t>利用者がアクセスする画面を提供します。</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55" name="四角形吹き出し 54">
            <a:extLst>
              <a:ext uri="{FF2B5EF4-FFF2-40B4-BE49-F238E27FC236}">
                <a16:creationId xmlns:a16="http://schemas.microsoft.com/office/drawing/2014/main" id="{2BB5773D-9862-E885-3FD8-BA7A93601B0E}"/>
              </a:ext>
            </a:extLst>
          </p:cNvPr>
          <p:cNvSpPr/>
          <p:nvPr/>
        </p:nvSpPr>
        <p:spPr>
          <a:xfrm>
            <a:off x="7201444" y="2244645"/>
            <a:ext cx="1755587" cy="1180977"/>
          </a:xfrm>
          <a:prstGeom prst="wedgeRectCallou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6" name="テキスト ボックス 55">
            <a:extLst>
              <a:ext uri="{FF2B5EF4-FFF2-40B4-BE49-F238E27FC236}">
                <a16:creationId xmlns:a16="http://schemas.microsoft.com/office/drawing/2014/main" id="{44D89A9F-0DCB-A9FC-6FB6-7AEDBEE25560}"/>
              </a:ext>
            </a:extLst>
          </p:cNvPr>
          <p:cNvSpPr txBox="1"/>
          <p:nvPr/>
        </p:nvSpPr>
        <p:spPr>
          <a:xfrm>
            <a:off x="7189274" y="2248640"/>
            <a:ext cx="1451207" cy="307777"/>
          </a:xfrm>
          <a:prstGeom prst="rect">
            <a:avLst/>
          </a:prstGeom>
          <a:noFill/>
        </p:spPr>
        <p:txBody>
          <a:bodyPr wrap="square" rtlCol="0">
            <a:spAutoFit/>
          </a:bodyPr>
          <a:lstStyle/>
          <a:p>
            <a:pPr>
              <a:defRPr sz="1500" b="1">
                <a:solidFill>
                  <a:srgbClr val="1F2937"/>
                </a:solidFill>
                <a:latin typeface="Yu Gothic"/>
                <a:ea typeface="Yu Gothic"/>
                <a:cs typeface="Yu Gothic"/>
              </a:defRPr>
            </a:pPr>
            <a:r>
              <a:rPr lang="ja-JP" altLang="en-US" sz="1400" b="1">
                <a:solidFill>
                  <a:srgbClr val="1F2937"/>
                </a:solidFill>
                <a:latin typeface="Yu Gothic UI" panose="020B0500000000000000" pitchFamily="34" charset="-128"/>
                <a:ea typeface="Yu Gothic UI" panose="020B0500000000000000" pitchFamily="34" charset="-128"/>
                <a:cs typeface="Yu Gothic"/>
              </a:rPr>
              <a:t>業務処理</a:t>
            </a:r>
            <a:endParaRPr lang="ja-JP" altLang="en-US" sz="1400" b="1" dirty="0">
              <a:solidFill>
                <a:srgbClr val="1F2937"/>
              </a:solidFill>
              <a:latin typeface="Yu Gothic UI" panose="020B0500000000000000" pitchFamily="34" charset="-128"/>
              <a:ea typeface="Yu Gothic UI" panose="020B0500000000000000" pitchFamily="34" charset="-128"/>
              <a:cs typeface="Yu Gothic"/>
            </a:endParaRPr>
          </a:p>
        </p:txBody>
      </p:sp>
      <p:sp>
        <p:nvSpPr>
          <p:cNvPr id="57" name="テキスト ボックス 56">
            <a:extLst>
              <a:ext uri="{FF2B5EF4-FFF2-40B4-BE49-F238E27FC236}">
                <a16:creationId xmlns:a16="http://schemas.microsoft.com/office/drawing/2014/main" id="{FB57085E-1DE7-0786-D3AF-44BCE0FFBCFB}"/>
              </a:ext>
            </a:extLst>
          </p:cNvPr>
          <p:cNvSpPr txBox="1"/>
          <p:nvPr/>
        </p:nvSpPr>
        <p:spPr>
          <a:xfrm>
            <a:off x="7189273" y="2627215"/>
            <a:ext cx="1755587"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 altLang="ja-JP" sz="1400" dirty="0">
                <a:solidFill>
                  <a:srgbClr val="1F2937"/>
                </a:solidFill>
                <a:latin typeface="Yu Gothic UI" panose="020B0500000000000000" pitchFamily="34" charset="-128"/>
                <a:ea typeface="Yu Gothic UI" panose="020B0500000000000000" pitchFamily="34" charset="-128"/>
                <a:cs typeface="Yu Gothic"/>
              </a:rPr>
              <a:t>Todo </a:t>
            </a:r>
            <a:r>
              <a:rPr lang="ja-JP" altLang="en-US" sz="1400">
                <a:solidFill>
                  <a:srgbClr val="1F2937"/>
                </a:solidFill>
                <a:latin typeface="Yu Gothic UI" panose="020B0500000000000000" pitchFamily="34" charset="-128"/>
                <a:ea typeface="Yu Gothic UI" panose="020B0500000000000000" pitchFamily="34" charset="-128"/>
                <a:cs typeface="Yu Gothic"/>
              </a:rPr>
              <a:t>の作成、更新、削除を処理します。</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58" name="四角形吹き出し 57">
            <a:extLst>
              <a:ext uri="{FF2B5EF4-FFF2-40B4-BE49-F238E27FC236}">
                <a16:creationId xmlns:a16="http://schemas.microsoft.com/office/drawing/2014/main" id="{5A9BF735-30D6-4EDA-5E50-A98234921BF8}"/>
              </a:ext>
            </a:extLst>
          </p:cNvPr>
          <p:cNvSpPr/>
          <p:nvPr/>
        </p:nvSpPr>
        <p:spPr>
          <a:xfrm>
            <a:off x="9407532" y="2240650"/>
            <a:ext cx="1755587" cy="1180977"/>
          </a:xfrm>
          <a:prstGeom prst="wedgeRectCallou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9" name="テキスト ボックス 58">
            <a:extLst>
              <a:ext uri="{FF2B5EF4-FFF2-40B4-BE49-F238E27FC236}">
                <a16:creationId xmlns:a16="http://schemas.microsoft.com/office/drawing/2014/main" id="{48723F98-B811-6032-86EC-AC7A5CA34CDE}"/>
              </a:ext>
            </a:extLst>
          </p:cNvPr>
          <p:cNvSpPr txBox="1"/>
          <p:nvPr/>
        </p:nvSpPr>
        <p:spPr>
          <a:xfrm>
            <a:off x="9395362" y="2244645"/>
            <a:ext cx="1451207" cy="307777"/>
          </a:xfrm>
          <a:prstGeom prst="rect">
            <a:avLst/>
          </a:prstGeom>
          <a:noFill/>
        </p:spPr>
        <p:txBody>
          <a:bodyPr wrap="square" rtlCol="0">
            <a:spAutoFit/>
          </a:bodyPr>
          <a:lstStyle/>
          <a:p>
            <a:pPr>
              <a:defRPr sz="1500" b="1">
                <a:solidFill>
                  <a:srgbClr val="1F2937"/>
                </a:solidFill>
                <a:latin typeface="Yu Gothic"/>
                <a:ea typeface="Yu Gothic"/>
                <a:cs typeface="Yu Gothic"/>
              </a:defRPr>
            </a:pPr>
            <a:r>
              <a:rPr lang="ja-JP" altLang="en-US" sz="1400" b="1">
                <a:solidFill>
                  <a:srgbClr val="1F2937"/>
                </a:solidFill>
                <a:latin typeface="Yu Gothic UI" panose="020B0500000000000000" pitchFamily="34" charset="-128"/>
                <a:ea typeface="Yu Gothic UI" panose="020B0500000000000000" pitchFamily="34" charset="-128"/>
                <a:cs typeface="Yu Gothic"/>
              </a:rPr>
              <a:t>データ保持</a:t>
            </a:r>
          </a:p>
        </p:txBody>
      </p:sp>
      <p:sp>
        <p:nvSpPr>
          <p:cNvPr id="60" name="テキスト ボックス 59">
            <a:extLst>
              <a:ext uri="{FF2B5EF4-FFF2-40B4-BE49-F238E27FC236}">
                <a16:creationId xmlns:a16="http://schemas.microsoft.com/office/drawing/2014/main" id="{762AD4CC-BAF3-2F32-8F22-D8558F34582E}"/>
              </a:ext>
            </a:extLst>
          </p:cNvPr>
          <p:cNvSpPr txBox="1"/>
          <p:nvPr/>
        </p:nvSpPr>
        <p:spPr>
          <a:xfrm>
            <a:off x="9395361" y="2623220"/>
            <a:ext cx="1755587" cy="738664"/>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 altLang="ja-JP" sz="1400" dirty="0">
                <a:solidFill>
                  <a:srgbClr val="1F2937"/>
                </a:solidFill>
                <a:latin typeface="Yu Gothic UI" panose="020B0500000000000000" pitchFamily="34" charset="-128"/>
                <a:ea typeface="Yu Gothic UI" panose="020B0500000000000000" pitchFamily="34" charset="-128"/>
                <a:cs typeface="Yu Gothic"/>
              </a:rPr>
              <a:t>Todo </a:t>
            </a:r>
            <a:r>
              <a:rPr lang="ja-JP" altLang="en-US" sz="1400">
                <a:solidFill>
                  <a:srgbClr val="1F2937"/>
                </a:solidFill>
                <a:latin typeface="Yu Gothic UI" panose="020B0500000000000000" pitchFamily="34" charset="-128"/>
                <a:ea typeface="Yu Gothic UI" panose="020B0500000000000000" pitchFamily="34" charset="-128"/>
                <a:cs typeface="Yu Gothic"/>
              </a:rPr>
              <a:t>の状態を </a:t>
            </a:r>
            <a:r>
              <a:rPr lang="en" altLang="ja-JP" sz="1400" dirty="0">
                <a:solidFill>
                  <a:srgbClr val="1F2937"/>
                </a:solidFill>
                <a:latin typeface="Yu Gothic UI" panose="020B0500000000000000" pitchFamily="34" charset="-128"/>
                <a:ea typeface="Yu Gothic UI" panose="020B0500000000000000" pitchFamily="34" charset="-128"/>
                <a:cs typeface="Yu Gothic"/>
              </a:rPr>
              <a:t>PostgreSQL </a:t>
            </a:r>
            <a:r>
              <a:rPr lang="ja-JP" altLang="en-US" sz="1400">
                <a:solidFill>
                  <a:srgbClr val="1F2937"/>
                </a:solidFill>
                <a:latin typeface="Yu Gothic UI" panose="020B0500000000000000" pitchFamily="34" charset="-128"/>
                <a:ea typeface="Yu Gothic UI" panose="020B0500000000000000" pitchFamily="34" charset="-128"/>
                <a:cs typeface="Yu Gothic"/>
              </a:rPr>
              <a:t>に保存します。</a:t>
            </a:r>
          </a:p>
        </p:txBody>
      </p:sp>
    </p:spTree>
    <p:extLst>
      <p:ext uri="{BB962C8B-B14F-4D97-AF65-F5344CB8AC3E}">
        <p14:creationId xmlns:p14="http://schemas.microsoft.com/office/powerpoint/2010/main" val="2223946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06CF9-85B1-A441-815E-8F12F30087E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5E0A10A-6CAC-072C-ADF4-1B13862AF75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第</a:t>
            </a:r>
            <a:r>
              <a:rPr lang="en-US" altLang="ja-JP" sz="2000" b="1" dirty="0">
                <a:solidFill>
                  <a:srgbClr val="1F2937"/>
                </a:solidFill>
                <a:latin typeface="Yu Gothic"/>
                <a:ea typeface="Yu Gothic"/>
                <a:cs typeface="Yu Gothic"/>
              </a:rPr>
              <a:t>5</a:t>
            </a:r>
            <a:r>
              <a:rPr lang="ja-JP" altLang="en-US" sz="2000" b="1">
                <a:solidFill>
                  <a:srgbClr val="1F2937"/>
                </a:solidFill>
                <a:latin typeface="Yu Gothic"/>
                <a:ea typeface="Yu Gothic"/>
                <a:cs typeface="Yu Gothic"/>
              </a:rPr>
              <a:t>回、第</a:t>
            </a:r>
            <a:r>
              <a:rPr lang="en-US" altLang="ja-JP" sz="2000" b="1" dirty="0">
                <a:solidFill>
                  <a:srgbClr val="1F2937"/>
                </a:solidFill>
                <a:latin typeface="Yu Gothic"/>
                <a:ea typeface="Yu Gothic"/>
                <a:cs typeface="Yu Gothic"/>
              </a:rPr>
              <a:t>6</a:t>
            </a:r>
            <a:r>
              <a:rPr lang="ja-JP" altLang="en-US" sz="2000" b="1">
                <a:solidFill>
                  <a:srgbClr val="1F2937"/>
                </a:solidFill>
                <a:latin typeface="Yu Gothic"/>
                <a:ea typeface="Yu Gothic"/>
                <a:cs typeface="Yu Gothic"/>
              </a:rPr>
              <a:t>回で利用するサンプルアプリのリポジトリ</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87280CEB-5198-62BF-36FB-E7BEF574143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5E5F8FAE-8F7E-44BD-99F9-A8E73DE15B2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FCBA067F-B402-5553-E017-26B79DB20E8F}"/>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第</a:t>
            </a:r>
            <a:r>
              <a:rPr lang="en-US" altLang="ja-JP" sz="1200" dirty="0">
                <a:solidFill>
                  <a:srgbClr val="64748B"/>
                </a:solidFill>
                <a:latin typeface="Yu Gothic"/>
                <a:ea typeface="Yu Gothic"/>
                <a:cs typeface="Yu Gothic"/>
              </a:rPr>
              <a:t>5</a:t>
            </a:r>
            <a:r>
              <a:rPr lang="ja-JP" altLang="en-US" sz="1200">
                <a:solidFill>
                  <a:srgbClr val="64748B"/>
                </a:solidFill>
                <a:latin typeface="Yu Gothic"/>
                <a:ea typeface="Yu Gothic"/>
                <a:cs typeface="Yu Gothic"/>
              </a:rPr>
              <a:t>回、第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回のハンズオンでは下記の</a:t>
            </a:r>
            <a:r>
              <a:rPr lang="en-US" altLang="ja-JP" sz="1200" dirty="0">
                <a:solidFill>
                  <a:srgbClr val="64748B"/>
                </a:solidFill>
                <a:latin typeface="Yu Gothic"/>
                <a:ea typeface="Yu Gothic"/>
                <a:cs typeface="Yu Gothic"/>
              </a:rPr>
              <a:t> </a:t>
            </a:r>
            <a:r>
              <a:rPr lang="en-US" altLang="ja-JP" sz="1200" dirty="0" err="1">
                <a:solidFill>
                  <a:srgbClr val="64748B"/>
                </a:solidFill>
                <a:latin typeface="Yu Gothic"/>
                <a:ea typeface="Yu Gothic"/>
                <a:cs typeface="Yu Gothic"/>
              </a:rPr>
              <a:t>GtiHub</a:t>
            </a:r>
            <a:r>
              <a:rPr lang="en-US" altLang="ja-JP" sz="1200" dirty="0">
                <a:solidFill>
                  <a:srgbClr val="64748B"/>
                </a:solidFill>
                <a:latin typeface="Yu Gothic"/>
                <a:ea typeface="Yu Gothic"/>
                <a:cs typeface="Yu Gothic"/>
              </a:rPr>
              <a:t> </a:t>
            </a:r>
            <a:r>
              <a:rPr lang="ja-JP" altLang="en-US" sz="1200">
                <a:solidFill>
                  <a:srgbClr val="64748B"/>
                </a:solidFill>
                <a:latin typeface="Yu Gothic"/>
                <a:ea typeface="Yu Gothic"/>
                <a:cs typeface="Yu Gothic"/>
              </a:rPr>
              <a:t>リポジトリで公開されているサンプルアプリを利用します。</a:t>
            </a:r>
            <a:endParaRPr lang="en-US" altLang="ja-JP" sz="1200" dirty="0">
              <a:solidFill>
                <a:srgbClr val="64748B"/>
              </a:solidFill>
              <a:latin typeface="Yu Gothic"/>
              <a:ea typeface="Yu Gothic"/>
              <a:cs typeface="Yu Gothic"/>
            </a:endParaRPr>
          </a:p>
          <a:p>
            <a:pPr>
              <a:defRPr sz="1350" b="0">
                <a:solidFill>
                  <a:srgbClr val="64748B"/>
                </a:solidFill>
                <a:latin typeface="Yu Gothic"/>
                <a:ea typeface="Yu Gothic"/>
                <a:cs typeface="Yu Gothic"/>
              </a:defRPr>
            </a:pPr>
            <a:endParaRPr lang="en-US" altLang="ja-JP" sz="1200" dirty="0">
              <a:solidFill>
                <a:srgbClr val="64748B"/>
              </a:solidFill>
              <a:latin typeface="Yu Gothic"/>
              <a:ea typeface="Yu Gothic"/>
              <a:cs typeface="Yu Gothic"/>
            </a:endParaRPr>
          </a:p>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リポジトリ</a:t>
            </a:r>
            <a:r>
              <a:rPr lang="en-US" altLang="ja-JP" sz="1200" dirty="0">
                <a:solidFill>
                  <a:srgbClr val="64748B"/>
                </a:solidFill>
                <a:latin typeface="Yu Gothic"/>
                <a:ea typeface="Yu Gothic"/>
                <a:cs typeface="Yu Gothic"/>
              </a:rPr>
              <a:t>: </a:t>
            </a:r>
            <a:r>
              <a:rPr lang="en-US" altLang="ja-JP" sz="1200" dirty="0">
                <a:solidFill>
                  <a:srgbClr val="64748B"/>
                </a:solidFill>
                <a:latin typeface="Yu Gothic"/>
                <a:ea typeface="Yu Gothic"/>
                <a:cs typeface="Yu Gothic"/>
                <a:hlinkClick r:id="rId3"/>
              </a:rPr>
              <a:t>https://</a:t>
            </a:r>
            <a:r>
              <a:rPr lang="en-US" altLang="ja-JP" sz="1200" dirty="0" err="1">
                <a:solidFill>
                  <a:srgbClr val="64748B"/>
                </a:solidFill>
                <a:latin typeface="Yu Gothic"/>
                <a:ea typeface="Yu Gothic"/>
                <a:cs typeface="Yu Gothic"/>
                <a:hlinkClick r:id="rId3"/>
              </a:rPr>
              <a:t>github.com</a:t>
            </a:r>
            <a:r>
              <a:rPr lang="en-US" altLang="ja-JP" sz="1200" dirty="0">
                <a:solidFill>
                  <a:srgbClr val="64748B"/>
                </a:solidFill>
                <a:latin typeface="Yu Gothic"/>
                <a:ea typeface="Yu Gothic"/>
                <a:cs typeface="Yu Gothic"/>
                <a:hlinkClick r:id="rId3"/>
              </a:rPr>
              <a:t>/Liminghao0922/</a:t>
            </a:r>
            <a:r>
              <a:rPr lang="en-US" altLang="ja-JP" sz="1200" dirty="0" err="1">
                <a:solidFill>
                  <a:srgbClr val="64748B"/>
                </a:solidFill>
                <a:latin typeface="Yu Gothic"/>
                <a:ea typeface="Yu Gothic"/>
                <a:cs typeface="Yu Gothic"/>
                <a:hlinkClick r:id="rId3"/>
              </a:rPr>
              <a:t>todomanagement</a:t>
            </a:r>
            <a:endParaRPr lang="ja-JP" altLang="en-US" sz="1200" dirty="0">
              <a:solidFill>
                <a:srgbClr val="64748B"/>
              </a:solidFill>
              <a:latin typeface="Yu Gothic"/>
              <a:ea typeface="Yu Gothic"/>
              <a:cs typeface="Yu Gothic"/>
            </a:endParaRPr>
          </a:p>
        </p:txBody>
      </p:sp>
      <p:pic>
        <p:nvPicPr>
          <p:cNvPr id="7" name="図 6">
            <a:extLst>
              <a:ext uri="{FF2B5EF4-FFF2-40B4-BE49-F238E27FC236}">
                <a16:creationId xmlns:a16="http://schemas.microsoft.com/office/drawing/2014/main" id="{DA80FDF9-68F3-47F7-8749-84E33F0D2DF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28568" y="2043112"/>
            <a:ext cx="7334863" cy="4584289"/>
          </a:xfrm>
          <a:prstGeom prst="rect">
            <a:avLst/>
          </a:prstGeom>
        </p:spPr>
      </p:pic>
    </p:spTree>
    <p:extLst>
      <p:ext uri="{BB962C8B-B14F-4D97-AF65-F5344CB8AC3E}">
        <p14:creationId xmlns:p14="http://schemas.microsoft.com/office/powerpoint/2010/main" val="4102893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AFCE-41FE-C61D-0252-32D891E1B0A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F410930-6F81-FA09-8F4E-D11B20164FB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Todo </a:t>
            </a:r>
            <a:r>
              <a:rPr lang="ja-JP" altLang="en-US" sz="2000" b="1">
                <a:solidFill>
                  <a:srgbClr val="1F2937"/>
                </a:solidFill>
                <a:latin typeface="Yu Gothic"/>
                <a:ea typeface="Yu Gothic"/>
                <a:cs typeface="Yu Gothic"/>
              </a:rPr>
              <a:t>アプリの完成形</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5E0DC16-A7D9-D0B0-D047-E36FF954479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D9C39C08-B254-0542-339B-69C1E6B2095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66649A5E-75C9-B69C-F672-27DBB77BC6D6}"/>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完成形では </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と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が </a:t>
            </a:r>
            <a:r>
              <a:rPr lang="en" altLang="ja-JP" sz="1200" dirty="0">
                <a:solidFill>
                  <a:srgbClr val="64748B"/>
                </a:solidFill>
                <a:latin typeface="Yu Gothic"/>
                <a:ea typeface="Yu Gothic"/>
                <a:cs typeface="Yu Gothic"/>
              </a:rPr>
              <a:t>Azure Container Apps </a:t>
            </a:r>
            <a:r>
              <a:rPr lang="ja-JP" altLang="en-US" sz="1200">
                <a:solidFill>
                  <a:srgbClr val="64748B"/>
                </a:solidFill>
                <a:latin typeface="Yu Gothic"/>
                <a:ea typeface="Yu Gothic"/>
                <a:cs typeface="Yu Gothic"/>
              </a:rPr>
              <a:t>で動き、コンテナイメージは </a:t>
            </a:r>
            <a:r>
              <a:rPr lang="en" altLang="ja-JP" sz="1200" dirty="0">
                <a:solidFill>
                  <a:srgbClr val="64748B"/>
                </a:solidFill>
                <a:latin typeface="Yu Gothic"/>
                <a:ea typeface="Yu Gothic"/>
                <a:cs typeface="Yu Gothic"/>
              </a:rPr>
              <a:t>ACR </a:t>
            </a:r>
            <a:r>
              <a:rPr lang="ja-JP" altLang="en-US" sz="1200">
                <a:solidFill>
                  <a:srgbClr val="64748B"/>
                </a:solidFill>
                <a:latin typeface="Yu Gothic"/>
                <a:ea typeface="Yu Gothic"/>
                <a:cs typeface="Yu Gothic"/>
              </a:rPr>
              <a:t>に置かれ、</a:t>
            </a: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データは </a:t>
            </a:r>
            <a:r>
              <a:rPr lang="en" altLang="ja-JP" sz="1200" dirty="0">
                <a:solidFill>
                  <a:srgbClr val="64748B"/>
                </a:solidFill>
                <a:latin typeface="Yu Gothic"/>
                <a:ea typeface="Yu Gothic"/>
                <a:cs typeface="Yu Gothic"/>
              </a:rPr>
              <a:t>Azure Database for PostgreSQL </a:t>
            </a:r>
            <a:r>
              <a:rPr lang="ja-JP" altLang="en-US" sz="1200">
                <a:solidFill>
                  <a:srgbClr val="64748B"/>
                </a:solidFill>
                <a:latin typeface="Yu Gothic"/>
                <a:ea typeface="Yu Gothic"/>
                <a:cs typeface="Yu Gothic"/>
              </a:rPr>
              <a:t>に保存されます。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4CDABA58-AD27-D44B-55CB-BCBEED1C3C28}"/>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8" name="図 7" descr="Architecture">
            <a:extLst>
              <a:ext uri="{FF2B5EF4-FFF2-40B4-BE49-F238E27FC236}">
                <a16:creationId xmlns:a16="http://schemas.microsoft.com/office/drawing/2014/main" id="{32AD8637-4F6B-F148-A2F5-642DA9EC6CB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84309" y="2262648"/>
            <a:ext cx="4377083" cy="3719052"/>
          </a:xfrm>
          <a:prstGeom prst="rect">
            <a:avLst/>
          </a:prstGeom>
        </p:spPr>
      </p:pic>
      <p:grpSp>
        <p:nvGrpSpPr>
          <p:cNvPr id="12" name="グループ化 11">
            <a:extLst>
              <a:ext uri="{FF2B5EF4-FFF2-40B4-BE49-F238E27FC236}">
                <a16:creationId xmlns:a16="http://schemas.microsoft.com/office/drawing/2014/main" id="{4DB19C18-7D82-3D8B-A48B-E5A257BF837D}"/>
              </a:ext>
            </a:extLst>
          </p:cNvPr>
          <p:cNvGrpSpPr/>
          <p:nvPr/>
        </p:nvGrpSpPr>
        <p:grpSpPr>
          <a:xfrm>
            <a:off x="2901127" y="3029871"/>
            <a:ext cx="953120" cy="307777"/>
            <a:chOff x="1858907" y="2259085"/>
            <a:chExt cx="953120" cy="307777"/>
          </a:xfrm>
        </p:grpSpPr>
        <p:sp>
          <p:nvSpPr>
            <p:cNvPr id="10" name="四角形吹き出し 9">
              <a:extLst>
                <a:ext uri="{FF2B5EF4-FFF2-40B4-BE49-F238E27FC236}">
                  <a16:creationId xmlns:a16="http://schemas.microsoft.com/office/drawing/2014/main" id="{5CDA4AA6-A5D0-65EE-9F86-2A5870DF30D8}"/>
                </a:ext>
              </a:extLst>
            </p:cNvPr>
            <p:cNvSpPr/>
            <p:nvPr/>
          </p:nvSpPr>
          <p:spPr>
            <a:xfrm>
              <a:off x="1858907" y="2259085"/>
              <a:ext cx="953120" cy="307777"/>
            </a:xfrm>
            <a:prstGeom prst="wedgeRectCallout">
              <a:avLst>
                <a:gd name="adj1" fmla="val 171042"/>
                <a:gd name="adj2" fmla="val 158338"/>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1" name="テキスト ボックス 10">
              <a:extLst>
                <a:ext uri="{FF2B5EF4-FFF2-40B4-BE49-F238E27FC236}">
                  <a16:creationId xmlns:a16="http://schemas.microsoft.com/office/drawing/2014/main" id="{2D0C5B0D-A676-FC24-870D-FB01109820B0}"/>
                </a:ext>
              </a:extLst>
            </p:cNvPr>
            <p:cNvSpPr txBox="1"/>
            <p:nvPr/>
          </p:nvSpPr>
          <p:spPr>
            <a:xfrm>
              <a:off x="1858907" y="2259085"/>
              <a:ext cx="953120" cy="30777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Web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14" name="グループ化 13">
            <a:extLst>
              <a:ext uri="{FF2B5EF4-FFF2-40B4-BE49-F238E27FC236}">
                <a16:creationId xmlns:a16="http://schemas.microsoft.com/office/drawing/2014/main" id="{F16A0C8E-AFDC-9937-3BB0-5A8115789A81}"/>
              </a:ext>
            </a:extLst>
          </p:cNvPr>
          <p:cNvGrpSpPr/>
          <p:nvPr/>
        </p:nvGrpSpPr>
        <p:grpSpPr>
          <a:xfrm>
            <a:off x="2901127" y="4255321"/>
            <a:ext cx="953120" cy="307777"/>
            <a:chOff x="1858907" y="2259085"/>
            <a:chExt cx="953120" cy="307777"/>
          </a:xfrm>
        </p:grpSpPr>
        <p:sp>
          <p:nvSpPr>
            <p:cNvPr id="15" name="四角形吹き出し 14">
              <a:extLst>
                <a:ext uri="{FF2B5EF4-FFF2-40B4-BE49-F238E27FC236}">
                  <a16:creationId xmlns:a16="http://schemas.microsoft.com/office/drawing/2014/main" id="{B046095C-5909-FEC2-1043-939508C3211F}"/>
                </a:ext>
              </a:extLst>
            </p:cNvPr>
            <p:cNvSpPr/>
            <p:nvPr/>
          </p:nvSpPr>
          <p:spPr>
            <a:xfrm>
              <a:off x="1858907" y="2259085"/>
              <a:ext cx="953120" cy="307777"/>
            </a:xfrm>
            <a:prstGeom prst="wedgeRectCallout">
              <a:avLst>
                <a:gd name="adj1" fmla="val 170010"/>
                <a:gd name="adj2" fmla="val 68889"/>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テキスト ボックス 15">
              <a:extLst>
                <a:ext uri="{FF2B5EF4-FFF2-40B4-BE49-F238E27FC236}">
                  <a16:creationId xmlns:a16="http://schemas.microsoft.com/office/drawing/2014/main" id="{6777DBCC-7114-C7AB-D7CF-5821447E27EF}"/>
                </a:ext>
              </a:extLst>
            </p:cNvPr>
            <p:cNvSpPr txBox="1"/>
            <p:nvPr/>
          </p:nvSpPr>
          <p:spPr>
            <a:xfrm>
              <a:off x="1858907" y="2259085"/>
              <a:ext cx="953120" cy="30777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AP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17" name="グループ化 16">
            <a:extLst>
              <a:ext uri="{FF2B5EF4-FFF2-40B4-BE49-F238E27FC236}">
                <a16:creationId xmlns:a16="http://schemas.microsoft.com/office/drawing/2014/main" id="{69C3653E-C3BF-A1CD-579B-B1F4097D5809}"/>
              </a:ext>
            </a:extLst>
          </p:cNvPr>
          <p:cNvGrpSpPr/>
          <p:nvPr/>
        </p:nvGrpSpPr>
        <p:grpSpPr>
          <a:xfrm>
            <a:off x="8161392" y="4255321"/>
            <a:ext cx="953120" cy="307777"/>
            <a:chOff x="1858907" y="2259085"/>
            <a:chExt cx="953120" cy="307777"/>
          </a:xfrm>
        </p:grpSpPr>
        <p:sp>
          <p:nvSpPr>
            <p:cNvPr id="18" name="四角形吹き出し 17">
              <a:extLst>
                <a:ext uri="{FF2B5EF4-FFF2-40B4-BE49-F238E27FC236}">
                  <a16:creationId xmlns:a16="http://schemas.microsoft.com/office/drawing/2014/main" id="{8A478D1C-B901-DD04-FFA0-4AFA5E4ED252}"/>
                </a:ext>
              </a:extLst>
            </p:cNvPr>
            <p:cNvSpPr/>
            <p:nvPr/>
          </p:nvSpPr>
          <p:spPr>
            <a:xfrm>
              <a:off x="1858907" y="2259085"/>
              <a:ext cx="953120" cy="307777"/>
            </a:xfrm>
            <a:prstGeom prst="wedgeRectCallout">
              <a:avLst>
                <a:gd name="adj1" fmla="val -179698"/>
                <a:gd name="adj2" fmla="val 75278"/>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9" name="テキスト ボックス 18">
              <a:extLst>
                <a:ext uri="{FF2B5EF4-FFF2-40B4-BE49-F238E27FC236}">
                  <a16:creationId xmlns:a16="http://schemas.microsoft.com/office/drawing/2014/main" id="{1FFF9B05-0E10-CB06-D60E-6BF41D3D873D}"/>
                </a:ext>
              </a:extLst>
            </p:cNvPr>
            <p:cNvSpPr txBox="1"/>
            <p:nvPr/>
          </p:nvSpPr>
          <p:spPr>
            <a:xfrm>
              <a:off x="1858907" y="2259085"/>
              <a:ext cx="953120" cy="30777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DB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20" name="グループ化 19">
            <a:extLst>
              <a:ext uri="{FF2B5EF4-FFF2-40B4-BE49-F238E27FC236}">
                <a16:creationId xmlns:a16="http://schemas.microsoft.com/office/drawing/2014/main" id="{4114F808-CC82-E865-135F-876F88E9B700}"/>
              </a:ext>
            </a:extLst>
          </p:cNvPr>
          <p:cNvGrpSpPr/>
          <p:nvPr/>
        </p:nvGrpSpPr>
        <p:grpSpPr>
          <a:xfrm>
            <a:off x="1582994" y="2132111"/>
            <a:ext cx="2271253" cy="741019"/>
            <a:chOff x="540774" y="1946600"/>
            <a:chExt cx="2271253" cy="741019"/>
          </a:xfrm>
        </p:grpSpPr>
        <p:sp>
          <p:nvSpPr>
            <p:cNvPr id="21" name="四角形吹き出し 20">
              <a:extLst>
                <a:ext uri="{FF2B5EF4-FFF2-40B4-BE49-F238E27FC236}">
                  <a16:creationId xmlns:a16="http://schemas.microsoft.com/office/drawing/2014/main" id="{2392FCB9-DAC0-D693-5C13-7241A3243760}"/>
                </a:ext>
              </a:extLst>
            </p:cNvPr>
            <p:cNvSpPr/>
            <p:nvPr/>
          </p:nvSpPr>
          <p:spPr>
            <a:xfrm>
              <a:off x="540774" y="1946600"/>
              <a:ext cx="2271253" cy="738665"/>
            </a:xfrm>
            <a:prstGeom prst="wedgeRectCallout">
              <a:avLst>
                <a:gd name="adj1" fmla="val 87151"/>
                <a:gd name="adj2" fmla="val 12451"/>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2" name="テキスト ボックス 21">
              <a:extLst>
                <a:ext uri="{FF2B5EF4-FFF2-40B4-BE49-F238E27FC236}">
                  <a16:creationId xmlns:a16="http://schemas.microsoft.com/office/drawing/2014/main" id="{182B7D4F-A40E-00C2-0284-EAD4278C5627}"/>
                </a:ext>
              </a:extLst>
            </p:cNvPr>
            <p:cNvSpPr txBox="1"/>
            <p:nvPr/>
          </p:nvSpPr>
          <p:spPr>
            <a:xfrm>
              <a:off x="540774" y="1948955"/>
              <a:ext cx="2271253" cy="738664"/>
            </a:xfrm>
            <a:prstGeom prst="rect">
              <a:avLst/>
            </a:prstGeom>
            <a:noFill/>
          </p:spPr>
          <p:txBody>
            <a:bodyPr wrap="square" rtlCol="0">
              <a:spAutoFit/>
            </a:bodyPr>
            <a:lstStyle/>
            <a:p>
              <a:pPr marL="96838" indent="-96838">
                <a:buFont typeface="Arial" panose="020B0604020202020204" pitchFamily="34" charset="0"/>
                <a:buChar cha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から</a:t>
              </a:r>
              <a:r>
                <a:rPr lang="en-US" altLang="ja-JP" sz="1400" dirty="0">
                  <a:solidFill>
                    <a:srgbClr val="1F2937"/>
                  </a:solidFill>
                  <a:latin typeface="Yu Gothic UI" panose="020B0500000000000000" pitchFamily="34" charset="-128"/>
                  <a:ea typeface="Yu Gothic UI" panose="020B0500000000000000" pitchFamily="34" charset="-128"/>
                  <a:cs typeface="Yu Gothic"/>
                </a:rPr>
                <a:t> DB </a:t>
              </a:r>
              <a:r>
                <a:rPr lang="ja-JP" altLang="en-US" sz="1400">
                  <a:solidFill>
                    <a:srgbClr val="1F2937"/>
                  </a:solidFill>
                  <a:latin typeface="Yu Gothic UI" panose="020B0500000000000000" pitchFamily="34" charset="-128"/>
                  <a:ea typeface="Yu Gothic UI" panose="020B0500000000000000" pitchFamily="34" charset="-128"/>
                  <a:cs typeface="Yu Gothic"/>
                </a:rPr>
                <a:t>へのアクセスの認証</a:t>
              </a:r>
              <a:endParaRPr lang="en-US" altLang="ja-JP" sz="1400" dirty="0">
                <a:solidFill>
                  <a:srgbClr val="1F2937"/>
                </a:solidFill>
                <a:latin typeface="Yu Gothic UI" panose="020B0500000000000000" pitchFamily="34" charset="-128"/>
                <a:ea typeface="Yu Gothic UI" panose="020B0500000000000000" pitchFamily="34" charset="-128"/>
                <a:cs typeface="Yu Gothic"/>
              </a:endParaRPr>
            </a:p>
            <a:p>
              <a:pPr marL="96838" indent="-96838">
                <a:buFont typeface="Arial" panose="020B0604020202020204" pitchFamily="34" charset="0"/>
                <a:buChar char="•"/>
                <a:defRPr sz="1125" b="0">
                  <a:solidFill>
                    <a:srgbClr val="1F2937"/>
                  </a:solidFill>
                  <a:latin typeface="Yu Gothic"/>
                  <a:ea typeface="Yu Gothic"/>
                  <a:cs typeface="Yu Gothic"/>
                </a:defRPr>
              </a:pPr>
              <a:r>
                <a:rPr lang="ja-JP" altLang="en-US" sz="1400">
                  <a:solidFill>
                    <a:srgbClr val="1F2937"/>
                  </a:solidFill>
                  <a:latin typeface="Yu Gothic UI" panose="020B0500000000000000" pitchFamily="34" charset="-128"/>
                  <a:ea typeface="Yu Gothic UI" panose="020B0500000000000000" pitchFamily="34" charset="-128"/>
                  <a:cs typeface="Yu Gothic"/>
                </a:rPr>
                <a:t>ユーザーの認証</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23" name="グループ化 22">
            <a:extLst>
              <a:ext uri="{FF2B5EF4-FFF2-40B4-BE49-F238E27FC236}">
                <a16:creationId xmlns:a16="http://schemas.microsoft.com/office/drawing/2014/main" id="{D4FD899E-01A1-1DF5-7A41-D6ED94CC1AE9}"/>
              </a:ext>
            </a:extLst>
          </p:cNvPr>
          <p:cNvGrpSpPr/>
          <p:nvPr/>
        </p:nvGrpSpPr>
        <p:grpSpPr>
          <a:xfrm>
            <a:off x="8411497" y="4920065"/>
            <a:ext cx="2512142" cy="585385"/>
            <a:chOff x="540774" y="1946600"/>
            <a:chExt cx="2512142" cy="585385"/>
          </a:xfrm>
        </p:grpSpPr>
        <p:sp>
          <p:nvSpPr>
            <p:cNvPr id="24" name="四角形吹き出し 23">
              <a:extLst>
                <a:ext uri="{FF2B5EF4-FFF2-40B4-BE49-F238E27FC236}">
                  <a16:creationId xmlns:a16="http://schemas.microsoft.com/office/drawing/2014/main" id="{70D0CF3F-8E6E-1784-8C9B-6897D0DA2F49}"/>
                </a:ext>
              </a:extLst>
            </p:cNvPr>
            <p:cNvSpPr/>
            <p:nvPr/>
          </p:nvSpPr>
          <p:spPr>
            <a:xfrm>
              <a:off x="540774" y="1946600"/>
              <a:ext cx="2512142" cy="585385"/>
            </a:xfrm>
            <a:prstGeom prst="wedgeRectCallout">
              <a:avLst>
                <a:gd name="adj1" fmla="val -105490"/>
                <a:gd name="adj2" fmla="val 78275"/>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テキスト ボックス 24">
              <a:extLst>
                <a:ext uri="{FF2B5EF4-FFF2-40B4-BE49-F238E27FC236}">
                  <a16:creationId xmlns:a16="http://schemas.microsoft.com/office/drawing/2014/main" id="{2DF9D6F1-1890-FEA6-166A-61922B4A2137}"/>
                </a:ext>
              </a:extLst>
            </p:cNvPr>
            <p:cNvSpPr txBox="1"/>
            <p:nvPr/>
          </p:nvSpPr>
          <p:spPr>
            <a:xfrm>
              <a:off x="540774" y="1948955"/>
              <a:ext cx="2512142"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への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Web </a:t>
              </a:r>
              <a:r>
                <a:rPr lang="ja-JP" altLang="en-US" sz="1400">
                  <a:solidFill>
                    <a:srgbClr val="1F2937"/>
                  </a:solidFill>
                  <a:latin typeface="Yu Gothic UI" panose="020B0500000000000000" pitchFamily="34" charset="-128"/>
                  <a:ea typeface="Yu Gothic UI" panose="020B0500000000000000" pitchFamily="34" charset="-128"/>
                  <a:cs typeface="Yu Gothic"/>
                </a:rPr>
                <a:t>と</a:t>
              </a:r>
              <a:r>
                <a:rPr lang="en-US" altLang="ja-JP" sz="1400" dirty="0">
                  <a:solidFill>
                    <a:srgbClr val="1F2937"/>
                  </a:solidFill>
                  <a:latin typeface="Yu Gothic UI" panose="020B0500000000000000" pitchFamily="34" charset="-128"/>
                  <a:ea typeface="Yu Gothic UI" panose="020B0500000000000000" pitchFamily="34" charset="-128"/>
                  <a:cs typeface="Yu Gothic"/>
                </a:rPr>
                <a:t> AP </a:t>
              </a:r>
              <a:r>
                <a:rPr lang="ja-JP" altLang="en-US" sz="1400">
                  <a:solidFill>
                    <a:srgbClr val="1F2937"/>
                  </a:solidFill>
                  <a:latin typeface="Yu Gothic UI" panose="020B0500000000000000" pitchFamily="34" charset="-128"/>
                  <a:ea typeface="Yu Gothic UI" panose="020B0500000000000000" pitchFamily="34" charset="-128"/>
                  <a:cs typeface="Yu Gothic"/>
                </a:rPr>
                <a:t>用コンテナイメージ作成し、</a:t>
              </a:r>
              <a:r>
                <a:rPr lang="en-US" altLang="ja-JP" sz="1400" dirty="0">
                  <a:solidFill>
                    <a:srgbClr val="1F2937"/>
                  </a:solidFill>
                  <a:latin typeface="Yu Gothic UI" panose="020B0500000000000000" pitchFamily="34" charset="-128"/>
                  <a:ea typeface="Yu Gothic UI" panose="020B0500000000000000" pitchFamily="34" charset="-128"/>
                  <a:cs typeface="Yu Gothic"/>
                </a:rPr>
                <a:t>ACR </a:t>
              </a:r>
              <a:r>
                <a:rPr lang="ja-JP" altLang="en-US" sz="1400">
                  <a:solidFill>
                    <a:srgbClr val="1F2937"/>
                  </a:solidFill>
                  <a:latin typeface="Yu Gothic UI" panose="020B0500000000000000" pitchFamily="34" charset="-128"/>
                  <a:ea typeface="Yu Gothic UI" panose="020B0500000000000000" pitchFamily="34" charset="-128"/>
                  <a:cs typeface="Yu Gothic"/>
                </a:rPr>
                <a:t>へ格納</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26" name="グループ化 25">
            <a:extLst>
              <a:ext uri="{FF2B5EF4-FFF2-40B4-BE49-F238E27FC236}">
                <a16:creationId xmlns:a16="http://schemas.microsoft.com/office/drawing/2014/main" id="{164D0221-5B19-D847-E402-69D5B198B6C3}"/>
              </a:ext>
            </a:extLst>
          </p:cNvPr>
          <p:cNvGrpSpPr/>
          <p:nvPr/>
        </p:nvGrpSpPr>
        <p:grpSpPr>
          <a:xfrm>
            <a:off x="8411497" y="3312347"/>
            <a:ext cx="2271253" cy="585385"/>
            <a:chOff x="540774" y="1946600"/>
            <a:chExt cx="2271253" cy="585385"/>
          </a:xfrm>
        </p:grpSpPr>
        <p:sp>
          <p:nvSpPr>
            <p:cNvPr id="27" name="四角形吹き出し 26">
              <a:extLst>
                <a:ext uri="{FF2B5EF4-FFF2-40B4-BE49-F238E27FC236}">
                  <a16:creationId xmlns:a16="http://schemas.microsoft.com/office/drawing/2014/main" id="{5B0451B1-EF14-4630-7D98-6A271AC64654}"/>
                </a:ext>
              </a:extLst>
            </p:cNvPr>
            <p:cNvSpPr/>
            <p:nvPr/>
          </p:nvSpPr>
          <p:spPr>
            <a:xfrm>
              <a:off x="540774" y="1946600"/>
              <a:ext cx="2271253" cy="585385"/>
            </a:xfrm>
            <a:prstGeom prst="wedgeRectCallout">
              <a:avLst>
                <a:gd name="adj1" fmla="val -65663"/>
                <a:gd name="adj2" fmla="val 34605"/>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8" name="テキスト ボックス 27">
              <a:extLst>
                <a:ext uri="{FF2B5EF4-FFF2-40B4-BE49-F238E27FC236}">
                  <a16:creationId xmlns:a16="http://schemas.microsoft.com/office/drawing/2014/main" id="{B634C2B0-15F2-B1B6-0A13-D64F38E76E1D}"/>
                </a:ext>
              </a:extLst>
            </p:cNvPr>
            <p:cNvSpPr txBox="1"/>
            <p:nvPr/>
          </p:nvSpPr>
          <p:spPr>
            <a:xfrm>
              <a:off x="540774" y="1948955"/>
              <a:ext cx="2271253"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への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Web </a:t>
              </a:r>
              <a:r>
                <a:rPr lang="ja-JP" altLang="en-US" sz="1400">
                  <a:solidFill>
                    <a:srgbClr val="1F2937"/>
                  </a:solidFill>
                  <a:latin typeface="Yu Gothic UI" panose="020B0500000000000000" pitchFamily="34" charset="-128"/>
                  <a:ea typeface="Yu Gothic UI" panose="020B0500000000000000" pitchFamily="34" charset="-128"/>
                  <a:cs typeface="Yu Gothic"/>
                </a:rPr>
                <a:t>と</a:t>
              </a:r>
              <a:r>
                <a:rPr lang="en-US" altLang="ja-JP" sz="1400" dirty="0">
                  <a:solidFill>
                    <a:srgbClr val="1F2937"/>
                  </a:solidFill>
                  <a:latin typeface="Yu Gothic UI" panose="020B0500000000000000" pitchFamily="34" charset="-128"/>
                  <a:ea typeface="Yu Gothic UI" panose="020B0500000000000000" pitchFamily="34" charset="-128"/>
                  <a:cs typeface="Yu Gothic"/>
                </a:rPr>
                <a:t> AP </a:t>
              </a:r>
              <a:r>
                <a:rPr lang="ja-JP" altLang="en-US" sz="1400">
                  <a:solidFill>
                    <a:srgbClr val="1F2937"/>
                  </a:solidFill>
                  <a:latin typeface="Yu Gothic UI" panose="020B0500000000000000" pitchFamily="34" charset="-128"/>
                  <a:ea typeface="Yu Gothic UI" panose="020B0500000000000000" pitchFamily="34" charset="-128"/>
                  <a:cs typeface="Yu Gothic"/>
                </a:rPr>
                <a:t>用コンテナイメージの保管</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spTree>
    <p:extLst>
      <p:ext uri="{BB962C8B-B14F-4D97-AF65-F5344CB8AC3E}">
        <p14:creationId xmlns:p14="http://schemas.microsoft.com/office/powerpoint/2010/main" val="3915100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053C7-CEE3-D65A-340C-779BC7B31CB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7E21676-1E53-3FB8-4E35-B11021D8F40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ja-JP" altLang="en-US" sz="2000" b="1">
                <a:solidFill>
                  <a:srgbClr val="1F2937"/>
                </a:solidFill>
                <a:latin typeface="Yu Gothic"/>
                <a:ea typeface="Yu Gothic"/>
                <a:cs typeface="Yu Gothic"/>
              </a:rPr>
              <a:t>第</a:t>
            </a:r>
            <a:r>
              <a:rPr lang="en-US" altLang="ja-JP" sz="2000" b="1" dirty="0">
                <a:solidFill>
                  <a:srgbClr val="1F2937"/>
                </a:solidFill>
                <a:latin typeface="Yu Gothic"/>
                <a:ea typeface="Yu Gothic"/>
                <a:cs typeface="Yu Gothic"/>
              </a:rPr>
              <a:t>5</a:t>
            </a:r>
            <a:r>
              <a:rPr lang="ja-JP" altLang="en-US" sz="2000" b="1">
                <a:solidFill>
                  <a:srgbClr val="1F2937"/>
                </a:solidFill>
                <a:latin typeface="Yu Gothic"/>
                <a:ea typeface="Yu Gothic"/>
                <a:cs typeface="Yu Gothic"/>
              </a:rPr>
              <a:t>回と第</a:t>
            </a:r>
            <a:r>
              <a:rPr lang="en-US" altLang="ja-JP" sz="2000" b="1" dirty="0">
                <a:solidFill>
                  <a:srgbClr val="1F2937"/>
                </a:solidFill>
                <a:latin typeface="Yu Gothic"/>
                <a:ea typeface="Yu Gothic"/>
                <a:cs typeface="Yu Gothic"/>
              </a:rPr>
              <a:t>6</a:t>
            </a:r>
            <a:r>
              <a:rPr lang="ja-JP" altLang="en-US" sz="2000" b="1">
                <a:solidFill>
                  <a:srgbClr val="1F2937"/>
                </a:solidFill>
                <a:latin typeface="Yu Gothic"/>
                <a:ea typeface="Yu Gothic"/>
                <a:cs typeface="Yu Gothic"/>
              </a:rPr>
              <a:t>回の分担</a:t>
            </a:r>
          </a:p>
        </p:txBody>
      </p:sp>
      <p:sp>
        <p:nvSpPr>
          <p:cNvPr id="2" name="正方形/長方形 1">
            <a:extLst>
              <a:ext uri="{FF2B5EF4-FFF2-40B4-BE49-F238E27FC236}">
                <a16:creationId xmlns:a16="http://schemas.microsoft.com/office/drawing/2014/main" id="{E52E35EF-46A6-B750-3D0A-4D1EA85FCD6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EEBD567C-4634-4790-5A66-BCD2D07C281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F7215B81-7CF3-B043-DFA0-36DCB924BEEC}"/>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en-US" altLang="ja-JP" sz="1200" dirty="0">
                <a:solidFill>
                  <a:srgbClr val="64748B"/>
                </a:solidFill>
                <a:latin typeface="Yu Gothic"/>
                <a:ea typeface="Yu Gothic"/>
                <a:cs typeface="Yu Gothic"/>
              </a:rPr>
              <a:t>2</a:t>
            </a:r>
            <a:r>
              <a:rPr lang="ja-JP" altLang="en-US" sz="1200">
                <a:solidFill>
                  <a:srgbClr val="64748B"/>
                </a:solidFill>
                <a:latin typeface="Yu Gothic"/>
                <a:ea typeface="Yu Gothic"/>
                <a:cs typeface="Yu Gothic"/>
              </a:rPr>
              <a:t>回続きのハンズオンなので、今日は土台を作って引き継ぐ日、第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回は </a:t>
            </a:r>
            <a:r>
              <a:rPr lang="en" altLang="ja-JP" sz="1200" dirty="0">
                <a:solidFill>
                  <a:srgbClr val="64748B"/>
                </a:solidFill>
                <a:latin typeface="Yu Gothic"/>
                <a:ea typeface="Yu Gothic"/>
                <a:cs typeface="Yu Gothic"/>
              </a:rPr>
              <a:t>GitHub Actions </a:t>
            </a:r>
            <a:r>
              <a:rPr lang="ja-JP" altLang="en-US" sz="1200">
                <a:solidFill>
                  <a:srgbClr val="64748B"/>
                </a:solidFill>
                <a:latin typeface="Yu Gothic"/>
                <a:ea typeface="Yu Gothic"/>
                <a:cs typeface="Yu Gothic"/>
              </a:rPr>
              <a:t>で実アプリをデプロイして動作確認する日、と分けて考えます。</a:t>
            </a:r>
            <a:endParaRPr lang="ja-JP" altLang="en-US" sz="1200" dirty="0">
              <a:solidFill>
                <a:srgbClr val="64748B"/>
              </a:solidFill>
              <a:latin typeface="Yu Gothic"/>
              <a:ea typeface="Yu Gothic"/>
              <a:cs typeface="Yu Gothic"/>
            </a:endParaRPr>
          </a:p>
        </p:txBody>
      </p:sp>
      <p:sp>
        <p:nvSpPr>
          <p:cNvPr id="3" name="角丸四角形 2">
            <a:extLst>
              <a:ext uri="{FF2B5EF4-FFF2-40B4-BE49-F238E27FC236}">
                <a16:creationId xmlns:a16="http://schemas.microsoft.com/office/drawing/2014/main" id="{A3778EB9-7232-FFD1-6D12-02EE2A424EDF}"/>
              </a:ext>
            </a:extLst>
          </p:cNvPr>
          <p:cNvSpPr/>
          <p:nvPr/>
        </p:nvSpPr>
        <p:spPr>
          <a:xfrm>
            <a:off x="1199535" y="2099855"/>
            <a:ext cx="4621161" cy="3881845"/>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3367D66E-4C78-9042-9DE6-96C6D1A36FBA}"/>
              </a:ext>
            </a:extLst>
          </p:cNvPr>
          <p:cNvSpPr txBox="1"/>
          <p:nvPr/>
        </p:nvSpPr>
        <p:spPr>
          <a:xfrm>
            <a:off x="2826671" y="2191636"/>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dirty="0">
                <a:latin typeface="Yu Gothic UI" panose="020B0500000000000000" pitchFamily="34" charset="-128"/>
                <a:ea typeface="Yu Gothic UI" panose="020B0500000000000000" pitchFamily="34" charset="-128"/>
              </a:rPr>
              <a:t>5</a:t>
            </a:r>
            <a:r>
              <a:rPr kumimoji="1" lang="ja-JP" altLang="en-US">
                <a:latin typeface="Yu Gothic UI" panose="020B0500000000000000" pitchFamily="34" charset="-128"/>
                <a:ea typeface="Yu Gothic UI" panose="020B0500000000000000" pitchFamily="34" charset="-128"/>
              </a:rPr>
              <a:t>回</a:t>
            </a:r>
          </a:p>
        </p:txBody>
      </p:sp>
      <p:sp>
        <p:nvSpPr>
          <p:cNvPr id="10" name="テキスト ボックス 9">
            <a:extLst>
              <a:ext uri="{FF2B5EF4-FFF2-40B4-BE49-F238E27FC236}">
                <a16:creationId xmlns:a16="http://schemas.microsoft.com/office/drawing/2014/main" id="{C20B20C8-46BC-36B5-C67D-84DDC2F83D7E}"/>
              </a:ext>
            </a:extLst>
          </p:cNvPr>
          <p:cNvSpPr txBox="1"/>
          <p:nvPr/>
        </p:nvSpPr>
        <p:spPr>
          <a:xfrm>
            <a:off x="7998440" y="2191636"/>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dirty="0">
                <a:latin typeface="Yu Gothic UI" panose="020B0500000000000000" pitchFamily="34" charset="-128"/>
                <a:ea typeface="Yu Gothic UI" panose="020B0500000000000000" pitchFamily="34" charset="-128"/>
              </a:rPr>
              <a:t>6</a:t>
            </a:r>
            <a:r>
              <a:rPr kumimoji="1" lang="ja-JP" altLang="en-US">
                <a:latin typeface="Yu Gothic UI" panose="020B0500000000000000" pitchFamily="34" charset="-128"/>
                <a:ea typeface="Yu Gothic UI" panose="020B0500000000000000" pitchFamily="34" charset="-128"/>
              </a:rPr>
              <a:t>回</a:t>
            </a:r>
          </a:p>
        </p:txBody>
      </p:sp>
      <p:sp>
        <p:nvSpPr>
          <p:cNvPr id="11" name="角丸四角形 10">
            <a:extLst>
              <a:ext uri="{FF2B5EF4-FFF2-40B4-BE49-F238E27FC236}">
                <a16:creationId xmlns:a16="http://schemas.microsoft.com/office/drawing/2014/main" id="{579A1590-9F42-468A-6E46-E91847178196}"/>
              </a:ext>
            </a:extLst>
          </p:cNvPr>
          <p:cNvSpPr/>
          <p:nvPr/>
        </p:nvSpPr>
        <p:spPr>
          <a:xfrm>
            <a:off x="6371304" y="2099855"/>
            <a:ext cx="4621161" cy="3881845"/>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a:extLst>
              <a:ext uri="{FF2B5EF4-FFF2-40B4-BE49-F238E27FC236}">
                <a16:creationId xmlns:a16="http://schemas.microsoft.com/office/drawing/2014/main" id="{19A78566-53BD-534A-5932-1F2A748D51C9}"/>
              </a:ext>
            </a:extLst>
          </p:cNvPr>
          <p:cNvSpPr/>
          <p:nvPr/>
        </p:nvSpPr>
        <p:spPr>
          <a:xfrm>
            <a:off x="1358437" y="269081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1993D2B-A13A-8EDC-A5D9-B9C7F2ADCF9D}"/>
              </a:ext>
            </a:extLst>
          </p:cNvPr>
          <p:cNvSpPr txBox="1"/>
          <p:nvPr/>
        </p:nvSpPr>
        <p:spPr>
          <a:xfrm>
            <a:off x="1358437" y="3048552"/>
            <a:ext cx="1312607" cy="461665"/>
          </a:xfrm>
          <a:prstGeom prst="rect">
            <a:avLst/>
          </a:prstGeom>
          <a:noFill/>
        </p:spPr>
        <p:txBody>
          <a:bodyPr wrap="square" rtlCol="0">
            <a:spAutoFit/>
          </a:bodyPr>
          <a:lstStyle/>
          <a:p>
            <a:r>
              <a:rPr kumimoji="1" lang="en-US" altLang="ja-JP" sz="1200" dirty="0">
                <a:latin typeface="Yu Gothic UI" panose="020B0500000000000000" pitchFamily="34" charset="-128"/>
                <a:ea typeface="Yu Gothic UI" panose="020B0500000000000000" pitchFamily="34" charset="-128"/>
              </a:rPr>
              <a:t>1. </a:t>
            </a:r>
            <a:r>
              <a:rPr kumimoji="1" lang="ja-JP" altLang="en-US" sz="1200">
                <a:latin typeface="Yu Gothic UI" panose="020B0500000000000000" pitchFamily="34" charset="-128"/>
                <a:ea typeface="Yu Gothic UI" panose="020B0500000000000000" pitchFamily="34" charset="-128"/>
              </a:rPr>
              <a:t>リソースグループの作成</a:t>
            </a:r>
          </a:p>
        </p:txBody>
      </p:sp>
      <p:pic>
        <p:nvPicPr>
          <p:cNvPr id="15" name="グラフィックス 14">
            <a:extLst>
              <a:ext uri="{FF2B5EF4-FFF2-40B4-BE49-F238E27FC236}">
                <a16:creationId xmlns:a16="http://schemas.microsoft.com/office/drawing/2014/main" id="{1DA34847-5DE7-A933-8A49-A06AE9979F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0226" y="2727570"/>
            <a:ext cx="289027" cy="289027"/>
          </a:xfrm>
          <a:prstGeom prst="rect">
            <a:avLst/>
          </a:prstGeom>
        </p:spPr>
      </p:pic>
      <p:sp>
        <p:nvSpPr>
          <p:cNvPr id="16" name="角丸四角形 15">
            <a:extLst>
              <a:ext uri="{FF2B5EF4-FFF2-40B4-BE49-F238E27FC236}">
                <a16:creationId xmlns:a16="http://schemas.microsoft.com/office/drawing/2014/main" id="{256515AF-6D1F-5ED8-CBE1-F3DA05D08F2C}"/>
              </a:ext>
            </a:extLst>
          </p:cNvPr>
          <p:cNvSpPr/>
          <p:nvPr/>
        </p:nvSpPr>
        <p:spPr>
          <a:xfrm>
            <a:off x="2866589" y="269081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A65030A1-8044-6164-7D47-0788648A1CFC}"/>
              </a:ext>
            </a:extLst>
          </p:cNvPr>
          <p:cNvSpPr txBox="1"/>
          <p:nvPr/>
        </p:nvSpPr>
        <p:spPr>
          <a:xfrm>
            <a:off x="2866589" y="3042277"/>
            <a:ext cx="1312607" cy="461665"/>
          </a:xfrm>
          <a:prstGeom prst="rect">
            <a:avLst/>
          </a:prstGeom>
          <a:noFill/>
        </p:spPr>
        <p:txBody>
          <a:bodyPr wrap="square" rtlCol="0">
            <a:spAutoFit/>
          </a:bodyPr>
          <a:lstStyle/>
          <a:p>
            <a:r>
              <a:rPr kumimoji="1" lang="en-US" altLang="ja-JP" sz="1200" dirty="0">
                <a:latin typeface="Yu Gothic UI" panose="020B0500000000000000" pitchFamily="34" charset="-128"/>
                <a:ea typeface="Yu Gothic UI" panose="020B0500000000000000" pitchFamily="34" charset="-128"/>
              </a:rPr>
              <a:t>2. </a:t>
            </a:r>
            <a:r>
              <a:rPr kumimoji="1" lang="en-US" altLang="ja-JP" sz="1200" dirty="0" err="1">
                <a:latin typeface="Yu Gothic UI" panose="020B0500000000000000" pitchFamily="34" charset="-128"/>
                <a:ea typeface="Yu Gothic UI" panose="020B0500000000000000" pitchFamily="34" charset="-128"/>
              </a:rPr>
              <a:t>VNet</a:t>
            </a:r>
            <a:r>
              <a:rPr kumimoji="1" lang="ja-JP" altLang="en-US" sz="1200">
                <a:latin typeface="Yu Gothic UI" panose="020B0500000000000000" pitchFamily="34" charset="-128"/>
                <a:ea typeface="Yu Gothic UI" panose="020B0500000000000000" pitchFamily="34" charset="-128"/>
              </a:rPr>
              <a:t>、サブネットの作成</a:t>
            </a:r>
          </a:p>
        </p:txBody>
      </p:sp>
      <p:pic>
        <p:nvPicPr>
          <p:cNvPr id="22" name="グラフィックス 21">
            <a:extLst>
              <a:ext uri="{FF2B5EF4-FFF2-40B4-BE49-F238E27FC236}">
                <a16:creationId xmlns:a16="http://schemas.microsoft.com/office/drawing/2014/main" id="{D0128124-5AC0-3208-FE05-9C09F9E5C2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98777" y="2723242"/>
            <a:ext cx="319035" cy="319035"/>
          </a:xfrm>
          <a:prstGeom prst="rect">
            <a:avLst/>
          </a:prstGeom>
        </p:spPr>
      </p:pic>
      <p:pic>
        <p:nvPicPr>
          <p:cNvPr id="24" name="グラフィックス 23">
            <a:extLst>
              <a:ext uri="{FF2B5EF4-FFF2-40B4-BE49-F238E27FC236}">
                <a16:creationId xmlns:a16="http://schemas.microsoft.com/office/drawing/2014/main" id="{BE5B98FD-E35C-7CA3-A334-1E3FA3DFA34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76714" y="2725637"/>
            <a:ext cx="319035" cy="319035"/>
          </a:xfrm>
          <a:prstGeom prst="rect">
            <a:avLst/>
          </a:prstGeom>
        </p:spPr>
      </p:pic>
      <p:sp>
        <p:nvSpPr>
          <p:cNvPr id="25" name="角丸四角形 24">
            <a:extLst>
              <a:ext uri="{FF2B5EF4-FFF2-40B4-BE49-F238E27FC236}">
                <a16:creationId xmlns:a16="http://schemas.microsoft.com/office/drawing/2014/main" id="{B5D2C8D1-28FE-2AC4-379B-74F671B29FB6}"/>
              </a:ext>
            </a:extLst>
          </p:cNvPr>
          <p:cNvSpPr/>
          <p:nvPr/>
        </p:nvSpPr>
        <p:spPr>
          <a:xfrm>
            <a:off x="4374741" y="269081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58C831F3-2CCA-065E-CF33-F992055A07CD}"/>
              </a:ext>
            </a:extLst>
          </p:cNvPr>
          <p:cNvSpPr txBox="1"/>
          <p:nvPr/>
        </p:nvSpPr>
        <p:spPr>
          <a:xfrm>
            <a:off x="4374741" y="3048552"/>
            <a:ext cx="1312607" cy="276999"/>
          </a:xfrm>
          <a:prstGeom prst="rect">
            <a:avLst/>
          </a:prstGeom>
          <a:noFill/>
        </p:spPr>
        <p:txBody>
          <a:bodyPr wrap="square" rtlCol="0">
            <a:spAutoFit/>
          </a:bodyPr>
          <a:lstStyle/>
          <a:p>
            <a:r>
              <a:rPr kumimoji="1" lang="en-US" altLang="ja-JP" sz="1200" dirty="0">
                <a:latin typeface="Yu Gothic UI" panose="020B0500000000000000" pitchFamily="34" charset="-128"/>
                <a:ea typeface="Yu Gothic UI" panose="020B0500000000000000" pitchFamily="34" charset="-128"/>
              </a:rPr>
              <a:t>3. ACR </a:t>
            </a:r>
            <a:r>
              <a:rPr kumimoji="1" lang="ja-JP" altLang="en-US" sz="1200">
                <a:latin typeface="Yu Gothic UI" panose="020B0500000000000000" pitchFamily="34" charset="-128"/>
                <a:ea typeface="Yu Gothic UI" panose="020B0500000000000000" pitchFamily="34" charset="-128"/>
              </a:rPr>
              <a:t>の作成</a:t>
            </a:r>
          </a:p>
        </p:txBody>
      </p:sp>
      <p:pic>
        <p:nvPicPr>
          <p:cNvPr id="29" name="グラフィックス 28">
            <a:extLst>
              <a:ext uri="{FF2B5EF4-FFF2-40B4-BE49-F238E27FC236}">
                <a16:creationId xmlns:a16="http://schemas.microsoft.com/office/drawing/2014/main" id="{A0A31B48-B0A2-FFB9-A2B3-C1F257F8F5B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92544" y="2744259"/>
            <a:ext cx="277000" cy="277000"/>
          </a:xfrm>
          <a:prstGeom prst="rect">
            <a:avLst/>
          </a:prstGeom>
        </p:spPr>
      </p:pic>
      <p:sp>
        <p:nvSpPr>
          <p:cNvPr id="30" name="角丸四角形 29">
            <a:extLst>
              <a:ext uri="{FF2B5EF4-FFF2-40B4-BE49-F238E27FC236}">
                <a16:creationId xmlns:a16="http://schemas.microsoft.com/office/drawing/2014/main" id="{62CEB75E-5210-A5F7-35F6-92F90830939E}"/>
              </a:ext>
            </a:extLst>
          </p:cNvPr>
          <p:cNvSpPr/>
          <p:nvPr/>
        </p:nvSpPr>
        <p:spPr>
          <a:xfrm>
            <a:off x="1358437" y="3904700"/>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099545B6-F106-967F-EA8F-B0E37E8F8140}"/>
              </a:ext>
            </a:extLst>
          </p:cNvPr>
          <p:cNvSpPr txBox="1"/>
          <p:nvPr/>
        </p:nvSpPr>
        <p:spPr>
          <a:xfrm>
            <a:off x="1358437" y="4262440"/>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4. AP </a:t>
            </a:r>
            <a:r>
              <a:rPr kumimoji="1" lang="ja-JP" altLang="en-US" sz="1100">
                <a:latin typeface="Yu Gothic UI" panose="020B0500000000000000" pitchFamily="34" charset="-128"/>
                <a:ea typeface="Yu Gothic UI" panose="020B0500000000000000" pitchFamily="34" charset="-128"/>
              </a:rPr>
              <a:t>層、</a:t>
            </a:r>
            <a:r>
              <a:rPr kumimoji="1" lang="en-US" altLang="ja-JP" sz="1100" dirty="0">
                <a:latin typeface="Yu Gothic UI" panose="020B0500000000000000" pitchFamily="34" charset="-128"/>
                <a:ea typeface="Yu Gothic UI" panose="020B0500000000000000" pitchFamily="34" charset="-128"/>
              </a:rPr>
              <a:t>Web </a:t>
            </a:r>
            <a:r>
              <a:rPr kumimoji="1" lang="ja-JP" altLang="en-US" sz="1100">
                <a:latin typeface="Yu Gothic UI" panose="020B0500000000000000" pitchFamily="34" charset="-128"/>
                <a:ea typeface="Yu Gothic UI" panose="020B0500000000000000" pitchFamily="34" charset="-128"/>
              </a:rPr>
              <a:t>層用の</a:t>
            </a:r>
            <a:r>
              <a:rPr kumimoji="1" lang="en-US" altLang="ja-JP" sz="1100" dirty="0">
                <a:latin typeface="Yu Gothic UI" panose="020B0500000000000000" pitchFamily="34" charset="-128"/>
                <a:ea typeface="Yu Gothic UI" panose="020B0500000000000000" pitchFamily="34" charset="-128"/>
              </a:rPr>
              <a:t> ACA </a:t>
            </a:r>
            <a:r>
              <a:rPr kumimoji="1" lang="ja-JP" altLang="en-US" sz="1100">
                <a:latin typeface="Yu Gothic UI" panose="020B0500000000000000" pitchFamily="34" charset="-128"/>
                <a:ea typeface="Yu Gothic UI" panose="020B0500000000000000" pitchFamily="34" charset="-128"/>
              </a:rPr>
              <a:t>の作成</a:t>
            </a:r>
          </a:p>
        </p:txBody>
      </p:sp>
      <p:pic>
        <p:nvPicPr>
          <p:cNvPr id="33" name="グラフィックス 32">
            <a:extLst>
              <a:ext uri="{FF2B5EF4-FFF2-40B4-BE49-F238E27FC236}">
                <a16:creationId xmlns:a16="http://schemas.microsoft.com/office/drawing/2014/main" id="{1D19CB2F-EAE1-A8F5-DF01-16A711C9BD5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81054" y="3936284"/>
            <a:ext cx="354154" cy="354154"/>
          </a:xfrm>
          <a:prstGeom prst="rect">
            <a:avLst/>
          </a:prstGeom>
        </p:spPr>
      </p:pic>
      <p:pic>
        <p:nvPicPr>
          <p:cNvPr id="34" name="グラフィックス 33">
            <a:extLst>
              <a:ext uri="{FF2B5EF4-FFF2-40B4-BE49-F238E27FC236}">
                <a16:creationId xmlns:a16="http://schemas.microsoft.com/office/drawing/2014/main" id="{B3AE8558-DFB6-E42D-56D0-75F3949EF47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94110" y="3936284"/>
            <a:ext cx="354154" cy="354154"/>
          </a:xfrm>
          <a:prstGeom prst="rect">
            <a:avLst/>
          </a:prstGeom>
        </p:spPr>
      </p:pic>
      <p:sp>
        <p:nvSpPr>
          <p:cNvPr id="35" name="角丸四角形 34">
            <a:extLst>
              <a:ext uri="{FF2B5EF4-FFF2-40B4-BE49-F238E27FC236}">
                <a16:creationId xmlns:a16="http://schemas.microsoft.com/office/drawing/2014/main" id="{EE67B90D-FF18-643B-85BB-44D145211C90}"/>
              </a:ext>
            </a:extLst>
          </p:cNvPr>
          <p:cNvSpPr/>
          <p:nvPr/>
        </p:nvSpPr>
        <p:spPr>
          <a:xfrm>
            <a:off x="2860834" y="3905660"/>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37AD2320-66E4-9F2D-410A-9ECCB52C30BE}"/>
              </a:ext>
            </a:extLst>
          </p:cNvPr>
          <p:cNvSpPr txBox="1"/>
          <p:nvPr/>
        </p:nvSpPr>
        <p:spPr>
          <a:xfrm>
            <a:off x="2860834" y="4263400"/>
            <a:ext cx="1312607" cy="369332"/>
          </a:xfrm>
          <a:prstGeom prst="rect">
            <a:avLst/>
          </a:prstGeom>
          <a:noFill/>
        </p:spPr>
        <p:txBody>
          <a:bodyPr wrap="square" rtlCol="0">
            <a:spAutoFit/>
          </a:bodyPr>
          <a:lstStyle/>
          <a:p>
            <a:r>
              <a:rPr kumimoji="1" lang="en-US" altLang="ja-JP" sz="900" dirty="0">
                <a:latin typeface="Yu Gothic UI" panose="020B0500000000000000" pitchFamily="34" charset="-128"/>
                <a:ea typeface="Yu Gothic UI" panose="020B0500000000000000" pitchFamily="34" charset="-128"/>
              </a:rPr>
              <a:t>5. PostgreSQL Flexible Server </a:t>
            </a:r>
            <a:r>
              <a:rPr kumimoji="1" lang="ja-JP" altLang="en-US" sz="900">
                <a:latin typeface="Yu Gothic UI" panose="020B0500000000000000" pitchFamily="34" charset="-128"/>
                <a:ea typeface="Yu Gothic UI" panose="020B0500000000000000" pitchFamily="34" charset="-128"/>
              </a:rPr>
              <a:t>の作成</a:t>
            </a:r>
          </a:p>
        </p:txBody>
      </p:sp>
      <p:pic>
        <p:nvPicPr>
          <p:cNvPr id="44" name="グラフィックス 43">
            <a:extLst>
              <a:ext uri="{FF2B5EF4-FFF2-40B4-BE49-F238E27FC236}">
                <a16:creationId xmlns:a16="http://schemas.microsoft.com/office/drawing/2014/main" id="{65DD5477-745C-AB00-1FE9-4FCFF84BDCD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348979" y="3943890"/>
            <a:ext cx="326184" cy="326184"/>
          </a:xfrm>
          <a:prstGeom prst="rect">
            <a:avLst/>
          </a:prstGeom>
        </p:spPr>
      </p:pic>
      <p:sp>
        <p:nvSpPr>
          <p:cNvPr id="45" name="角丸四角形 44">
            <a:extLst>
              <a:ext uri="{FF2B5EF4-FFF2-40B4-BE49-F238E27FC236}">
                <a16:creationId xmlns:a16="http://schemas.microsoft.com/office/drawing/2014/main" id="{87F974B9-194A-703A-2921-BD98EB17E193}"/>
              </a:ext>
            </a:extLst>
          </p:cNvPr>
          <p:cNvSpPr/>
          <p:nvPr/>
        </p:nvSpPr>
        <p:spPr>
          <a:xfrm>
            <a:off x="4374741" y="3905660"/>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5CF0A05C-4427-7C5D-727A-66F6CBA9C00C}"/>
              </a:ext>
            </a:extLst>
          </p:cNvPr>
          <p:cNvSpPr txBox="1"/>
          <p:nvPr/>
        </p:nvSpPr>
        <p:spPr>
          <a:xfrm>
            <a:off x="4374741" y="4263400"/>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6. AP </a:t>
            </a:r>
            <a:r>
              <a:rPr kumimoji="1" lang="ja-JP" altLang="en-US" sz="1100">
                <a:latin typeface="Yu Gothic UI" panose="020B0500000000000000" pitchFamily="34" charset="-128"/>
                <a:ea typeface="Yu Gothic UI" panose="020B0500000000000000" pitchFamily="34" charset="-128"/>
              </a:rPr>
              <a:t>コンテナ用</a:t>
            </a:r>
            <a:r>
              <a:rPr kumimoji="1" lang="en-US" altLang="ja-JP" sz="1100" dirty="0">
                <a:latin typeface="Yu Gothic UI" panose="020B0500000000000000" pitchFamily="34" charset="-128"/>
                <a:ea typeface="Yu Gothic UI" panose="020B0500000000000000" pitchFamily="34" charset="-128"/>
              </a:rPr>
              <a:t> </a:t>
            </a:r>
            <a:r>
              <a:rPr kumimoji="1" lang="ja-JP" altLang="en-US" sz="1100">
                <a:latin typeface="Yu Gothic UI" panose="020B0500000000000000" pitchFamily="34" charset="-128"/>
                <a:ea typeface="Yu Gothic UI" panose="020B0500000000000000" pitchFamily="34" charset="-128"/>
              </a:rPr>
              <a:t>マネージド</a:t>
            </a:r>
            <a:r>
              <a:rPr kumimoji="1" lang="en-US" altLang="ja-JP" sz="1100" dirty="0">
                <a:latin typeface="Yu Gothic UI" panose="020B0500000000000000" pitchFamily="34" charset="-128"/>
                <a:ea typeface="Yu Gothic UI" panose="020B0500000000000000" pitchFamily="34" charset="-128"/>
              </a:rPr>
              <a:t> ID </a:t>
            </a:r>
            <a:r>
              <a:rPr kumimoji="1" lang="ja-JP" altLang="en-US" sz="1100">
                <a:latin typeface="Yu Gothic UI" panose="020B0500000000000000" pitchFamily="34" charset="-128"/>
                <a:ea typeface="Yu Gothic UI" panose="020B0500000000000000" pitchFamily="34" charset="-128"/>
              </a:rPr>
              <a:t>の作成</a:t>
            </a:r>
          </a:p>
        </p:txBody>
      </p:sp>
      <p:sp>
        <p:nvSpPr>
          <p:cNvPr id="50" name="角丸四角形 49">
            <a:extLst>
              <a:ext uri="{FF2B5EF4-FFF2-40B4-BE49-F238E27FC236}">
                <a16:creationId xmlns:a16="http://schemas.microsoft.com/office/drawing/2014/main" id="{52B5CCBA-DE8A-DBF8-368E-D7F0574053F4}"/>
              </a:ext>
            </a:extLst>
          </p:cNvPr>
          <p:cNvSpPr/>
          <p:nvPr/>
        </p:nvSpPr>
        <p:spPr>
          <a:xfrm>
            <a:off x="1358437" y="5019483"/>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B473A719-F599-3B1C-72DE-50CC1AB25932}"/>
              </a:ext>
            </a:extLst>
          </p:cNvPr>
          <p:cNvSpPr txBox="1"/>
          <p:nvPr/>
        </p:nvSpPr>
        <p:spPr>
          <a:xfrm>
            <a:off x="1358437" y="5377223"/>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7. DB </a:t>
            </a:r>
            <a:r>
              <a:rPr kumimoji="1" lang="ja-JP" altLang="en-US" sz="1100">
                <a:latin typeface="Yu Gothic UI" panose="020B0500000000000000" pitchFamily="34" charset="-128"/>
                <a:ea typeface="Yu Gothic UI" panose="020B0500000000000000" pitchFamily="34" charset="-128"/>
              </a:rPr>
              <a:t>のデータベース、パーミッション設定</a:t>
            </a:r>
          </a:p>
        </p:txBody>
      </p:sp>
      <p:pic>
        <p:nvPicPr>
          <p:cNvPr id="53" name="グラフィックス 52">
            <a:extLst>
              <a:ext uri="{FF2B5EF4-FFF2-40B4-BE49-F238E27FC236}">
                <a16:creationId xmlns:a16="http://schemas.microsoft.com/office/drawing/2014/main" id="{A78AD50D-BFD5-1B1F-F75E-E641AB50D97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38501" y="5051039"/>
            <a:ext cx="326184" cy="326184"/>
          </a:xfrm>
          <a:prstGeom prst="rect">
            <a:avLst/>
          </a:prstGeom>
        </p:spPr>
      </p:pic>
      <p:sp>
        <p:nvSpPr>
          <p:cNvPr id="54" name="角丸四角形 53">
            <a:extLst>
              <a:ext uri="{FF2B5EF4-FFF2-40B4-BE49-F238E27FC236}">
                <a16:creationId xmlns:a16="http://schemas.microsoft.com/office/drawing/2014/main" id="{3E8DD808-1A8C-4D6A-F0BC-2FFFA9B09922}"/>
              </a:ext>
            </a:extLst>
          </p:cNvPr>
          <p:cNvSpPr/>
          <p:nvPr/>
        </p:nvSpPr>
        <p:spPr>
          <a:xfrm>
            <a:off x="2860834" y="5019483"/>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356C4F31-EF61-E3C7-5DD9-2CEBF8FEA779}"/>
              </a:ext>
            </a:extLst>
          </p:cNvPr>
          <p:cNvSpPr txBox="1"/>
          <p:nvPr/>
        </p:nvSpPr>
        <p:spPr>
          <a:xfrm>
            <a:off x="2860834" y="5377223"/>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8. Web </a:t>
            </a:r>
            <a:r>
              <a:rPr kumimoji="1" lang="ja-JP" altLang="en-US" sz="1100">
                <a:latin typeface="Yu Gothic UI" panose="020B0500000000000000" pitchFamily="34" charset="-128"/>
                <a:ea typeface="Yu Gothic UI" panose="020B0500000000000000" pitchFamily="34" charset="-128"/>
              </a:rPr>
              <a:t>層用</a:t>
            </a:r>
            <a:r>
              <a:rPr kumimoji="1" lang="en-US" altLang="ja-JP" sz="1100" dirty="0">
                <a:latin typeface="Yu Gothic UI" panose="020B0500000000000000" pitchFamily="34" charset="-128"/>
                <a:ea typeface="Yu Gothic UI" panose="020B0500000000000000" pitchFamily="34" charset="-128"/>
              </a:rPr>
              <a:t> Entra ID </a:t>
            </a:r>
            <a:r>
              <a:rPr kumimoji="1" lang="ja-JP" altLang="en-US" sz="1100">
                <a:latin typeface="Yu Gothic UI" panose="020B0500000000000000" pitchFamily="34" charset="-128"/>
                <a:ea typeface="Yu Gothic UI" panose="020B0500000000000000" pitchFamily="34" charset="-128"/>
              </a:rPr>
              <a:t>アプリ登録</a:t>
            </a:r>
          </a:p>
        </p:txBody>
      </p:sp>
      <p:pic>
        <p:nvPicPr>
          <p:cNvPr id="58" name="グラフィックス 57">
            <a:extLst>
              <a:ext uri="{FF2B5EF4-FFF2-40B4-BE49-F238E27FC236}">
                <a16:creationId xmlns:a16="http://schemas.microsoft.com/office/drawing/2014/main" id="{9512AEB2-7F16-4701-6DFD-545AEDBC05D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17309" y="5051039"/>
            <a:ext cx="326184" cy="326184"/>
          </a:xfrm>
          <a:prstGeom prst="rect">
            <a:avLst/>
          </a:prstGeom>
        </p:spPr>
      </p:pic>
      <p:pic>
        <p:nvPicPr>
          <p:cNvPr id="60" name="グラフィックス 59">
            <a:extLst>
              <a:ext uri="{FF2B5EF4-FFF2-40B4-BE49-F238E27FC236}">
                <a16:creationId xmlns:a16="http://schemas.microsoft.com/office/drawing/2014/main" id="{374DEDBB-A7C1-6D8F-A963-206855C9782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852117" y="3936284"/>
            <a:ext cx="357854" cy="357854"/>
          </a:xfrm>
          <a:prstGeom prst="rect">
            <a:avLst/>
          </a:prstGeom>
        </p:spPr>
      </p:pic>
      <p:sp>
        <p:nvSpPr>
          <p:cNvPr id="61" name="角丸四角形 60">
            <a:extLst>
              <a:ext uri="{FF2B5EF4-FFF2-40B4-BE49-F238E27FC236}">
                <a16:creationId xmlns:a16="http://schemas.microsoft.com/office/drawing/2014/main" id="{6DC97341-5BB0-3D4E-4855-0E1C42B0B0CB}"/>
              </a:ext>
            </a:extLst>
          </p:cNvPr>
          <p:cNvSpPr/>
          <p:nvPr/>
        </p:nvSpPr>
        <p:spPr>
          <a:xfrm>
            <a:off x="4374741" y="5023735"/>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38542EFB-9752-F3CB-064D-F6EF9302487D}"/>
              </a:ext>
            </a:extLst>
          </p:cNvPr>
          <p:cNvSpPr txBox="1"/>
          <p:nvPr/>
        </p:nvSpPr>
        <p:spPr>
          <a:xfrm>
            <a:off x="4374741" y="5381475"/>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9. </a:t>
            </a:r>
            <a:r>
              <a:rPr kumimoji="1" lang="ja-JP" altLang="en-US" sz="1100">
                <a:latin typeface="Yu Gothic UI" panose="020B0500000000000000" pitchFamily="34" charset="-128"/>
                <a:ea typeface="Yu Gothic UI" panose="020B0500000000000000" pitchFamily="34" charset="-128"/>
              </a:rPr>
              <a:t>第</a:t>
            </a:r>
            <a:r>
              <a:rPr kumimoji="1" lang="en-US" altLang="ja-JP" sz="1100" dirty="0">
                <a:latin typeface="Yu Gothic UI" panose="020B0500000000000000" pitchFamily="34" charset="-128"/>
                <a:ea typeface="Yu Gothic UI" panose="020B0500000000000000" pitchFamily="34" charset="-128"/>
              </a:rPr>
              <a:t>6</a:t>
            </a:r>
            <a:r>
              <a:rPr kumimoji="1" lang="ja-JP" altLang="en-US" sz="1100">
                <a:latin typeface="Yu Gothic UI" panose="020B0500000000000000" pitchFamily="34" charset="-128"/>
                <a:ea typeface="Yu Gothic UI" panose="020B0500000000000000" pitchFamily="34" charset="-128"/>
              </a:rPr>
              <a:t>回用パラメータ収集</a:t>
            </a:r>
          </a:p>
        </p:txBody>
      </p:sp>
      <p:sp>
        <p:nvSpPr>
          <p:cNvPr id="63" name="角丸四角形 62">
            <a:extLst>
              <a:ext uri="{FF2B5EF4-FFF2-40B4-BE49-F238E27FC236}">
                <a16:creationId xmlns:a16="http://schemas.microsoft.com/office/drawing/2014/main" id="{50C02B63-5ABC-8B40-18CE-54D4C433E931}"/>
              </a:ext>
            </a:extLst>
          </p:cNvPr>
          <p:cNvSpPr/>
          <p:nvPr/>
        </p:nvSpPr>
        <p:spPr>
          <a:xfrm>
            <a:off x="6530821" y="269081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テキスト ボックス 63">
            <a:extLst>
              <a:ext uri="{FF2B5EF4-FFF2-40B4-BE49-F238E27FC236}">
                <a16:creationId xmlns:a16="http://schemas.microsoft.com/office/drawing/2014/main" id="{A21577C1-E214-E65B-5F91-E07883452D46}"/>
              </a:ext>
            </a:extLst>
          </p:cNvPr>
          <p:cNvSpPr txBox="1"/>
          <p:nvPr/>
        </p:nvSpPr>
        <p:spPr>
          <a:xfrm>
            <a:off x="6530821" y="3048552"/>
            <a:ext cx="1312607" cy="461665"/>
          </a:xfrm>
          <a:prstGeom prst="rect">
            <a:avLst/>
          </a:prstGeom>
          <a:noFill/>
        </p:spPr>
        <p:txBody>
          <a:bodyPr wrap="square" rtlCol="0">
            <a:spAutoFit/>
          </a:bodyPr>
          <a:lstStyle/>
          <a:p>
            <a:r>
              <a:rPr kumimoji="1" lang="en-US" altLang="ja-JP" sz="1200" dirty="0">
                <a:latin typeface="Yu Gothic UI" panose="020B0500000000000000" pitchFamily="34" charset="-128"/>
                <a:ea typeface="Yu Gothic UI" panose="020B0500000000000000" pitchFamily="34" charset="-128"/>
              </a:rPr>
              <a:t>1. GitHub </a:t>
            </a:r>
            <a:r>
              <a:rPr kumimoji="1" lang="ja-JP" altLang="en-US" sz="1200">
                <a:latin typeface="Yu Gothic UI" panose="020B0500000000000000" pitchFamily="34" charset="-128"/>
                <a:ea typeface="Yu Gothic UI" panose="020B0500000000000000" pitchFamily="34" charset="-128"/>
              </a:rPr>
              <a:t>リポジトリ作成</a:t>
            </a:r>
          </a:p>
        </p:txBody>
      </p:sp>
      <p:pic>
        <p:nvPicPr>
          <p:cNvPr id="66" name="図 65">
            <a:extLst>
              <a:ext uri="{FF2B5EF4-FFF2-40B4-BE49-F238E27FC236}">
                <a16:creationId xmlns:a16="http://schemas.microsoft.com/office/drawing/2014/main" id="{64386138-A54C-2102-CB41-08FAD2C4CCEA}"/>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7045739" y="2763372"/>
            <a:ext cx="282770" cy="276999"/>
          </a:xfrm>
          <a:prstGeom prst="rect">
            <a:avLst/>
          </a:prstGeom>
        </p:spPr>
      </p:pic>
      <p:sp>
        <p:nvSpPr>
          <p:cNvPr id="67" name="角丸四角形 66">
            <a:extLst>
              <a:ext uri="{FF2B5EF4-FFF2-40B4-BE49-F238E27FC236}">
                <a16:creationId xmlns:a16="http://schemas.microsoft.com/office/drawing/2014/main" id="{73DF5E6A-C397-32D7-0955-F6E59253E431}"/>
              </a:ext>
            </a:extLst>
          </p:cNvPr>
          <p:cNvSpPr/>
          <p:nvPr/>
        </p:nvSpPr>
        <p:spPr>
          <a:xfrm>
            <a:off x="8052720" y="269314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5C6567BC-9DBA-0093-D58C-04CBC652E7FD}"/>
              </a:ext>
            </a:extLst>
          </p:cNvPr>
          <p:cNvSpPr txBox="1"/>
          <p:nvPr/>
        </p:nvSpPr>
        <p:spPr>
          <a:xfrm>
            <a:off x="8052720" y="3050882"/>
            <a:ext cx="1312607" cy="461665"/>
          </a:xfrm>
          <a:prstGeom prst="rect">
            <a:avLst/>
          </a:prstGeom>
          <a:noFill/>
        </p:spPr>
        <p:txBody>
          <a:bodyPr wrap="square" rtlCol="0">
            <a:spAutoFit/>
          </a:bodyPr>
          <a:lstStyle/>
          <a:p>
            <a:r>
              <a:rPr kumimoji="1" lang="en-US" altLang="ja-JP" sz="1200" dirty="0">
                <a:latin typeface="Yu Gothic UI" panose="020B0500000000000000" pitchFamily="34" charset="-128"/>
                <a:ea typeface="Yu Gothic UI" panose="020B0500000000000000" pitchFamily="34" charset="-128"/>
              </a:rPr>
              <a:t>2. Service Principal </a:t>
            </a:r>
            <a:r>
              <a:rPr kumimoji="1" lang="ja-JP" altLang="en-US" sz="1200">
                <a:latin typeface="Yu Gothic UI" panose="020B0500000000000000" pitchFamily="34" charset="-128"/>
                <a:ea typeface="Yu Gothic UI" panose="020B0500000000000000" pitchFamily="34" charset="-128"/>
              </a:rPr>
              <a:t>の作成</a:t>
            </a:r>
          </a:p>
        </p:txBody>
      </p:sp>
      <p:pic>
        <p:nvPicPr>
          <p:cNvPr id="69" name="グラフィックス 68">
            <a:extLst>
              <a:ext uri="{FF2B5EF4-FFF2-40B4-BE49-F238E27FC236}">
                <a16:creationId xmlns:a16="http://schemas.microsoft.com/office/drawing/2014/main" id="{902ABDA1-7A60-141B-209C-36A2620D33E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545931" y="2744259"/>
            <a:ext cx="326184" cy="326184"/>
          </a:xfrm>
          <a:prstGeom prst="rect">
            <a:avLst/>
          </a:prstGeom>
        </p:spPr>
      </p:pic>
      <p:sp>
        <p:nvSpPr>
          <p:cNvPr id="70" name="角丸四角形 69">
            <a:extLst>
              <a:ext uri="{FF2B5EF4-FFF2-40B4-BE49-F238E27FC236}">
                <a16:creationId xmlns:a16="http://schemas.microsoft.com/office/drawing/2014/main" id="{FC44DEAE-3308-01DE-6301-34AB304C04BC}"/>
              </a:ext>
            </a:extLst>
          </p:cNvPr>
          <p:cNvSpPr/>
          <p:nvPr/>
        </p:nvSpPr>
        <p:spPr>
          <a:xfrm>
            <a:off x="9579636" y="269081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テキスト ボックス 70">
            <a:extLst>
              <a:ext uri="{FF2B5EF4-FFF2-40B4-BE49-F238E27FC236}">
                <a16:creationId xmlns:a16="http://schemas.microsoft.com/office/drawing/2014/main" id="{4A3344A8-D775-B705-8857-4821A973F9D1}"/>
              </a:ext>
            </a:extLst>
          </p:cNvPr>
          <p:cNvSpPr txBox="1"/>
          <p:nvPr/>
        </p:nvSpPr>
        <p:spPr>
          <a:xfrm>
            <a:off x="9579636" y="3048552"/>
            <a:ext cx="1312607" cy="553998"/>
          </a:xfrm>
          <a:prstGeom prst="rect">
            <a:avLst/>
          </a:prstGeom>
          <a:noFill/>
        </p:spPr>
        <p:txBody>
          <a:bodyPr wrap="square" rtlCol="0">
            <a:spAutoFit/>
          </a:bodyPr>
          <a:lstStyle/>
          <a:p>
            <a:r>
              <a:rPr kumimoji="1" lang="en-US" altLang="ja-JP" sz="1000" dirty="0">
                <a:latin typeface="Yu Gothic UI" panose="020B0500000000000000" pitchFamily="34" charset="-128"/>
                <a:ea typeface="Yu Gothic UI" panose="020B0500000000000000" pitchFamily="34" charset="-128"/>
              </a:rPr>
              <a:t>3. GitHub Actions </a:t>
            </a:r>
            <a:r>
              <a:rPr kumimoji="1" lang="ja-JP" altLang="en-US" sz="1000">
                <a:latin typeface="Yu Gothic UI" panose="020B0500000000000000" pitchFamily="34" charset="-128"/>
                <a:ea typeface="Yu Gothic UI" panose="020B0500000000000000" pitchFamily="34" charset="-128"/>
              </a:rPr>
              <a:t>変数、シークレット設定</a:t>
            </a:r>
          </a:p>
        </p:txBody>
      </p:sp>
      <p:pic>
        <p:nvPicPr>
          <p:cNvPr id="73" name="グラフィックス 72" descr="github-actions.svg">
            <a:extLst>
              <a:ext uri="{FF2B5EF4-FFF2-40B4-BE49-F238E27FC236}">
                <a16:creationId xmlns:a16="http://schemas.microsoft.com/office/drawing/2014/main" id="{7838A793-4E36-F284-FD49-528ECA56726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041830" y="2744259"/>
            <a:ext cx="304293" cy="304293"/>
          </a:xfrm>
          <a:prstGeom prst="rect">
            <a:avLst/>
          </a:prstGeom>
        </p:spPr>
      </p:pic>
      <p:sp>
        <p:nvSpPr>
          <p:cNvPr id="74" name="角丸四角形 73">
            <a:extLst>
              <a:ext uri="{FF2B5EF4-FFF2-40B4-BE49-F238E27FC236}">
                <a16:creationId xmlns:a16="http://schemas.microsoft.com/office/drawing/2014/main" id="{C019B69D-8FFD-4754-12D3-CBC788FB3180}"/>
              </a:ext>
            </a:extLst>
          </p:cNvPr>
          <p:cNvSpPr/>
          <p:nvPr/>
        </p:nvSpPr>
        <p:spPr>
          <a:xfrm>
            <a:off x="6530821" y="3904700"/>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D8C0AE74-88BF-7C74-DE54-035FDC0BE181}"/>
              </a:ext>
            </a:extLst>
          </p:cNvPr>
          <p:cNvSpPr txBox="1"/>
          <p:nvPr/>
        </p:nvSpPr>
        <p:spPr>
          <a:xfrm>
            <a:off x="6530821" y="4262440"/>
            <a:ext cx="1312607" cy="553998"/>
          </a:xfrm>
          <a:prstGeom prst="rect">
            <a:avLst/>
          </a:prstGeom>
          <a:noFill/>
        </p:spPr>
        <p:txBody>
          <a:bodyPr wrap="square" rtlCol="0">
            <a:spAutoFit/>
          </a:bodyPr>
          <a:lstStyle/>
          <a:p>
            <a:r>
              <a:rPr kumimoji="1" lang="en-US" altLang="ja-JP" sz="1000" dirty="0">
                <a:latin typeface="Yu Gothic UI" panose="020B0500000000000000" pitchFamily="34" charset="-128"/>
                <a:ea typeface="Yu Gothic UI" panose="020B0500000000000000" pitchFamily="34" charset="-128"/>
              </a:rPr>
              <a:t>4. GitHub Actions </a:t>
            </a:r>
            <a:r>
              <a:rPr kumimoji="1" lang="ja-JP" altLang="en-US" sz="1000">
                <a:latin typeface="Yu Gothic UI" panose="020B0500000000000000" pitchFamily="34" charset="-128"/>
                <a:ea typeface="Yu Gothic UI" panose="020B0500000000000000" pitchFamily="34" charset="-128"/>
              </a:rPr>
              <a:t>ワークフローファイル設定、実行</a:t>
            </a:r>
          </a:p>
        </p:txBody>
      </p:sp>
      <p:pic>
        <p:nvPicPr>
          <p:cNvPr id="76" name="グラフィックス 75" descr="github-actions.svg">
            <a:extLst>
              <a:ext uri="{FF2B5EF4-FFF2-40B4-BE49-F238E27FC236}">
                <a16:creationId xmlns:a16="http://schemas.microsoft.com/office/drawing/2014/main" id="{5C8DB6AD-8FE2-BA48-1B0D-F82B1773F51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93015" y="3958147"/>
            <a:ext cx="304293" cy="304293"/>
          </a:xfrm>
          <a:prstGeom prst="rect">
            <a:avLst/>
          </a:prstGeom>
        </p:spPr>
      </p:pic>
      <p:sp>
        <p:nvSpPr>
          <p:cNvPr id="77" name="角丸四角形 76">
            <a:extLst>
              <a:ext uri="{FF2B5EF4-FFF2-40B4-BE49-F238E27FC236}">
                <a16:creationId xmlns:a16="http://schemas.microsoft.com/office/drawing/2014/main" id="{5BD25BDC-856D-FB46-F547-E2EC04889C34}"/>
              </a:ext>
            </a:extLst>
          </p:cNvPr>
          <p:cNvSpPr/>
          <p:nvPr/>
        </p:nvSpPr>
        <p:spPr>
          <a:xfrm>
            <a:off x="8052720" y="3912074"/>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ボックス 77">
            <a:extLst>
              <a:ext uri="{FF2B5EF4-FFF2-40B4-BE49-F238E27FC236}">
                <a16:creationId xmlns:a16="http://schemas.microsoft.com/office/drawing/2014/main" id="{6CD04DEF-C53A-791C-395F-EC9C46314CA6}"/>
              </a:ext>
            </a:extLst>
          </p:cNvPr>
          <p:cNvSpPr txBox="1"/>
          <p:nvPr/>
        </p:nvSpPr>
        <p:spPr>
          <a:xfrm>
            <a:off x="8052720" y="4269814"/>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5. </a:t>
            </a:r>
            <a:r>
              <a:rPr kumimoji="1" lang="ja-JP" altLang="en-US" sz="1100">
                <a:latin typeface="Yu Gothic UI" panose="020B0500000000000000" pitchFamily="34" charset="-128"/>
                <a:ea typeface="Yu Gothic UI" panose="020B0500000000000000" pitchFamily="34" charset="-128"/>
              </a:rPr>
              <a:t>ブラウザからアクセスし、動作確認</a:t>
            </a:r>
          </a:p>
        </p:txBody>
      </p:sp>
    </p:spTree>
    <p:extLst>
      <p:ext uri="{BB962C8B-B14F-4D97-AF65-F5344CB8AC3E}">
        <p14:creationId xmlns:p14="http://schemas.microsoft.com/office/powerpoint/2010/main" val="2778762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8EBBD-2725-6B70-ED0C-1BD626885B5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C80681D-4FAA-D437-305E-3D78CFDF768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DBaaS </a:t>
            </a:r>
            <a:r>
              <a:rPr lang="ja-JP" altLang="en-US" sz="2025" b="1">
                <a:solidFill>
                  <a:srgbClr val="1F2937"/>
                </a:solidFill>
                <a:latin typeface="Meiryo UI"/>
                <a:ea typeface="Meiryo UI"/>
                <a:cs typeface="Meiryo UI"/>
              </a:rPr>
              <a:t>とは</a:t>
            </a:r>
          </a:p>
        </p:txBody>
      </p:sp>
      <p:sp>
        <p:nvSpPr>
          <p:cNvPr id="2" name="正方形/長方形 1">
            <a:extLst>
              <a:ext uri="{FF2B5EF4-FFF2-40B4-BE49-F238E27FC236}">
                <a16:creationId xmlns:a16="http://schemas.microsoft.com/office/drawing/2014/main" id="{079131CE-39BA-3495-9D81-5AB5922D2AB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BE7A2A7B-BC89-907A-9B9B-46E5307BF45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8DA924E6-156B-5300-B172-10815404B9D6}"/>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DBaaS </a:t>
            </a:r>
            <a:r>
              <a:rPr lang="ja-JP" altLang="en-US" sz="1200">
                <a:solidFill>
                  <a:srgbClr val="64748B"/>
                </a:solidFill>
                <a:latin typeface="Yu Gothic"/>
                <a:ea typeface="Yu Gothic"/>
                <a:cs typeface="Yu Gothic"/>
              </a:rPr>
              <a:t>は、データベースサーバーの基盤運用をクラウドサービスに任せ、利用者はデータ、接続、認証、コスト管理に集中する考え方です。</a:t>
            </a:r>
            <a:endParaRPr lang="ja-JP" altLang="en-US" sz="1200" dirty="0">
              <a:solidFill>
                <a:srgbClr val="64748B"/>
              </a:solidFill>
              <a:latin typeface="Yu Gothic"/>
              <a:ea typeface="Yu Gothic"/>
              <a:cs typeface="Yu Gothic"/>
            </a:endParaRPr>
          </a:p>
        </p:txBody>
      </p:sp>
      <p:sp>
        <p:nvSpPr>
          <p:cNvPr id="17" name="Rounded Rectangle 15">
            <a:extLst>
              <a:ext uri="{FF2B5EF4-FFF2-40B4-BE49-F238E27FC236}">
                <a16:creationId xmlns:a16="http://schemas.microsoft.com/office/drawing/2014/main" id="{26DB9E82-AC6A-F078-0A59-8E003F9D69B4}"/>
              </a:ext>
            </a:extLst>
          </p:cNvPr>
          <p:cNvSpPr/>
          <p:nvPr/>
        </p:nvSpPr>
        <p:spPr bwMode="auto">
          <a:xfrm>
            <a:off x="4136577" y="4072386"/>
            <a:ext cx="1692132" cy="1673339"/>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18" name="Rectangle 5">
            <a:extLst>
              <a:ext uri="{FF2B5EF4-FFF2-40B4-BE49-F238E27FC236}">
                <a16:creationId xmlns:a16="http://schemas.microsoft.com/office/drawing/2014/main" id="{C631B48E-695A-5A67-98CB-551566A9CBB0}"/>
              </a:ext>
            </a:extLst>
          </p:cNvPr>
          <p:cNvSpPr/>
          <p:nvPr/>
        </p:nvSpPr>
        <p:spPr>
          <a:xfrm>
            <a:off x="1457432" y="1978898"/>
            <a:ext cx="1692131" cy="35323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1" indent="0" algn="ctr" defTabSz="1462285" rtl="0" eaLnBrk="1" fontAlgn="base" latinLnBrk="0" hangingPunct="1">
              <a:lnSpc>
                <a:spcPct val="100000"/>
              </a:lnSpc>
              <a:spcBef>
                <a:spcPts val="0"/>
              </a:spcBef>
              <a:spcAft>
                <a:spcPct val="0"/>
              </a:spcAft>
              <a:buClrTx/>
              <a:buSzTx/>
              <a:buFontTx/>
              <a:buNone/>
              <a:tabLst/>
              <a:defRPr/>
            </a:pPr>
            <a:r>
              <a:rPr kumimoji="0" lang="ja-JP" alt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オンプレミス</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19" name="Rectangle 6">
            <a:extLst>
              <a:ext uri="{FF2B5EF4-FFF2-40B4-BE49-F238E27FC236}">
                <a16:creationId xmlns:a16="http://schemas.microsoft.com/office/drawing/2014/main" id="{73C32D86-2B11-2C40-4C5D-58A7895F95A3}"/>
              </a:ext>
            </a:extLst>
          </p:cNvPr>
          <p:cNvSpPr/>
          <p:nvPr/>
        </p:nvSpPr>
        <p:spPr>
          <a:xfrm>
            <a:off x="1457430" y="5115464"/>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ストレージ</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0" name="Rectangle 7">
            <a:extLst>
              <a:ext uri="{FF2B5EF4-FFF2-40B4-BE49-F238E27FC236}">
                <a16:creationId xmlns:a16="http://schemas.microsoft.com/office/drawing/2014/main" id="{840CC10F-02D1-3CCE-7F61-317F092F0C3F}"/>
              </a:ext>
            </a:extLst>
          </p:cNvPr>
          <p:cNvSpPr/>
          <p:nvPr/>
        </p:nvSpPr>
        <p:spPr>
          <a:xfrm>
            <a:off x="1457429" y="4756299"/>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サーバー</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1" name="Rectangle 8">
            <a:extLst>
              <a:ext uri="{FF2B5EF4-FFF2-40B4-BE49-F238E27FC236}">
                <a16:creationId xmlns:a16="http://schemas.microsoft.com/office/drawing/2014/main" id="{2419F461-B967-C981-0A24-49F793892BFF}"/>
              </a:ext>
            </a:extLst>
          </p:cNvPr>
          <p:cNvSpPr/>
          <p:nvPr/>
        </p:nvSpPr>
        <p:spPr>
          <a:xfrm>
            <a:off x="1457429" y="5493725"/>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ネットワーク</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2" name="Rectangle 9">
            <a:extLst>
              <a:ext uri="{FF2B5EF4-FFF2-40B4-BE49-F238E27FC236}">
                <a16:creationId xmlns:a16="http://schemas.microsoft.com/office/drawing/2014/main" id="{1CB92EC0-A54B-9956-3BBC-245CB5BF5119}"/>
              </a:ext>
            </a:extLst>
          </p:cNvPr>
          <p:cNvSpPr/>
          <p:nvPr/>
        </p:nvSpPr>
        <p:spPr>
          <a:xfrm>
            <a:off x="1457432" y="370042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p>
        </p:txBody>
      </p:sp>
      <p:sp>
        <p:nvSpPr>
          <p:cNvPr id="23" name="Rectangle 10">
            <a:extLst>
              <a:ext uri="{FF2B5EF4-FFF2-40B4-BE49-F238E27FC236}">
                <a16:creationId xmlns:a16="http://schemas.microsoft.com/office/drawing/2014/main" id="{28182B91-EA9F-A614-18E2-E51231E42E73}"/>
              </a:ext>
            </a:extLst>
          </p:cNvPr>
          <p:cNvSpPr/>
          <p:nvPr/>
        </p:nvSpPr>
        <p:spPr>
          <a:xfrm>
            <a:off x="1457432" y="3356169"/>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4" name="Rectangle 11">
            <a:extLst>
              <a:ext uri="{FF2B5EF4-FFF2-40B4-BE49-F238E27FC236}">
                <a16:creationId xmlns:a16="http://schemas.microsoft.com/office/drawing/2014/main" id="{540DF5BB-6BBB-8A37-2BB5-F324186DB5D9}"/>
              </a:ext>
            </a:extLst>
          </p:cNvPr>
          <p:cNvSpPr/>
          <p:nvPr/>
        </p:nvSpPr>
        <p:spPr>
          <a:xfrm>
            <a:off x="1457432" y="405185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仮想化</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5" name="Rectangle 12">
            <a:extLst>
              <a:ext uri="{FF2B5EF4-FFF2-40B4-BE49-F238E27FC236}">
                <a16:creationId xmlns:a16="http://schemas.microsoft.com/office/drawing/2014/main" id="{F3DEAF5F-C823-CE3A-DE00-31C8C25AF464}"/>
              </a:ext>
            </a:extLst>
          </p:cNvPr>
          <p:cNvSpPr/>
          <p:nvPr/>
        </p:nvSpPr>
        <p:spPr>
          <a:xfrm>
            <a:off x="1457432" y="270074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6" name="Rectangle 13">
            <a:extLst>
              <a:ext uri="{FF2B5EF4-FFF2-40B4-BE49-F238E27FC236}">
                <a16:creationId xmlns:a16="http://schemas.microsoft.com/office/drawing/2014/main" id="{FE1DDE40-FF88-F3F8-655E-C65E89626250}"/>
              </a:ext>
            </a:extLst>
          </p:cNvPr>
          <p:cNvSpPr/>
          <p:nvPr/>
        </p:nvSpPr>
        <p:spPr>
          <a:xfrm>
            <a:off x="1457433" y="2385666"/>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7" name="Rectangle 14">
            <a:extLst>
              <a:ext uri="{FF2B5EF4-FFF2-40B4-BE49-F238E27FC236}">
                <a16:creationId xmlns:a16="http://schemas.microsoft.com/office/drawing/2014/main" id="{01DA9973-8809-F08F-0C1E-DB437ED9C220}"/>
              </a:ext>
            </a:extLst>
          </p:cNvPr>
          <p:cNvSpPr/>
          <p:nvPr/>
        </p:nvSpPr>
        <p:spPr>
          <a:xfrm>
            <a:off x="1457432" y="3024690"/>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8" name="Rectangle 7">
            <a:extLst>
              <a:ext uri="{FF2B5EF4-FFF2-40B4-BE49-F238E27FC236}">
                <a16:creationId xmlns:a16="http://schemas.microsoft.com/office/drawing/2014/main" id="{2C0DA1D2-0D7A-8787-10F7-EE83C3BBB7AE}"/>
              </a:ext>
            </a:extLst>
          </p:cNvPr>
          <p:cNvSpPr/>
          <p:nvPr/>
        </p:nvSpPr>
        <p:spPr>
          <a:xfrm>
            <a:off x="1457431" y="4401531"/>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ホスト </a:t>
            </a:r>
            <a:r>
              <a:rPr kumimoji="0" lang="en-US" altLang="ja-JP"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9" name="Rectangle 18">
            <a:extLst>
              <a:ext uri="{FF2B5EF4-FFF2-40B4-BE49-F238E27FC236}">
                <a16:creationId xmlns:a16="http://schemas.microsoft.com/office/drawing/2014/main" id="{531A0763-4957-BE70-B16A-B3761C71DCEE}"/>
              </a:ext>
            </a:extLst>
          </p:cNvPr>
          <p:cNvSpPr/>
          <p:nvPr/>
        </p:nvSpPr>
        <p:spPr>
          <a:xfrm>
            <a:off x="4118234" y="1978898"/>
            <a:ext cx="1701354" cy="31428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IaaS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0" name="Left Brace 30">
            <a:extLst>
              <a:ext uri="{FF2B5EF4-FFF2-40B4-BE49-F238E27FC236}">
                <a16:creationId xmlns:a16="http://schemas.microsoft.com/office/drawing/2014/main" id="{3C2E0D2E-8F20-EF42-4495-68C5A939C091}"/>
              </a:ext>
            </a:extLst>
          </p:cNvPr>
          <p:cNvSpPr/>
          <p:nvPr/>
        </p:nvSpPr>
        <p:spPr>
          <a:xfrm>
            <a:off x="1018717" y="2385666"/>
            <a:ext cx="282274" cy="3360059"/>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1" name="Rectangle 33">
            <a:extLst>
              <a:ext uri="{FF2B5EF4-FFF2-40B4-BE49-F238E27FC236}">
                <a16:creationId xmlns:a16="http://schemas.microsoft.com/office/drawing/2014/main" id="{6B4DDC73-ED1A-BC70-FCB5-BF9B4B04CA3F}"/>
              </a:ext>
            </a:extLst>
          </p:cNvPr>
          <p:cNvSpPr/>
          <p:nvPr/>
        </p:nvSpPr>
        <p:spPr>
          <a:xfrm>
            <a:off x="9442458" y="1978110"/>
            <a:ext cx="1692131" cy="315077"/>
          </a:xfrm>
          <a:prstGeom prst="rect">
            <a:avLst/>
          </a:prstGeom>
          <a:noFill/>
          <a:ln w="9525" cap="flat" cmpd="sng" algn="ctr">
            <a:noFill/>
            <a:prstDash val="solid"/>
          </a:ln>
          <a:effectLst/>
        </p:spPr>
        <p:txBody>
          <a:bodyPr t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1" indent="0" algn="ctr" defTabSz="1462285"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PaaS/</a:t>
            </a:r>
            <a:r>
              <a:rPr kumimoji="0" lang="en-US" sz="1800" b="0" i="0" u="none" strike="noStrike" kern="1200" cap="none" spc="0" normalizeH="0" baseline="0" noProof="0" dirty="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FaaS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2" name="Rectangle 44">
            <a:extLst>
              <a:ext uri="{FF2B5EF4-FFF2-40B4-BE49-F238E27FC236}">
                <a16:creationId xmlns:a16="http://schemas.microsoft.com/office/drawing/2014/main" id="{6FF7098B-9A7E-BA7F-75B4-ACE5B7207FC2}"/>
              </a:ext>
            </a:extLst>
          </p:cNvPr>
          <p:cNvSpPr/>
          <p:nvPr/>
        </p:nvSpPr>
        <p:spPr>
          <a:xfrm>
            <a:off x="9442460" y="2340776"/>
            <a:ext cx="1692131" cy="252000"/>
          </a:xfrm>
          <a:prstGeom prst="rect">
            <a:avLst/>
          </a:prstGeom>
          <a:solidFill>
            <a:srgbClr val="EB3C00">
              <a:lumMod val="40000"/>
              <a:lumOff val="60000"/>
            </a:srgbClr>
          </a:solidFill>
          <a:ln w="9525" cap="flat" cmpd="sng" algn="ctr">
            <a:solidFill>
              <a:srgbClr val="EB3C00">
                <a:lumMod val="75000"/>
              </a:srgb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3" name="Rectangle 46">
            <a:extLst>
              <a:ext uri="{FF2B5EF4-FFF2-40B4-BE49-F238E27FC236}">
                <a16:creationId xmlns:a16="http://schemas.microsoft.com/office/drawing/2014/main" id="{FAD285CD-581A-5635-5D9F-4E07890A72B5}"/>
              </a:ext>
            </a:extLst>
          </p:cNvPr>
          <p:cNvSpPr/>
          <p:nvPr/>
        </p:nvSpPr>
        <p:spPr>
          <a:xfrm>
            <a:off x="9440478" y="2695421"/>
            <a:ext cx="1692131" cy="252000"/>
          </a:xfrm>
          <a:prstGeom prst="rect">
            <a:avLst/>
          </a:prstGeom>
          <a:solidFill>
            <a:srgbClr val="EB3C00">
              <a:lumMod val="40000"/>
              <a:lumOff val="60000"/>
            </a:srgbClr>
          </a:solidFill>
          <a:ln w="9525" cap="flat" cmpd="sng" algn="ctr">
            <a:solidFill>
              <a:srgbClr val="EB3C00">
                <a:lumMod val="75000"/>
              </a:srgb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4" name="Left Brace 30">
            <a:extLst>
              <a:ext uri="{FF2B5EF4-FFF2-40B4-BE49-F238E27FC236}">
                <a16:creationId xmlns:a16="http://schemas.microsoft.com/office/drawing/2014/main" id="{5186B3D7-1563-D023-B30F-AEAC1593C5F5}"/>
              </a:ext>
            </a:extLst>
          </p:cNvPr>
          <p:cNvSpPr/>
          <p:nvPr/>
        </p:nvSpPr>
        <p:spPr>
          <a:xfrm>
            <a:off x="3773976" y="2385666"/>
            <a:ext cx="282274" cy="1566757"/>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5" name="Left Brace 30">
            <a:extLst>
              <a:ext uri="{FF2B5EF4-FFF2-40B4-BE49-F238E27FC236}">
                <a16:creationId xmlns:a16="http://schemas.microsoft.com/office/drawing/2014/main" id="{A35E61ED-CBF4-038A-5803-B147750FEE11}"/>
              </a:ext>
            </a:extLst>
          </p:cNvPr>
          <p:cNvSpPr/>
          <p:nvPr/>
        </p:nvSpPr>
        <p:spPr>
          <a:xfrm>
            <a:off x="9090406" y="2354220"/>
            <a:ext cx="282275" cy="635273"/>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6" name="Rounded Rectangle 15">
            <a:extLst>
              <a:ext uri="{FF2B5EF4-FFF2-40B4-BE49-F238E27FC236}">
                <a16:creationId xmlns:a16="http://schemas.microsoft.com/office/drawing/2014/main" id="{0B95C030-FA94-7B62-EB88-B0E92E7250AF}"/>
              </a:ext>
            </a:extLst>
          </p:cNvPr>
          <p:cNvSpPr/>
          <p:nvPr/>
        </p:nvSpPr>
        <p:spPr bwMode="auto">
          <a:xfrm>
            <a:off x="9442459" y="3020971"/>
            <a:ext cx="1692131" cy="2721879"/>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37" name="Rectangle 9">
            <a:extLst>
              <a:ext uri="{FF2B5EF4-FFF2-40B4-BE49-F238E27FC236}">
                <a16:creationId xmlns:a16="http://schemas.microsoft.com/office/drawing/2014/main" id="{AEE23C0F-9E2F-6A14-A464-52BDBC8573BF}"/>
              </a:ext>
            </a:extLst>
          </p:cNvPr>
          <p:cNvSpPr/>
          <p:nvPr/>
        </p:nvSpPr>
        <p:spPr>
          <a:xfrm>
            <a:off x="4127457" y="3700423"/>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p>
        </p:txBody>
      </p:sp>
      <p:sp>
        <p:nvSpPr>
          <p:cNvPr id="38" name="Rectangle 10">
            <a:extLst>
              <a:ext uri="{FF2B5EF4-FFF2-40B4-BE49-F238E27FC236}">
                <a16:creationId xmlns:a16="http://schemas.microsoft.com/office/drawing/2014/main" id="{883324D4-F179-9B14-AB4D-5B0D16642449}"/>
              </a:ext>
            </a:extLst>
          </p:cNvPr>
          <p:cNvSpPr/>
          <p:nvPr/>
        </p:nvSpPr>
        <p:spPr>
          <a:xfrm>
            <a:off x="4127457" y="3356169"/>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9" name="Rectangle 12">
            <a:extLst>
              <a:ext uri="{FF2B5EF4-FFF2-40B4-BE49-F238E27FC236}">
                <a16:creationId xmlns:a16="http://schemas.microsoft.com/office/drawing/2014/main" id="{DDB3B041-F00C-5DA6-5B49-8D14F499DCCE}"/>
              </a:ext>
            </a:extLst>
          </p:cNvPr>
          <p:cNvSpPr/>
          <p:nvPr/>
        </p:nvSpPr>
        <p:spPr>
          <a:xfrm>
            <a:off x="4127457" y="2700743"/>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0" name="Rectangle 13">
            <a:extLst>
              <a:ext uri="{FF2B5EF4-FFF2-40B4-BE49-F238E27FC236}">
                <a16:creationId xmlns:a16="http://schemas.microsoft.com/office/drawing/2014/main" id="{EB9B0C3E-5AE2-CBED-588C-162F32C760DC}"/>
              </a:ext>
            </a:extLst>
          </p:cNvPr>
          <p:cNvSpPr/>
          <p:nvPr/>
        </p:nvSpPr>
        <p:spPr>
          <a:xfrm>
            <a:off x="4118234" y="2377640"/>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1" name="Rectangle 14">
            <a:extLst>
              <a:ext uri="{FF2B5EF4-FFF2-40B4-BE49-F238E27FC236}">
                <a16:creationId xmlns:a16="http://schemas.microsoft.com/office/drawing/2014/main" id="{779ED40A-E3BA-1B0D-F408-F3FD37D5B053}"/>
              </a:ext>
            </a:extLst>
          </p:cNvPr>
          <p:cNvSpPr/>
          <p:nvPr/>
        </p:nvSpPr>
        <p:spPr>
          <a:xfrm>
            <a:off x="4127457" y="3023846"/>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2" name="テキスト ボックス 76">
            <a:extLst>
              <a:ext uri="{FF2B5EF4-FFF2-40B4-BE49-F238E27FC236}">
                <a16:creationId xmlns:a16="http://schemas.microsoft.com/office/drawing/2014/main" id="{5C655A22-79E9-0335-35EF-9C37DCB04D49}"/>
              </a:ext>
            </a:extLst>
          </p:cNvPr>
          <p:cNvSpPr txBox="1"/>
          <p:nvPr/>
        </p:nvSpPr>
        <p:spPr>
          <a:xfrm>
            <a:off x="4308443" y="4653531"/>
            <a:ext cx="1348400"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3" name="テキスト ボックス 77">
            <a:extLst>
              <a:ext uri="{FF2B5EF4-FFF2-40B4-BE49-F238E27FC236}">
                <a16:creationId xmlns:a16="http://schemas.microsoft.com/office/drawing/2014/main" id="{A964FFCB-7019-CF2C-4EB4-8236E7B9E2FB}"/>
              </a:ext>
            </a:extLst>
          </p:cNvPr>
          <p:cNvSpPr txBox="1"/>
          <p:nvPr/>
        </p:nvSpPr>
        <p:spPr>
          <a:xfrm>
            <a:off x="9564040" y="4619158"/>
            <a:ext cx="144500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4" name="Rounded Rectangle 15">
            <a:extLst>
              <a:ext uri="{FF2B5EF4-FFF2-40B4-BE49-F238E27FC236}">
                <a16:creationId xmlns:a16="http://schemas.microsoft.com/office/drawing/2014/main" id="{FDAA0C57-10FB-0563-1C94-CB60E5624A54}"/>
              </a:ext>
            </a:extLst>
          </p:cNvPr>
          <p:cNvSpPr/>
          <p:nvPr/>
        </p:nvSpPr>
        <p:spPr bwMode="auto">
          <a:xfrm>
            <a:off x="6761552" y="3699636"/>
            <a:ext cx="1692132" cy="2045302"/>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45" name="Rectangle 18">
            <a:extLst>
              <a:ext uri="{FF2B5EF4-FFF2-40B4-BE49-F238E27FC236}">
                <a16:creationId xmlns:a16="http://schemas.microsoft.com/office/drawing/2014/main" id="{8550D825-F30A-D99A-CAD2-CF4320F51F38}"/>
              </a:ext>
            </a:extLst>
          </p:cNvPr>
          <p:cNvSpPr/>
          <p:nvPr/>
        </p:nvSpPr>
        <p:spPr>
          <a:xfrm>
            <a:off x="6743209" y="1978110"/>
            <a:ext cx="1701354" cy="31428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CaaS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46" name="Left Brace 30">
            <a:extLst>
              <a:ext uri="{FF2B5EF4-FFF2-40B4-BE49-F238E27FC236}">
                <a16:creationId xmlns:a16="http://schemas.microsoft.com/office/drawing/2014/main" id="{01E58D9B-D7D0-FDC8-59F9-AFCA5936A6B2}"/>
              </a:ext>
            </a:extLst>
          </p:cNvPr>
          <p:cNvSpPr/>
          <p:nvPr/>
        </p:nvSpPr>
        <p:spPr>
          <a:xfrm>
            <a:off x="6398954" y="2383123"/>
            <a:ext cx="282274" cy="1224257"/>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47" name="Rectangle 9">
            <a:extLst>
              <a:ext uri="{FF2B5EF4-FFF2-40B4-BE49-F238E27FC236}">
                <a16:creationId xmlns:a16="http://schemas.microsoft.com/office/drawing/2014/main" id="{E97AACF2-0B11-0B2A-C824-387F73DAF27A}"/>
              </a:ext>
            </a:extLst>
          </p:cNvPr>
          <p:cNvSpPr/>
          <p:nvPr/>
        </p:nvSpPr>
        <p:spPr>
          <a:xfrm>
            <a:off x="6860620" y="3785716"/>
            <a:ext cx="1516725" cy="252000"/>
          </a:xfrm>
          <a:prstGeom prst="rect">
            <a:avLst/>
          </a:prstGeom>
          <a:solidFill>
            <a:schemeClr val="bg2"/>
          </a:solidFill>
          <a:ln w="9525" cap="flat" cmpd="sng" algn="ctr">
            <a:solidFill>
              <a:schemeClr val="tx1">
                <a:lumMod val="50000"/>
                <a:lumOff val="50000"/>
              </a:scheme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9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r>
              <a:rPr kumimoji="0" lang="en-US" sz="900" b="0" i="0" u="none" strike="noStrike" kern="0" cap="none" spc="0" normalizeH="0" baseline="0" noProof="0" dirty="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コンテナエンジン</a:t>
            </a:r>
            <a:endParaRPr kumimoji="0" lang="en-US" sz="9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8" name="Rectangle 10">
            <a:extLst>
              <a:ext uri="{FF2B5EF4-FFF2-40B4-BE49-F238E27FC236}">
                <a16:creationId xmlns:a16="http://schemas.microsoft.com/office/drawing/2014/main" id="{BE65828C-19AD-F8C4-9B6C-43C2BD455340}"/>
              </a:ext>
            </a:extLst>
          </p:cNvPr>
          <p:cNvSpPr/>
          <p:nvPr/>
        </p:nvSpPr>
        <p:spPr>
          <a:xfrm>
            <a:off x="6752432" y="3355381"/>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9" name="Rectangle 12">
            <a:extLst>
              <a:ext uri="{FF2B5EF4-FFF2-40B4-BE49-F238E27FC236}">
                <a16:creationId xmlns:a16="http://schemas.microsoft.com/office/drawing/2014/main" id="{0E8E6659-2653-1324-7D88-5D6E7BB42D6C}"/>
              </a:ext>
            </a:extLst>
          </p:cNvPr>
          <p:cNvSpPr/>
          <p:nvPr/>
        </p:nvSpPr>
        <p:spPr>
          <a:xfrm>
            <a:off x="6752432" y="2699955"/>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0" name="Rectangle 13">
            <a:extLst>
              <a:ext uri="{FF2B5EF4-FFF2-40B4-BE49-F238E27FC236}">
                <a16:creationId xmlns:a16="http://schemas.microsoft.com/office/drawing/2014/main" id="{ABB7513B-7360-9643-224F-B7964F86EE3A}"/>
              </a:ext>
            </a:extLst>
          </p:cNvPr>
          <p:cNvSpPr/>
          <p:nvPr/>
        </p:nvSpPr>
        <p:spPr>
          <a:xfrm>
            <a:off x="6743209" y="2376852"/>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1" name="Rectangle 14">
            <a:extLst>
              <a:ext uri="{FF2B5EF4-FFF2-40B4-BE49-F238E27FC236}">
                <a16:creationId xmlns:a16="http://schemas.microsoft.com/office/drawing/2014/main" id="{3B754B26-59AD-063C-688D-D97385E9CB79}"/>
              </a:ext>
            </a:extLst>
          </p:cNvPr>
          <p:cNvSpPr/>
          <p:nvPr/>
        </p:nvSpPr>
        <p:spPr>
          <a:xfrm>
            <a:off x="6752432" y="3023058"/>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2" name="テキスト ボックス 88">
            <a:extLst>
              <a:ext uri="{FF2B5EF4-FFF2-40B4-BE49-F238E27FC236}">
                <a16:creationId xmlns:a16="http://schemas.microsoft.com/office/drawing/2014/main" id="{0FFFECD0-6DFE-283E-07D1-E2253B3B298F}"/>
              </a:ext>
            </a:extLst>
          </p:cNvPr>
          <p:cNvSpPr txBox="1"/>
          <p:nvPr/>
        </p:nvSpPr>
        <p:spPr>
          <a:xfrm>
            <a:off x="6870150" y="4638967"/>
            <a:ext cx="1456693"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3" name="テキスト ボックス 76">
            <a:extLst>
              <a:ext uri="{FF2B5EF4-FFF2-40B4-BE49-F238E27FC236}">
                <a16:creationId xmlns:a16="http://schemas.microsoft.com/office/drawing/2014/main" id="{CEE8A357-7506-D068-754B-D4CF2B28F29D}"/>
              </a:ext>
            </a:extLst>
          </p:cNvPr>
          <p:cNvSpPr txBox="1"/>
          <p:nvPr/>
        </p:nvSpPr>
        <p:spPr>
          <a:xfrm>
            <a:off x="3088443" y="2905780"/>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54" name="テキスト ボックス 76">
            <a:extLst>
              <a:ext uri="{FF2B5EF4-FFF2-40B4-BE49-F238E27FC236}">
                <a16:creationId xmlns:a16="http://schemas.microsoft.com/office/drawing/2014/main" id="{61AD9895-718C-CA9B-F959-A2B63457E53E}"/>
              </a:ext>
            </a:extLst>
          </p:cNvPr>
          <p:cNvSpPr txBox="1"/>
          <p:nvPr/>
        </p:nvSpPr>
        <p:spPr>
          <a:xfrm>
            <a:off x="5691843" y="2733331"/>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55" name="テキスト ボックス 76">
            <a:extLst>
              <a:ext uri="{FF2B5EF4-FFF2-40B4-BE49-F238E27FC236}">
                <a16:creationId xmlns:a16="http://schemas.microsoft.com/office/drawing/2014/main" id="{57058BF2-ECB5-89FA-061B-A64E85231B6B}"/>
              </a:ext>
            </a:extLst>
          </p:cNvPr>
          <p:cNvSpPr txBox="1"/>
          <p:nvPr/>
        </p:nvSpPr>
        <p:spPr>
          <a:xfrm>
            <a:off x="8382908" y="2408633"/>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56" name="正方形/長方形 55">
            <a:extLst>
              <a:ext uri="{FF2B5EF4-FFF2-40B4-BE49-F238E27FC236}">
                <a16:creationId xmlns:a16="http://schemas.microsoft.com/office/drawing/2014/main" id="{AB206C1D-FD42-B94A-8F25-E085A57C511F}"/>
              </a:ext>
            </a:extLst>
          </p:cNvPr>
          <p:cNvSpPr/>
          <p:nvPr/>
        </p:nvSpPr>
        <p:spPr>
          <a:xfrm>
            <a:off x="3989776" y="2977561"/>
            <a:ext cx="1978405" cy="1032584"/>
          </a:xfrm>
          <a:prstGeom prst="rect">
            <a:avLst/>
          </a:prstGeom>
          <a:noFill/>
          <a:ln w="2222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697786AF-337D-986D-9963-7AC0D7F8883B}"/>
              </a:ext>
            </a:extLst>
          </p:cNvPr>
          <p:cNvSpPr/>
          <p:nvPr/>
        </p:nvSpPr>
        <p:spPr>
          <a:xfrm>
            <a:off x="8515767" y="1761614"/>
            <a:ext cx="2850632" cy="4497062"/>
          </a:xfrm>
          <a:prstGeom prst="rect">
            <a:avLst/>
          </a:prstGeom>
          <a:noFill/>
          <a:ln w="222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四角形吹き出し 57">
            <a:extLst>
              <a:ext uri="{FF2B5EF4-FFF2-40B4-BE49-F238E27FC236}">
                <a16:creationId xmlns:a16="http://schemas.microsoft.com/office/drawing/2014/main" id="{595B0141-975A-1172-B14E-EF9F33FCB53A}"/>
              </a:ext>
            </a:extLst>
          </p:cNvPr>
          <p:cNvSpPr/>
          <p:nvPr/>
        </p:nvSpPr>
        <p:spPr>
          <a:xfrm>
            <a:off x="4069237" y="5873776"/>
            <a:ext cx="4376498" cy="829611"/>
          </a:xfrm>
          <a:prstGeom prst="wedgeRectCallout">
            <a:avLst>
              <a:gd name="adj1" fmla="val 69015"/>
              <a:gd name="adj2" fmla="val -131282"/>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9" name="テキスト ボックス 58">
            <a:extLst>
              <a:ext uri="{FF2B5EF4-FFF2-40B4-BE49-F238E27FC236}">
                <a16:creationId xmlns:a16="http://schemas.microsoft.com/office/drawing/2014/main" id="{D3441DD2-F499-DFFE-9471-008AA6F35027}"/>
              </a:ext>
            </a:extLst>
          </p:cNvPr>
          <p:cNvSpPr txBox="1"/>
          <p:nvPr/>
        </p:nvSpPr>
        <p:spPr>
          <a:xfrm>
            <a:off x="4128874" y="5889344"/>
            <a:ext cx="4316861" cy="738664"/>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DBaaS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は</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Azure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では</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PaaS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の一種として提供される。ユーザーはアプリケーションを動作させるわけではなく、データの管理に集中するのでかなり</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SaaS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に近い性格</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p>
        </p:txBody>
      </p:sp>
    </p:spTree>
    <p:extLst>
      <p:ext uri="{BB962C8B-B14F-4D97-AF65-F5344CB8AC3E}">
        <p14:creationId xmlns:p14="http://schemas.microsoft.com/office/powerpoint/2010/main" val="1947620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E8859-AFBD-637F-CB7F-FCF973A997A4}"/>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15AAED9-119C-9C5F-7895-2D05A7160B3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Database for PostgreSQL</a:t>
            </a:r>
          </a:p>
        </p:txBody>
      </p:sp>
      <p:sp>
        <p:nvSpPr>
          <p:cNvPr id="2" name="正方形/長方形 1">
            <a:extLst>
              <a:ext uri="{FF2B5EF4-FFF2-40B4-BE49-F238E27FC236}">
                <a16:creationId xmlns:a16="http://schemas.microsoft.com/office/drawing/2014/main" id="{C6D3D445-6608-BA60-7671-3CE33D0CD73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E57EEF20-4271-8A7D-3534-04ECC401A6E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6791E0A-4DBA-B4CA-325B-357E667EAC06}"/>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Azure Database for PostgreSQL Flexible Server </a:t>
            </a:r>
            <a:r>
              <a:rPr lang="ja-JP" altLang="en-US" sz="1200">
                <a:solidFill>
                  <a:srgbClr val="64748B"/>
                </a:solidFill>
                <a:latin typeface="Yu Gothic"/>
                <a:ea typeface="Yu Gothic"/>
                <a:cs typeface="Yu Gothic"/>
              </a:rPr>
              <a:t>は、</a:t>
            </a:r>
            <a:r>
              <a:rPr lang="en" altLang="ja-JP" sz="1200" dirty="0">
                <a:solidFill>
                  <a:srgbClr val="64748B"/>
                </a:solidFill>
                <a:latin typeface="Yu Gothic"/>
                <a:ea typeface="Yu Gothic"/>
                <a:cs typeface="Yu Gothic"/>
              </a:rPr>
              <a:t>PostgreSQL </a:t>
            </a:r>
            <a:r>
              <a:rPr lang="ja-JP" altLang="en-US" sz="1200">
                <a:solidFill>
                  <a:srgbClr val="64748B"/>
                </a:solidFill>
                <a:latin typeface="Yu Gothic"/>
                <a:ea typeface="Yu Gothic"/>
                <a:cs typeface="Yu Gothic"/>
              </a:rPr>
              <a:t>エンジンを </a:t>
            </a:r>
            <a:r>
              <a:rPr lang="en" altLang="ja-JP" sz="1200" dirty="0">
                <a:solidFill>
                  <a:srgbClr val="64748B"/>
                </a:solidFill>
                <a:latin typeface="Yu Gothic"/>
                <a:ea typeface="Yu Gothic"/>
                <a:cs typeface="Yu Gothic"/>
              </a:rPr>
              <a:t>Azure </a:t>
            </a:r>
            <a:r>
              <a:rPr lang="ja-JP" altLang="en-US" sz="1200">
                <a:solidFill>
                  <a:srgbClr val="64748B"/>
                </a:solidFill>
                <a:latin typeface="Yu Gothic"/>
                <a:ea typeface="Yu Gothic"/>
                <a:cs typeface="Yu Gothic"/>
              </a:rPr>
              <a:t>のマネージドサービスとして使う選択肢です。</a:t>
            </a:r>
            <a:endParaRPr lang="ja-JP" altLang="en-US" sz="1200" dirty="0">
              <a:solidFill>
                <a:srgbClr val="64748B"/>
              </a:solidFill>
              <a:latin typeface="Yu Gothic"/>
              <a:ea typeface="Yu Gothic"/>
              <a:cs typeface="Yu Gothic"/>
            </a:endParaRPr>
          </a:p>
        </p:txBody>
      </p:sp>
      <p:sp>
        <p:nvSpPr>
          <p:cNvPr id="10" name="Rectangle: Rounded Corners 34">
            <a:extLst>
              <a:ext uri="{FF2B5EF4-FFF2-40B4-BE49-F238E27FC236}">
                <a16:creationId xmlns:a16="http://schemas.microsoft.com/office/drawing/2014/main" id="{D129A467-7909-697B-0313-B2EB99573AC5}"/>
              </a:ext>
              <a:ext uri="{C183D7F6-B498-43B3-948B-1728B52AA6E4}">
                <adec:decorative xmlns:adec="http://schemas.microsoft.com/office/drawing/2017/decorative" val="1"/>
              </a:ext>
            </a:extLst>
          </p:cNvPr>
          <p:cNvSpPr/>
          <p:nvPr/>
        </p:nvSpPr>
        <p:spPr>
          <a:xfrm>
            <a:off x="570820" y="1742497"/>
            <a:ext cx="11050359" cy="4832350"/>
          </a:xfrm>
          <a:prstGeom prst="roundRect">
            <a:avLst>
              <a:gd name="adj" fmla="val 3825"/>
            </a:avLst>
          </a:prstGeom>
          <a:solidFill>
            <a:srgbClr val="FFFFFF">
              <a:alpha val="92000"/>
            </a:srgbClr>
          </a:solidFill>
          <a:ln w="9525" cap="flat" cmpd="sng" algn="ctr">
            <a:noFill/>
            <a:prstDash val="solid"/>
            <a:headEnd type="none" w="med" len="med"/>
            <a:tailEnd type="none" w="med" len="med"/>
          </a:ln>
          <a:effectLst>
            <a:outerShdw blurRad="262230" dist="38100" dir="2700000" algn="tl" rotWithShape="0">
              <a:prstClr val="black">
                <a:alpha val="20000"/>
              </a:prst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Segoe Sans Text" pitchFamily="2" charset="0"/>
              <a:ea typeface="+mn-ea"/>
              <a:cs typeface="Segoe Sans Text" pitchFamily="2" charset="0"/>
            </a:endParaRPr>
          </a:p>
        </p:txBody>
      </p:sp>
      <p:cxnSp>
        <p:nvCxnSpPr>
          <p:cNvPr id="11" name="Straight Connector 4">
            <a:extLst>
              <a:ext uri="{FF2B5EF4-FFF2-40B4-BE49-F238E27FC236}">
                <a16:creationId xmlns:a16="http://schemas.microsoft.com/office/drawing/2014/main" id="{F9D9D486-493F-F722-54AA-904322B30D45}"/>
              </a:ext>
              <a:ext uri="{C183D7F6-B498-43B3-948B-1728B52AA6E4}">
                <adec:decorative xmlns:adec="http://schemas.microsoft.com/office/drawing/2017/decorative" val="1"/>
              </a:ext>
            </a:extLst>
          </p:cNvPr>
          <p:cNvCxnSpPr>
            <a:cxnSpLocks/>
          </p:cNvCxnSpPr>
          <p:nvPr/>
        </p:nvCxnSpPr>
        <p:spPr>
          <a:xfrm>
            <a:off x="4355420" y="2375592"/>
            <a:ext cx="0" cy="3566160"/>
          </a:xfrm>
          <a:prstGeom prst="line">
            <a:avLst/>
          </a:prstGeom>
          <a:ln w="254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5" name="Title 4">
            <a:extLst>
              <a:ext uri="{FF2B5EF4-FFF2-40B4-BE49-F238E27FC236}">
                <a16:creationId xmlns:a16="http://schemas.microsoft.com/office/drawing/2014/main" id="{D1FDD572-D16A-08B7-FF07-43957409693D}"/>
              </a:ext>
              <a:ext uri="{C183D7F6-B498-43B3-948B-1728B52AA6E4}">
                <adec:decorative xmlns:adec="http://schemas.microsoft.com/office/drawing/2017/decorative" val="1"/>
              </a:ext>
            </a:extLst>
          </p:cNvPr>
          <p:cNvSpPr>
            <a:spLocks/>
          </p:cNvSpPr>
          <p:nvPr/>
        </p:nvSpPr>
        <p:spPr>
          <a:xfrm>
            <a:off x="5075011" y="3404499"/>
            <a:ext cx="4564289" cy="677862"/>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742" rtl="0">
              <a:spcBef>
                <a:spcPct val="0"/>
              </a:spcBef>
              <a:defRPr/>
            </a:pPr>
            <a:r>
              <a:rPr lang="en-US" sz="4400" spc="-50">
                <a:ln w="3175">
                  <a:noFill/>
                </a:ln>
                <a:solidFill>
                  <a:srgbClr val="0078D4"/>
                </a:solidFill>
                <a:latin typeface="Segoe Sans Text Semibold"/>
                <a:cs typeface="Segoe Sans Text" pitchFamily="2" charset="0"/>
              </a:rPr>
              <a:t>Azure Database for PostgreSQL</a:t>
            </a:r>
          </a:p>
        </p:txBody>
      </p:sp>
      <p:sp>
        <p:nvSpPr>
          <p:cNvPr id="16" name="Text Placeholder 8">
            <a:extLst>
              <a:ext uri="{FF2B5EF4-FFF2-40B4-BE49-F238E27FC236}">
                <a16:creationId xmlns:a16="http://schemas.microsoft.com/office/drawing/2014/main" id="{14B12645-2136-ECDD-EA8F-AFF93B2F5A22}"/>
              </a:ext>
              <a:ext uri="{C183D7F6-B498-43B3-948B-1728B52AA6E4}">
                <adec:decorative xmlns:adec="http://schemas.microsoft.com/office/drawing/2017/decorative" val="1"/>
              </a:ext>
            </a:extLst>
          </p:cNvPr>
          <p:cNvSpPr txBox="1">
            <a:spLocks/>
          </p:cNvSpPr>
          <p:nvPr/>
        </p:nvSpPr>
        <p:spPr>
          <a:xfrm>
            <a:off x="5074556" y="4328581"/>
            <a:ext cx="5949614" cy="1107996"/>
          </a:xfrm>
          <a:prstGeom prst="rect">
            <a:avLst/>
          </a:prstGeom>
        </p:spPr>
        <p:txBody>
          <a:bodyPr vert="horz" wrap="square" lIns="0" tIns="0" rIns="144000" bIns="0" rtlCol="0" anchor="t">
            <a:spAutoFit/>
          </a:bodyPr>
          <a:lstStyle>
            <a:lvl1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400" b="0" i="0" kern="1200" spc="0" baseline="0">
                <a:solidFill>
                  <a:schemeClr val="tx1"/>
                </a:solidFill>
                <a:latin typeface="Segoe Sans Text Light" pitchFamily="2" charset="0"/>
                <a:ea typeface="+mn-ea"/>
                <a:cs typeface="Segoe Sans Text Ligh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b="0" i="0" kern="1200" spc="0" baseline="0">
                <a:solidFill>
                  <a:schemeClr val="tx1"/>
                </a:solidFill>
                <a:latin typeface="Segoe Sans Text Light" pitchFamily="2" charset="0"/>
                <a:ea typeface="+mn-ea"/>
                <a:cs typeface="Segoe Sans Text Light" pitchFamily="2" charset="0"/>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b="0" i="0" kern="1200" spc="0" baseline="0">
                <a:solidFill>
                  <a:schemeClr val="tx1"/>
                </a:solidFill>
                <a:latin typeface="Segoe Sans Text Light" pitchFamily="2" charset="0"/>
                <a:ea typeface="+mn-ea"/>
                <a:cs typeface="Segoe Sans Text Light" pitchFamily="2" charset="0"/>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Segoe Sans Text Light" pitchFamily="2" charset="0"/>
                <a:ea typeface="+mn-ea"/>
                <a:cs typeface="Segoe Sans Text Light" pitchFamily="2" charset="0"/>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Segoe Sans Text Light" pitchFamily="2" charset="0"/>
                <a:ea typeface="+mn-ea"/>
                <a:cs typeface="Segoe Sans Text Light" pitchFamily="2"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ja-JP" altLang="en-US">
                <a:latin typeface="Yu Gothic UI" panose="020B0500000000000000" pitchFamily="50" charset="-128"/>
                <a:ea typeface="Yu Gothic UI" panose="020B0500000000000000" pitchFamily="50" charset="-128"/>
              </a:rPr>
              <a:t>フルマネージドで、</a:t>
            </a:r>
            <a:r>
              <a:rPr lang="en-US" altLang="ja-JP">
                <a:latin typeface="Yu Gothic UI" panose="020B0500000000000000" pitchFamily="50" charset="-128"/>
                <a:ea typeface="Yu Gothic UI" panose="020B0500000000000000" pitchFamily="50" charset="-128"/>
              </a:rPr>
              <a:t>AI Ready</a:t>
            </a:r>
            <a:r>
              <a:rPr lang="ja-JP" altLang="en-US">
                <a:latin typeface="Yu Gothic UI" panose="020B0500000000000000" pitchFamily="50" charset="-128"/>
                <a:ea typeface="Yu Gothic UI" panose="020B0500000000000000" pitchFamily="50" charset="-128"/>
              </a:rPr>
              <a:t>な</a:t>
            </a:r>
            <a:r>
              <a:rPr lang="en-US" altLang="ja-JP">
                <a:latin typeface="Yu Gothic UI" panose="020B0500000000000000" pitchFamily="50" charset="-128"/>
                <a:ea typeface="Yu Gothic UI" panose="020B0500000000000000" pitchFamily="50" charset="-128"/>
              </a:rPr>
              <a:t>PostgreSQL </a:t>
            </a:r>
            <a:br>
              <a:rPr lang="en-US" altLang="ja-JP">
                <a:latin typeface="Yu Gothic UI" panose="020B0500000000000000" pitchFamily="50" charset="-128"/>
                <a:ea typeface="Yu Gothic UI" panose="020B0500000000000000" pitchFamily="50" charset="-128"/>
              </a:rPr>
            </a:br>
            <a:r>
              <a:rPr lang="ja-JP" altLang="en-US">
                <a:latin typeface="Yu Gothic UI" panose="020B0500000000000000" pitchFamily="50" charset="-128"/>
                <a:ea typeface="Yu Gothic UI" panose="020B0500000000000000" pitchFamily="50" charset="-128"/>
              </a:rPr>
              <a:t>ミッションクリティカルなパフォーマンスと</a:t>
            </a:r>
            <a:br>
              <a:rPr lang="en-US" altLang="ja-JP">
                <a:latin typeface="Yu Gothic UI" panose="020B0500000000000000" pitchFamily="50" charset="-128"/>
                <a:ea typeface="Yu Gothic UI" panose="020B0500000000000000" pitchFamily="50" charset="-128"/>
              </a:rPr>
            </a:br>
            <a:r>
              <a:rPr lang="ja-JP" altLang="en-US">
                <a:latin typeface="Yu Gothic UI" panose="020B0500000000000000" pitchFamily="50" charset="-128"/>
                <a:ea typeface="Yu Gothic UI" panose="020B0500000000000000" pitchFamily="50" charset="-128"/>
              </a:rPr>
              <a:t>エンタープライズグレードのセキュリティを兼備</a:t>
            </a:r>
            <a:endParaRPr lang="en-US">
              <a:latin typeface="Yu Gothic UI" panose="020B0500000000000000" pitchFamily="50" charset="-128"/>
              <a:ea typeface="Yu Gothic UI" panose="020B0500000000000000" pitchFamily="50" charset="-128"/>
            </a:endParaRPr>
          </a:p>
        </p:txBody>
      </p:sp>
      <p:pic>
        <p:nvPicPr>
          <p:cNvPr id="17" name="Picture Placeholder 10">
            <a:extLst>
              <a:ext uri="{FF2B5EF4-FFF2-40B4-BE49-F238E27FC236}">
                <a16:creationId xmlns:a16="http://schemas.microsoft.com/office/drawing/2014/main" id="{796BC880-3FCC-764D-22D2-B734560E6E0E}"/>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397495" y="3043270"/>
            <a:ext cx="2078182" cy="2078182"/>
          </a:xfrm>
          <a:prstGeom prst="rect">
            <a:avLst/>
          </a:prstGeom>
        </p:spPr>
      </p:pic>
    </p:spTree>
    <p:extLst>
      <p:ext uri="{BB962C8B-B14F-4D97-AF65-F5344CB8AC3E}">
        <p14:creationId xmlns:p14="http://schemas.microsoft.com/office/powerpoint/2010/main" val="257366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58AFC-B9DE-4808-8863-955CC70FABB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67D52189-9A14-6FF5-64F0-9D82F0820D3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Database for PostgreSQL</a:t>
            </a:r>
          </a:p>
        </p:txBody>
      </p:sp>
      <p:sp>
        <p:nvSpPr>
          <p:cNvPr id="2" name="正方形/長方形 1">
            <a:extLst>
              <a:ext uri="{FF2B5EF4-FFF2-40B4-BE49-F238E27FC236}">
                <a16:creationId xmlns:a16="http://schemas.microsoft.com/office/drawing/2014/main" id="{6EC65A4C-0665-12DC-9722-A9EC3A47ED3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22094AB2-6D67-7533-B1C1-54A5C3EFCC2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Текст 54">
            <a:extLst>
              <a:ext uri="{FF2B5EF4-FFF2-40B4-BE49-F238E27FC236}">
                <a16:creationId xmlns:a16="http://schemas.microsoft.com/office/drawing/2014/main" id="{87163045-C3B8-38CF-27F8-2F1BC144F020}"/>
              </a:ext>
              <a:ext uri="{C183D7F6-B498-43B3-948B-1728B52AA6E4}">
                <adec:decorative xmlns:adec="http://schemas.microsoft.com/office/drawing/2017/decorative" val="1"/>
              </a:ext>
            </a:extLst>
          </p:cNvPr>
          <p:cNvSpPr txBox="1">
            <a:spLocks/>
          </p:cNvSpPr>
          <p:nvPr/>
        </p:nvSpPr>
        <p:spPr>
          <a:xfrm>
            <a:off x="2130881" y="1970372"/>
            <a:ext cx="9309311" cy="307777"/>
          </a:xfrm>
          <a:prstGeom prst="rect">
            <a:avLst/>
          </a:prstGeom>
        </p:spPr>
        <p:txBody>
          <a:bodyPr vert="horz" wrap="square" lIns="91440" tIns="0" rIns="0" bIns="0" rtlCol="0">
            <a:spAutoFit/>
          </a:bodyPr>
          <a:lstStyle>
            <a:defPPr>
              <a:defRPr lang="en-US"/>
            </a:defPPr>
            <a:lvl1pPr marR="0" indent="0" defTabSz="932742" fontAlgn="auto">
              <a:lnSpc>
                <a:spcPct val="100000"/>
              </a:lnSpc>
              <a:spcBef>
                <a:spcPct val="20000"/>
              </a:spcBef>
              <a:spcAft>
                <a:spcPts val="0"/>
              </a:spcAft>
              <a:buClrTx/>
              <a:buSzPct val="90000"/>
              <a:buFont typeface="Wingdings" panose="05000000000000000000" pitchFamily="2" charset="2"/>
              <a:buNone/>
              <a:tabLst/>
              <a:defRPr kumimoji="0" lang="en-US" sz="2400" b="0" u="none" strike="noStrike" cap="none" spc="0" normalizeH="0" baseline="0" dirty="0">
                <a:ln w="3175">
                  <a:noFill/>
                </a:ln>
                <a:gradFill flip="none" rotWithShape="1">
                  <a:gsLst>
                    <a:gs pos="32000">
                      <a:srgbClr val="D59ED7"/>
                    </a:gs>
                    <a:gs pos="68000">
                      <a:srgbClr val="8DC8E8"/>
                    </a:gs>
                    <a:gs pos="100000">
                      <a:srgbClr val="49C5B1"/>
                    </a:gs>
                    <a:gs pos="0">
                      <a:srgbClr val="FFA38B"/>
                    </a:gs>
                  </a:gsLst>
                  <a:path path="circle">
                    <a:fillToRect l="100000" t="100000"/>
                  </a:path>
                  <a:tileRect r="-100000" b="-100000"/>
                </a:gradFill>
                <a:effectLst/>
                <a:uLnTx/>
                <a:uFillTx/>
                <a:latin typeface="Segoe UI Semibold" panose="020B0502040204020203" pitchFamily="34" charset="0"/>
                <a:cs typeface="Segoe UI" panose="020B05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1" i="0" u="none" strike="noStrike" kern="1200" cap="none" spc="0" normalizeH="0" baseline="0" noProof="0">
                <a:ln w="3175">
                  <a:noFill/>
                </a:ln>
                <a:solidFill>
                  <a:srgbClr val="0078D4"/>
                </a:solidFill>
                <a:effectLst/>
                <a:uLnTx/>
                <a:uFillTx/>
                <a:latin typeface="Yu Gothic UI" panose="020B0500000000000000" pitchFamily="50" charset="-128"/>
                <a:ea typeface="Yu Gothic UI" panose="020B0500000000000000" pitchFamily="50" charset="-128"/>
                <a:cs typeface="Segoe Sans Text" pitchFamily="2" charset="0"/>
              </a:rPr>
              <a:t>Industry-leading management and performance at scale</a:t>
            </a:r>
          </a:p>
        </p:txBody>
      </p:sp>
      <p:sp>
        <p:nvSpPr>
          <p:cNvPr id="6" name="Rounded Rectangle 13">
            <a:extLst>
              <a:ext uri="{FF2B5EF4-FFF2-40B4-BE49-F238E27FC236}">
                <a16:creationId xmlns:a16="http://schemas.microsoft.com/office/drawing/2014/main" id="{630B662B-F0C9-619D-DFC0-A9DD4B6E5514}"/>
              </a:ext>
              <a:ext uri="{C183D7F6-B498-43B3-948B-1728B52AA6E4}">
                <adec:decorative xmlns:adec="http://schemas.microsoft.com/office/drawing/2017/decorative" val="1"/>
              </a:ext>
            </a:extLst>
          </p:cNvPr>
          <p:cNvSpPr/>
          <p:nvPr/>
        </p:nvSpPr>
        <p:spPr bwMode="auto">
          <a:xfrm>
            <a:off x="685800" y="2941820"/>
            <a:ext cx="3584448" cy="3502853"/>
          </a:xfrm>
          <a:prstGeom prst="roundRect">
            <a:avLst>
              <a:gd name="adj" fmla="val 9804"/>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Yu Gothic UI" panose="020B0500000000000000" pitchFamily="50" charset="-128"/>
              <a:ea typeface="Yu Gothic UI" panose="020B0500000000000000" pitchFamily="50" charset="-128"/>
              <a:cs typeface="Segoe Sans Text" pitchFamily="2" charset="0"/>
            </a:endParaRPr>
          </a:p>
        </p:txBody>
      </p:sp>
      <p:sp>
        <p:nvSpPr>
          <p:cNvPr id="7" name="Rounded Rectangle 36">
            <a:extLst>
              <a:ext uri="{FF2B5EF4-FFF2-40B4-BE49-F238E27FC236}">
                <a16:creationId xmlns:a16="http://schemas.microsoft.com/office/drawing/2014/main" id="{508E380E-3F8D-7059-E988-96B1F8128532}"/>
              </a:ext>
            </a:extLst>
          </p:cNvPr>
          <p:cNvSpPr/>
          <p:nvPr/>
        </p:nvSpPr>
        <p:spPr bwMode="auto">
          <a:xfrm>
            <a:off x="909910" y="3165929"/>
            <a:ext cx="3136228" cy="731520"/>
          </a:xfrm>
          <a:prstGeom prst="roundRect">
            <a:avLst>
              <a:gd name="adj" fmla="val 19602"/>
            </a:avLst>
          </a:prstGeom>
          <a:gradFill flip="none" rotWithShape="1">
            <a:gsLst>
              <a:gs pos="0">
                <a:schemeClr val="accent1"/>
              </a:gs>
              <a:gs pos="100000">
                <a:schemeClr val="accent2"/>
              </a:gs>
            </a:gsLst>
            <a:path path="circle">
              <a:fillToRect l="100000" t="100000"/>
            </a:path>
            <a:tileRect r="-100000" b="-100000"/>
          </a:gradFill>
          <a:ln w="63897" cap="flat">
            <a:noFill/>
            <a:prstDash val="solid"/>
            <a:miter/>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ja-JP" alt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rPr>
              <a:t>フルマネージド データベース</a:t>
            </a:r>
            <a:endParaRPr kumimoji="0" 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endParaRPr>
          </a:p>
        </p:txBody>
      </p:sp>
      <p:graphicFrame>
        <p:nvGraphicFramePr>
          <p:cNvPr id="8" name="Table 15">
            <a:extLst>
              <a:ext uri="{FF2B5EF4-FFF2-40B4-BE49-F238E27FC236}">
                <a16:creationId xmlns:a16="http://schemas.microsoft.com/office/drawing/2014/main" id="{0CB3F1ED-ADC5-5695-D351-D0C9301D8FBE}"/>
              </a:ext>
            </a:extLst>
          </p:cNvPr>
          <p:cNvGraphicFramePr>
            <a:graphicFrameLocks noGrp="1"/>
          </p:cNvGraphicFramePr>
          <p:nvPr>
            <p:extLst>
              <p:ext uri="{D42A27DB-BD31-4B8C-83A1-F6EECF244321}">
                <p14:modId xmlns:p14="http://schemas.microsoft.com/office/powerpoint/2010/main" val="2478605011"/>
              </p:ext>
            </p:extLst>
          </p:nvPr>
        </p:nvGraphicFramePr>
        <p:xfrm>
          <a:off x="909910" y="4116354"/>
          <a:ext cx="3136392" cy="2085975"/>
        </p:xfrm>
        <a:graphic>
          <a:graphicData uri="http://schemas.openxmlformats.org/drawingml/2006/table">
            <a:tbl>
              <a:tblPr firstRow="1" bandRow="1">
                <a:tableStyleId>{5C22544A-7EE6-4342-B048-85BDC9FD1C3A}</a:tableStyleId>
              </a:tblPr>
              <a:tblGrid>
                <a:gridCol w="3136392">
                  <a:extLst>
                    <a:ext uri="{9D8B030D-6E8A-4147-A177-3AD203B41FA5}">
                      <a16:colId xmlns:a16="http://schemas.microsoft.com/office/drawing/2014/main" val="2243595643"/>
                    </a:ext>
                  </a:extLst>
                </a:gridCol>
              </a:tblGrid>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99.99%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の稼働率 </a:t>
                      </a: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SLA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による高可用性</a:t>
                      </a:r>
                      <a:endParaRPr kumimoji="0" 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127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2280406"/>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仮想エンドポイントによるディザスター リカバリー</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7575161"/>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ほぼゼロダウンタイムでのスケーリング</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9847499"/>
                  </a:ext>
                </a:extLst>
              </a:tr>
            </a:tbl>
          </a:graphicData>
        </a:graphic>
      </p:graphicFrame>
      <p:pic>
        <p:nvPicPr>
          <p:cNvPr id="12" name="Graphic 21">
            <a:extLst>
              <a:ext uri="{FF2B5EF4-FFF2-40B4-BE49-F238E27FC236}">
                <a16:creationId xmlns:a16="http://schemas.microsoft.com/office/drawing/2014/main" id="{95943E42-7DB2-9290-057B-9B1DCD252FDF}"/>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2273" y="1470055"/>
            <a:ext cx="885524" cy="885524"/>
          </a:xfrm>
          <a:prstGeom prst="rect">
            <a:avLst/>
          </a:prstGeom>
        </p:spPr>
      </p:pic>
      <p:cxnSp>
        <p:nvCxnSpPr>
          <p:cNvPr id="13" name="Straight Connector 3">
            <a:extLst>
              <a:ext uri="{FF2B5EF4-FFF2-40B4-BE49-F238E27FC236}">
                <a16:creationId xmlns:a16="http://schemas.microsoft.com/office/drawing/2014/main" id="{C176EDA5-8461-B3E8-99A0-874D35ACA1C0}"/>
              </a:ext>
              <a:ext uri="{C183D7F6-B498-43B3-948B-1728B52AA6E4}">
                <adec:decorative xmlns:adec="http://schemas.microsoft.com/office/drawing/2017/decorative" val="1"/>
              </a:ext>
            </a:extLst>
          </p:cNvPr>
          <p:cNvCxnSpPr>
            <a:cxnSpLocks/>
          </p:cNvCxnSpPr>
          <p:nvPr/>
        </p:nvCxnSpPr>
        <p:spPr>
          <a:xfrm>
            <a:off x="1970132" y="1403906"/>
            <a:ext cx="0" cy="964373"/>
          </a:xfrm>
          <a:prstGeom prst="line">
            <a:avLst/>
          </a:prstGeom>
          <a:ln>
            <a:solidFill>
              <a:schemeClr val="tx1">
                <a:lumMod val="50000"/>
                <a:alpha val="52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2166C046-1508-9311-807D-D09996FFD5C3}"/>
              </a:ext>
              <a:ext uri="{C183D7F6-B498-43B3-948B-1728B52AA6E4}">
                <adec:decorative xmlns:adec="http://schemas.microsoft.com/office/drawing/2017/decorative" val="1"/>
              </a:ext>
            </a:extLst>
          </p:cNvPr>
          <p:cNvSpPr/>
          <p:nvPr/>
        </p:nvSpPr>
        <p:spPr bwMode="auto">
          <a:xfrm>
            <a:off x="4412155" y="2941820"/>
            <a:ext cx="3584448" cy="3502853"/>
          </a:xfrm>
          <a:prstGeom prst="roundRect">
            <a:avLst>
              <a:gd name="adj" fmla="val 9804"/>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Yu Gothic UI" panose="020B0500000000000000" pitchFamily="50" charset="-128"/>
              <a:ea typeface="Yu Gothic UI" panose="020B0500000000000000" pitchFamily="50" charset="-128"/>
              <a:cs typeface="Segoe Sans Text" pitchFamily="2" charset="0"/>
            </a:endParaRPr>
          </a:p>
        </p:txBody>
      </p:sp>
      <p:sp>
        <p:nvSpPr>
          <p:cNvPr id="18" name="Rounded Rectangle 36">
            <a:extLst>
              <a:ext uri="{FF2B5EF4-FFF2-40B4-BE49-F238E27FC236}">
                <a16:creationId xmlns:a16="http://schemas.microsoft.com/office/drawing/2014/main" id="{7225A012-5ED0-1F41-8860-D3C1F58B5E36}"/>
              </a:ext>
            </a:extLst>
          </p:cNvPr>
          <p:cNvSpPr/>
          <p:nvPr/>
        </p:nvSpPr>
        <p:spPr bwMode="auto">
          <a:xfrm>
            <a:off x="4636265" y="3165929"/>
            <a:ext cx="3136228" cy="731520"/>
          </a:xfrm>
          <a:prstGeom prst="roundRect">
            <a:avLst>
              <a:gd name="adj" fmla="val 19602"/>
            </a:avLst>
          </a:prstGeom>
          <a:gradFill flip="none" rotWithShape="1">
            <a:gsLst>
              <a:gs pos="88000">
                <a:schemeClr val="accent3"/>
              </a:gs>
              <a:gs pos="23000">
                <a:srgbClr val="0078D4"/>
              </a:gs>
            </a:gsLst>
            <a:path path="circle">
              <a:fillToRect l="100000" t="100000"/>
            </a:path>
            <a:tileRect r="-100000" b="-100000"/>
          </a:gradFill>
          <a:ln w="63897" cap="flat">
            <a:noFill/>
            <a:prstDash val="solid"/>
            <a:miter/>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rPr>
              <a:t>パフォーマンス向上</a:t>
            </a:r>
            <a:endParaRPr kumimoji="1" 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endParaRPr>
          </a:p>
        </p:txBody>
      </p:sp>
      <p:sp>
        <p:nvSpPr>
          <p:cNvPr id="19" name="Rounded Rectangle 13">
            <a:extLst>
              <a:ext uri="{FF2B5EF4-FFF2-40B4-BE49-F238E27FC236}">
                <a16:creationId xmlns:a16="http://schemas.microsoft.com/office/drawing/2014/main" id="{AE218B04-C471-38D4-7B71-6EA9327FF738}"/>
              </a:ext>
              <a:ext uri="{C183D7F6-B498-43B3-948B-1728B52AA6E4}">
                <adec:decorative xmlns:adec="http://schemas.microsoft.com/office/drawing/2017/decorative" val="1"/>
              </a:ext>
            </a:extLst>
          </p:cNvPr>
          <p:cNvSpPr/>
          <p:nvPr/>
        </p:nvSpPr>
        <p:spPr bwMode="auto">
          <a:xfrm>
            <a:off x="8138510" y="2941820"/>
            <a:ext cx="3584448" cy="3502853"/>
          </a:xfrm>
          <a:prstGeom prst="roundRect">
            <a:avLst>
              <a:gd name="adj" fmla="val 9804"/>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Yu Gothic UI" panose="020B0500000000000000" pitchFamily="50" charset="-128"/>
              <a:ea typeface="Yu Gothic UI" panose="020B0500000000000000" pitchFamily="50" charset="-128"/>
              <a:cs typeface="Segoe Sans Text" pitchFamily="2" charset="0"/>
            </a:endParaRPr>
          </a:p>
        </p:txBody>
      </p:sp>
      <p:sp>
        <p:nvSpPr>
          <p:cNvPr id="20" name="Rounded Rectangle 36">
            <a:extLst>
              <a:ext uri="{FF2B5EF4-FFF2-40B4-BE49-F238E27FC236}">
                <a16:creationId xmlns:a16="http://schemas.microsoft.com/office/drawing/2014/main" id="{38BA2F6B-A8DD-F4A3-581D-47F7952EA571}"/>
              </a:ext>
            </a:extLst>
          </p:cNvPr>
          <p:cNvSpPr/>
          <p:nvPr/>
        </p:nvSpPr>
        <p:spPr bwMode="auto">
          <a:xfrm>
            <a:off x="8362620" y="3165929"/>
            <a:ext cx="3136228" cy="731520"/>
          </a:xfrm>
          <a:prstGeom prst="roundRect">
            <a:avLst>
              <a:gd name="adj" fmla="val 19602"/>
            </a:avLst>
          </a:prstGeom>
          <a:gradFill flip="none" rotWithShape="1">
            <a:gsLst>
              <a:gs pos="0">
                <a:srgbClr val="0078D4"/>
              </a:gs>
              <a:gs pos="89000">
                <a:srgbClr val="C03BC4"/>
              </a:gs>
            </a:gsLst>
            <a:path path="circle">
              <a:fillToRect l="100000" t="100000"/>
            </a:path>
            <a:tileRect r="-100000" b="-100000"/>
          </a:gradFill>
          <a:ln w="63897" cap="flat">
            <a:noFill/>
            <a:prstDash val="solid"/>
            <a:miter/>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rPr>
              <a:t>強化されたセキュリティ</a:t>
            </a:r>
            <a:endParaRPr kumimoji="1" 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endParaRPr>
          </a:p>
        </p:txBody>
      </p:sp>
      <p:graphicFrame>
        <p:nvGraphicFramePr>
          <p:cNvPr id="21" name="Table 17">
            <a:extLst>
              <a:ext uri="{FF2B5EF4-FFF2-40B4-BE49-F238E27FC236}">
                <a16:creationId xmlns:a16="http://schemas.microsoft.com/office/drawing/2014/main" id="{53C411C4-8880-F544-6628-06E834B3CAA7}"/>
              </a:ext>
            </a:extLst>
          </p:cNvPr>
          <p:cNvGraphicFramePr>
            <a:graphicFrameLocks noGrp="1"/>
          </p:cNvGraphicFramePr>
          <p:nvPr>
            <p:extLst>
              <p:ext uri="{D42A27DB-BD31-4B8C-83A1-F6EECF244321}">
                <p14:modId xmlns:p14="http://schemas.microsoft.com/office/powerpoint/2010/main" val="1525420519"/>
              </p:ext>
            </p:extLst>
          </p:nvPr>
        </p:nvGraphicFramePr>
        <p:xfrm>
          <a:off x="4636183" y="4116354"/>
          <a:ext cx="3136392" cy="2085975"/>
        </p:xfrm>
        <a:graphic>
          <a:graphicData uri="http://schemas.openxmlformats.org/drawingml/2006/table">
            <a:tbl>
              <a:tblPr firstRow="1" bandRow="1">
                <a:tableStyleId>{5C22544A-7EE6-4342-B048-85BDC9FD1C3A}</a:tableStyleId>
              </a:tblPr>
              <a:tblGrid>
                <a:gridCol w="3136392">
                  <a:extLst>
                    <a:ext uri="{9D8B030D-6E8A-4147-A177-3AD203B41FA5}">
                      <a16:colId xmlns:a16="http://schemas.microsoft.com/office/drawing/2014/main" val="2243595643"/>
                    </a:ext>
                  </a:extLst>
                </a:gridCol>
              </a:tblGrid>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Premium SSD v2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により最大 </a:t>
                      </a: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4.5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倍の高速化</a:t>
                      </a:r>
                      <a:endParaRPr kumimoji="0" 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127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2280406"/>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オンプレミス運用と比べて最大 </a:t>
                      </a:r>
                      <a: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62% </a:t>
                      </a: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のコスト削減</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7575161"/>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マルチリージョン </a:t>
                      </a:r>
                      <a: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Geo-DR </a:t>
                      </a: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による優れた</a:t>
                      </a:r>
                      <a:b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b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データアクセス レイテンシ</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9847499"/>
                  </a:ext>
                </a:extLst>
              </a:tr>
            </a:tbl>
          </a:graphicData>
        </a:graphic>
      </p:graphicFrame>
      <p:graphicFrame>
        <p:nvGraphicFramePr>
          <p:cNvPr id="22" name="Table 18">
            <a:extLst>
              <a:ext uri="{FF2B5EF4-FFF2-40B4-BE49-F238E27FC236}">
                <a16:creationId xmlns:a16="http://schemas.microsoft.com/office/drawing/2014/main" id="{08303503-5414-1BC9-3CBD-785947585FA0}"/>
              </a:ext>
            </a:extLst>
          </p:cNvPr>
          <p:cNvGraphicFramePr>
            <a:graphicFrameLocks noGrp="1"/>
          </p:cNvGraphicFramePr>
          <p:nvPr>
            <p:extLst>
              <p:ext uri="{D42A27DB-BD31-4B8C-83A1-F6EECF244321}">
                <p14:modId xmlns:p14="http://schemas.microsoft.com/office/powerpoint/2010/main" val="753364978"/>
              </p:ext>
            </p:extLst>
          </p:nvPr>
        </p:nvGraphicFramePr>
        <p:xfrm>
          <a:off x="8362538" y="4116354"/>
          <a:ext cx="3136392" cy="2085975"/>
        </p:xfrm>
        <a:graphic>
          <a:graphicData uri="http://schemas.openxmlformats.org/drawingml/2006/table">
            <a:tbl>
              <a:tblPr firstRow="1" bandRow="1">
                <a:tableStyleId>{5C22544A-7EE6-4342-B048-85BDC9FD1C3A}</a:tableStyleId>
              </a:tblPr>
              <a:tblGrid>
                <a:gridCol w="3136392">
                  <a:extLst>
                    <a:ext uri="{9D8B030D-6E8A-4147-A177-3AD203B41FA5}">
                      <a16:colId xmlns:a16="http://schemas.microsoft.com/office/drawing/2014/main" val="2243595643"/>
                    </a:ext>
                  </a:extLst>
                </a:gridCol>
              </a:tblGrid>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Microsoft Defender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による </a:t>
                      </a: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AI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を活用した</a:t>
                      </a:r>
                      <a:b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b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リアルタイム アラート</a:t>
                      </a:r>
                      <a:endParaRPr kumimoji="0" 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127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2280406"/>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転送中および保存中データの二重暗号化</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7575161"/>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Private Link </a:t>
                      </a: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を利用した </a:t>
                      </a:r>
                      <a: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Azure </a:t>
                      </a: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サービスへの</a:t>
                      </a:r>
                      <a:b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b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プライベートアクセス</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9847499"/>
                  </a:ext>
                </a:extLst>
              </a:tr>
            </a:tbl>
          </a:graphicData>
        </a:graphic>
      </p:graphicFrame>
      <p:sp>
        <p:nvSpPr>
          <p:cNvPr id="24" name="Title 7">
            <a:extLst>
              <a:ext uri="{FF2B5EF4-FFF2-40B4-BE49-F238E27FC236}">
                <a16:creationId xmlns:a16="http://schemas.microsoft.com/office/drawing/2014/main" id="{99471225-C348-4F5B-E943-ED014E5F7EA5}"/>
              </a:ext>
              <a:ext uri="{C183D7F6-B498-43B3-948B-1728B52AA6E4}">
                <adec:decorative xmlns:adec="http://schemas.microsoft.com/office/drawing/2017/decorative" val="1"/>
              </a:ext>
            </a:extLst>
          </p:cNvPr>
          <p:cNvSpPr txBox="1">
            <a:spLocks/>
          </p:cNvSpPr>
          <p:nvPr/>
        </p:nvSpPr>
        <p:spPr>
          <a:xfrm>
            <a:off x="2130881" y="1332054"/>
            <a:ext cx="7678137" cy="55403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w="3175">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Azure Database for PostgreSQL</a:t>
            </a:r>
            <a:endParaRPr kumimoji="0" lang="af-ZA" sz="3600" b="1" i="0" u="none" strike="noStrike" kern="1200" cap="none" spc="0" normalizeH="0" baseline="0" noProof="0" dirty="0">
              <a:ln w="3175">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endParaRPr>
          </a:p>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af-ZA" sz="3600" b="1" i="0" u="none" strike="noStrike" kern="1200" cap="none" spc="0" normalizeH="0" baseline="0" noProof="0" dirty="0">
              <a:ln w="3175">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endParaRPr>
          </a:p>
        </p:txBody>
      </p:sp>
    </p:spTree>
    <p:extLst>
      <p:ext uri="{BB962C8B-B14F-4D97-AF65-F5344CB8AC3E}">
        <p14:creationId xmlns:p14="http://schemas.microsoft.com/office/powerpoint/2010/main" val="2661737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4FE37-3480-F42C-8542-72C6FE31204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BD0027C-5227-C954-2F17-A3F36E64159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Database for PostgreSQL</a:t>
            </a:r>
          </a:p>
        </p:txBody>
      </p:sp>
      <p:sp>
        <p:nvSpPr>
          <p:cNvPr id="2" name="正方形/長方形 1">
            <a:extLst>
              <a:ext uri="{FF2B5EF4-FFF2-40B4-BE49-F238E27FC236}">
                <a16:creationId xmlns:a16="http://schemas.microsoft.com/office/drawing/2014/main" id="{27CB8761-CB49-0D64-F116-EB9E76389DF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CF0FA990-13BB-02CF-C6FA-A5498343180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97" name="Title 1">
            <a:extLst>
              <a:ext uri="{FF2B5EF4-FFF2-40B4-BE49-F238E27FC236}">
                <a16:creationId xmlns:a16="http://schemas.microsoft.com/office/drawing/2014/main" id="{B9BB7BD9-7449-9473-6BE3-85930081FDA8}"/>
              </a:ext>
            </a:extLst>
          </p:cNvPr>
          <p:cNvSpPr txBox="1">
            <a:spLocks/>
          </p:cNvSpPr>
          <p:nvPr/>
        </p:nvSpPr>
        <p:spPr>
          <a:xfrm>
            <a:off x="1128713" y="1562100"/>
            <a:ext cx="4159950" cy="4735511"/>
          </a:xfrm>
          <a:prstGeom prst="rect">
            <a:avLst/>
          </a:prstGeom>
        </p:spPr>
        <p:txBody>
          <a:bodyPr vert="horz" wrap="square" lIns="0" tIns="0" rIns="0" bIns="0" rtlCol="0" anchor="ctr">
            <a:normAutofit/>
          </a:bodyPr>
          <a:lstStyle>
            <a:lvl1pPr algn="l" defTabSz="932742" rtl="0" eaLnBrk="1" latinLnBrk="0" hangingPunct="1">
              <a:lnSpc>
                <a:spcPct val="100000"/>
              </a:lnSpc>
              <a:spcBef>
                <a:spcPct val="0"/>
              </a:spcBef>
              <a:buNone/>
              <a:defRPr kumimoji="1" lang="en-US" sz="3600" b="0" kern="1200" cap="none" spc="-50" baseline="0" dirty="0" smtClean="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1" lang="ja-JP" altLang="en-US" sz="3600" b="0" i="0" u="none" strike="noStrike" kern="1200" cap="none" spc="-50" normalizeH="0" baseline="0" noProof="0">
                <a:ln w="3175">
                  <a:noFill/>
                </a:ln>
                <a:solidFill>
                  <a:srgbClr val="0078D4"/>
                </a:solidFill>
                <a:effectLst/>
                <a:uLnTx/>
                <a:uFillTx/>
                <a:latin typeface="Segoe Sans Display"/>
                <a:ea typeface="Yu Gothic UI"/>
                <a:cs typeface="Segoe UI" pitchFamily="34" charset="0"/>
              </a:rPr>
              <a:t>マネージドサービスの</a:t>
            </a:r>
            <a:br>
              <a:rPr kumimoji="1" lang="ja-JP" altLang="en-US" sz="3600" b="0" i="0" u="none" strike="noStrike" kern="1200" cap="none" spc="-50" normalizeH="0" baseline="0" noProof="0">
                <a:ln w="3175">
                  <a:noFill/>
                </a:ln>
                <a:solidFill>
                  <a:srgbClr val="0078D4"/>
                </a:solidFill>
                <a:effectLst/>
                <a:uLnTx/>
                <a:uFillTx/>
                <a:latin typeface="Segoe Sans Display"/>
                <a:ea typeface="Yu Gothic UI"/>
                <a:cs typeface="Segoe UI" pitchFamily="34" charset="0"/>
              </a:rPr>
            </a:br>
            <a:r>
              <a:rPr kumimoji="1" lang="ja-JP" altLang="en-US" sz="3600" b="0" i="0" u="none" strike="noStrike" kern="1200" cap="none" spc="-50" normalizeH="0" baseline="0" noProof="0">
                <a:ln w="3175">
                  <a:noFill/>
                </a:ln>
                <a:solidFill>
                  <a:srgbClr val="0078D4"/>
                </a:solidFill>
                <a:effectLst/>
                <a:uLnTx/>
                <a:uFillTx/>
                <a:latin typeface="Segoe Sans Display"/>
                <a:ea typeface="Yu Gothic UI"/>
                <a:cs typeface="Segoe UI" pitchFamily="34" charset="0"/>
              </a:rPr>
              <a:t>確かなメリット</a:t>
            </a:r>
          </a:p>
        </p:txBody>
      </p:sp>
      <p:pic>
        <p:nvPicPr>
          <p:cNvPr id="100" name="図 99">
            <a:extLst>
              <a:ext uri="{FF2B5EF4-FFF2-40B4-BE49-F238E27FC236}">
                <a16:creationId xmlns:a16="http://schemas.microsoft.com/office/drawing/2014/main" id="{8E006001-5739-91EB-DE47-95302E5E14A7}"/>
              </a:ext>
            </a:extLst>
          </p:cNvPr>
          <p:cNvPicPr>
            <a:picLocks noChangeAspect="1"/>
          </p:cNvPicPr>
          <p:nvPr/>
        </p:nvPicPr>
        <p:blipFill>
          <a:blip r:embed="rId3"/>
          <a:stretch>
            <a:fillRect/>
          </a:stretch>
        </p:blipFill>
        <p:spPr>
          <a:xfrm>
            <a:off x="5620469" y="1414466"/>
            <a:ext cx="5541868" cy="5421611"/>
          </a:xfrm>
          <a:prstGeom prst="rect">
            <a:avLst/>
          </a:prstGeom>
        </p:spPr>
      </p:pic>
    </p:spTree>
    <p:extLst>
      <p:ext uri="{BB962C8B-B14F-4D97-AF65-F5344CB8AC3E}">
        <p14:creationId xmlns:p14="http://schemas.microsoft.com/office/powerpoint/2010/main" val="4011903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615BD-3ECE-4F15-11CA-9AF3D34E272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DE1EA9A-6C64-680F-E596-03244DAE009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Database for PostgreSQL</a:t>
            </a:r>
          </a:p>
        </p:txBody>
      </p:sp>
      <p:sp>
        <p:nvSpPr>
          <p:cNvPr id="2" name="正方形/長方形 1">
            <a:extLst>
              <a:ext uri="{FF2B5EF4-FFF2-40B4-BE49-F238E27FC236}">
                <a16:creationId xmlns:a16="http://schemas.microsoft.com/office/drawing/2014/main" id="{2788B1BA-7442-16D3-6175-D29CA05FD99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C2B21211-FA2C-657C-D1FA-64A0B47A92C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Title 1">
            <a:extLst>
              <a:ext uri="{FF2B5EF4-FFF2-40B4-BE49-F238E27FC236}">
                <a16:creationId xmlns:a16="http://schemas.microsoft.com/office/drawing/2014/main" id="{916B4D2A-1B4C-25D6-D1A9-8B06254CACC3}"/>
              </a:ext>
            </a:extLst>
          </p:cNvPr>
          <p:cNvSpPr>
            <a:spLocks noGrp="1"/>
          </p:cNvSpPr>
          <p:nvPr>
            <p:ph type="title"/>
          </p:nvPr>
        </p:nvSpPr>
        <p:spPr>
          <a:xfrm>
            <a:off x="586740" y="1285101"/>
            <a:ext cx="11018520" cy="553998"/>
          </a:xfrm>
        </p:spPr>
        <p:txBody>
          <a:bodyPr>
            <a:normAutofit/>
          </a:bodyPr>
          <a:lstStyle/>
          <a:p>
            <a:r>
              <a:rPr lang="en-US" altLang="ja-JP" sz="2000">
                <a:latin typeface="Yu Gothic UI" panose="020B0500000000000000" pitchFamily="50" charset="-128"/>
                <a:ea typeface="Yu Gothic UI" panose="020B0500000000000000" pitchFamily="50" charset="-128"/>
              </a:rPr>
              <a:t>Azure PostgreSQL </a:t>
            </a:r>
            <a:r>
              <a:rPr lang="ja-JP" altLang="en-US" sz="2000">
                <a:latin typeface="Yu Gothic UI" panose="020B0500000000000000" pitchFamily="50" charset="-128"/>
                <a:ea typeface="Yu Gothic UI" panose="020B0500000000000000" pitchFamily="50" charset="-128"/>
              </a:rPr>
              <a:t>ファミリー</a:t>
            </a:r>
            <a:endParaRPr kumimoji="1" lang="ja-JP" altLang="en-US" sz="2000"/>
          </a:p>
        </p:txBody>
      </p:sp>
      <p:graphicFrame>
        <p:nvGraphicFramePr>
          <p:cNvPr id="5" name="表 4">
            <a:extLst>
              <a:ext uri="{FF2B5EF4-FFF2-40B4-BE49-F238E27FC236}">
                <a16:creationId xmlns:a16="http://schemas.microsoft.com/office/drawing/2014/main" id="{BCC58144-E45F-213B-A8B3-D28E9522F12B}"/>
              </a:ext>
            </a:extLst>
          </p:cNvPr>
          <p:cNvGraphicFramePr>
            <a:graphicFrameLocks noGrp="1"/>
          </p:cNvGraphicFramePr>
          <p:nvPr>
            <p:extLst>
              <p:ext uri="{D42A27DB-BD31-4B8C-83A1-F6EECF244321}">
                <p14:modId xmlns:p14="http://schemas.microsoft.com/office/powerpoint/2010/main" val="57705729"/>
              </p:ext>
            </p:extLst>
          </p:nvPr>
        </p:nvGraphicFramePr>
        <p:xfrm>
          <a:off x="334566" y="1909762"/>
          <a:ext cx="11522868" cy="2941320"/>
        </p:xfrm>
        <a:graphic>
          <a:graphicData uri="http://schemas.openxmlformats.org/drawingml/2006/table">
            <a:tbl>
              <a:tblPr firstRow="1" bandRow="1">
                <a:tableStyleId>{F5AB1C69-6EDB-4FF4-983F-18BD219EF322}</a:tableStyleId>
              </a:tblPr>
              <a:tblGrid>
                <a:gridCol w="1548246">
                  <a:extLst>
                    <a:ext uri="{9D8B030D-6E8A-4147-A177-3AD203B41FA5}">
                      <a16:colId xmlns:a16="http://schemas.microsoft.com/office/drawing/2014/main" val="3415592844"/>
                    </a:ext>
                  </a:extLst>
                </a:gridCol>
                <a:gridCol w="3324874">
                  <a:extLst>
                    <a:ext uri="{9D8B030D-6E8A-4147-A177-3AD203B41FA5}">
                      <a16:colId xmlns:a16="http://schemas.microsoft.com/office/drawing/2014/main" val="351406822"/>
                    </a:ext>
                  </a:extLst>
                </a:gridCol>
                <a:gridCol w="3324874">
                  <a:extLst>
                    <a:ext uri="{9D8B030D-6E8A-4147-A177-3AD203B41FA5}">
                      <a16:colId xmlns:a16="http://schemas.microsoft.com/office/drawing/2014/main" val="1125026286"/>
                    </a:ext>
                  </a:extLst>
                </a:gridCol>
                <a:gridCol w="3324874">
                  <a:extLst>
                    <a:ext uri="{9D8B030D-6E8A-4147-A177-3AD203B41FA5}">
                      <a16:colId xmlns:a16="http://schemas.microsoft.com/office/drawing/2014/main" val="3913969823"/>
                    </a:ext>
                  </a:extLst>
                </a:gridCol>
              </a:tblGrid>
              <a:tr h="370840">
                <a:tc>
                  <a:txBody>
                    <a:bodyPr/>
                    <a:lstStyle/>
                    <a:p>
                      <a:endParaRPr kumimoji="1" lang="ja-JP" altLang="en-US" sz="1600"/>
                    </a:p>
                  </a:txBody>
                  <a:tcPr/>
                </a:tc>
                <a:tc>
                  <a:txBody>
                    <a:bodyPr/>
                    <a:lstStyle/>
                    <a:p>
                      <a:r>
                        <a:rPr kumimoji="1" lang="en-US" altLang="ja-JP" sz="1600" dirty="0"/>
                        <a:t>Azure Database for PostgreSQL Flexible Server</a:t>
                      </a:r>
                      <a:endParaRPr kumimoji="1" lang="ja-JP" altLang="en-US" sz="1600"/>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1" lang="en-US" altLang="ja-JP" sz="1600"/>
                        <a:t>Azure Database for PostgreSQL Elastic Cluster</a:t>
                      </a:r>
                      <a:endParaRPr kumimoji="1" lang="ja-JP" altLang="en-US" sz="1600"/>
                    </a:p>
                  </a:txBody>
                  <a:tcPr/>
                </a:tc>
                <a:tc>
                  <a:txBody>
                    <a:bodyPr/>
                    <a:lstStyle/>
                    <a:p>
                      <a:r>
                        <a:rPr kumimoji="1" lang="en-US" altLang="ja-JP" sz="1600" dirty="0"/>
                        <a:t>Azure </a:t>
                      </a:r>
                      <a:r>
                        <a:rPr kumimoji="1" lang="en-US" altLang="ja-JP" sz="1600" dirty="0" err="1"/>
                        <a:t>HorizonDB</a:t>
                      </a:r>
                      <a:r>
                        <a:rPr kumimoji="1" lang="en-US" altLang="ja-JP" sz="1600" dirty="0"/>
                        <a:t> for PostgreSQL</a:t>
                      </a:r>
                      <a:r>
                        <a:rPr kumimoji="1" lang="en-US" altLang="ja-JP" sz="1600" baseline="30000" dirty="0"/>
                        <a:t>(Preview)</a:t>
                      </a:r>
                      <a:endParaRPr kumimoji="1" lang="ja-JP" altLang="en-US" sz="1600" baseline="30000" dirty="0"/>
                    </a:p>
                  </a:txBody>
                  <a:tcPr/>
                </a:tc>
                <a:extLst>
                  <a:ext uri="{0D108BD9-81ED-4DB2-BD59-A6C34878D82A}">
                    <a16:rowId xmlns:a16="http://schemas.microsoft.com/office/drawing/2014/main" val="772544460"/>
                  </a:ext>
                </a:extLst>
              </a:tr>
              <a:tr h="0">
                <a:tc>
                  <a:txBody>
                    <a:bodyPr/>
                    <a:lstStyle/>
                    <a:p>
                      <a:r>
                        <a:rPr kumimoji="1" lang="ja-JP" altLang="en-US" sz="1400">
                          <a:latin typeface="Yu Gothic UI" panose="020B0500000000000000" pitchFamily="50" charset="-128"/>
                          <a:ea typeface="Yu Gothic UI" panose="020B0500000000000000" pitchFamily="50" charset="-128"/>
                        </a:rPr>
                        <a:t>特徴</a:t>
                      </a:r>
                    </a:p>
                  </a:txBody>
                  <a:tcPr/>
                </a:tc>
                <a:tc>
                  <a:txBody>
                    <a:bodyPr/>
                    <a:lstStyle/>
                    <a:p>
                      <a:r>
                        <a:rPr kumimoji="1" lang="ja-JP" altLang="en-US" sz="1400">
                          <a:latin typeface="Yu Gothic UI" panose="020B0500000000000000" pitchFamily="50" charset="-128"/>
                          <a:ea typeface="Yu Gothic UI" panose="020B0500000000000000" pitchFamily="50" charset="-128"/>
                        </a:rPr>
                        <a:t>コミュニティバージョンの </a:t>
                      </a:r>
                      <a:r>
                        <a:rPr kumimoji="1" lang="en-US" altLang="ja-JP" sz="1400" dirty="0">
                          <a:latin typeface="Yu Gothic UI" panose="020B0500000000000000" pitchFamily="50" charset="-128"/>
                          <a:ea typeface="Yu Gothic UI" panose="020B0500000000000000" pitchFamily="50" charset="-128"/>
                        </a:rPr>
                        <a:t>PostgreSQL </a:t>
                      </a:r>
                    </a:p>
                  </a:txBody>
                  <a:tcPr/>
                </a:tc>
                <a:tc>
                  <a:txBody>
                    <a:bodyPr/>
                    <a:lstStyle/>
                    <a:p>
                      <a:r>
                        <a:rPr kumimoji="1" lang="en-US" altLang="ja-JP" sz="1400" dirty="0" err="1">
                          <a:latin typeface="Yu Gothic UI" panose="020B0500000000000000" pitchFamily="50" charset="-128"/>
                          <a:ea typeface="Yu Gothic UI" panose="020B0500000000000000" pitchFamily="50" charset="-128"/>
                        </a:rPr>
                        <a:t>Citus</a:t>
                      </a:r>
                      <a:r>
                        <a:rPr kumimoji="1" lang="en-US" altLang="ja-JP" sz="1400" dirty="0">
                          <a:latin typeface="Yu Gothic UI" panose="020B0500000000000000" pitchFamily="50" charset="-128"/>
                          <a:ea typeface="Yu Gothic UI" panose="020B0500000000000000" pitchFamily="50" charset="-128"/>
                        </a:rPr>
                        <a:t> </a:t>
                      </a:r>
                      <a:r>
                        <a:rPr kumimoji="1" lang="ja-JP" altLang="en-US" sz="1400">
                          <a:latin typeface="Yu Gothic UI" panose="020B0500000000000000" pitchFamily="50" charset="-128"/>
                          <a:ea typeface="Yu Gothic UI" panose="020B0500000000000000" pitchFamily="50" charset="-128"/>
                        </a:rPr>
                        <a:t>拡張機能による分散クラスター構成で </a:t>
                      </a:r>
                      <a:r>
                        <a:rPr kumimoji="1" lang="en-US" altLang="ja-JP" sz="1400" dirty="0">
                          <a:latin typeface="Yu Gothic UI" panose="020B0500000000000000" pitchFamily="50" charset="-128"/>
                          <a:ea typeface="Yu Gothic UI" panose="020B0500000000000000" pitchFamily="50" charset="-128"/>
                        </a:rPr>
                        <a:t>shared nothing </a:t>
                      </a:r>
                      <a:r>
                        <a:rPr kumimoji="1" lang="ja-JP" altLang="en-US" sz="1400">
                          <a:latin typeface="Yu Gothic UI" panose="020B0500000000000000" pitchFamily="50" charset="-128"/>
                          <a:ea typeface="Yu Gothic UI" panose="020B0500000000000000" pitchFamily="50" charset="-128"/>
                        </a:rPr>
                        <a:t>なデータベース</a:t>
                      </a:r>
                    </a:p>
                  </a:txBody>
                  <a:tcPr/>
                </a:tc>
                <a:tc>
                  <a:txBody>
                    <a:bodyPr/>
                    <a:lstStyle/>
                    <a:p>
                      <a:r>
                        <a:rPr kumimoji="1" lang="ja-JP" altLang="en-US" sz="1400">
                          <a:latin typeface="Yu Gothic UI" panose="020B0500000000000000" pitchFamily="50" charset="-128"/>
                          <a:ea typeface="Yu Gothic UI" panose="020B0500000000000000" pitchFamily="50" charset="-128"/>
                        </a:rPr>
                        <a:t>クラウドのメリットを最大限に生かし、コンピュートとストレージを分離したアーキテクチャ</a:t>
                      </a:r>
                    </a:p>
                  </a:txBody>
                  <a:tcPr/>
                </a:tc>
                <a:extLst>
                  <a:ext uri="{0D108BD9-81ED-4DB2-BD59-A6C34878D82A}">
                    <a16:rowId xmlns:a16="http://schemas.microsoft.com/office/drawing/2014/main" val="793311115"/>
                  </a:ext>
                </a:extLst>
              </a:tr>
              <a:tr h="370840">
                <a:tc>
                  <a:txBody>
                    <a:bodyPr/>
                    <a:lstStyle/>
                    <a:p>
                      <a:r>
                        <a:rPr kumimoji="1" lang="ja-JP" altLang="en-US" sz="1400">
                          <a:latin typeface="Yu Gothic UI" panose="020B0500000000000000" pitchFamily="50" charset="-128"/>
                          <a:ea typeface="Yu Gothic UI" panose="020B0500000000000000" pitchFamily="50" charset="-128"/>
                        </a:rPr>
                        <a:t>アーキテクチャ</a:t>
                      </a:r>
                    </a:p>
                  </a:txBody>
                  <a:tcPr/>
                </a:tc>
                <a:tc>
                  <a:txBody>
                    <a:bodyPr/>
                    <a:lstStyle/>
                    <a:p>
                      <a:r>
                        <a:rPr kumimoji="1" lang="en-US" altLang="ja-JP" sz="1400" dirty="0">
                          <a:latin typeface="Yu Gothic UI" panose="020B0500000000000000" pitchFamily="50" charset="-128"/>
                          <a:ea typeface="Yu Gothic UI" panose="020B0500000000000000" pitchFamily="50" charset="-128"/>
                        </a:rPr>
                        <a:t>Compute </a:t>
                      </a:r>
                      <a:r>
                        <a:rPr kumimoji="1" lang="ja-JP" altLang="en-US" sz="1400">
                          <a:latin typeface="Yu Gothic UI" panose="020B0500000000000000" pitchFamily="50" charset="-128"/>
                          <a:ea typeface="Yu Gothic UI" panose="020B0500000000000000" pitchFamily="50" charset="-128"/>
                        </a:rPr>
                        <a:t>と </a:t>
                      </a:r>
                      <a:r>
                        <a:rPr kumimoji="1" lang="en-US" altLang="ja-JP" sz="1400" dirty="0">
                          <a:latin typeface="Yu Gothic UI" panose="020B0500000000000000" pitchFamily="50" charset="-128"/>
                          <a:ea typeface="Yu Gothic UI" panose="020B0500000000000000" pitchFamily="50" charset="-128"/>
                        </a:rPr>
                        <a:t>Storage </a:t>
                      </a:r>
                      <a:r>
                        <a:rPr kumimoji="1" lang="ja-JP" altLang="en-US" sz="1400">
                          <a:latin typeface="Yu Gothic UI" panose="020B0500000000000000" pitchFamily="50" charset="-128"/>
                          <a:ea typeface="Yu Gothic UI" panose="020B0500000000000000" pitchFamily="50" charset="-128"/>
                        </a:rPr>
                        <a:t>が一体</a:t>
                      </a:r>
                      <a:endParaRPr kumimoji="1" lang="en-US" altLang="ja-JP" sz="1400" dirty="0">
                        <a:latin typeface="Yu Gothic UI" panose="020B0500000000000000" pitchFamily="50" charset="-128"/>
                        <a:ea typeface="Yu Gothic UI" panose="020B0500000000000000" pitchFamily="50" charset="-128"/>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1" lang="en-US" altLang="ja-JP" sz="1400">
                          <a:latin typeface="Yu Gothic UI" panose="020B0500000000000000" pitchFamily="50" charset="-128"/>
                          <a:ea typeface="Yu Gothic UI" panose="020B0500000000000000" pitchFamily="50" charset="-128"/>
                        </a:rPr>
                        <a:t>Compute </a:t>
                      </a:r>
                      <a:r>
                        <a:rPr kumimoji="1" lang="ja-JP" altLang="en-US" sz="1400">
                          <a:latin typeface="Yu Gothic UI" panose="020B0500000000000000" pitchFamily="50" charset="-128"/>
                          <a:ea typeface="Yu Gothic UI" panose="020B0500000000000000" pitchFamily="50" charset="-128"/>
                        </a:rPr>
                        <a:t>と </a:t>
                      </a:r>
                      <a:r>
                        <a:rPr kumimoji="1" lang="en-US" altLang="ja-JP" sz="1400">
                          <a:latin typeface="Yu Gothic UI" panose="020B0500000000000000" pitchFamily="50" charset="-128"/>
                          <a:ea typeface="Yu Gothic UI" panose="020B0500000000000000" pitchFamily="50" charset="-128"/>
                        </a:rPr>
                        <a:t>Storage </a:t>
                      </a:r>
                      <a:r>
                        <a:rPr kumimoji="1" lang="ja-JP" altLang="en-US" sz="1400">
                          <a:latin typeface="Yu Gothic UI" panose="020B0500000000000000" pitchFamily="50" charset="-128"/>
                          <a:ea typeface="Yu Gothic UI" panose="020B0500000000000000" pitchFamily="50" charset="-128"/>
                        </a:rPr>
                        <a:t>が一体</a:t>
                      </a:r>
                      <a:endParaRPr kumimoji="1" lang="en-US" altLang="ja-JP" sz="1400">
                        <a:latin typeface="Yu Gothic UI" panose="020B0500000000000000" pitchFamily="50" charset="-128"/>
                        <a:ea typeface="Yu Gothic UI" panose="020B0500000000000000" pitchFamily="50" charset="-128"/>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1" lang="en-US" altLang="ja-JP" sz="1400" b="1">
                          <a:latin typeface="Yu Gothic UI" panose="020B0500000000000000" pitchFamily="50" charset="-128"/>
                          <a:ea typeface="Yu Gothic UI" panose="020B0500000000000000" pitchFamily="50" charset="-128"/>
                        </a:rPr>
                        <a:t>Compute </a:t>
                      </a:r>
                      <a:r>
                        <a:rPr kumimoji="1" lang="ja-JP" altLang="en-US" sz="1400" b="1">
                          <a:latin typeface="Yu Gothic UI" panose="020B0500000000000000" pitchFamily="50" charset="-128"/>
                          <a:ea typeface="Yu Gothic UI" panose="020B0500000000000000" pitchFamily="50" charset="-128"/>
                        </a:rPr>
                        <a:t>と </a:t>
                      </a:r>
                      <a:r>
                        <a:rPr kumimoji="1" lang="en-US" altLang="ja-JP" sz="1400" b="1">
                          <a:latin typeface="Yu Gothic UI" panose="020B0500000000000000" pitchFamily="50" charset="-128"/>
                          <a:ea typeface="Yu Gothic UI" panose="020B0500000000000000" pitchFamily="50" charset="-128"/>
                        </a:rPr>
                        <a:t>Storage </a:t>
                      </a:r>
                      <a:r>
                        <a:rPr kumimoji="1" lang="ja-JP" altLang="en-US" sz="1400" b="1">
                          <a:latin typeface="Yu Gothic UI" panose="020B0500000000000000" pitchFamily="50" charset="-128"/>
                          <a:ea typeface="Yu Gothic UI" panose="020B0500000000000000" pitchFamily="50" charset="-128"/>
                        </a:rPr>
                        <a:t>が分離</a:t>
                      </a:r>
                      <a:endParaRPr kumimoji="1" lang="en-US" altLang="ja-JP" sz="1400" b="1">
                        <a:latin typeface="Yu Gothic UI" panose="020B0500000000000000" pitchFamily="50" charset="-128"/>
                        <a:ea typeface="Yu Gothic UI" panose="020B0500000000000000" pitchFamily="50" charset="-128"/>
                      </a:endParaRPr>
                    </a:p>
                  </a:txBody>
                  <a:tcPr/>
                </a:tc>
                <a:extLst>
                  <a:ext uri="{0D108BD9-81ED-4DB2-BD59-A6C34878D82A}">
                    <a16:rowId xmlns:a16="http://schemas.microsoft.com/office/drawing/2014/main" val="608036004"/>
                  </a:ext>
                </a:extLst>
              </a:tr>
              <a:tr h="370840">
                <a:tc>
                  <a:txBody>
                    <a:bodyPr/>
                    <a:lstStyle/>
                    <a:p>
                      <a:r>
                        <a:rPr kumimoji="1" lang="ja-JP" altLang="en-US" sz="1400">
                          <a:latin typeface="Yu Gothic UI" panose="020B0500000000000000" pitchFamily="50" charset="-128"/>
                          <a:ea typeface="Yu Gothic UI" panose="020B0500000000000000" pitchFamily="50" charset="-128"/>
                        </a:rPr>
                        <a:t>最大コア数</a:t>
                      </a:r>
                    </a:p>
                  </a:txBody>
                  <a:tcPr/>
                </a:tc>
                <a:tc>
                  <a:txBody>
                    <a:bodyPr/>
                    <a:lstStyle/>
                    <a:p>
                      <a:r>
                        <a:rPr kumimoji="1" lang="en-US" altLang="ja-JP" sz="1400">
                          <a:latin typeface="Yu Gothic UI" panose="020B0500000000000000" pitchFamily="50" charset="-128"/>
                          <a:ea typeface="Yu Gothic UI" panose="020B0500000000000000" pitchFamily="50" charset="-128"/>
                        </a:rPr>
                        <a:t>96 vCore</a:t>
                      </a:r>
                      <a:endParaRPr kumimoji="1" lang="ja-JP" altLang="en-US" sz="1400">
                        <a:latin typeface="Yu Gothic UI" panose="020B0500000000000000" pitchFamily="50" charset="-128"/>
                        <a:ea typeface="Yu Gothic UI" panose="020B0500000000000000" pitchFamily="50" charset="-128"/>
                      </a:endParaRPr>
                    </a:p>
                  </a:txBody>
                  <a:tcPr/>
                </a:tc>
                <a:tc>
                  <a:txBody>
                    <a:bodyPr/>
                    <a:lstStyle/>
                    <a:p>
                      <a:r>
                        <a:rPr kumimoji="1" lang="en-US" altLang="ja-JP" sz="1400" dirty="0">
                          <a:latin typeface="Yu Gothic UI" panose="020B0500000000000000" pitchFamily="50" charset="-128"/>
                          <a:ea typeface="Yu Gothic UI" panose="020B0500000000000000" pitchFamily="50" charset="-128"/>
                        </a:rPr>
                        <a:t>1920 </a:t>
                      </a:r>
                      <a:r>
                        <a:rPr kumimoji="1" lang="en-US" altLang="ja-JP" sz="1400" dirty="0" err="1">
                          <a:latin typeface="Yu Gothic UI" panose="020B0500000000000000" pitchFamily="50" charset="-128"/>
                          <a:ea typeface="Yu Gothic UI" panose="020B0500000000000000" pitchFamily="50" charset="-128"/>
                        </a:rPr>
                        <a:t>vCore</a:t>
                      </a:r>
                      <a:r>
                        <a:rPr kumimoji="1" lang="en-US" altLang="ja-JP" sz="1400" dirty="0">
                          <a:latin typeface="Yu Gothic UI" panose="020B0500000000000000" pitchFamily="50" charset="-128"/>
                          <a:ea typeface="Yu Gothic UI" panose="020B0500000000000000" pitchFamily="50" charset="-128"/>
                        </a:rPr>
                        <a:t>*</a:t>
                      </a:r>
                    </a:p>
                  </a:txBody>
                  <a:tcPr/>
                </a:tc>
                <a:tc>
                  <a:txBody>
                    <a:bodyPr/>
                    <a:lstStyle/>
                    <a:p>
                      <a:r>
                        <a:rPr kumimoji="1" lang="en-US" altLang="ja-JP" sz="1400" b="1">
                          <a:latin typeface="Yu Gothic UI" panose="020B0500000000000000" pitchFamily="50" charset="-128"/>
                          <a:ea typeface="Yu Gothic UI" panose="020B0500000000000000" pitchFamily="50" charset="-128"/>
                        </a:rPr>
                        <a:t>3072 </a:t>
                      </a:r>
                      <a:r>
                        <a:rPr kumimoji="1" lang="en-US" altLang="ja-JP" sz="1400" b="1" err="1">
                          <a:latin typeface="Yu Gothic UI" panose="020B0500000000000000" pitchFamily="50" charset="-128"/>
                          <a:ea typeface="Yu Gothic UI" panose="020B0500000000000000" pitchFamily="50" charset="-128"/>
                        </a:rPr>
                        <a:t>vCore</a:t>
                      </a:r>
                      <a:endParaRPr kumimoji="1" lang="ja-JP" altLang="en-US" sz="1400" b="1">
                        <a:latin typeface="Yu Gothic UI" panose="020B0500000000000000" pitchFamily="50" charset="-128"/>
                        <a:ea typeface="Yu Gothic UI" panose="020B0500000000000000" pitchFamily="50" charset="-128"/>
                      </a:endParaRPr>
                    </a:p>
                  </a:txBody>
                  <a:tcPr/>
                </a:tc>
                <a:extLst>
                  <a:ext uri="{0D108BD9-81ED-4DB2-BD59-A6C34878D82A}">
                    <a16:rowId xmlns:a16="http://schemas.microsoft.com/office/drawing/2014/main" val="1299140349"/>
                  </a:ext>
                </a:extLst>
              </a:tr>
              <a:tr h="370840">
                <a:tc>
                  <a:txBody>
                    <a:bodyPr/>
                    <a:lstStyle/>
                    <a:p>
                      <a:r>
                        <a:rPr kumimoji="1" lang="en-US" altLang="ja-JP" sz="1400">
                          <a:latin typeface="Yu Gothic UI" panose="020B0500000000000000" pitchFamily="50" charset="-128"/>
                          <a:ea typeface="Yu Gothic UI" panose="020B0500000000000000" pitchFamily="50" charset="-128"/>
                        </a:rPr>
                        <a:t>AI </a:t>
                      </a:r>
                      <a:r>
                        <a:rPr kumimoji="1" lang="ja-JP" altLang="en-US" sz="1400">
                          <a:latin typeface="Yu Gothic UI" panose="020B0500000000000000" pitchFamily="50" charset="-128"/>
                          <a:ea typeface="Yu Gothic UI" panose="020B0500000000000000" pitchFamily="50" charset="-128"/>
                        </a:rPr>
                        <a:t>対応</a:t>
                      </a:r>
                    </a:p>
                  </a:txBody>
                  <a:tcPr/>
                </a:tc>
                <a:tc>
                  <a:txBody>
                    <a:bodyPr/>
                    <a:lstStyle/>
                    <a:p>
                      <a:r>
                        <a:rPr kumimoji="1" lang="ja-JP" altLang="en-US" sz="1400">
                          <a:latin typeface="Yu Gothic UI" panose="020B0500000000000000" pitchFamily="50" charset="-128"/>
                          <a:ea typeface="Yu Gothic UI" panose="020B0500000000000000" pitchFamily="50" charset="-128"/>
                        </a:rPr>
                        <a:t>持ち込みの </a:t>
                      </a:r>
                      <a:r>
                        <a:rPr kumimoji="1" lang="en-US" altLang="ja-JP" sz="1400">
                          <a:latin typeface="Yu Gothic UI" panose="020B0500000000000000" pitchFamily="50" charset="-128"/>
                          <a:ea typeface="Yu Gothic UI" panose="020B0500000000000000" pitchFamily="50" charset="-128"/>
                        </a:rPr>
                        <a:t>AI </a:t>
                      </a:r>
                      <a:r>
                        <a:rPr kumimoji="1" lang="ja-JP" altLang="en-US" sz="1400">
                          <a:latin typeface="Yu Gothic UI" panose="020B0500000000000000" pitchFamily="50" charset="-128"/>
                          <a:ea typeface="Yu Gothic UI" panose="020B0500000000000000" pitchFamily="50" charset="-128"/>
                        </a:rPr>
                        <a:t>モデル</a:t>
                      </a: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1" lang="ja-JP" altLang="en-US" sz="1400">
                          <a:latin typeface="Yu Gothic UI" panose="020B0500000000000000" pitchFamily="50" charset="-128"/>
                          <a:ea typeface="Yu Gothic UI" panose="020B0500000000000000" pitchFamily="50" charset="-128"/>
                        </a:rPr>
                        <a:t>持ち込みの </a:t>
                      </a:r>
                      <a:r>
                        <a:rPr kumimoji="1" lang="en-US" altLang="ja-JP" sz="1400" dirty="0">
                          <a:latin typeface="Yu Gothic UI" panose="020B0500000000000000" pitchFamily="50" charset="-128"/>
                          <a:ea typeface="Yu Gothic UI" panose="020B0500000000000000" pitchFamily="50" charset="-128"/>
                        </a:rPr>
                        <a:t>AI </a:t>
                      </a:r>
                      <a:r>
                        <a:rPr kumimoji="1" lang="ja-JP" altLang="en-US" sz="1400">
                          <a:latin typeface="Yu Gothic UI" panose="020B0500000000000000" pitchFamily="50" charset="-128"/>
                          <a:ea typeface="Yu Gothic UI" panose="020B0500000000000000" pitchFamily="50" charset="-128"/>
                        </a:rPr>
                        <a:t>モデル</a:t>
                      </a:r>
                    </a:p>
                  </a:txBody>
                  <a:tcPr/>
                </a:tc>
                <a:tc>
                  <a:txBody>
                    <a:bodyPr/>
                    <a:lstStyle/>
                    <a:p>
                      <a:r>
                        <a:rPr kumimoji="1" lang="ja-JP" altLang="en-US" sz="1400" b="1">
                          <a:latin typeface="Yu Gothic UI" panose="020B0500000000000000" pitchFamily="50" charset="-128"/>
                          <a:ea typeface="Yu Gothic UI" panose="020B0500000000000000" pitchFamily="50" charset="-128"/>
                        </a:rPr>
                        <a:t>組み込みの </a:t>
                      </a:r>
                      <a:r>
                        <a:rPr kumimoji="1" lang="en-US" altLang="ja-JP" sz="1400" b="1" dirty="0">
                          <a:latin typeface="Yu Gothic UI" panose="020B0500000000000000" pitchFamily="50" charset="-128"/>
                          <a:ea typeface="Yu Gothic UI" panose="020B0500000000000000" pitchFamily="50" charset="-128"/>
                        </a:rPr>
                        <a:t>AI </a:t>
                      </a:r>
                      <a:r>
                        <a:rPr kumimoji="1" lang="ja-JP" altLang="en-US" sz="1400" b="1">
                          <a:latin typeface="Yu Gothic UI" panose="020B0500000000000000" pitchFamily="50" charset="-128"/>
                          <a:ea typeface="Yu Gothic UI" panose="020B0500000000000000" pitchFamily="50" charset="-128"/>
                        </a:rPr>
                        <a:t>モデル</a:t>
                      </a:r>
                    </a:p>
                  </a:txBody>
                  <a:tcPr/>
                </a:tc>
                <a:extLst>
                  <a:ext uri="{0D108BD9-81ED-4DB2-BD59-A6C34878D82A}">
                    <a16:rowId xmlns:a16="http://schemas.microsoft.com/office/drawing/2014/main" val="3789935643"/>
                  </a:ext>
                </a:extLst>
              </a:tr>
              <a:tr h="370840">
                <a:tc>
                  <a:txBody>
                    <a:bodyPr/>
                    <a:lstStyle/>
                    <a:p>
                      <a:r>
                        <a:rPr kumimoji="1" lang="ja-JP" altLang="en-US" sz="1400">
                          <a:latin typeface="Yu Gothic UI" panose="020B0500000000000000" pitchFamily="50" charset="-128"/>
                          <a:ea typeface="Yu Gothic UI" panose="020B0500000000000000" pitchFamily="50" charset="-128"/>
                        </a:rPr>
                        <a:t>用途</a:t>
                      </a:r>
                    </a:p>
                  </a:txBody>
                  <a:tcPr/>
                </a:tc>
                <a:tc>
                  <a:txBody>
                    <a:bodyPr/>
                    <a:lstStyle/>
                    <a:p>
                      <a:r>
                        <a:rPr kumimoji="1" lang="ja-JP" altLang="en-US" sz="1400">
                          <a:latin typeface="Yu Gothic UI" panose="020B0500000000000000" pitchFamily="50" charset="-128"/>
                          <a:ea typeface="Yu Gothic UI" panose="020B0500000000000000" pitchFamily="50" charset="-128"/>
                        </a:rPr>
                        <a:t>汎用的な </a:t>
                      </a:r>
                      <a:r>
                        <a:rPr kumimoji="1" lang="en-US" altLang="ja-JP" sz="1400">
                          <a:latin typeface="Yu Gothic UI" panose="020B0500000000000000" pitchFamily="50" charset="-128"/>
                          <a:ea typeface="Yu Gothic UI" panose="020B0500000000000000" pitchFamily="50" charset="-128"/>
                        </a:rPr>
                        <a:t>OLTP </a:t>
                      </a:r>
                      <a:endParaRPr kumimoji="1" lang="ja-JP" altLang="en-US" sz="1400">
                        <a:latin typeface="Yu Gothic UI" panose="020B0500000000000000" pitchFamily="50" charset="-128"/>
                        <a:ea typeface="Yu Gothic UI" panose="020B0500000000000000" pitchFamily="50" charset="-128"/>
                      </a:endParaRPr>
                    </a:p>
                  </a:txBody>
                  <a:tcPr/>
                </a:tc>
                <a:tc>
                  <a:txBody>
                    <a:bodyPr/>
                    <a:lstStyle/>
                    <a:p>
                      <a:r>
                        <a:rPr kumimoji="1" lang="en-US" altLang="ja-JP" sz="1400">
                          <a:latin typeface="Yu Gothic UI" panose="020B0500000000000000" pitchFamily="50" charset="-128"/>
                          <a:ea typeface="Yu Gothic UI" panose="020B0500000000000000" pitchFamily="50" charset="-128"/>
                        </a:rPr>
                        <a:t>SaaS </a:t>
                      </a:r>
                      <a:r>
                        <a:rPr kumimoji="1" lang="ja-JP" altLang="en-US" sz="1400">
                          <a:latin typeface="Yu Gothic UI" panose="020B0500000000000000" pitchFamily="50" charset="-128"/>
                          <a:ea typeface="Yu Gothic UI" panose="020B0500000000000000" pitchFamily="50" charset="-128"/>
                        </a:rPr>
                        <a:t>開発、マルチテナント構成</a:t>
                      </a:r>
                    </a:p>
                  </a:txBody>
                  <a:tcPr/>
                </a:tc>
                <a:tc>
                  <a:txBody>
                    <a:bodyPr/>
                    <a:lstStyle/>
                    <a:p>
                      <a:r>
                        <a:rPr kumimoji="1" lang="ja-JP" altLang="en-US" sz="1400" dirty="0">
                          <a:latin typeface="Yu Gothic UI" panose="020B0500000000000000" pitchFamily="50" charset="-128"/>
                          <a:ea typeface="Yu Gothic UI" panose="020B0500000000000000" pitchFamily="50" charset="-128"/>
                        </a:rPr>
                        <a:t>次世代のミッションクリティカルアプリ。極端に高いトランザクション性能やスケーラビリティが要求される </a:t>
                      </a:r>
                      <a:r>
                        <a:rPr kumimoji="1" lang="en-US" altLang="ja-JP" sz="1400" dirty="0">
                          <a:latin typeface="Yu Gothic UI" panose="020B0500000000000000" pitchFamily="50" charset="-128"/>
                          <a:ea typeface="Yu Gothic UI" panose="020B0500000000000000" pitchFamily="50" charset="-128"/>
                        </a:rPr>
                        <a:t>OLTP </a:t>
                      </a:r>
                      <a:r>
                        <a:rPr kumimoji="1" lang="ja-JP" altLang="en-US" sz="1400" dirty="0">
                          <a:latin typeface="Yu Gothic UI" panose="020B0500000000000000" pitchFamily="50" charset="-128"/>
                          <a:ea typeface="Yu Gothic UI" panose="020B0500000000000000" pitchFamily="50" charset="-128"/>
                        </a:rPr>
                        <a:t>システム</a:t>
                      </a:r>
                    </a:p>
                  </a:txBody>
                  <a:tcPr/>
                </a:tc>
                <a:extLst>
                  <a:ext uri="{0D108BD9-81ED-4DB2-BD59-A6C34878D82A}">
                    <a16:rowId xmlns:a16="http://schemas.microsoft.com/office/drawing/2014/main" val="18968063"/>
                  </a:ext>
                </a:extLst>
              </a:tr>
            </a:tbl>
          </a:graphicData>
        </a:graphic>
      </p:graphicFrame>
      <p:sp>
        <p:nvSpPr>
          <p:cNvPr id="6" name="テキスト ボックス 5">
            <a:extLst>
              <a:ext uri="{FF2B5EF4-FFF2-40B4-BE49-F238E27FC236}">
                <a16:creationId xmlns:a16="http://schemas.microsoft.com/office/drawing/2014/main" id="{9E80E006-FE5F-5211-5116-B231B4AD65A8}"/>
              </a:ext>
            </a:extLst>
          </p:cNvPr>
          <p:cNvSpPr txBox="1"/>
          <p:nvPr/>
        </p:nvSpPr>
        <p:spPr>
          <a:xfrm>
            <a:off x="3205460" y="5981700"/>
            <a:ext cx="5781080" cy="338554"/>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a:t>
            </a:r>
            <a:r>
              <a:rPr kumimoji="1" lang="ja-JP" altLang="en-US"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ノードあたり </a:t>
            </a: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96 </a:t>
            </a:r>
            <a:r>
              <a:rPr kumimoji="1" lang="en-US" altLang="ja-JP" sz="1600" b="0" i="0" u="none" strike="noStrike" kern="1200" cap="none" spc="0" normalizeH="0" baseline="0" noProof="0" dirty="0" err="1">
                <a:ln>
                  <a:noFill/>
                </a:ln>
                <a:solidFill>
                  <a:srgbClr val="000000"/>
                </a:solidFill>
                <a:effectLst/>
                <a:uLnTx/>
                <a:uFillTx/>
                <a:latin typeface="Yu Gothic UI" panose="020B0500000000000000" pitchFamily="50" charset="-128"/>
                <a:ea typeface="Yu Gothic UI" panose="020B0500000000000000" pitchFamily="50" charset="-128"/>
                <a:cs typeface="+mn-cs"/>
              </a:rPr>
              <a:t>vCore</a:t>
            </a:r>
            <a:r>
              <a:rPr kumimoji="1" lang="ja-JP" altLang="en-US"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、最大 </a:t>
            </a: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20 </a:t>
            </a:r>
            <a:r>
              <a:rPr kumimoji="1" lang="ja-JP" altLang="en-US"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ノード </a:t>
            </a: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96*20 =</a:t>
            </a:r>
            <a:r>
              <a:rPr kumimoji="1" lang="ja-JP" altLang="en-US"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 </a:t>
            </a: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1920 </a:t>
            </a:r>
            <a:r>
              <a:rPr kumimoji="1" lang="en-US" altLang="ja-JP" sz="1600" b="0" i="0" u="none" strike="noStrike" kern="1200" cap="none" spc="0" normalizeH="0" baseline="0" noProof="0" dirty="0" err="1">
                <a:ln>
                  <a:noFill/>
                </a:ln>
                <a:solidFill>
                  <a:srgbClr val="000000"/>
                </a:solidFill>
                <a:effectLst/>
                <a:uLnTx/>
                <a:uFillTx/>
                <a:latin typeface="Yu Gothic UI" panose="020B0500000000000000" pitchFamily="50" charset="-128"/>
                <a:ea typeface="Yu Gothic UI" panose="020B0500000000000000" pitchFamily="50" charset="-128"/>
                <a:cs typeface="+mn-cs"/>
              </a:rPr>
              <a:t>vCore</a:t>
            </a: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a:t>
            </a:r>
          </a:p>
        </p:txBody>
      </p:sp>
    </p:spTree>
    <p:extLst>
      <p:ext uri="{BB962C8B-B14F-4D97-AF65-F5344CB8AC3E}">
        <p14:creationId xmlns:p14="http://schemas.microsoft.com/office/powerpoint/2010/main" val="3713043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EBB28-5ED7-6264-6B61-F7B3A082BE6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A81D511-0F01-9F84-0F3E-C55C18D8836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Container Apps</a:t>
            </a:r>
          </a:p>
        </p:txBody>
      </p:sp>
      <p:sp>
        <p:nvSpPr>
          <p:cNvPr id="2" name="正方形/長方形 1">
            <a:extLst>
              <a:ext uri="{FF2B5EF4-FFF2-40B4-BE49-F238E27FC236}">
                <a16:creationId xmlns:a16="http://schemas.microsoft.com/office/drawing/2014/main" id="{BAC9EDD6-2AEE-390E-D8AF-DB7BD4ABB85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C946FB32-8403-E40A-9290-A85937004F2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Graphic 5">
            <a:extLst>
              <a:ext uri="{FF2B5EF4-FFF2-40B4-BE49-F238E27FC236}">
                <a16:creationId xmlns:a16="http://schemas.microsoft.com/office/drawing/2014/main" id="{492315AE-B364-3001-D8FC-978F56D2F82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3866002" y="1559593"/>
            <a:ext cx="442496" cy="442496"/>
          </a:xfrm>
          <a:prstGeom prst="rect">
            <a:avLst/>
          </a:prstGeom>
        </p:spPr>
      </p:pic>
      <p:sp>
        <p:nvSpPr>
          <p:cNvPr id="6" name="Title 1">
            <a:extLst>
              <a:ext uri="{FF2B5EF4-FFF2-40B4-BE49-F238E27FC236}">
                <a16:creationId xmlns:a16="http://schemas.microsoft.com/office/drawing/2014/main" id="{E27BB7A7-1AA0-0E61-3AC2-D864E97AFA25}"/>
              </a:ext>
            </a:extLst>
          </p:cNvPr>
          <p:cNvSpPr txBox="1">
            <a:spLocks/>
          </p:cNvSpPr>
          <p:nvPr/>
        </p:nvSpPr>
        <p:spPr>
          <a:xfrm>
            <a:off x="4521527" y="1519238"/>
            <a:ext cx="3651051" cy="523206"/>
          </a:xfrm>
          <a:prstGeom prst="rect">
            <a:avLst/>
          </a:prstGeom>
          <a:noFill/>
          <a:ln>
            <a:noFill/>
            <a:prstDash/>
          </a:ln>
          <a:effectLst/>
        </p:spPr>
        <p:txBody>
          <a:bodyPr rot="0" spcFirstLastPara="0" vertOverflow="overflow" horzOverflow="overflow" vert="horz" wrap="square" lIns="0" tIns="45713" rIns="91427" bIns="45713"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defRPr/>
            </a:pPr>
            <a:r>
              <a:rPr lang="en" sz="2800" spc="0">
                <a:solidFill>
                  <a:schemeClr val="tx1">
                    <a:lumMod val="75000"/>
                    <a:lumOff val="25000"/>
                  </a:schemeClr>
                </a:solidFill>
                <a:latin typeface="+mn-lt"/>
                <a:cs typeface="+mn-cs"/>
              </a:rPr>
              <a:t>Azure Container Apps</a:t>
            </a:r>
          </a:p>
        </p:txBody>
      </p:sp>
      <p:sp>
        <p:nvSpPr>
          <p:cNvPr id="7" name="TextBox 97">
            <a:extLst>
              <a:ext uri="{FF2B5EF4-FFF2-40B4-BE49-F238E27FC236}">
                <a16:creationId xmlns:a16="http://schemas.microsoft.com/office/drawing/2014/main" id="{099E1709-0423-7424-17BC-CF553AAC997A}"/>
              </a:ext>
            </a:extLst>
          </p:cNvPr>
          <p:cNvSpPr txBox="1"/>
          <p:nvPr/>
        </p:nvSpPr>
        <p:spPr>
          <a:xfrm>
            <a:off x="2651810" y="2190801"/>
            <a:ext cx="6987490" cy="276999"/>
          </a:xfrm>
          <a:prstGeom prst="rect">
            <a:avLst/>
          </a:prstGeom>
          <a:noFill/>
        </p:spPr>
        <p:txBody>
          <a:bodyPr wrap="none" lIns="0" tIns="0" rIns="0" bIns="0">
            <a:spAutoFit/>
          </a:bodyPr>
          <a:lstStyle/>
          <a:p>
            <a:pPr lvl="0" defTabSz="914400">
              <a:defRPr/>
            </a:pPr>
            <a:r>
              <a:rPr lang="ja-JP" altLang="en-US" sz="1800" dirty="0">
                <a:solidFill>
                  <a:schemeClr val="tx1">
                    <a:lumMod val="75000"/>
                    <a:lumOff val="25000"/>
                  </a:schemeClr>
                </a:solidFill>
                <a:latin typeface="Segoe Sans Text"/>
              </a:rPr>
              <a:t>開発者ファーストのサーバーレス コンテナで、あらゆる規模に対応</a:t>
            </a:r>
            <a:endParaRPr lang="en-US" altLang="ja-JP" sz="1800" dirty="0">
              <a:solidFill>
                <a:schemeClr val="tx1">
                  <a:lumMod val="75000"/>
                  <a:lumOff val="25000"/>
                </a:schemeClr>
              </a:solidFill>
              <a:latin typeface="Segoe Sans Text"/>
            </a:endParaRPr>
          </a:p>
        </p:txBody>
      </p:sp>
      <p:grpSp>
        <p:nvGrpSpPr>
          <p:cNvPr id="37" name="グループ化 36">
            <a:extLst>
              <a:ext uri="{FF2B5EF4-FFF2-40B4-BE49-F238E27FC236}">
                <a16:creationId xmlns:a16="http://schemas.microsoft.com/office/drawing/2014/main" id="{11BF6869-2AC7-A92D-AF8A-36139EBF5DDB}"/>
              </a:ext>
            </a:extLst>
          </p:cNvPr>
          <p:cNvGrpSpPr/>
          <p:nvPr/>
        </p:nvGrpSpPr>
        <p:grpSpPr>
          <a:xfrm>
            <a:off x="2506386" y="3132672"/>
            <a:ext cx="402910" cy="402588"/>
            <a:chOff x="6513688" y="1640332"/>
            <a:chExt cx="402910" cy="402588"/>
          </a:xfrm>
        </p:grpSpPr>
        <p:sp>
          <p:nvSpPr>
            <p:cNvPr id="8" name="Oval 99">
              <a:extLst>
                <a:ext uri="{FF2B5EF4-FFF2-40B4-BE49-F238E27FC236}">
                  <a16:creationId xmlns:a16="http://schemas.microsoft.com/office/drawing/2014/main" id="{F6C05692-C41C-1643-CCF6-A1CB90622329}"/>
                </a:ext>
                <a:ext uri="{C183D7F6-B498-43B3-948B-1728B52AA6E4}">
                  <adec:decorative xmlns:adec="http://schemas.microsoft.com/office/drawing/2017/decorative" val="1"/>
                </a:ext>
              </a:extLst>
            </p:cNvPr>
            <p:cNvSpPr/>
            <p:nvPr/>
          </p:nvSpPr>
          <p:spPr bwMode="auto">
            <a:xfrm>
              <a:off x="6513688" y="1640332"/>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3" name="Graphic 2">
              <a:extLst>
                <a:ext uri="{FF2B5EF4-FFF2-40B4-BE49-F238E27FC236}">
                  <a16:creationId xmlns:a16="http://schemas.microsoft.com/office/drawing/2014/main" id="{31C400C3-9C01-10BA-0620-5B3E7A74AE31}"/>
                </a:ext>
                <a:ext uri="{C183D7F6-B498-43B3-948B-1728B52AA6E4}">
                  <adec:decorative xmlns:adec="http://schemas.microsoft.com/office/drawing/2017/decorative" val="1"/>
                </a:ext>
              </a:extLst>
            </p:cNvPr>
            <p:cNvSpPr/>
            <p:nvPr/>
          </p:nvSpPr>
          <p:spPr>
            <a:xfrm>
              <a:off x="6604897" y="1731380"/>
              <a:ext cx="220492" cy="220492"/>
            </a:xfrm>
            <a:custGeom>
              <a:avLst/>
              <a:gdLst>
                <a:gd name="connsiteX0" fmla="*/ 89274 w 178348"/>
                <a:gd name="connsiteY0" fmla="*/ 0 h 185732"/>
                <a:gd name="connsiteX1" fmla="*/ 110058 w 178348"/>
                <a:gd name="connsiteY1" fmla="*/ 2410 h 185732"/>
                <a:gd name="connsiteX2" fmla="*/ 115601 w 178348"/>
                <a:gd name="connsiteY2" fmla="*/ 8592 h 185732"/>
                <a:gd name="connsiteX3" fmla="*/ 117220 w 178348"/>
                <a:gd name="connsiteY3" fmla="*/ 23136 h 185732"/>
                <a:gd name="connsiteX4" fmla="*/ 131782 w 178348"/>
                <a:gd name="connsiteY4" fmla="*/ 34777 h 185732"/>
                <a:gd name="connsiteX5" fmla="*/ 135575 w 178348"/>
                <a:gd name="connsiteY5" fmla="*/ 33766 h 185732"/>
                <a:gd name="connsiteX6" fmla="*/ 148920 w 178348"/>
                <a:gd name="connsiteY6" fmla="*/ 27908 h 185732"/>
                <a:gd name="connsiteX7" fmla="*/ 157016 w 178348"/>
                <a:gd name="connsiteY7" fmla="*/ 29566 h 185732"/>
                <a:gd name="connsiteX8" fmla="*/ 178009 w 178348"/>
                <a:gd name="connsiteY8" fmla="*/ 65684 h 185732"/>
                <a:gd name="connsiteX9" fmla="*/ 175428 w 178348"/>
                <a:gd name="connsiteY9" fmla="*/ 73543 h 185732"/>
                <a:gd name="connsiteX10" fmla="*/ 163598 w 178348"/>
                <a:gd name="connsiteY10" fmla="*/ 82267 h 185732"/>
                <a:gd name="connsiteX11" fmla="*/ 160784 w 178348"/>
                <a:gd name="connsiteY11" fmla="*/ 100656 h 185732"/>
                <a:gd name="connsiteX12" fmla="*/ 163598 w 178348"/>
                <a:gd name="connsiteY12" fmla="*/ 103470 h 185732"/>
                <a:gd name="connsiteX13" fmla="*/ 175437 w 178348"/>
                <a:gd name="connsiteY13" fmla="*/ 112185 h 185732"/>
                <a:gd name="connsiteX14" fmla="*/ 178028 w 178348"/>
                <a:gd name="connsiteY14" fmla="*/ 120053 h 185732"/>
                <a:gd name="connsiteX15" fmla="*/ 157035 w 178348"/>
                <a:gd name="connsiteY15" fmla="*/ 156172 h 185732"/>
                <a:gd name="connsiteX16" fmla="*/ 148958 w 178348"/>
                <a:gd name="connsiteY16" fmla="*/ 157839 h 185732"/>
                <a:gd name="connsiteX17" fmla="*/ 135556 w 178348"/>
                <a:gd name="connsiteY17" fmla="*/ 151962 h 185732"/>
                <a:gd name="connsiteX18" fmla="*/ 118240 w 178348"/>
                <a:gd name="connsiteY18" fmla="*/ 158722 h 185732"/>
                <a:gd name="connsiteX19" fmla="*/ 117211 w 178348"/>
                <a:gd name="connsiteY19" fmla="*/ 162573 h 185732"/>
                <a:gd name="connsiteX20" fmla="*/ 115601 w 178348"/>
                <a:gd name="connsiteY20" fmla="*/ 177108 h 185732"/>
                <a:gd name="connsiteX21" fmla="*/ 110153 w 178348"/>
                <a:gd name="connsiteY21" fmla="*/ 183271 h 185732"/>
                <a:gd name="connsiteX22" fmla="*/ 68186 w 178348"/>
                <a:gd name="connsiteY22" fmla="*/ 183271 h 185732"/>
                <a:gd name="connsiteX23" fmla="*/ 62737 w 178348"/>
                <a:gd name="connsiteY23" fmla="*/ 177108 h 185732"/>
                <a:gd name="connsiteX24" fmla="*/ 61137 w 178348"/>
                <a:gd name="connsiteY24" fmla="*/ 162592 h 185732"/>
                <a:gd name="connsiteX25" fmla="*/ 46567 w 178348"/>
                <a:gd name="connsiteY25" fmla="*/ 151005 h 185732"/>
                <a:gd name="connsiteX26" fmla="*/ 42792 w 178348"/>
                <a:gd name="connsiteY26" fmla="*/ 152019 h 185732"/>
                <a:gd name="connsiteX27" fmla="*/ 29400 w 178348"/>
                <a:gd name="connsiteY27" fmla="*/ 157886 h 185732"/>
                <a:gd name="connsiteX28" fmla="*/ 21313 w 178348"/>
                <a:gd name="connsiteY28" fmla="*/ 156220 h 185732"/>
                <a:gd name="connsiteX29" fmla="*/ 320 w 178348"/>
                <a:gd name="connsiteY29" fmla="*/ 120063 h 185732"/>
                <a:gd name="connsiteX30" fmla="*/ 2911 w 178348"/>
                <a:gd name="connsiteY30" fmla="*/ 112195 h 185732"/>
                <a:gd name="connsiteX31" fmla="*/ 14751 w 178348"/>
                <a:gd name="connsiteY31" fmla="*/ 103470 h 185732"/>
                <a:gd name="connsiteX32" fmla="*/ 17581 w 178348"/>
                <a:gd name="connsiteY32" fmla="*/ 85097 h 185732"/>
                <a:gd name="connsiteX33" fmla="*/ 14751 w 178348"/>
                <a:gd name="connsiteY33" fmla="*/ 82267 h 185732"/>
                <a:gd name="connsiteX34" fmla="*/ 2911 w 178348"/>
                <a:gd name="connsiteY34" fmla="*/ 73562 h 185732"/>
                <a:gd name="connsiteX35" fmla="*/ 330 w 178348"/>
                <a:gd name="connsiteY35" fmla="*/ 65694 h 185732"/>
                <a:gd name="connsiteX36" fmla="*/ 21323 w 178348"/>
                <a:gd name="connsiteY36" fmla="*/ 29575 h 185732"/>
                <a:gd name="connsiteX37" fmla="*/ 29419 w 178348"/>
                <a:gd name="connsiteY37" fmla="*/ 27918 h 185732"/>
                <a:gd name="connsiteX38" fmla="*/ 42754 w 178348"/>
                <a:gd name="connsiteY38" fmla="*/ 33776 h 185732"/>
                <a:gd name="connsiteX39" fmla="*/ 60130 w 178348"/>
                <a:gd name="connsiteY39" fmla="*/ 26909 h 185732"/>
                <a:gd name="connsiteX40" fmla="*/ 61137 w 178348"/>
                <a:gd name="connsiteY40" fmla="*/ 23127 h 185732"/>
                <a:gd name="connsiteX41" fmla="*/ 62757 w 178348"/>
                <a:gd name="connsiteY41" fmla="*/ 8592 h 185732"/>
                <a:gd name="connsiteX42" fmla="*/ 68310 w 178348"/>
                <a:gd name="connsiteY42" fmla="*/ 2400 h 185732"/>
                <a:gd name="connsiteX43" fmla="*/ 89274 w 178348"/>
                <a:gd name="connsiteY43" fmla="*/ 0 h 185732"/>
                <a:gd name="connsiteX44" fmla="*/ 89274 w 178348"/>
                <a:gd name="connsiteY44" fmla="*/ 14288 h 185732"/>
                <a:gd name="connsiteX45" fmla="*/ 76377 w 178348"/>
                <a:gd name="connsiteY45" fmla="*/ 15402 h 185732"/>
                <a:gd name="connsiteX46" fmla="*/ 75339 w 178348"/>
                <a:gd name="connsiteY46" fmla="*/ 24708 h 185732"/>
                <a:gd name="connsiteX47" fmla="*/ 44984 w 178348"/>
                <a:gd name="connsiteY47" fmla="*/ 48995 h 185732"/>
                <a:gd name="connsiteX48" fmla="*/ 37010 w 178348"/>
                <a:gd name="connsiteY48" fmla="*/ 46863 h 185732"/>
                <a:gd name="connsiteX49" fmla="*/ 28457 w 178348"/>
                <a:gd name="connsiteY49" fmla="*/ 43110 h 185732"/>
                <a:gd name="connsiteX50" fmla="*/ 15617 w 178348"/>
                <a:gd name="connsiteY50" fmla="*/ 65180 h 185732"/>
                <a:gd name="connsiteX51" fmla="*/ 23218 w 178348"/>
                <a:gd name="connsiteY51" fmla="*/ 70771 h 185732"/>
                <a:gd name="connsiteX52" fmla="*/ 29080 w 178348"/>
                <a:gd name="connsiteY52" fmla="*/ 109134 h 185732"/>
                <a:gd name="connsiteX53" fmla="*/ 23218 w 178348"/>
                <a:gd name="connsiteY53" fmla="*/ 114995 h 185732"/>
                <a:gd name="connsiteX54" fmla="*/ 15608 w 178348"/>
                <a:gd name="connsiteY54" fmla="*/ 120596 h 185732"/>
                <a:gd name="connsiteX55" fmla="*/ 28447 w 178348"/>
                <a:gd name="connsiteY55" fmla="*/ 142713 h 185732"/>
                <a:gd name="connsiteX56" fmla="*/ 37068 w 178348"/>
                <a:gd name="connsiteY56" fmla="*/ 138932 h 185732"/>
                <a:gd name="connsiteX57" fmla="*/ 73209 w 178348"/>
                <a:gd name="connsiteY57" fmla="*/ 153105 h 185732"/>
                <a:gd name="connsiteX58" fmla="*/ 75330 w 178348"/>
                <a:gd name="connsiteY58" fmla="*/ 161011 h 185732"/>
                <a:gd name="connsiteX59" fmla="*/ 76377 w 178348"/>
                <a:gd name="connsiteY59" fmla="*/ 170383 h 185732"/>
                <a:gd name="connsiteX60" fmla="*/ 101971 w 178348"/>
                <a:gd name="connsiteY60" fmla="*/ 170383 h 185732"/>
                <a:gd name="connsiteX61" fmla="*/ 103019 w 178348"/>
                <a:gd name="connsiteY61" fmla="*/ 161011 h 185732"/>
                <a:gd name="connsiteX62" fmla="*/ 133318 w 178348"/>
                <a:gd name="connsiteY62" fmla="*/ 136761 h 185732"/>
                <a:gd name="connsiteX63" fmla="*/ 141290 w 178348"/>
                <a:gd name="connsiteY63" fmla="*/ 138894 h 185732"/>
                <a:gd name="connsiteX64" fmla="*/ 149910 w 178348"/>
                <a:gd name="connsiteY64" fmla="*/ 142665 h 185732"/>
                <a:gd name="connsiteX65" fmla="*/ 162740 w 178348"/>
                <a:gd name="connsiteY65" fmla="*/ 120587 h 185732"/>
                <a:gd name="connsiteX66" fmla="*/ 155140 w 178348"/>
                <a:gd name="connsiteY66" fmla="*/ 114986 h 185732"/>
                <a:gd name="connsiteX67" fmla="*/ 149278 w 178348"/>
                <a:gd name="connsiteY67" fmla="*/ 76623 h 185732"/>
                <a:gd name="connsiteX68" fmla="*/ 155140 w 178348"/>
                <a:gd name="connsiteY68" fmla="*/ 70761 h 185732"/>
                <a:gd name="connsiteX69" fmla="*/ 162721 w 178348"/>
                <a:gd name="connsiteY69" fmla="*/ 65170 h 185732"/>
                <a:gd name="connsiteX70" fmla="*/ 149882 w 178348"/>
                <a:gd name="connsiteY70" fmla="*/ 43101 h 185732"/>
                <a:gd name="connsiteX71" fmla="*/ 141347 w 178348"/>
                <a:gd name="connsiteY71" fmla="*/ 46844 h 185732"/>
                <a:gd name="connsiteX72" fmla="*/ 105167 w 178348"/>
                <a:gd name="connsiteY72" fmla="*/ 32696 h 185732"/>
                <a:gd name="connsiteX73" fmla="*/ 103028 w 178348"/>
                <a:gd name="connsiteY73" fmla="*/ 24708 h 185732"/>
                <a:gd name="connsiteX74" fmla="*/ 101980 w 178348"/>
                <a:gd name="connsiteY74" fmla="*/ 15411 h 185732"/>
                <a:gd name="connsiteX75" fmla="*/ 89284 w 178348"/>
                <a:gd name="connsiteY75" fmla="*/ 14297 h 185732"/>
                <a:gd name="connsiteX76" fmla="*/ 89160 w 178348"/>
                <a:gd name="connsiteY76" fmla="*/ 57150 h 185732"/>
                <a:gd name="connsiteX77" fmla="*/ 124879 w 178348"/>
                <a:gd name="connsiteY77" fmla="*/ 92869 h 185732"/>
                <a:gd name="connsiteX78" fmla="*/ 89160 w 178348"/>
                <a:gd name="connsiteY78" fmla="*/ 128588 h 185732"/>
                <a:gd name="connsiteX79" fmla="*/ 53441 w 178348"/>
                <a:gd name="connsiteY79" fmla="*/ 92869 h 185732"/>
                <a:gd name="connsiteX80" fmla="*/ 89160 w 178348"/>
                <a:gd name="connsiteY80" fmla="*/ 57150 h 185732"/>
                <a:gd name="connsiteX81" fmla="*/ 89160 w 178348"/>
                <a:gd name="connsiteY81" fmla="*/ 71438 h 185732"/>
                <a:gd name="connsiteX82" fmla="*/ 67729 w 178348"/>
                <a:gd name="connsiteY82" fmla="*/ 92869 h 185732"/>
                <a:gd name="connsiteX83" fmla="*/ 89160 w 178348"/>
                <a:gd name="connsiteY83" fmla="*/ 114300 h 185732"/>
                <a:gd name="connsiteX84" fmla="*/ 110591 w 178348"/>
                <a:gd name="connsiteY84" fmla="*/ 92869 h 185732"/>
                <a:gd name="connsiteX85" fmla="*/ 89160 w 178348"/>
                <a:gd name="connsiteY85" fmla="*/ 71438 h 18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78348" h="185732">
                  <a:moveTo>
                    <a:pt x="89274" y="0"/>
                  </a:moveTo>
                  <a:cubicBezTo>
                    <a:pt x="96265" y="76"/>
                    <a:pt x="103228" y="886"/>
                    <a:pt x="110058" y="2410"/>
                  </a:cubicBezTo>
                  <a:cubicBezTo>
                    <a:pt x="113036" y="3075"/>
                    <a:pt x="115263" y="5558"/>
                    <a:pt x="115601" y="8592"/>
                  </a:cubicBezTo>
                  <a:lnTo>
                    <a:pt x="117220" y="23136"/>
                  </a:lnTo>
                  <a:cubicBezTo>
                    <a:pt x="118027" y="30372"/>
                    <a:pt x="124547" y="35584"/>
                    <a:pt x="131782" y="34777"/>
                  </a:cubicBezTo>
                  <a:cubicBezTo>
                    <a:pt x="133090" y="34631"/>
                    <a:pt x="134368" y="34290"/>
                    <a:pt x="135575" y="33766"/>
                  </a:cubicBezTo>
                  <a:lnTo>
                    <a:pt x="148920" y="27908"/>
                  </a:lnTo>
                  <a:cubicBezTo>
                    <a:pt x="151696" y="26685"/>
                    <a:pt x="154943" y="27350"/>
                    <a:pt x="157016" y="29566"/>
                  </a:cubicBezTo>
                  <a:cubicBezTo>
                    <a:pt x="166654" y="39863"/>
                    <a:pt x="173832" y="52212"/>
                    <a:pt x="178009" y="65684"/>
                  </a:cubicBezTo>
                  <a:cubicBezTo>
                    <a:pt x="178906" y="68586"/>
                    <a:pt x="177871" y="71738"/>
                    <a:pt x="175428" y="73543"/>
                  </a:cubicBezTo>
                  <a:lnTo>
                    <a:pt x="163598" y="82267"/>
                  </a:lnTo>
                  <a:cubicBezTo>
                    <a:pt x="157743" y="86568"/>
                    <a:pt x="156483" y="94801"/>
                    <a:pt x="160784" y="100656"/>
                  </a:cubicBezTo>
                  <a:cubicBezTo>
                    <a:pt x="161574" y="101731"/>
                    <a:pt x="162522" y="102680"/>
                    <a:pt x="163598" y="103470"/>
                  </a:cubicBezTo>
                  <a:lnTo>
                    <a:pt x="175437" y="112185"/>
                  </a:lnTo>
                  <a:cubicBezTo>
                    <a:pt x="177888" y="113989"/>
                    <a:pt x="178928" y="117146"/>
                    <a:pt x="178028" y="120053"/>
                  </a:cubicBezTo>
                  <a:cubicBezTo>
                    <a:pt x="173849" y="133524"/>
                    <a:pt x="166672" y="145873"/>
                    <a:pt x="157035" y="156172"/>
                  </a:cubicBezTo>
                  <a:cubicBezTo>
                    <a:pt x="154967" y="158383"/>
                    <a:pt x="151731" y="159050"/>
                    <a:pt x="148958" y="157839"/>
                  </a:cubicBezTo>
                  <a:lnTo>
                    <a:pt x="135556" y="151962"/>
                  </a:lnTo>
                  <a:cubicBezTo>
                    <a:pt x="128908" y="149046"/>
                    <a:pt x="121154" y="152073"/>
                    <a:pt x="118240" y="158722"/>
                  </a:cubicBezTo>
                  <a:cubicBezTo>
                    <a:pt x="117703" y="159946"/>
                    <a:pt x="117356" y="161244"/>
                    <a:pt x="117211" y="162573"/>
                  </a:cubicBezTo>
                  <a:lnTo>
                    <a:pt x="115601" y="177108"/>
                  </a:lnTo>
                  <a:cubicBezTo>
                    <a:pt x="115269" y="180106"/>
                    <a:pt x="113089" y="182573"/>
                    <a:pt x="110153" y="183271"/>
                  </a:cubicBezTo>
                  <a:cubicBezTo>
                    <a:pt x="96356" y="186553"/>
                    <a:pt x="81983" y="186553"/>
                    <a:pt x="68186" y="183271"/>
                  </a:cubicBezTo>
                  <a:cubicBezTo>
                    <a:pt x="65251" y="182573"/>
                    <a:pt x="63070" y="180106"/>
                    <a:pt x="62737" y="177108"/>
                  </a:cubicBezTo>
                  <a:lnTo>
                    <a:pt x="61137" y="162592"/>
                  </a:lnTo>
                  <a:cubicBezTo>
                    <a:pt x="60314" y="155369"/>
                    <a:pt x="53790" y="150181"/>
                    <a:pt x="46567" y="151005"/>
                  </a:cubicBezTo>
                  <a:cubicBezTo>
                    <a:pt x="45265" y="151153"/>
                    <a:pt x="43993" y="151495"/>
                    <a:pt x="42792" y="152019"/>
                  </a:cubicBezTo>
                  <a:lnTo>
                    <a:pt x="29400" y="157886"/>
                  </a:lnTo>
                  <a:cubicBezTo>
                    <a:pt x="26624" y="159103"/>
                    <a:pt x="23382" y="158434"/>
                    <a:pt x="21313" y="156220"/>
                  </a:cubicBezTo>
                  <a:cubicBezTo>
                    <a:pt x="11671" y="145910"/>
                    <a:pt x="4493" y="133547"/>
                    <a:pt x="320" y="120063"/>
                  </a:cubicBezTo>
                  <a:cubicBezTo>
                    <a:pt x="-580" y="117156"/>
                    <a:pt x="460" y="113998"/>
                    <a:pt x="2911" y="112195"/>
                  </a:cubicBezTo>
                  <a:lnTo>
                    <a:pt x="14751" y="103470"/>
                  </a:lnTo>
                  <a:cubicBezTo>
                    <a:pt x="20605" y="99178"/>
                    <a:pt x="21873" y="90952"/>
                    <a:pt x="17581" y="85097"/>
                  </a:cubicBezTo>
                  <a:cubicBezTo>
                    <a:pt x="16787" y="84015"/>
                    <a:pt x="15833" y="83061"/>
                    <a:pt x="14751" y="82267"/>
                  </a:cubicBezTo>
                  <a:lnTo>
                    <a:pt x="2911" y="73562"/>
                  </a:lnTo>
                  <a:cubicBezTo>
                    <a:pt x="463" y="71756"/>
                    <a:pt x="-573" y="68599"/>
                    <a:pt x="330" y="65694"/>
                  </a:cubicBezTo>
                  <a:cubicBezTo>
                    <a:pt x="4507" y="52222"/>
                    <a:pt x="11684" y="39873"/>
                    <a:pt x="21323" y="29575"/>
                  </a:cubicBezTo>
                  <a:cubicBezTo>
                    <a:pt x="23396" y="27359"/>
                    <a:pt x="26642" y="26695"/>
                    <a:pt x="29419" y="27918"/>
                  </a:cubicBezTo>
                  <a:lnTo>
                    <a:pt x="42754" y="33776"/>
                  </a:lnTo>
                  <a:cubicBezTo>
                    <a:pt x="49448" y="36678"/>
                    <a:pt x="57228" y="33603"/>
                    <a:pt x="60130" y="26909"/>
                  </a:cubicBezTo>
                  <a:cubicBezTo>
                    <a:pt x="60652" y="25705"/>
                    <a:pt x="60991" y="24430"/>
                    <a:pt x="61137" y="23127"/>
                  </a:cubicBezTo>
                  <a:lnTo>
                    <a:pt x="62757" y="8592"/>
                  </a:lnTo>
                  <a:cubicBezTo>
                    <a:pt x="63092" y="5552"/>
                    <a:pt x="65324" y="3063"/>
                    <a:pt x="68310" y="2400"/>
                  </a:cubicBezTo>
                  <a:cubicBezTo>
                    <a:pt x="75139" y="886"/>
                    <a:pt x="82121" y="86"/>
                    <a:pt x="89274" y="0"/>
                  </a:cubicBezTo>
                  <a:close/>
                  <a:moveTo>
                    <a:pt x="89274" y="14288"/>
                  </a:moveTo>
                  <a:cubicBezTo>
                    <a:pt x="84954" y="14338"/>
                    <a:pt x="80643" y="14711"/>
                    <a:pt x="76377" y="15402"/>
                  </a:cubicBezTo>
                  <a:lnTo>
                    <a:pt x="75339" y="24708"/>
                  </a:lnTo>
                  <a:cubicBezTo>
                    <a:pt x="73664" y="39797"/>
                    <a:pt x="60073" y="50671"/>
                    <a:pt x="44984" y="48995"/>
                  </a:cubicBezTo>
                  <a:cubicBezTo>
                    <a:pt x="42234" y="48690"/>
                    <a:pt x="39546" y="47971"/>
                    <a:pt x="37010" y="46863"/>
                  </a:cubicBezTo>
                  <a:lnTo>
                    <a:pt x="28457" y="43110"/>
                  </a:lnTo>
                  <a:cubicBezTo>
                    <a:pt x="23009" y="49722"/>
                    <a:pt x="18672" y="57176"/>
                    <a:pt x="15617" y="65180"/>
                  </a:cubicBezTo>
                  <a:lnTo>
                    <a:pt x="23218" y="70771"/>
                  </a:lnTo>
                  <a:cubicBezTo>
                    <a:pt x="35431" y="79746"/>
                    <a:pt x="38055" y="96922"/>
                    <a:pt x="29080" y="109134"/>
                  </a:cubicBezTo>
                  <a:cubicBezTo>
                    <a:pt x="27434" y="111373"/>
                    <a:pt x="25458" y="113349"/>
                    <a:pt x="23218" y="114995"/>
                  </a:cubicBezTo>
                  <a:lnTo>
                    <a:pt x="15608" y="120596"/>
                  </a:lnTo>
                  <a:cubicBezTo>
                    <a:pt x="18656" y="128616"/>
                    <a:pt x="22999" y="136084"/>
                    <a:pt x="28447" y="142713"/>
                  </a:cubicBezTo>
                  <a:lnTo>
                    <a:pt x="37068" y="138932"/>
                  </a:lnTo>
                  <a:cubicBezTo>
                    <a:pt x="50962" y="132865"/>
                    <a:pt x="67143" y="139211"/>
                    <a:pt x="73209" y="153105"/>
                  </a:cubicBezTo>
                  <a:cubicBezTo>
                    <a:pt x="74308" y="155619"/>
                    <a:pt x="75022" y="158285"/>
                    <a:pt x="75330" y="161011"/>
                  </a:cubicBezTo>
                  <a:lnTo>
                    <a:pt x="76377" y="170383"/>
                  </a:lnTo>
                  <a:cubicBezTo>
                    <a:pt x="84845" y="171812"/>
                    <a:pt x="93503" y="171812"/>
                    <a:pt x="101971" y="170383"/>
                  </a:cubicBezTo>
                  <a:lnTo>
                    <a:pt x="103019" y="161011"/>
                  </a:lnTo>
                  <a:cubicBezTo>
                    <a:pt x="104689" y="145948"/>
                    <a:pt x="118254" y="135090"/>
                    <a:pt x="133318" y="136761"/>
                  </a:cubicBezTo>
                  <a:cubicBezTo>
                    <a:pt x="136068" y="137066"/>
                    <a:pt x="138756" y="137785"/>
                    <a:pt x="141290" y="138894"/>
                  </a:cubicBezTo>
                  <a:lnTo>
                    <a:pt x="149910" y="142665"/>
                  </a:lnTo>
                  <a:cubicBezTo>
                    <a:pt x="155356" y="136050"/>
                    <a:pt x="159689" y="128593"/>
                    <a:pt x="162740" y="120587"/>
                  </a:cubicBezTo>
                  <a:lnTo>
                    <a:pt x="155140" y="114986"/>
                  </a:lnTo>
                  <a:cubicBezTo>
                    <a:pt x="142928" y="106010"/>
                    <a:pt x="140303" y="88835"/>
                    <a:pt x="149278" y="76623"/>
                  </a:cubicBezTo>
                  <a:cubicBezTo>
                    <a:pt x="150924" y="74384"/>
                    <a:pt x="152900" y="72407"/>
                    <a:pt x="155140" y="70761"/>
                  </a:cubicBezTo>
                  <a:lnTo>
                    <a:pt x="162721" y="65170"/>
                  </a:lnTo>
                  <a:cubicBezTo>
                    <a:pt x="159667" y="57166"/>
                    <a:pt x="155330" y="49712"/>
                    <a:pt x="149882" y="43101"/>
                  </a:cubicBezTo>
                  <a:lnTo>
                    <a:pt x="141347" y="46844"/>
                  </a:lnTo>
                  <a:cubicBezTo>
                    <a:pt x="127449" y="52928"/>
                    <a:pt x="111251" y="46594"/>
                    <a:pt x="105167" y="32696"/>
                  </a:cubicBezTo>
                  <a:cubicBezTo>
                    <a:pt x="104055" y="30156"/>
                    <a:pt x="103334" y="27463"/>
                    <a:pt x="103028" y="24708"/>
                  </a:cubicBezTo>
                  <a:lnTo>
                    <a:pt x="101980" y="15411"/>
                  </a:lnTo>
                  <a:cubicBezTo>
                    <a:pt x="97782" y="14725"/>
                    <a:pt x="93538" y="14352"/>
                    <a:pt x="89284" y="14297"/>
                  </a:cubicBezTo>
                  <a:close/>
                  <a:moveTo>
                    <a:pt x="89160" y="57150"/>
                  </a:moveTo>
                  <a:cubicBezTo>
                    <a:pt x="108887" y="57150"/>
                    <a:pt x="124879" y="73142"/>
                    <a:pt x="124879" y="92869"/>
                  </a:cubicBezTo>
                  <a:cubicBezTo>
                    <a:pt x="124879" y="112596"/>
                    <a:pt x="108887" y="128588"/>
                    <a:pt x="89160" y="128588"/>
                  </a:cubicBezTo>
                  <a:cubicBezTo>
                    <a:pt x="69433" y="128588"/>
                    <a:pt x="53441" y="112596"/>
                    <a:pt x="53441" y="92869"/>
                  </a:cubicBezTo>
                  <a:cubicBezTo>
                    <a:pt x="53441" y="73142"/>
                    <a:pt x="69433" y="57150"/>
                    <a:pt x="89160" y="57150"/>
                  </a:cubicBezTo>
                  <a:close/>
                  <a:moveTo>
                    <a:pt x="89160" y="71438"/>
                  </a:moveTo>
                  <a:cubicBezTo>
                    <a:pt x="77324" y="71438"/>
                    <a:pt x="67729" y="81033"/>
                    <a:pt x="67729" y="92869"/>
                  </a:cubicBezTo>
                  <a:cubicBezTo>
                    <a:pt x="67729" y="104705"/>
                    <a:pt x="77324" y="114300"/>
                    <a:pt x="89160" y="114300"/>
                  </a:cubicBezTo>
                  <a:cubicBezTo>
                    <a:pt x="100996" y="114300"/>
                    <a:pt x="110591" y="104705"/>
                    <a:pt x="110591" y="92869"/>
                  </a:cubicBezTo>
                  <a:cubicBezTo>
                    <a:pt x="110591" y="81033"/>
                    <a:pt x="100996" y="71438"/>
                    <a:pt x="89160" y="71438"/>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38" name="グループ化 37">
            <a:extLst>
              <a:ext uri="{FF2B5EF4-FFF2-40B4-BE49-F238E27FC236}">
                <a16:creationId xmlns:a16="http://schemas.microsoft.com/office/drawing/2014/main" id="{7B10BD98-1567-4D4B-0C72-F34E2F379E0B}"/>
              </a:ext>
            </a:extLst>
          </p:cNvPr>
          <p:cNvGrpSpPr/>
          <p:nvPr/>
        </p:nvGrpSpPr>
        <p:grpSpPr>
          <a:xfrm>
            <a:off x="4679735" y="3122567"/>
            <a:ext cx="402910" cy="402588"/>
            <a:chOff x="6513688" y="2322205"/>
            <a:chExt cx="402910" cy="402588"/>
          </a:xfrm>
        </p:grpSpPr>
        <p:sp>
          <p:nvSpPr>
            <p:cNvPr id="10" name="Oval 101">
              <a:extLst>
                <a:ext uri="{FF2B5EF4-FFF2-40B4-BE49-F238E27FC236}">
                  <a16:creationId xmlns:a16="http://schemas.microsoft.com/office/drawing/2014/main" id="{C9C174C0-EF5A-99C3-3EE2-6EF1593A1B0D}"/>
                </a:ext>
                <a:ext uri="{C183D7F6-B498-43B3-948B-1728B52AA6E4}">
                  <adec:decorative xmlns:adec="http://schemas.microsoft.com/office/drawing/2017/decorative" val="1"/>
                </a:ext>
              </a:extLst>
            </p:cNvPr>
            <p:cNvSpPr/>
            <p:nvPr/>
          </p:nvSpPr>
          <p:spPr bwMode="auto">
            <a:xfrm>
              <a:off x="6513688" y="2322205"/>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4" name="Graphic 16">
              <a:extLst>
                <a:ext uri="{FF2B5EF4-FFF2-40B4-BE49-F238E27FC236}">
                  <a16:creationId xmlns:a16="http://schemas.microsoft.com/office/drawing/2014/main" id="{4A792B90-3BE7-DF59-3C9A-08E5D58A2D84}"/>
                </a:ext>
                <a:ext uri="{C183D7F6-B498-43B3-948B-1728B52AA6E4}">
                  <adec:decorative xmlns:adec="http://schemas.microsoft.com/office/drawing/2017/decorative" val="1"/>
                </a:ext>
              </a:extLst>
            </p:cNvPr>
            <p:cNvSpPr>
              <a:spLocks noChangeAspect="1"/>
            </p:cNvSpPr>
            <p:nvPr/>
          </p:nvSpPr>
          <p:spPr>
            <a:xfrm>
              <a:off x="6634564" y="2442923"/>
              <a:ext cx="161158" cy="161152"/>
            </a:xfrm>
            <a:custGeom>
              <a:avLst/>
              <a:gdLst>
                <a:gd name="connsiteX0" fmla="*/ 81532 w 319440"/>
                <a:gd name="connsiteY0" fmla="*/ 219105 h 319426"/>
                <a:gd name="connsiteX1" fmla="*/ 100350 w 319440"/>
                <a:gd name="connsiteY1" fmla="*/ 219105 h 319426"/>
                <a:gd name="connsiteX2" fmla="*/ 100350 w 319440"/>
                <a:gd name="connsiteY2" fmla="*/ 237922 h 319426"/>
                <a:gd name="connsiteX3" fmla="*/ 45437 w 319440"/>
                <a:gd name="connsiteY3" fmla="*/ 292813 h 319426"/>
                <a:gd name="connsiteX4" fmla="*/ 84273 w 319440"/>
                <a:gd name="connsiteY4" fmla="*/ 292813 h 319426"/>
                <a:gd name="connsiteX5" fmla="*/ 97458 w 319440"/>
                <a:gd name="connsiteY5" fmla="*/ 304314 h 319426"/>
                <a:gd name="connsiteX6" fmla="*/ 97580 w 319440"/>
                <a:gd name="connsiteY6" fmla="*/ 306120 h 319426"/>
                <a:gd name="connsiteX7" fmla="*/ 84273 w 319440"/>
                <a:gd name="connsiteY7" fmla="*/ 319426 h 319426"/>
                <a:gd name="connsiteX8" fmla="*/ 13306 w 319440"/>
                <a:gd name="connsiteY8" fmla="*/ 319426 h 319426"/>
                <a:gd name="connsiteX9" fmla="*/ 0 w 319440"/>
                <a:gd name="connsiteY9" fmla="*/ 306120 h 319426"/>
                <a:gd name="connsiteX10" fmla="*/ 0 w 319440"/>
                <a:gd name="connsiteY10" fmla="*/ 235153 h 319426"/>
                <a:gd name="connsiteX11" fmla="*/ 13306 w 319440"/>
                <a:gd name="connsiteY11" fmla="*/ 221846 h 319426"/>
                <a:gd name="connsiteX12" fmla="*/ 26613 w 319440"/>
                <a:gd name="connsiteY12" fmla="*/ 235153 h 319426"/>
                <a:gd name="connsiteX13" fmla="*/ 26613 w 319440"/>
                <a:gd name="connsiteY13" fmla="*/ 273989 h 319426"/>
                <a:gd name="connsiteX14" fmla="*/ 81532 w 319440"/>
                <a:gd name="connsiteY14" fmla="*/ 219105 h 319426"/>
                <a:gd name="connsiteX15" fmla="*/ 235167 w 319440"/>
                <a:gd name="connsiteY15" fmla="*/ 319426 h 319426"/>
                <a:gd name="connsiteX16" fmla="*/ 221861 w 319440"/>
                <a:gd name="connsiteY16" fmla="*/ 306120 h 319426"/>
                <a:gd name="connsiteX17" fmla="*/ 235167 w 319440"/>
                <a:gd name="connsiteY17" fmla="*/ 292813 h 319426"/>
                <a:gd name="connsiteX18" fmla="*/ 273950 w 319440"/>
                <a:gd name="connsiteY18" fmla="*/ 292813 h 319426"/>
                <a:gd name="connsiteX19" fmla="*/ 219102 w 319440"/>
                <a:gd name="connsiteY19" fmla="*/ 237919 h 319426"/>
                <a:gd name="connsiteX20" fmla="*/ 217819 w 319440"/>
                <a:gd name="connsiteY20" fmla="*/ 220594 h 319426"/>
                <a:gd name="connsiteX21" fmla="*/ 219109 w 319440"/>
                <a:gd name="connsiteY21" fmla="*/ 219102 h 319426"/>
                <a:gd name="connsiteX22" fmla="*/ 237926 w 319440"/>
                <a:gd name="connsiteY22" fmla="*/ 219109 h 319426"/>
                <a:gd name="connsiteX23" fmla="*/ 292828 w 319440"/>
                <a:gd name="connsiteY23" fmla="*/ 274043 h 319426"/>
                <a:gd name="connsiteX24" fmla="*/ 292828 w 319440"/>
                <a:gd name="connsiteY24" fmla="*/ 235153 h 319426"/>
                <a:gd name="connsiteX25" fmla="*/ 304328 w 319440"/>
                <a:gd name="connsiteY25" fmla="*/ 221969 h 319426"/>
                <a:gd name="connsiteX26" fmla="*/ 306134 w 319440"/>
                <a:gd name="connsiteY26" fmla="*/ 221846 h 319426"/>
                <a:gd name="connsiteX27" fmla="*/ 319440 w 319440"/>
                <a:gd name="connsiteY27" fmla="*/ 235153 h 319426"/>
                <a:gd name="connsiteX28" fmla="*/ 319440 w 319440"/>
                <a:gd name="connsiteY28" fmla="*/ 306120 h 319426"/>
                <a:gd name="connsiteX29" fmla="*/ 306134 w 319440"/>
                <a:gd name="connsiteY29" fmla="*/ 319426 h 319426"/>
                <a:gd name="connsiteX30" fmla="*/ 235167 w 319440"/>
                <a:gd name="connsiteY30" fmla="*/ 319426 h 319426"/>
                <a:gd name="connsiteX31" fmla="*/ 84273 w 319440"/>
                <a:gd name="connsiteY31" fmla="*/ 0 h 319426"/>
                <a:gd name="connsiteX32" fmla="*/ 97580 w 319440"/>
                <a:gd name="connsiteY32" fmla="*/ 13306 h 319426"/>
                <a:gd name="connsiteX33" fmla="*/ 84273 w 319440"/>
                <a:gd name="connsiteY33" fmla="*/ 26613 h 319426"/>
                <a:gd name="connsiteX34" fmla="*/ 45472 w 319440"/>
                <a:gd name="connsiteY34" fmla="*/ 26613 h 319426"/>
                <a:gd name="connsiteX35" fmla="*/ 100339 w 319440"/>
                <a:gd name="connsiteY35" fmla="*/ 81521 h 319426"/>
                <a:gd name="connsiteX36" fmla="*/ 101621 w 319440"/>
                <a:gd name="connsiteY36" fmla="*/ 98847 h 319426"/>
                <a:gd name="connsiteX37" fmla="*/ 100332 w 319440"/>
                <a:gd name="connsiteY37" fmla="*/ 100339 h 319426"/>
                <a:gd name="connsiteX38" fmla="*/ 81514 w 319440"/>
                <a:gd name="connsiteY38" fmla="*/ 100332 h 319426"/>
                <a:gd name="connsiteX39" fmla="*/ 26613 w 319440"/>
                <a:gd name="connsiteY39" fmla="*/ 45383 h 319426"/>
                <a:gd name="connsiteX40" fmla="*/ 26613 w 319440"/>
                <a:gd name="connsiteY40" fmla="*/ 84273 h 319426"/>
                <a:gd name="connsiteX41" fmla="*/ 15112 w 319440"/>
                <a:gd name="connsiteY41" fmla="*/ 97458 h 319426"/>
                <a:gd name="connsiteX42" fmla="*/ 13306 w 319440"/>
                <a:gd name="connsiteY42" fmla="*/ 97580 h 319426"/>
                <a:gd name="connsiteX43" fmla="*/ 0 w 319440"/>
                <a:gd name="connsiteY43" fmla="*/ 84273 h 319426"/>
                <a:gd name="connsiteX44" fmla="*/ 0 w 319440"/>
                <a:gd name="connsiteY44" fmla="*/ 13306 h 319426"/>
                <a:gd name="connsiteX45" fmla="*/ 13306 w 319440"/>
                <a:gd name="connsiteY45" fmla="*/ 0 h 319426"/>
                <a:gd name="connsiteX46" fmla="*/ 84273 w 319440"/>
                <a:gd name="connsiteY46" fmla="*/ 0 h 319426"/>
                <a:gd name="connsiteX47" fmla="*/ 306134 w 319440"/>
                <a:gd name="connsiteY47" fmla="*/ 0 h 319426"/>
                <a:gd name="connsiteX48" fmla="*/ 319440 w 319440"/>
                <a:gd name="connsiteY48" fmla="*/ 13306 h 319426"/>
                <a:gd name="connsiteX49" fmla="*/ 319440 w 319440"/>
                <a:gd name="connsiteY49" fmla="*/ 84273 h 319426"/>
                <a:gd name="connsiteX50" fmla="*/ 306134 w 319440"/>
                <a:gd name="connsiteY50" fmla="*/ 97580 h 319426"/>
                <a:gd name="connsiteX51" fmla="*/ 292828 w 319440"/>
                <a:gd name="connsiteY51" fmla="*/ 84273 h 319426"/>
                <a:gd name="connsiteX52" fmla="*/ 292828 w 319440"/>
                <a:gd name="connsiteY52" fmla="*/ 45401 h 319426"/>
                <a:gd name="connsiteX53" fmla="*/ 237924 w 319440"/>
                <a:gd name="connsiteY53" fmla="*/ 100334 h 319426"/>
                <a:gd name="connsiteX54" fmla="*/ 220599 w 319440"/>
                <a:gd name="connsiteY54" fmla="*/ 101625 h 319426"/>
                <a:gd name="connsiteX55" fmla="*/ 219107 w 319440"/>
                <a:gd name="connsiteY55" fmla="*/ 100337 h 319426"/>
                <a:gd name="connsiteX56" fmla="*/ 219104 w 319440"/>
                <a:gd name="connsiteY56" fmla="*/ 81519 h 319426"/>
                <a:gd name="connsiteX57" fmla="*/ 273968 w 319440"/>
                <a:gd name="connsiteY57" fmla="*/ 26613 h 319426"/>
                <a:gd name="connsiteX58" fmla="*/ 235167 w 319440"/>
                <a:gd name="connsiteY58" fmla="*/ 26613 h 319426"/>
                <a:gd name="connsiteX59" fmla="*/ 221981 w 319440"/>
                <a:gd name="connsiteY59" fmla="*/ 15112 h 319426"/>
                <a:gd name="connsiteX60" fmla="*/ 221861 w 319440"/>
                <a:gd name="connsiteY60" fmla="*/ 13306 h 319426"/>
                <a:gd name="connsiteX61" fmla="*/ 235167 w 319440"/>
                <a:gd name="connsiteY61" fmla="*/ 0 h 319426"/>
                <a:gd name="connsiteX62" fmla="*/ 306134 w 319440"/>
                <a:gd name="connsiteY62" fmla="*/ 0 h 31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19440" h="319426">
                  <a:moveTo>
                    <a:pt x="81532" y="219105"/>
                  </a:moveTo>
                  <a:cubicBezTo>
                    <a:pt x="86729" y="213909"/>
                    <a:pt x="95154" y="213909"/>
                    <a:pt x="100350" y="219105"/>
                  </a:cubicBezTo>
                  <a:cubicBezTo>
                    <a:pt x="105547" y="224302"/>
                    <a:pt x="105547" y="232726"/>
                    <a:pt x="100350" y="237922"/>
                  </a:cubicBezTo>
                  <a:lnTo>
                    <a:pt x="45437" y="292813"/>
                  </a:lnTo>
                  <a:lnTo>
                    <a:pt x="84273" y="292813"/>
                  </a:lnTo>
                  <a:cubicBezTo>
                    <a:pt x="91010" y="292813"/>
                    <a:pt x="96577" y="297820"/>
                    <a:pt x="97458" y="304314"/>
                  </a:cubicBezTo>
                  <a:lnTo>
                    <a:pt x="97580" y="306120"/>
                  </a:lnTo>
                  <a:cubicBezTo>
                    <a:pt x="97580" y="313468"/>
                    <a:pt x="91622" y="319426"/>
                    <a:pt x="84273" y="319426"/>
                  </a:cubicBezTo>
                  <a:lnTo>
                    <a:pt x="13306" y="319426"/>
                  </a:lnTo>
                  <a:cubicBezTo>
                    <a:pt x="5958" y="319426"/>
                    <a:pt x="0" y="313468"/>
                    <a:pt x="0" y="306120"/>
                  </a:cubicBezTo>
                  <a:lnTo>
                    <a:pt x="0" y="235153"/>
                  </a:lnTo>
                  <a:cubicBezTo>
                    <a:pt x="0" y="227804"/>
                    <a:pt x="5958" y="221846"/>
                    <a:pt x="13306" y="221846"/>
                  </a:cubicBezTo>
                  <a:cubicBezTo>
                    <a:pt x="20655" y="221846"/>
                    <a:pt x="26613" y="227804"/>
                    <a:pt x="26613" y="235153"/>
                  </a:cubicBezTo>
                  <a:lnTo>
                    <a:pt x="26613" y="273989"/>
                  </a:lnTo>
                  <a:lnTo>
                    <a:pt x="81532" y="219105"/>
                  </a:lnTo>
                  <a:close/>
                  <a:moveTo>
                    <a:pt x="235167" y="319426"/>
                  </a:moveTo>
                  <a:cubicBezTo>
                    <a:pt x="227818" y="319426"/>
                    <a:pt x="221861" y="313468"/>
                    <a:pt x="221861" y="306120"/>
                  </a:cubicBezTo>
                  <a:cubicBezTo>
                    <a:pt x="221861" y="298771"/>
                    <a:pt x="227818" y="292813"/>
                    <a:pt x="235167" y="292813"/>
                  </a:cubicBezTo>
                  <a:lnTo>
                    <a:pt x="273950" y="292813"/>
                  </a:lnTo>
                  <a:lnTo>
                    <a:pt x="219102" y="237919"/>
                  </a:lnTo>
                  <a:cubicBezTo>
                    <a:pt x="214379" y="233194"/>
                    <a:pt x="213953" y="225801"/>
                    <a:pt x="217819" y="220594"/>
                  </a:cubicBezTo>
                  <a:lnTo>
                    <a:pt x="219109" y="219102"/>
                  </a:lnTo>
                  <a:cubicBezTo>
                    <a:pt x="224307" y="213907"/>
                    <a:pt x="232733" y="213911"/>
                    <a:pt x="237926" y="219109"/>
                  </a:cubicBezTo>
                  <a:lnTo>
                    <a:pt x="292828" y="274043"/>
                  </a:lnTo>
                  <a:lnTo>
                    <a:pt x="292828" y="235153"/>
                  </a:lnTo>
                  <a:cubicBezTo>
                    <a:pt x="292828" y="228416"/>
                    <a:pt x="297834" y="222849"/>
                    <a:pt x="304328" y="221969"/>
                  </a:cubicBezTo>
                  <a:lnTo>
                    <a:pt x="306134" y="221846"/>
                  </a:lnTo>
                  <a:cubicBezTo>
                    <a:pt x="313483" y="221846"/>
                    <a:pt x="319440" y="227804"/>
                    <a:pt x="319440" y="235153"/>
                  </a:cubicBezTo>
                  <a:lnTo>
                    <a:pt x="319440" y="306120"/>
                  </a:lnTo>
                  <a:cubicBezTo>
                    <a:pt x="319440" y="313468"/>
                    <a:pt x="313483" y="319426"/>
                    <a:pt x="306134" y="319426"/>
                  </a:cubicBezTo>
                  <a:lnTo>
                    <a:pt x="235167" y="319426"/>
                  </a:lnTo>
                  <a:close/>
                  <a:moveTo>
                    <a:pt x="84273" y="0"/>
                  </a:moveTo>
                  <a:cubicBezTo>
                    <a:pt x="91622" y="0"/>
                    <a:pt x="97580" y="5958"/>
                    <a:pt x="97580" y="13306"/>
                  </a:cubicBezTo>
                  <a:cubicBezTo>
                    <a:pt x="97580" y="20655"/>
                    <a:pt x="91622" y="26613"/>
                    <a:pt x="84273" y="26613"/>
                  </a:cubicBezTo>
                  <a:lnTo>
                    <a:pt x="45472" y="26613"/>
                  </a:lnTo>
                  <a:lnTo>
                    <a:pt x="100339" y="81521"/>
                  </a:lnTo>
                  <a:cubicBezTo>
                    <a:pt x="105061" y="86247"/>
                    <a:pt x="105488" y="93640"/>
                    <a:pt x="101621" y="98847"/>
                  </a:cubicBezTo>
                  <a:lnTo>
                    <a:pt x="100332" y="100339"/>
                  </a:lnTo>
                  <a:cubicBezTo>
                    <a:pt x="95133" y="105534"/>
                    <a:pt x="86708" y="105530"/>
                    <a:pt x="81514" y="100332"/>
                  </a:cubicBezTo>
                  <a:lnTo>
                    <a:pt x="26613" y="45383"/>
                  </a:lnTo>
                  <a:lnTo>
                    <a:pt x="26613" y="84273"/>
                  </a:lnTo>
                  <a:cubicBezTo>
                    <a:pt x="26613" y="91010"/>
                    <a:pt x="21607" y="96577"/>
                    <a:pt x="15112" y="97458"/>
                  </a:cubicBezTo>
                  <a:lnTo>
                    <a:pt x="13306" y="97580"/>
                  </a:lnTo>
                  <a:cubicBezTo>
                    <a:pt x="5958" y="97580"/>
                    <a:pt x="0" y="91622"/>
                    <a:pt x="0" y="84273"/>
                  </a:cubicBezTo>
                  <a:lnTo>
                    <a:pt x="0" y="13306"/>
                  </a:lnTo>
                  <a:cubicBezTo>
                    <a:pt x="0" y="5958"/>
                    <a:pt x="5958" y="0"/>
                    <a:pt x="13306" y="0"/>
                  </a:cubicBezTo>
                  <a:lnTo>
                    <a:pt x="84273" y="0"/>
                  </a:lnTo>
                  <a:close/>
                  <a:moveTo>
                    <a:pt x="306134" y="0"/>
                  </a:moveTo>
                  <a:cubicBezTo>
                    <a:pt x="313483" y="0"/>
                    <a:pt x="319440" y="5958"/>
                    <a:pt x="319440" y="13306"/>
                  </a:cubicBezTo>
                  <a:lnTo>
                    <a:pt x="319440" y="84273"/>
                  </a:lnTo>
                  <a:cubicBezTo>
                    <a:pt x="319440" y="91622"/>
                    <a:pt x="313483" y="97580"/>
                    <a:pt x="306134" y="97580"/>
                  </a:cubicBezTo>
                  <a:cubicBezTo>
                    <a:pt x="298785" y="97580"/>
                    <a:pt x="292828" y="91622"/>
                    <a:pt x="292828" y="84273"/>
                  </a:cubicBezTo>
                  <a:lnTo>
                    <a:pt x="292828" y="45401"/>
                  </a:lnTo>
                  <a:lnTo>
                    <a:pt x="237924" y="100334"/>
                  </a:lnTo>
                  <a:cubicBezTo>
                    <a:pt x="233201" y="105058"/>
                    <a:pt x="225810" y="105489"/>
                    <a:pt x="220599" y="101625"/>
                  </a:cubicBezTo>
                  <a:lnTo>
                    <a:pt x="219107" y="100337"/>
                  </a:lnTo>
                  <a:cubicBezTo>
                    <a:pt x="213909" y="95142"/>
                    <a:pt x="213907" y="86717"/>
                    <a:pt x="219104" y="81519"/>
                  </a:cubicBezTo>
                  <a:lnTo>
                    <a:pt x="273968" y="26613"/>
                  </a:lnTo>
                  <a:lnTo>
                    <a:pt x="235167" y="26613"/>
                  </a:lnTo>
                  <a:cubicBezTo>
                    <a:pt x="228430" y="26613"/>
                    <a:pt x="222863" y="21607"/>
                    <a:pt x="221981" y="15112"/>
                  </a:cubicBezTo>
                  <a:lnTo>
                    <a:pt x="221861" y="13306"/>
                  </a:lnTo>
                  <a:cubicBezTo>
                    <a:pt x="221861" y="5958"/>
                    <a:pt x="227818" y="0"/>
                    <a:pt x="235167" y="0"/>
                  </a:cubicBezTo>
                  <a:lnTo>
                    <a:pt x="306134" y="0"/>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39" name="グループ化 38">
            <a:extLst>
              <a:ext uri="{FF2B5EF4-FFF2-40B4-BE49-F238E27FC236}">
                <a16:creationId xmlns:a16="http://schemas.microsoft.com/office/drawing/2014/main" id="{44529BF2-798E-49FC-A931-B5CAF4237603}"/>
              </a:ext>
            </a:extLst>
          </p:cNvPr>
          <p:cNvGrpSpPr/>
          <p:nvPr/>
        </p:nvGrpSpPr>
        <p:grpSpPr>
          <a:xfrm>
            <a:off x="6970457" y="3112591"/>
            <a:ext cx="402910" cy="402588"/>
            <a:chOff x="6513688" y="3004078"/>
            <a:chExt cx="402910" cy="402588"/>
          </a:xfrm>
        </p:grpSpPr>
        <p:sp>
          <p:nvSpPr>
            <p:cNvPr id="11" name="Oval 102">
              <a:extLst>
                <a:ext uri="{FF2B5EF4-FFF2-40B4-BE49-F238E27FC236}">
                  <a16:creationId xmlns:a16="http://schemas.microsoft.com/office/drawing/2014/main" id="{73EB022F-0641-2E06-2ADC-5D5002EDBB30}"/>
                </a:ext>
                <a:ext uri="{C183D7F6-B498-43B3-948B-1728B52AA6E4}">
                  <adec:decorative xmlns:adec="http://schemas.microsoft.com/office/drawing/2017/decorative" val="1"/>
                </a:ext>
              </a:extLst>
            </p:cNvPr>
            <p:cNvSpPr/>
            <p:nvPr/>
          </p:nvSpPr>
          <p:spPr bwMode="auto">
            <a:xfrm>
              <a:off x="6513688" y="3004078"/>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5" name="Graphic 93">
              <a:extLst>
                <a:ext uri="{FF2B5EF4-FFF2-40B4-BE49-F238E27FC236}">
                  <a16:creationId xmlns:a16="http://schemas.microsoft.com/office/drawing/2014/main" id="{DD0D1839-03D1-1BFB-DC1D-3525C229CFD8}"/>
                </a:ext>
                <a:ext uri="{C183D7F6-B498-43B3-948B-1728B52AA6E4}">
                  <adec:decorative xmlns:adec="http://schemas.microsoft.com/office/drawing/2017/decorative" val="1"/>
                </a:ext>
              </a:extLst>
            </p:cNvPr>
            <p:cNvSpPr/>
            <p:nvPr/>
          </p:nvSpPr>
          <p:spPr>
            <a:xfrm>
              <a:off x="6626281" y="3104384"/>
              <a:ext cx="177724" cy="201978"/>
            </a:xfrm>
            <a:custGeom>
              <a:avLst/>
              <a:gdLst>
                <a:gd name="connsiteX0" fmla="*/ 128941 w 260286"/>
                <a:gd name="connsiteY0" fmla="*/ 37924 h 295806"/>
                <a:gd name="connsiteX1" fmla="*/ 257883 w 260286"/>
                <a:gd name="connsiteY1" fmla="*/ 166865 h 295806"/>
                <a:gd name="connsiteX2" fmla="*/ 128941 w 260286"/>
                <a:gd name="connsiteY2" fmla="*/ 295807 h 295806"/>
                <a:gd name="connsiteX3" fmla="*/ 0 w 260286"/>
                <a:gd name="connsiteY3" fmla="*/ 166865 h 295806"/>
                <a:gd name="connsiteX4" fmla="*/ 128941 w 260286"/>
                <a:gd name="connsiteY4" fmla="*/ 37924 h 295806"/>
                <a:gd name="connsiteX5" fmla="*/ 128941 w 260286"/>
                <a:gd name="connsiteY5" fmla="*/ 60678 h 295806"/>
                <a:gd name="connsiteX6" fmla="*/ 22754 w 260286"/>
                <a:gd name="connsiteY6" fmla="*/ 166865 h 295806"/>
                <a:gd name="connsiteX7" fmla="*/ 128941 w 260286"/>
                <a:gd name="connsiteY7" fmla="*/ 273053 h 295806"/>
                <a:gd name="connsiteX8" fmla="*/ 235129 w 260286"/>
                <a:gd name="connsiteY8" fmla="*/ 166865 h 295806"/>
                <a:gd name="connsiteX9" fmla="*/ 128941 w 260286"/>
                <a:gd name="connsiteY9" fmla="*/ 60678 h 295806"/>
                <a:gd name="connsiteX10" fmla="*/ 128941 w 260286"/>
                <a:gd name="connsiteY10" fmla="*/ 83433 h 295806"/>
                <a:gd name="connsiteX11" fmla="*/ 140216 w 260286"/>
                <a:gd name="connsiteY11" fmla="*/ 93266 h 295806"/>
                <a:gd name="connsiteX12" fmla="*/ 140319 w 260286"/>
                <a:gd name="connsiteY12" fmla="*/ 94810 h 295806"/>
                <a:gd name="connsiteX13" fmla="*/ 140319 w 260286"/>
                <a:gd name="connsiteY13" fmla="*/ 163073 h 295806"/>
                <a:gd name="connsiteX14" fmla="*/ 128941 w 260286"/>
                <a:gd name="connsiteY14" fmla="*/ 174450 h 295806"/>
                <a:gd name="connsiteX15" fmla="*/ 117667 w 260286"/>
                <a:gd name="connsiteY15" fmla="*/ 164617 h 295806"/>
                <a:gd name="connsiteX16" fmla="*/ 117564 w 260286"/>
                <a:gd name="connsiteY16" fmla="*/ 163073 h 295806"/>
                <a:gd name="connsiteX17" fmla="*/ 117564 w 260286"/>
                <a:gd name="connsiteY17" fmla="*/ 94810 h 295806"/>
                <a:gd name="connsiteX18" fmla="*/ 128941 w 260286"/>
                <a:gd name="connsiteY18" fmla="*/ 83433 h 295806"/>
                <a:gd name="connsiteX19" fmla="*/ 237362 w 260286"/>
                <a:gd name="connsiteY19" fmla="*/ 39649 h 295806"/>
                <a:gd name="connsiteX20" fmla="*/ 238615 w 260286"/>
                <a:gd name="connsiteY20" fmla="*/ 40557 h 295806"/>
                <a:gd name="connsiteX21" fmla="*/ 256187 w 260286"/>
                <a:gd name="connsiteY21" fmla="*/ 55183 h 295806"/>
                <a:gd name="connsiteX22" fmla="*/ 257654 w 260286"/>
                <a:gd name="connsiteY22" fmla="*/ 71206 h 295806"/>
                <a:gd name="connsiteX23" fmla="*/ 242883 w 260286"/>
                <a:gd name="connsiteY23" fmla="*/ 73580 h 295806"/>
                <a:gd name="connsiteX24" fmla="*/ 241630 w 260286"/>
                <a:gd name="connsiteY24" fmla="*/ 72672 h 295806"/>
                <a:gd name="connsiteX25" fmla="*/ 224058 w 260286"/>
                <a:gd name="connsiteY25" fmla="*/ 58046 h 295806"/>
                <a:gd name="connsiteX26" fmla="*/ 222591 w 260286"/>
                <a:gd name="connsiteY26" fmla="*/ 42023 h 295806"/>
                <a:gd name="connsiteX27" fmla="*/ 237362 w 260286"/>
                <a:gd name="connsiteY27" fmla="*/ 39649 h 295806"/>
                <a:gd name="connsiteX28" fmla="*/ 163073 w 260286"/>
                <a:gd name="connsiteY28" fmla="*/ 0 h 295806"/>
                <a:gd name="connsiteX29" fmla="*/ 174450 w 260286"/>
                <a:gd name="connsiteY29" fmla="*/ 11377 h 295806"/>
                <a:gd name="connsiteX30" fmla="*/ 164617 w 260286"/>
                <a:gd name="connsiteY30" fmla="*/ 22650 h 295806"/>
                <a:gd name="connsiteX31" fmla="*/ 163073 w 260286"/>
                <a:gd name="connsiteY31" fmla="*/ 22754 h 295806"/>
                <a:gd name="connsiteX32" fmla="*/ 94810 w 260286"/>
                <a:gd name="connsiteY32" fmla="*/ 22754 h 295806"/>
                <a:gd name="connsiteX33" fmla="*/ 83433 w 260286"/>
                <a:gd name="connsiteY33" fmla="*/ 11377 h 295806"/>
                <a:gd name="connsiteX34" fmla="*/ 93266 w 260286"/>
                <a:gd name="connsiteY34" fmla="*/ 104 h 295806"/>
                <a:gd name="connsiteX35" fmla="*/ 94810 w 260286"/>
                <a:gd name="connsiteY35" fmla="*/ 0 h 295806"/>
                <a:gd name="connsiteX36" fmla="*/ 163073 w 260286"/>
                <a:gd name="connsiteY36" fmla="*/ 0 h 295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60286" h="295806">
                  <a:moveTo>
                    <a:pt x="128941" y="37924"/>
                  </a:moveTo>
                  <a:cubicBezTo>
                    <a:pt x="200154" y="37924"/>
                    <a:pt x="257883" y="95653"/>
                    <a:pt x="257883" y="166865"/>
                  </a:cubicBezTo>
                  <a:cubicBezTo>
                    <a:pt x="257883" y="238078"/>
                    <a:pt x="200154" y="295807"/>
                    <a:pt x="128941" y="295807"/>
                  </a:cubicBezTo>
                  <a:cubicBezTo>
                    <a:pt x="57729" y="295807"/>
                    <a:pt x="0" y="238078"/>
                    <a:pt x="0" y="166865"/>
                  </a:cubicBezTo>
                  <a:cubicBezTo>
                    <a:pt x="0" y="95653"/>
                    <a:pt x="57729" y="37924"/>
                    <a:pt x="128941" y="37924"/>
                  </a:cubicBezTo>
                  <a:close/>
                  <a:moveTo>
                    <a:pt x="128941" y="60678"/>
                  </a:moveTo>
                  <a:cubicBezTo>
                    <a:pt x="70296" y="60678"/>
                    <a:pt x="22754" y="108220"/>
                    <a:pt x="22754" y="166865"/>
                  </a:cubicBezTo>
                  <a:cubicBezTo>
                    <a:pt x="22754" y="225511"/>
                    <a:pt x="70296" y="273053"/>
                    <a:pt x="128941" y="273053"/>
                  </a:cubicBezTo>
                  <a:cubicBezTo>
                    <a:pt x="187587" y="273053"/>
                    <a:pt x="235129" y="225511"/>
                    <a:pt x="235129" y="166865"/>
                  </a:cubicBezTo>
                  <a:cubicBezTo>
                    <a:pt x="235129" y="108220"/>
                    <a:pt x="187587" y="60678"/>
                    <a:pt x="128941" y="60678"/>
                  </a:cubicBezTo>
                  <a:close/>
                  <a:moveTo>
                    <a:pt x="128941" y="83433"/>
                  </a:moveTo>
                  <a:cubicBezTo>
                    <a:pt x="134701" y="83433"/>
                    <a:pt x="139462" y="87713"/>
                    <a:pt x="140216" y="93266"/>
                  </a:cubicBezTo>
                  <a:lnTo>
                    <a:pt x="140319" y="94810"/>
                  </a:lnTo>
                  <a:lnTo>
                    <a:pt x="140319" y="163073"/>
                  </a:lnTo>
                  <a:cubicBezTo>
                    <a:pt x="140319" y="169356"/>
                    <a:pt x="135225" y="174450"/>
                    <a:pt x="128941" y="174450"/>
                  </a:cubicBezTo>
                  <a:cubicBezTo>
                    <a:pt x="123182" y="174450"/>
                    <a:pt x="118421" y="170169"/>
                    <a:pt x="117667" y="164617"/>
                  </a:cubicBezTo>
                  <a:lnTo>
                    <a:pt x="117564" y="163073"/>
                  </a:lnTo>
                  <a:lnTo>
                    <a:pt x="117564" y="94810"/>
                  </a:lnTo>
                  <a:cubicBezTo>
                    <a:pt x="117564" y="88527"/>
                    <a:pt x="122658" y="83433"/>
                    <a:pt x="128941" y="83433"/>
                  </a:cubicBezTo>
                  <a:close/>
                  <a:moveTo>
                    <a:pt x="237362" y="39649"/>
                  </a:moveTo>
                  <a:lnTo>
                    <a:pt x="238615" y="40557"/>
                  </a:lnTo>
                  <a:lnTo>
                    <a:pt x="256187" y="55183"/>
                  </a:lnTo>
                  <a:cubicBezTo>
                    <a:pt x="261017" y="59203"/>
                    <a:pt x="261672" y="66376"/>
                    <a:pt x="257654" y="71206"/>
                  </a:cubicBezTo>
                  <a:cubicBezTo>
                    <a:pt x="253968" y="75633"/>
                    <a:pt x="247633" y="76553"/>
                    <a:pt x="242883" y="73580"/>
                  </a:cubicBezTo>
                  <a:lnTo>
                    <a:pt x="241630" y="72672"/>
                  </a:lnTo>
                  <a:lnTo>
                    <a:pt x="224058" y="58046"/>
                  </a:lnTo>
                  <a:cubicBezTo>
                    <a:pt x="219228" y="54026"/>
                    <a:pt x="218572" y="46852"/>
                    <a:pt x="222591" y="42023"/>
                  </a:cubicBezTo>
                  <a:cubicBezTo>
                    <a:pt x="226277" y="37596"/>
                    <a:pt x="232612" y="36675"/>
                    <a:pt x="237362" y="39649"/>
                  </a:cubicBezTo>
                  <a:close/>
                  <a:moveTo>
                    <a:pt x="163073" y="0"/>
                  </a:moveTo>
                  <a:cubicBezTo>
                    <a:pt x="169356" y="0"/>
                    <a:pt x="174450" y="5094"/>
                    <a:pt x="174450" y="11377"/>
                  </a:cubicBezTo>
                  <a:cubicBezTo>
                    <a:pt x="174450" y="17137"/>
                    <a:pt x="170169" y="21897"/>
                    <a:pt x="164617" y="22650"/>
                  </a:cubicBezTo>
                  <a:lnTo>
                    <a:pt x="163073" y="22754"/>
                  </a:lnTo>
                  <a:lnTo>
                    <a:pt x="94810" y="22754"/>
                  </a:lnTo>
                  <a:cubicBezTo>
                    <a:pt x="88527" y="22754"/>
                    <a:pt x="83433" y="17661"/>
                    <a:pt x="83433" y="11377"/>
                  </a:cubicBezTo>
                  <a:cubicBezTo>
                    <a:pt x="83433" y="5617"/>
                    <a:pt x="87713" y="857"/>
                    <a:pt x="93266" y="104"/>
                  </a:cubicBezTo>
                  <a:lnTo>
                    <a:pt x="94810" y="0"/>
                  </a:lnTo>
                  <a:lnTo>
                    <a:pt x="163073" y="0"/>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40" name="グループ化 39">
            <a:extLst>
              <a:ext uri="{FF2B5EF4-FFF2-40B4-BE49-F238E27FC236}">
                <a16:creationId xmlns:a16="http://schemas.microsoft.com/office/drawing/2014/main" id="{076709E8-C3A3-2F91-4048-E9DB41E3059B}"/>
              </a:ext>
            </a:extLst>
          </p:cNvPr>
          <p:cNvGrpSpPr/>
          <p:nvPr/>
        </p:nvGrpSpPr>
        <p:grpSpPr>
          <a:xfrm>
            <a:off x="9259289" y="3122567"/>
            <a:ext cx="402910" cy="402588"/>
            <a:chOff x="6513688" y="3685951"/>
            <a:chExt cx="402910" cy="402588"/>
          </a:xfrm>
        </p:grpSpPr>
        <p:sp>
          <p:nvSpPr>
            <p:cNvPr id="12" name="Oval 103">
              <a:extLst>
                <a:ext uri="{FF2B5EF4-FFF2-40B4-BE49-F238E27FC236}">
                  <a16:creationId xmlns:a16="http://schemas.microsoft.com/office/drawing/2014/main" id="{35A1491B-1970-FA9C-61C6-203609AB0F5A}"/>
                </a:ext>
                <a:ext uri="{C183D7F6-B498-43B3-948B-1728B52AA6E4}">
                  <adec:decorative xmlns:adec="http://schemas.microsoft.com/office/drawing/2017/decorative" val="1"/>
                </a:ext>
              </a:extLst>
            </p:cNvPr>
            <p:cNvSpPr/>
            <p:nvPr/>
          </p:nvSpPr>
          <p:spPr bwMode="auto">
            <a:xfrm>
              <a:off x="6513688" y="3685951"/>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6" name="Graphic 64">
              <a:extLst>
                <a:ext uri="{FF2B5EF4-FFF2-40B4-BE49-F238E27FC236}">
                  <a16:creationId xmlns:a16="http://schemas.microsoft.com/office/drawing/2014/main" id="{2E425D80-23C5-D10A-7A26-4B7C8886A59B}"/>
                </a:ext>
                <a:ext uri="{C183D7F6-B498-43B3-948B-1728B52AA6E4}">
                  <adec:decorative xmlns:adec="http://schemas.microsoft.com/office/drawing/2017/decorative" val="1"/>
                </a:ext>
              </a:extLst>
            </p:cNvPr>
            <p:cNvSpPr/>
            <p:nvPr/>
          </p:nvSpPr>
          <p:spPr>
            <a:xfrm>
              <a:off x="6629434" y="3780110"/>
              <a:ext cx="171416" cy="214270"/>
            </a:xfrm>
            <a:custGeom>
              <a:avLst/>
              <a:gdLst>
                <a:gd name="connsiteX0" fmla="*/ 123663 w 247325"/>
                <a:gd name="connsiteY0" fmla="*/ 0 h 309156"/>
                <a:gd name="connsiteX1" fmla="*/ 185494 w 247325"/>
                <a:gd name="connsiteY1" fmla="*/ 61831 h 309156"/>
                <a:gd name="connsiteX2" fmla="*/ 185494 w 247325"/>
                <a:gd name="connsiteY2" fmla="*/ 92747 h 309156"/>
                <a:gd name="connsiteX3" fmla="*/ 212545 w 247325"/>
                <a:gd name="connsiteY3" fmla="*/ 92747 h 309156"/>
                <a:gd name="connsiteX4" fmla="*/ 247325 w 247325"/>
                <a:gd name="connsiteY4" fmla="*/ 127527 h 309156"/>
                <a:gd name="connsiteX5" fmla="*/ 247325 w 247325"/>
                <a:gd name="connsiteY5" fmla="*/ 274377 h 309156"/>
                <a:gd name="connsiteX6" fmla="*/ 212545 w 247325"/>
                <a:gd name="connsiteY6" fmla="*/ 309157 h 309156"/>
                <a:gd name="connsiteX7" fmla="*/ 34780 w 247325"/>
                <a:gd name="connsiteY7" fmla="*/ 309157 h 309156"/>
                <a:gd name="connsiteX8" fmla="*/ 0 w 247325"/>
                <a:gd name="connsiteY8" fmla="*/ 274377 h 309156"/>
                <a:gd name="connsiteX9" fmla="*/ 0 w 247325"/>
                <a:gd name="connsiteY9" fmla="*/ 127527 h 309156"/>
                <a:gd name="connsiteX10" fmla="*/ 34780 w 247325"/>
                <a:gd name="connsiteY10" fmla="*/ 92747 h 309156"/>
                <a:gd name="connsiteX11" fmla="*/ 61831 w 247325"/>
                <a:gd name="connsiteY11" fmla="*/ 92747 h 309156"/>
                <a:gd name="connsiteX12" fmla="*/ 61831 w 247325"/>
                <a:gd name="connsiteY12" fmla="*/ 61831 h 309156"/>
                <a:gd name="connsiteX13" fmla="*/ 123663 w 247325"/>
                <a:gd name="connsiteY13" fmla="*/ 0 h 309156"/>
                <a:gd name="connsiteX14" fmla="*/ 212545 w 247325"/>
                <a:gd name="connsiteY14" fmla="*/ 115934 h 309156"/>
                <a:gd name="connsiteX15" fmla="*/ 34780 w 247325"/>
                <a:gd name="connsiteY15" fmla="*/ 115934 h 309156"/>
                <a:gd name="connsiteX16" fmla="*/ 23187 w 247325"/>
                <a:gd name="connsiteY16" fmla="*/ 127527 h 309156"/>
                <a:gd name="connsiteX17" fmla="*/ 23187 w 247325"/>
                <a:gd name="connsiteY17" fmla="*/ 274377 h 309156"/>
                <a:gd name="connsiteX18" fmla="*/ 34780 w 247325"/>
                <a:gd name="connsiteY18" fmla="*/ 285970 h 309156"/>
                <a:gd name="connsiteX19" fmla="*/ 212545 w 247325"/>
                <a:gd name="connsiteY19" fmla="*/ 285970 h 309156"/>
                <a:gd name="connsiteX20" fmla="*/ 224139 w 247325"/>
                <a:gd name="connsiteY20" fmla="*/ 274377 h 309156"/>
                <a:gd name="connsiteX21" fmla="*/ 224139 w 247325"/>
                <a:gd name="connsiteY21" fmla="*/ 127527 h 309156"/>
                <a:gd name="connsiteX22" fmla="*/ 212545 w 247325"/>
                <a:gd name="connsiteY22" fmla="*/ 115934 h 309156"/>
                <a:gd name="connsiteX23" fmla="*/ 123664 w 247325"/>
                <a:gd name="connsiteY23" fmla="*/ 177765 h 309156"/>
                <a:gd name="connsiteX24" fmla="*/ 146851 w 247325"/>
                <a:gd name="connsiteY24" fmla="*/ 200952 h 309156"/>
                <a:gd name="connsiteX25" fmla="*/ 123664 w 247325"/>
                <a:gd name="connsiteY25" fmla="*/ 224139 h 309156"/>
                <a:gd name="connsiteX26" fmla="*/ 100477 w 247325"/>
                <a:gd name="connsiteY26" fmla="*/ 200952 h 309156"/>
                <a:gd name="connsiteX27" fmla="*/ 123664 w 247325"/>
                <a:gd name="connsiteY27" fmla="*/ 177765 h 309156"/>
                <a:gd name="connsiteX28" fmla="*/ 123663 w 247325"/>
                <a:gd name="connsiteY28" fmla="*/ 23187 h 309156"/>
                <a:gd name="connsiteX29" fmla="*/ 85018 w 247325"/>
                <a:gd name="connsiteY29" fmla="*/ 61831 h 309156"/>
                <a:gd name="connsiteX30" fmla="*/ 85018 w 247325"/>
                <a:gd name="connsiteY30" fmla="*/ 92747 h 309156"/>
                <a:gd name="connsiteX31" fmla="*/ 162307 w 247325"/>
                <a:gd name="connsiteY31" fmla="*/ 92747 h 309156"/>
                <a:gd name="connsiteX32" fmla="*/ 162307 w 247325"/>
                <a:gd name="connsiteY32" fmla="*/ 61831 h 309156"/>
                <a:gd name="connsiteX33" fmla="*/ 123663 w 247325"/>
                <a:gd name="connsiteY33" fmla="*/ 23187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47325" h="309156">
                  <a:moveTo>
                    <a:pt x="123663" y="0"/>
                  </a:moveTo>
                  <a:cubicBezTo>
                    <a:pt x="157811" y="0"/>
                    <a:pt x="185494" y="27683"/>
                    <a:pt x="185494" y="61831"/>
                  </a:cubicBezTo>
                  <a:lnTo>
                    <a:pt x="185494" y="92747"/>
                  </a:lnTo>
                  <a:lnTo>
                    <a:pt x="212545" y="92747"/>
                  </a:lnTo>
                  <a:cubicBezTo>
                    <a:pt x="231753" y="92747"/>
                    <a:pt x="247325" y="108319"/>
                    <a:pt x="247325" y="127527"/>
                  </a:cubicBezTo>
                  <a:lnTo>
                    <a:pt x="247325" y="274377"/>
                  </a:lnTo>
                  <a:cubicBezTo>
                    <a:pt x="247325" y="293584"/>
                    <a:pt x="231753" y="309157"/>
                    <a:pt x="212545" y="309157"/>
                  </a:cubicBezTo>
                  <a:lnTo>
                    <a:pt x="34780" y="309157"/>
                  </a:lnTo>
                  <a:cubicBezTo>
                    <a:pt x="15572" y="309157"/>
                    <a:pt x="0" y="293584"/>
                    <a:pt x="0" y="274377"/>
                  </a:cubicBezTo>
                  <a:lnTo>
                    <a:pt x="0" y="127527"/>
                  </a:lnTo>
                  <a:cubicBezTo>
                    <a:pt x="0" y="108319"/>
                    <a:pt x="15572" y="92747"/>
                    <a:pt x="34780" y="92747"/>
                  </a:cubicBezTo>
                  <a:lnTo>
                    <a:pt x="61831" y="92747"/>
                  </a:lnTo>
                  <a:lnTo>
                    <a:pt x="61831" y="61831"/>
                  </a:lnTo>
                  <a:cubicBezTo>
                    <a:pt x="61831" y="27683"/>
                    <a:pt x="89514" y="0"/>
                    <a:pt x="123663" y="0"/>
                  </a:cubicBezTo>
                  <a:close/>
                  <a:moveTo>
                    <a:pt x="212545" y="115934"/>
                  </a:moveTo>
                  <a:lnTo>
                    <a:pt x="34780" y="115934"/>
                  </a:lnTo>
                  <a:cubicBezTo>
                    <a:pt x="28377" y="115934"/>
                    <a:pt x="23187" y="121124"/>
                    <a:pt x="23187" y="127527"/>
                  </a:cubicBezTo>
                  <a:lnTo>
                    <a:pt x="23187" y="274377"/>
                  </a:lnTo>
                  <a:cubicBezTo>
                    <a:pt x="23187" y="280779"/>
                    <a:pt x="28377" y="285970"/>
                    <a:pt x="34780" y="285970"/>
                  </a:cubicBezTo>
                  <a:lnTo>
                    <a:pt x="212545" y="285970"/>
                  </a:lnTo>
                  <a:cubicBezTo>
                    <a:pt x="218948" y="285970"/>
                    <a:pt x="224139" y="280779"/>
                    <a:pt x="224139" y="274377"/>
                  </a:cubicBezTo>
                  <a:lnTo>
                    <a:pt x="224139" y="127527"/>
                  </a:lnTo>
                  <a:cubicBezTo>
                    <a:pt x="224139" y="121124"/>
                    <a:pt x="218948" y="115934"/>
                    <a:pt x="212545" y="115934"/>
                  </a:cubicBezTo>
                  <a:close/>
                  <a:moveTo>
                    <a:pt x="123664" y="177765"/>
                  </a:moveTo>
                  <a:cubicBezTo>
                    <a:pt x="136471" y="177765"/>
                    <a:pt x="146851" y="188147"/>
                    <a:pt x="146851" y="200952"/>
                  </a:cubicBezTo>
                  <a:cubicBezTo>
                    <a:pt x="146851" y="213757"/>
                    <a:pt x="136471" y="224139"/>
                    <a:pt x="123664" y="224139"/>
                  </a:cubicBezTo>
                  <a:cubicBezTo>
                    <a:pt x="110859" y="224139"/>
                    <a:pt x="100477" y="213757"/>
                    <a:pt x="100477" y="200952"/>
                  </a:cubicBezTo>
                  <a:cubicBezTo>
                    <a:pt x="100477" y="188147"/>
                    <a:pt x="110859" y="177765"/>
                    <a:pt x="123664" y="177765"/>
                  </a:cubicBezTo>
                  <a:close/>
                  <a:moveTo>
                    <a:pt x="123663" y="23187"/>
                  </a:moveTo>
                  <a:cubicBezTo>
                    <a:pt x="102320" y="23187"/>
                    <a:pt x="85018" y="40489"/>
                    <a:pt x="85018" y="61831"/>
                  </a:cubicBezTo>
                  <a:lnTo>
                    <a:pt x="85018" y="92747"/>
                  </a:lnTo>
                  <a:lnTo>
                    <a:pt x="162307" y="92747"/>
                  </a:lnTo>
                  <a:lnTo>
                    <a:pt x="162307" y="61831"/>
                  </a:lnTo>
                  <a:cubicBezTo>
                    <a:pt x="162307" y="40489"/>
                    <a:pt x="145005" y="23187"/>
                    <a:pt x="123663" y="23187"/>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42" name="グループ化 41">
            <a:extLst>
              <a:ext uri="{FF2B5EF4-FFF2-40B4-BE49-F238E27FC236}">
                <a16:creationId xmlns:a16="http://schemas.microsoft.com/office/drawing/2014/main" id="{A8013204-F528-5AF9-43FF-7368D485C89F}"/>
              </a:ext>
            </a:extLst>
          </p:cNvPr>
          <p:cNvGrpSpPr/>
          <p:nvPr/>
        </p:nvGrpSpPr>
        <p:grpSpPr>
          <a:xfrm>
            <a:off x="4679634" y="4732988"/>
            <a:ext cx="402910" cy="402588"/>
            <a:chOff x="6513688" y="5049697"/>
            <a:chExt cx="402910" cy="402588"/>
          </a:xfrm>
        </p:grpSpPr>
        <p:sp>
          <p:nvSpPr>
            <p:cNvPr id="22" name="Oval 119">
              <a:extLst>
                <a:ext uri="{FF2B5EF4-FFF2-40B4-BE49-F238E27FC236}">
                  <a16:creationId xmlns:a16="http://schemas.microsoft.com/office/drawing/2014/main" id="{95844D1F-432B-9C73-FDFD-771DF1B66CB6}"/>
                </a:ext>
                <a:ext uri="{C183D7F6-B498-43B3-948B-1728B52AA6E4}">
                  <adec:decorative xmlns:adec="http://schemas.microsoft.com/office/drawing/2017/decorative" val="1"/>
                </a:ext>
              </a:extLst>
            </p:cNvPr>
            <p:cNvSpPr/>
            <p:nvPr/>
          </p:nvSpPr>
          <p:spPr bwMode="auto">
            <a:xfrm>
              <a:off x="6513688" y="5049697"/>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7" name="Graphic 8">
              <a:extLst>
                <a:ext uri="{FF2B5EF4-FFF2-40B4-BE49-F238E27FC236}">
                  <a16:creationId xmlns:a16="http://schemas.microsoft.com/office/drawing/2014/main" id="{067F5651-E115-9502-DB1B-A8ED6235F674}"/>
                </a:ext>
                <a:ext uri="{C183D7F6-B498-43B3-948B-1728B52AA6E4}">
                  <adec:decorative xmlns:adec="http://schemas.microsoft.com/office/drawing/2017/decorative" val="1"/>
                </a:ext>
              </a:extLst>
            </p:cNvPr>
            <p:cNvSpPr>
              <a:spLocks noChangeAspect="1"/>
            </p:cNvSpPr>
            <p:nvPr/>
          </p:nvSpPr>
          <p:spPr>
            <a:xfrm>
              <a:off x="6612418" y="5122577"/>
              <a:ext cx="205450" cy="256828"/>
            </a:xfrm>
            <a:custGeom>
              <a:avLst/>
              <a:gdLst>
                <a:gd name="connsiteX0" fmla="*/ 310304 w 361083"/>
                <a:gd name="connsiteY0" fmla="*/ 270807 h 451381"/>
                <a:gd name="connsiteX1" fmla="*/ 361083 w 361083"/>
                <a:gd name="connsiteY1" fmla="*/ 321586 h 451381"/>
                <a:gd name="connsiteX2" fmla="*/ 361083 w 361083"/>
                <a:gd name="connsiteY2" fmla="*/ 342013 h 451381"/>
                <a:gd name="connsiteX3" fmla="*/ 331579 w 361083"/>
                <a:gd name="connsiteY3" fmla="*/ 406227 h 451381"/>
                <a:gd name="connsiteX4" fmla="*/ 180468 w 361083"/>
                <a:gd name="connsiteY4" fmla="*/ 451382 h 451381"/>
                <a:gd name="connsiteX5" fmla="*/ 29458 w 361083"/>
                <a:gd name="connsiteY5" fmla="*/ 406238 h 451381"/>
                <a:gd name="connsiteX6" fmla="*/ 0 w 361083"/>
                <a:gd name="connsiteY6" fmla="*/ 342063 h 451381"/>
                <a:gd name="connsiteX7" fmla="*/ 0 w 361083"/>
                <a:gd name="connsiteY7" fmla="*/ 321586 h 451381"/>
                <a:gd name="connsiteX8" fmla="*/ 50779 w 361083"/>
                <a:gd name="connsiteY8" fmla="*/ 270807 h 451381"/>
                <a:gd name="connsiteX9" fmla="*/ 310304 w 361083"/>
                <a:gd name="connsiteY9" fmla="*/ 270807 h 451381"/>
                <a:gd name="connsiteX10" fmla="*/ 310304 w 361083"/>
                <a:gd name="connsiteY10" fmla="*/ 304660 h 451381"/>
                <a:gd name="connsiteX11" fmla="*/ 50779 w 361083"/>
                <a:gd name="connsiteY11" fmla="*/ 304660 h 451381"/>
                <a:gd name="connsiteX12" fmla="*/ 33853 w 361083"/>
                <a:gd name="connsiteY12" fmla="*/ 321586 h 451381"/>
                <a:gd name="connsiteX13" fmla="*/ 33853 w 361083"/>
                <a:gd name="connsiteY13" fmla="*/ 342063 h 451381"/>
                <a:gd name="connsiteX14" fmla="*/ 51527 w 361083"/>
                <a:gd name="connsiteY14" fmla="*/ 380569 h 451381"/>
                <a:gd name="connsiteX15" fmla="*/ 180468 w 361083"/>
                <a:gd name="connsiteY15" fmla="*/ 417529 h 451381"/>
                <a:gd name="connsiteX16" fmla="*/ 309530 w 361083"/>
                <a:gd name="connsiteY16" fmla="*/ 380542 h 451381"/>
                <a:gd name="connsiteX17" fmla="*/ 327231 w 361083"/>
                <a:gd name="connsiteY17" fmla="*/ 342013 h 451381"/>
                <a:gd name="connsiteX18" fmla="*/ 327231 w 361083"/>
                <a:gd name="connsiteY18" fmla="*/ 321586 h 451381"/>
                <a:gd name="connsiteX19" fmla="*/ 310304 w 361083"/>
                <a:gd name="connsiteY19" fmla="*/ 304660 h 451381"/>
                <a:gd name="connsiteX20" fmla="*/ 178177 w 361083"/>
                <a:gd name="connsiteY20" fmla="*/ 155 h 451381"/>
                <a:gd name="connsiteX21" fmla="*/ 180475 w 361083"/>
                <a:gd name="connsiteY21" fmla="*/ 0 h 451381"/>
                <a:gd name="connsiteX22" fmla="*/ 197245 w 361083"/>
                <a:gd name="connsiteY22" fmla="*/ 14630 h 451381"/>
                <a:gd name="connsiteX23" fmla="*/ 197401 w 361083"/>
                <a:gd name="connsiteY23" fmla="*/ 16926 h 451381"/>
                <a:gd name="connsiteX24" fmla="*/ 197383 w 361083"/>
                <a:gd name="connsiteY24" fmla="*/ 33830 h 451381"/>
                <a:gd name="connsiteX25" fmla="*/ 276384 w 361083"/>
                <a:gd name="connsiteY25" fmla="*/ 33842 h 451381"/>
                <a:gd name="connsiteX26" fmla="*/ 327163 w 361083"/>
                <a:gd name="connsiteY26" fmla="*/ 84621 h 451381"/>
                <a:gd name="connsiteX27" fmla="*/ 327163 w 361083"/>
                <a:gd name="connsiteY27" fmla="*/ 186282 h 451381"/>
                <a:gd name="connsiteX28" fmla="*/ 276384 w 361083"/>
                <a:gd name="connsiteY28" fmla="*/ 237061 h 451381"/>
                <a:gd name="connsiteX29" fmla="*/ 84551 w 361083"/>
                <a:gd name="connsiteY29" fmla="*/ 237061 h 451381"/>
                <a:gd name="connsiteX30" fmla="*/ 33773 w 361083"/>
                <a:gd name="connsiteY30" fmla="*/ 186282 h 451381"/>
                <a:gd name="connsiteX31" fmla="*/ 33773 w 361083"/>
                <a:gd name="connsiteY31" fmla="*/ 84621 h 451381"/>
                <a:gd name="connsiteX32" fmla="*/ 84551 w 361083"/>
                <a:gd name="connsiteY32" fmla="*/ 33842 h 451381"/>
                <a:gd name="connsiteX33" fmla="*/ 163531 w 361083"/>
                <a:gd name="connsiteY33" fmla="*/ 33830 h 451381"/>
                <a:gd name="connsiteX34" fmla="*/ 163549 w 361083"/>
                <a:gd name="connsiteY34" fmla="*/ 16926 h 451381"/>
                <a:gd name="connsiteX35" fmla="*/ 178177 w 361083"/>
                <a:gd name="connsiteY35" fmla="*/ 155 h 451381"/>
                <a:gd name="connsiteX36" fmla="*/ 180475 w 361083"/>
                <a:gd name="connsiteY36" fmla="*/ 0 h 451381"/>
                <a:gd name="connsiteX37" fmla="*/ 178177 w 361083"/>
                <a:gd name="connsiteY37" fmla="*/ 155 h 451381"/>
                <a:gd name="connsiteX38" fmla="*/ 276384 w 361083"/>
                <a:gd name="connsiteY38" fmla="*/ 67694 h 451381"/>
                <a:gd name="connsiteX39" fmla="*/ 84551 w 361083"/>
                <a:gd name="connsiteY39" fmla="*/ 67694 h 451381"/>
                <a:gd name="connsiteX40" fmla="*/ 67625 w 361083"/>
                <a:gd name="connsiteY40" fmla="*/ 84621 h 451381"/>
                <a:gd name="connsiteX41" fmla="*/ 67625 w 361083"/>
                <a:gd name="connsiteY41" fmla="*/ 186282 h 451381"/>
                <a:gd name="connsiteX42" fmla="*/ 84551 w 361083"/>
                <a:gd name="connsiteY42" fmla="*/ 203208 h 451381"/>
                <a:gd name="connsiteX43" fmla="*/ 276384 w 361083"/>
                <a:gd name="connsiteY43" fmla="*/ 203208 h 451381"/>
                <a:gd name="connsiteX44" fmla="*/ 293310 w 361083"/>
                <a:gd name="connsiteY44" fmla="*/ 186282 h 451381"/>
                <a:gd name="connsiteX45" fmla="*/ 293310 w 361083"/>
                <a:gd name="connsiteY45" fmla="*/ 84621 h 451381"/>
                <a:gd name="connsiteX46" fmla="*/ 276384 w 361083"/>
                <a:gd name="connsiteY46" fmla="*/ 67694 h 451381"/>
                <a:gd name="connsiteX47" fmla="*/ 129672 w 361083"/>
                <a:gd name="connsiteY47" fmla="*/ 101547 h 451381"/>
                <a:gd name="connsiteX48" fmla="*/ 157866 w 361083"/>
                <a:gd name="connsiteY48" fmla="*/ 129741 h 451381"/>
                <a:gd name="connsiteX49" fmla="*/ 129672 w 361083"/>
                <a:gd name="connsiteY49" fmla="*/ 157936 h 451381"/>
                <a:gd name="connsiteX50" fmla="*/ 101478 w 361083"/>
                <a:gd name="connsiteY50" fmla="*/ 129741 h 451381"/>
                <a:gd name="connsiteX51" fmla="*/ 129672 w 361083"/>
                <a:gd name="connsiteY51" fmla="*/ 101547 h 451381"/>
                <a:gd name="connsiteX52" fmla="*/ 231067 w 361083"/>
                <a:gd name="connsiteY52" fmla="*/ 101547 h 451381"/>
                <a:gd name="connsiteX53" fmla="*/ 259261 w 361083"/>
                <a:gd name="connsiteY53" fmla="*/ 129741 h 451381"/>
                <a:gd name="connsiteX54" fmla="*/ 231067 w 361083"/>
                <a:gd name="connsiteY54" fmla="*/ 157936 h 451381"/>
                <a:gd name="connsiteX55" fmla="*/ 202872 w 361083"/>
                <a:gd name="connsiteY55" fmla="*/ 129741 h 451381"/>
                <a:gd name="connsiteX56" fmla="*/ 231067 w 361083"/>
                <a:gd name="connsiteY56" fmla="*/ 101547 h 45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61083" h="451381">
                  <a:moveTo>
                    <a:pt x="310304" y="270807"/>
                  </a:moveTo>
                  <a:cubicBezTo>
                    <a:pt x="338350" y="270807"/>
                    <a:pt x="361083" y="293543"/>
                    <a:pt x="361083" y="321586"/>
                  </a:cubicBezTo>
                  <a:lnTo>
                    <a:pt x="361083" y="342013"/>
                  </a:lnTo>
                  <a:cubicBezTo>
                    <a:pt x="361083" y="366696"/>
                    <a:pt x="350309" y="390149"/>
                    <a:pt x="331579" y="406227"/>
                  </a:cubicBezTo>
                  <a:cubicBezTo>
                    <a:pt x="296251" y="436557"/>
                    <a:pt x="245691" y="451382"/>
                    <a:pt x="180468" y="451382"/>
                  </a:cubicBezTo>
                  <a:cubicBezTo>
                    <a:pt x="115256" y="451382"/>
                    <a:pt x="64729" y="436563"/>
                    <a:pt x="29458" y="406238"/>
                  </a:cubicBezTo>
                  <a:cubicBezTo>
                    <a:pt x="10757" y="390161"/>
                    <a:pt x="0" y="366726"/>
                    <a:pt x="0" y="342063"/>
                  </a:cubicBezTo>
                  <a:lnTo>
                    <a:pt x="0" y="321586"/>
                  </a:lnTo>
                  <a:cubicBezTo>
                    <a:pt x="0" y="293543"/>
                    <a:pt x="22735" y="270807"/>
                    <a:pt x="50779" y="270807"/>
                  </a:cubicBezTo>
                  <a:lnTo>
                    <a:pt x="310304" y="270807"/>
                  </a:lnTo>
                  <a:close/>
                  <a:moveTo>
                    <a:pt x="310304" y="304660"/>
                  </a:moveTo>
                  <a:lnTo>
                    <a:pt x="50779" y="304660"/>
                  </a:lnTo>
                  <a:cubicBezTo>
                    <a:pt x="41431" y="304660"/>
                    <a:pt x="33853" y="312239"/>
                    <a:pt x="33853" y="321586"/>
                  </a:cubicBezTo>
                  <a:lnTo>
                    <a:pt x="33853" y="342063"/>
                  </a:lnTo>
                  <a:cubicBezTo>
                    <a:pt x="33853" y="356861"/>
                    <a:pt x="40307" y="370921"/>
                    <a:pt x="51527" y="380569"/>
                  </a:cubicBezTo>
                  <a:cubicBezTo>
                    <a:pt x="79920" y="404979"/>
                    <a:pt x="122710" y="417529"/>
                    <a:pt x="180468" y="417529"/>
                  </a:cubicBezTo>
                  <a:cubicBezTo>
                    <a:pt x="238241" y="417529"/>
                    <a:pt x="281074" y="404972"/>
                    <a:pt x="309530" y="380542"/>
                  </a:cubicBezTo>
                  <a:cubicBezTo>
                    <a:pt x="320765" y="370894"/>
                    <a:pt x="327231" y="356822"/>
                    <a:pt x="327231" y="342013"/>
                  </a:cubicBezTo>
                  <a:lnTo>
                    <a:pt x="327231" y="321586"/>
                  </a:lnTo>
                  <a:cubicBezTo>
                    <a:pt x="327231" y="312239"/>
                    <a:pt x="319652" y="304660"/>
                    <a:pt x="310304" y="304660"/>
                  </a:cubicBezTo>
                  <a:close/>
                  <a:moveTo>
                    <a:pt x="178177" y="155"/>
                  </a:moveTo>
                  <a:lnTo>
                    <a:pt x="180475" y="0"/>
                  </a:lnTo>
                  <a:cubicBezTo>
                    <a:pt x="189044" y="0"/>
                    <a:pt x="196126" y="6368"/>
                    <a:pt x="197245" y="14630"/>
                  </a:cubicBezTo>
                  <a:lnTo>
                    <a:pt x="197401" y="16926"/>
                  </a:lnTo>
                  <a:lnTo>
                    <a:pt x="197383" y="33830"/>
                  </a:lnTo>
                  <a:lnTo>
                    <a:pt x="276384" y="33842"/>
                  </a:lnTo>
                  <a:cubicBezTo>
                    <a:pt x="304427" y="33842"/>
                    <a:pt x="327163" y="56576"/>
                    <a:pt x="327163" y="84621"/>
                  </a:cubicBezTo>
                  <a:lnTo>
                    <a:pt x="327163" y="186282"/>
                  </a:lnTo>
                  <a:cubicBezTo>
                    <a:pt x="327163" y="214325"/>
                    <a:pt x="304427" y="237061"/>
                    <a:pt x="276384" y="237061"/>
                  </a:cubicBezTo>
                  <a:lnTo>
                    <a:pt x="84551" y="237061"/>
                  </a:lnTo>
                  <a:cubicBezTo>
                    <a:pt x="56507" y="237061"/>
                    <a:pt x="33773" y="214325"/>
                    <a:pt x="33773" y="186282"/>
                  </a:cubicBezTo>
                  <a:lnTo>
                    <a:pt x="33773" y="84621"/>
                  </a:lnTo>
                  <a:cubicBezTo>
                    <a:pt x="33773" y="56576"/>
                    <a:pt x="56507" y="33842"/>
                    <a:pt x="84551" y="33842"/>
                  </a:cubicBezTo>
                  <a:lnTo>
                    <a:pt x="163531" y="33830"/>
                  </a:lnTo>
                  <a:lnTo>
                    <a:pt x="163549" y="16926"/>
                  </a:lnTo>
                  <a:cubicBezTo>
                    <a:pt x="163549" y="8357"/>
                    <a:pt x="169915" y="1275"/>
                    <a:pt x="178177" y="155"/>
                  </a:cubicBezTo>
                  <a:lnTo>
                    <a:pt x="180475" y="0"/>
                  </a:lnTo>
                  <a:lnTo>
                    <a:pt x="178177" y="155"/>
                  </a:lnTo>
                  <a:close/>
                  <a:moveTo>
                    <a:pt x="276384" y="67694"/>
                  </a:moveTo>
                  <a:lnTo>
                    <a:pt x="84551" y="67694"/>
                  </a:lnTo>
                  <a:cubicBezTo>
                    <a:pt x="75203" y="67694"/>
                    <a:pt x="67625" y="75272"/>
                    <a:pt x="67625" y="84621"/>
                  </a:cubicBezTo>
                  <a:lnTo>
                    <a:pt x="67625" y="186282"/>
                  </a:lnTo>
                  <a:cubicBezTo>
                    <a:pt x="67625" y="195630"/>
                    <a:pt x="75203" y="203208"/>
                    <a:pt x="84551" y="203208"/>
                  </a:cubicBezTo>
                  <a:lnTo>
                    <a:pt x="276384" y="203208"/>
                  </a:lnTo>
                  <a:cubicBezTo>
                    <a:pt x="285732" y="203208"/>
                    <a:pt x="293310" y="195630"/>
                    <a:pt x="293310" y="186282"/>
                  </a:cubicBezTo>
                  <a:lnTo>
                    <a:pt x="293310" y="84621"/>
                  </a:lnTo>
                  <a:cubicBezTo>
                    <a:pt x="293310" y="75272"/>
                    <a:pt x="285732" y="67694"/>
                    <a:pt x="276384" y="67694"/>
                  </a:cubicBezTo>
                  <a:close/>
                  <a:moveTo>
                    <a:pt x="129672" y="101547"/>
                  </a:moveTo>
                  <a:cubicBezTo>
                    <a:pt x="145243" y="101547"/>
                    <a:pt x="157866" y="114170"/>
                    <a:pt x="157866" y="129741"/>
                  </a:cubicBezTo>
                  <a:cubicBezTo>
                    <a:pt x="157866" y="145313"/>
                    <a:pt x="145243" y="157936"/>
                    <a:pt x="129672" y="157936"/>
                  </a:cubicBezTo>
                  <a:cubicBezTo>
                    <a:pt x="114101" y="157936"/>
                    <a:pt x="101478" y="145313"/>
                    <a:pt x="101478" y="129741"/>
                  </a:cubicBezTo>
                  <a:cubicBezTo>
                    <a:pt x="101478" y="114170"/>
                    <a:pt x="114101" y="101547"/>
                    <a:pt x="129672" y="101547"/>
                  </a:cubicBezTo>
                  <a:close/>
                  <a:moveTo>
                    <a:pt x="231067" y="101547"/>
                  </a:moveTo>
                  <a:cubicBezTo>
                    <a:pt x="246639" y="101547"/>
                    <a:pt x="259261" y="114170"/>
                    <a:pt x="259261" y="129741"/>
                  </a:cubicBezTo>
                  <a:cubicBezTo>
                    <a:pt x="259261" y="145313"/>
                    <a:pt x="246639" y="157936"/>
                    <a:pt x="231067" y="157936"/>
                  </a:cubicBezTo>
                  <a:cubicBezTo>
                    <a:pt x="215494" y="157936"/>
                    <a:pt x="202872" y="145313"/>
                    <a:pt x="202872" y="129741"/>
                  </a:cubicBezTo>
                  <a:cubicBezTo>
                    <a:pt x="202872" y="114170"/>
                    <a:pt x="215494" y="101547"/>
                    <a:pt x="231067" y="101547"/>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43" name="グループ化 42">
            <a:extLst>
              <a:ext uri="{FF2B5EF4-FFF2-40B4-BE49-F238E27FC236}">
                <a16:creationId xmlns:a16="http://schemas.microsoft.com/office/drawing/2014/main" id="{F1BCE68F-90C6-DD74-9341-7DDB92D9A155}"/>
              </a:ext>
            </a:extLst>
          </p:cNvPr>
          <p:cNvGrpSpPr/>
          <p:nvPr/>
        </p:nvGrpSpPr>
        <p:grpSpPr>
          <a:xfrm>
            <a:off x="6969461" y="4775624"/>
            <a:ext cx="402910" cy="402588"/>
            <a:chOff x="6513688" y="5731570"/>
            <a:chExt cx="402910" cy="402588"/>
          </a:xfrm>
        </p:grpSpPr>
        <p:sp>
          <p:nvSpPr>
            <p:cNvPr id="18" name="Oval 109">
              <a:extLst>
                <a:ext uri="{FF2B5EF4-FFF2-40B4-BE49-F238E27FC236}">
                  <a16:creationId xmlns:a16="http://schemas.microsoft.com/office/drawing/2014/main" id="{41098D1E-F2FA-C566-1153-77FB5DB31147}"/>
                </a:ext>
                <a:ext uri="{C183D7F6-B498-43B3-948B-1728B52AA6E4}">
                  <adec:decorative xmlns:adec="http://schemas.microsoft.com/office/drawing/2017/decorative" val="1"/>
                </a:ext>
              </a:extLst>
            </p:cNvPr>
            <p:cNvSpPr/>
            <p:nvPr/>
          </p:nvSpPr>
          <p:spPr bwMode="auto">
            <a:xfrm>
              <a:off x="6513688" y="5731570"/>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8" name="Graphic 44">
              <a:extLst>
                <a:ext uri="{FF2B5EF4-FFF2-40B4-BE49-F238E27FC236}">
                  <a16:creationId xmlns:a16="http://schemas.microsoft.com/office/drawing/2014/main" id="{094D12A9-7671-0E1C-1AF0-1AA0038A1EB9}"/>
                </a:ext>
                <a:ext uri="{C183D7F6-B498-43B3-948B-1728B52AA6E4}">
                  <adec:decorative xmlns:adec="http://schemas.microsoft.com/office/drawing/2017/decorative" val="1"/>
                </a:ext>
              </a:extLst>
            </p:cNvPr>
            <p:cNvSpPr>
              <a:spLocks noChangeAspect="1"/>
            </p:cNvSpPr>
            <p:nvPr/>
          </p:nvSpPr>
          <p:spPr>
            <a:xfrm>
              <a:off x="6607434" y="5852083"/>
              <a:ext cx="215418" cy="161562"/>
            </a:xfrm>
            <a:custGeom>
              <a:avLst/>
              <a:gdLst>
                <a:gd name="connsiteX0" fmla="*/ 158200 w 372234"/>
                <a:gd name="connsiteY0" fmla="*/ 55835 h 279175"/>
                <a:gd name="connsiteX1" fmla="*/ 102364 w 372234"/>
                <a:gd name="connsiteY1" fmla="*/ 111670 h 279175"/>
                <a:gd name="connsiteX2" fmla="*/ 158200 w 372234"/>
                <a:gd name="connsiteY2" fmla="*/ 167505 h 279175"/>
                <a:gd name="connsiteX3" fmla="*/ 214035 w 372234"/>
                <a:gd name="connsiteY3" fmla="*/ 111670 h 279175"/>
                <a:gd name="connsiteX4" fmla="*/ 158200 w 372234"/>
                <a:gd name="connsiteY4" fmla="*/ 55835 h 279175"/>
                <a:gd name="connsiteX5" fmla="*/ 130282 w 372234"/>
                <a:gd name="connsiteY5" fmla="*/ 111670 h 279175"/>
                <a:gd name="connsiteX6" fmla="*/ 158200 w 372234"/>
                <a:gd name="connsiteY6" fmla="*/ 83753 h 279175"/>
                <a:gd name="connsiteX7" fmla="*/ 186117 w 372234"/>
                <a:gd name="connsiteY7" fmla="*/ 111670 h 279175"/>
                <a:gd name="connsiteX8" fmla="*/ 158200 w 372234"/>
                <a:gd name="connsiteY8" fmla="*/ 139588 h 279175"/>
                <a:gd name="connsiteX9" fmla="*/ 130282 w 372234"/>
                <a:gd name="connsiteY9" fmla="*/ 111670 h 279175"/>
                <a:gd name="connsiteX10" fmla="*/ 0 w 372234"/>
                <a:gd name="connsiteY10" fmla="*/ 41876 h 279175"/>
                <a:gd name="connsiteX11" fmla="*/ 41876 w 372234"/>
                <a:gd name="connsiteY11" fmla="*/ 0 h 279175"/>
                <a:gd name="connsiteX12" fmla="*/ 274523 w 372234"/>
                <a:gd name="connsiteY12" fmla="*/ 0 h 279175"/>
                <a:gd name="connsiteX13" fmla="*/ 316399 w 372234"/>
                <a:gd name="connsiteY13" fmla="*/ 41876 h 279175"/>
                <a:gd name="connsiteX14" fmla="*/ 316399 w 372234"/>
                <a:gd name="connsiteY14" fmla="*/ 181464 h 279175"/>
                <a:gd name="connsiteX15" fmla="*/ 274523 w 372234"/>
                <a:gd name="connsiteY15" fmla="*/ 223341 h 279175"/>
                <a:gd name="connsiteX16" fmla="*/ 41876 w 372234"/>
                <a:gd name="connsiteY16" fmla="*/ 223341 h 279175"/>
                <a:gd name="connsiteX17" fmla="*/ 0 w 372234"/>
                <a:gd name="connsiteY17" fmla="*/ 181464 h 279175"/>
                <a:gd name="connsiteX18" fmla="*/ 0 w 372234"/>
                <a:gd name="connsiteY18" fmla="*/ 41876 h 279175"/>
                <a:gd name="connsiteX19" fmla="*/ 41876 w 372234"/>
                <a:gd name="connsiteY19" fmla="*/ 27918 h 279175"/>
                <a:gd name="connsiteX20" fmla="*/ 27918 w 372234"/>
                <a:gd name="connsiteY20" fmla="*/ 41876 h 279175"/>
                <a:gd name="connsiteX21" fmla="*/ 27918 w 372234"/>
                <a:gd name="connsiteY21" fmla="*/ 55835 h 279175"/>
                <a:gd name="connsiteX22" fmla="*/ 41876 w 372234"/>
                <a:gd name="connsiteY22" fmla="*/ 55835 h 279175"/>
                <a:gd name="connsiteX23" fmla="*/ 55835 w 372234"/>
                <a:gd name="connsiteY23" fmla="*/ 41876 h 279175"/>
                <a:gd name="connsiteX24" fmla="*/ 55835 w 372234"/>
                <a:gd name="connsiteY24" fmla="*/ 27918 h 279175"/>
                <a:gd name="connsiteX25" fmla="*/ 41876 w 372234"/>
                <a:gd name="connsiteY25" fmla="*/ 27918 h 279175"/>
                <a:gd name="connsiteX26" fmla="*/ 27918 w 372234"/>
                <a:gd name="connsiteY26" fmla="*/ 139588 h 279175"/>
                <a:gd name="connsiteX27" fmla="*/ 41876 w 372234"/>
                <a:gd name="connsiteY27" fmla="*/ 139588 h 279175"/>
                <a:gd name="connsiteX28" fmla="*/ 83753 w 372234"/>
                <a:gd name="connsiteY28" fmla="*/ 181464 h 279175"/>
                <a:gd name="connsiteX29" fmla="*/ 83753 w 372234"/>
                <a:gd name="connsiteY29" fmla="*/ 195423 h 279175"/>
                <a:gd name="connsiteX30" fmla="*/ 232646 w 372234"/>
                <a:gd name="connsiteY30" fmla="*/ 195423 h 279175"/>
                <a:gd name="connsiteX31" fmla="*/ 232646 w 372234"/>
                <a:gd name="connsiteY31" fmla="*/ 181464 h 279175"/>
                <a:gd name="connsiteX32" fmla="*/ 274523 w 372234"/>
                <a:gd name="connsiteY32" fmla="*/ 139588 h 279175"/>
                <a:gd name="connsiteX33" fmla="*/ 288481 w 372234"/>
                <a:gd name="connsiteY33" fmla="*/ 139588 h 279175"/>
                <a:gd name="connsiteX34" fmla="*/ 288481 w 372234"/>
                <a:gd name="connsiteY34" fmla="*/ 83753 h 279175"/>
                <a:gd name="connsiteX35" fmla="*/ 274523 w 372234"/>
                <a:gd name="connsiteY35" fmla="*/ 83753 h 279175"/>
                <a:gd name="connsiteX36" fmla="*/ 232646 w 372234"/>
                <a:gd name="connsiteY36" fmla="*/ 41876 h 279175"/>
                <a:gd name="connsiteX37" fmla="*/ 232646 w 372234"/>
                <a:gd name="connsiteY37" fmla="*/ 27918 h 279175"/>
                <a:gd name="connsiteX38" fmla="*/ 83753 w 372234"/>
                <a:gd name="connsiteY38" fmla="*/ 27918 h 279175"/>
                <a:gd name="connsiteX39" fmla="*/ 83753 w 372234"/>
                <a:gd name="connsiteY39" fmla="*/ 41876 h 279175"/>
                <a:gd name="connsiteX40" fmla="*/ 41876 w 372234"/>
                <a:gd name="connsiteY40" fmla="*/ 83753 h 279175"/>
                <a:gd name="connsiteX41" fmla="*/ 27918 w 372234"/>
                <a:gd name="connsiteY41" fmla="*/ 83753 h 279175"/>
                <a:gd name="connsiteX42" fmla="*/ 27918 w 372234"/>
                <a:gd name="connsiteY42" fmla="*/ 139588 h 279175"/>
                <a:gd name="connsiteX43" fmla="*/ 288481 w 372234"/>
                <a:gd name="connsiteY43" fmla="*/ 55835 h 279175"/>
                <a:gd name="connsiteX44" fmla="*/ 288481 w 372234"/>
                <a:gd name="connsiteY44" fmla="*/ 41876 h 279175"/>
                <a:gd name="connsiteX45" fmla="*/ 274523 w 372234"/>
                <a:gd name="connsiteY45" fmla="*/ 27918 h 279175"/>
                <a:gd name="connsiteX46" fmla="*/ 260564 w 372234"/>
                <a:gd name="connsiteY46" fmla="*/ 27918 h 279175"/>
                <a:gd name="connsiteX47" fmla="*/ 260564 w 372234"/>
                <a:gd name="connsiteY47" fmla="*/ 41876 h 279175"/>
                <a:gd name="connsiteX48" fmla="*/ 274523 w 372234"/>
                <a:gd name="connsiteY48" fmla="*/ 55835 h 279175"/>
                <a:gd name="connsiteX49" fmla="*/ 288481 w 372234"/>
                <a:gd name="connsiteY49" fmla="*/ 55835 h 279175"/>
                <a:gd name="connsiteX50" fmla="*/ 288481 w 372234"/>
                <a:gd name="connsiteY50" fmla="*/ 167505 h 279175"/>
                <a:gd name="connsiteX51" fmla="*/ 274523 w 372234"/>
                <a:gd name="connsiteY51" fmla="*/ 167505 h 279175"/>
                <a:gd name="connsiteX52" fmla="*/ 260564 w 372234"/>
                <a:gd name="connsiteY52" fmla="*/ 181464 h 279175"/>
                <a:gd name="connsiteX53" fmla="*/ 260564 w 372234"/>
                <a:gd name="connsiteY53" fmla="*/ 195423 h 279175"/>
                <a:gd name="connsiteX54" fmla="*/ 274523 w 372234"/>
                <a:gd name="connsiteY54" fmla="*/ 195423 h 279175"/>
                <a:gd name="connsiteX55" fmla="*/ 288481 w 372234"/>
                <a:gd name="connsiteY55" fmla="*/ 181464 h 279175"/>
                <a:gd name="connsiteX56" fmla="*/ 288481 w 372234"/>
                <a:gd name="connsiteY56" fmla="*/ 167505 h 279175"/>
                <a:gd name="connsiteX57" fmla="*/ 27918 w 372234"/>
                <a:gd name="connsiteY57" fmla="*/ 181464 h 279175"/>
                <a:gd name="connsiteX58" fmla="*/ 41876 w 372234"/>
                <a:gd name="connsiteY58" fmla="*/ 195423 h 279175"/>
                <a:gd name="connsiteX59" fmla="*/ 55835 w 372234"/>
                <a:gd name="connsiteY59" fmla="*/ 195423 h 279175"/>
                <a:gd name="connsiteX60" fmla="*/ 55835 w 372234"/>
                <a:gd name="connsiteY60" fmla="*/ 181464 h 279175"/>
                <a:gd name="connsiteX61" fmla="*/ 41876 w 372234"/>
                <a:gd name="connsiteY61" fmla="*/ 167505 h 279175"/>
                <a:gd name="connsiteX62" fmla="*/ 27918 w 372234"/>
                <a:gd name="connsiteY62" fmla="*/ 167505 h 279175"/>
                <a:gd name="connsiteX63" fmla="*/ 27918 w 372234"/>
                <a:gd name="connsiteY63" fmla="*/ 181464 h 279175"/>
                <a:gd name="connsiteX64" fmla="*/ 44694 w 372234"/>
                <a:gd name="connsiteY64" fmla="*/ 251258 h 279175"/>
                <a:gd name="connsiteX65" fmla="*/ 93059 w 372234"/>
                <a:gd name="connsiteY65" fmla="*/ 279176 h 279175"/>
                <a:gd name="connsiteX66" fmla="*/ 283829 w 372234"/>
                <a:gd name="connsiteY66" fmla="*/ 279176 h 279175"/>
                <a:gd name="connsiteX67" fmla="*/ 372234 w 372234"/>
                <a:gd name="connsiteY67" fmla="*/ 190770 h 279175"/>
                <a:gd name="connsiteX68" fmla="*/ 372234 w 372234"/>
                <a:gd name="connsiteY68" fmla="*/ 93059 h 279175"/>
                <a:gd name="connsiteX69" fmla="*/ 344317 w 372234"/>
                <a:gd name="connsiteY69" fmla="*/ 44694 h 279175"/>
                <a:gd name="connsiteX70" fmla="*/ 344317 w 372234"/>
                <a:gd name="connsiteY70" fmla="*/ 190770 h 279175"/>
                <a:gd name="connsiteX71" fmla="*/ 283829 w 372234"/>
                <a:gd name="connsiteY71" fmla="*/ 251258 h 279175"/>
                <a:gd name="connsiteX72" fmla="*/ 44694 w 372234"/>
                <a:gd name="connsiteY72" fmla="*/ 251258 h 279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72234" h="279175">
                  <a:moveTo>
                    <a:pt x="158200" y="55835"/>
                  </a:moveTo>
                  <a:cubicBezTo>
                    <a:pt x="127363" y="55835"/>
                    <a:pt x="102364" y="80833"/>
                    <a:pt x="102364" y="111670"/>
                  </a:cubicBezTo>
                  <a:cubicBezTo>
                    <a:pt x="102364" y="142508"/>
                    <a:pt x="127363" y="167505"/>
                    <a:pt x="158200" y="167505"/>
                  </a:cubicBezTo>
                  <a:cubicBezTo>
                    <a:pt x="189037" y="167505"/>
                    <a:pt x="214035" y="142508"/>
                    <a:pt x="214035" y="111670"/>
                  </a:cubicBezTo>
                  <a:cubicBezTo>
                    <a:pt x="214035" y="80833"/>
                    <a:pt x="189037" y="55835"/>
                    <a:pt x="158200" y="55835"/>
                  </a:cubicBezTo>
                  <a:close/>
                  <a:moveTo>
                    <a:pt x="130282" y="111670"/>
                  </a:moveTo>
                  <a:cubicBezTo>
                    <a:pt x="130282" y="96252"/>
                    <a:pt x="142781" y="83753"/>
                    <a:pt x="158200" y="83753"/>
                  </a:cubicBezTo>
                  <a:cubicBezTo>
                    <a:pt x="173617" y="83753"/>
                    <a:pt x="186117" y="96252"/>
                    <a:pt x="186117" y="111670"/>
                  </a:cubicBezTo>
                  <a:cubicBezTo>
                    <a:pt x="186117" y="127088"/>
                    <a:pt x="173617" y="139588"/>
                    <a:pt x="158200" y="139588"/>
                  </a:cubicBezTo>
                  <a:cubicBezTo>
                    <a:pt x="142781" y="139588"/>
                    <a:pt x="130282" y="127088"/>
                    <a:pt x="130282" y="111670"/>
                  </a:cubicBezTo>
                  <a:close/>
                  <a:moveTo>
                    <a:pt x="0" y="41876"/>
                  </a:moveTo>
                  <a:cubicBezTo>
                    <a:pt x="0" y="18749"/>
                    <a:pt x="18749" y="0"/>
                    <a:pt x="41876" y="0"/>
                  </a:cubicBezTo>
                  <a:lnTo>
                    <a:pt x="274523" y="0"/>
                  </a:lnTo>
                  <a:cubicBezTo>
                    <a:pt x="297650" y="0"/>
                    <a:pt x="316399" y="18749"/>
                    <a:pt x="316399" y="41876"/>
                  </a:cubicBezTo>
                  <a:lnTo>
                    <a:pt x="316399" y="181464"/>
                  </a:lnTo>
                  <a:cubicBezTo>
                    <a:pt x="316399" y="204591"/>
                    <a:pt x="297650" y="223341"/>
                    <a:pt x="274523" y="223341"/>
                  </a:cubicBezTo>
                  <a:lnTo>
                    <a:pt x="41876" y="223341"/>
                  </a:lnTo>
                  <a:cubicBezTo>
                    <a:pt x="18749" y="223341"/>
                    <a:pt x="0" y="204591"/>
                    <a:pt x="0" y="181464"/>
                  </a:cubicBezTo>
                  <a:lnTo>
                    <a:pt x="0" y="41876"/>
                  </a:lnTo>
                  <a:close/>
                  <a:moveTo>
                    <a:pt x="41876" y="27918"/>
                  </a:moveTo>
                  <a:cubicBezTo>
                    <a:pt x="34167" y="27918"/>
                    <a:pt x="27918" y="34167"/>
                    <a:pt x="27918" y="41876"/>
                  </a:cubicBezTo>
                  <a:lnTo>
                    <a:pt x="27918" y="55835"/>
                  </a:lnTo>
                  <a:lnTo>
                    <a:pt x="41876" y="55835"/>
                  </a:lnTo>
                  <a:cubicBezTo>
                    <a:pt x="49585" y="55835"/>
                    <a:pt x="55835" y="49585"/>
                    <a:pt x="55835" y="41876"/>
                  </a:cubicBezTo>
                  <a:lnTo>
                    <a:pt x="55835" y="27918"/>
                  </a:lnTo>
                  <a:lnTo>
                    <a:pt x="41876" y="27918"/>
                  </a:lnTo>
                  <a:close/>
                  <a:moveTo>
                    <a:pt x="27918" y="139588"/>
                  </a:moveTo>
                  <a:lnTo>
                    <a:pt x="41876" y="139588"/>
                  </a:lnTo>
                  <a:cubicBezTo>
                    <a:pt x="65004" y="139588"/>
                    <a:pt x="83753" y="158337"/>
                    <a:pt x="83753" y="181464"/>
                  </a:cubicBezTo>
                  <a:lnTo>
                    <a:pt x="83753" y="195423"/>
                  </a:lnTo>
                  <a:lnTo>
                    <a:pt x="232646" y="195423"/>
                  </a:lnTo>
                  <a:lnTo>
                    <a:pt x="232646" y="181464"/>
                  </a:lnTo>
                  <a:cubicBezTo>
                    <a:pt x="232646" y="158337"/>
                    <a:pt x="251396" y="139588"/>
                    <a:pt x="274523" y="139588"/>
                  </a:cubicBezTo>
                  <a:lnTo>
                    <a:pt x="288481" y="139588"/>
                  </a:lnTo>
                  <a:lnTo>
                    <a:pt x="288481" y="83753"/>
                  </a:lnTo>
                  <a:lnTo>
                    <a:pt x="274523" y="83753"/>
                  </a:lnTo>
                  <a:cubicBezTo>
                    <a:pt x="251396" y="83753"/>
                    <a:pt x="232646" y="65004"/>
                    <a:pt x="232646" y="41876"/>
                  </a:cubicBezTo>
                  <a:lnTo>
                    <a:pt x="232646" y="27918"/>
                  </a:lnTo>
                  <a:lnTo>
                    <a:pt x="83753" y="27918"/>
                  </a:lnTo>
                  <a:lnTo>
                    <a:pt x="83753" y="41876"/>
                  </a:lnTo>
                  <a:cubicBezTo>
                    <a:pt x="83753" y="65004"/>
                    <a:pt x="65004" y="83753"/>
                    <a:pt x="41876" y="83753"/>
                  </a:cubicBezTo>
                  <a:lnTo>
                    <a:pt x="27918" y="83753"/>
                  </a:lnTo>
                  <a:lnTo>
                    <a:pt x="27918" y="139588"/>
                  </a:lnTo>
                  <a:close/>
                  <a:moveTo>
                    <a:pt x="288481" y="55835"/>
                  </a:moveTo>
                  <a:lnTo>
                    <a:pt x="288481" y="41876"/>
                  </a:lnTo>
                  <a:cubicBezTo>
                    <a:pt x="288481" y="34167"/>
                    <a:pt x="282232" y="27918"/>
                    <a:pt x="274523" y="27918"/>
                  </a:cubicBezTo>
                  <a:lnTo>
                    <a:pt x="260564" y="27918"/>
                  </a:lnTo>
                  <a:lnTo>
                    <a:pt x="260564" y="41876"/>
                  </a:lnTo>
                  <a:cubicBezTo>
                    <a:pt x="260564" y="49585"/>
                    <a:pt x="266814" y="55835"/>
                    <a:pt x="274523" y="55835"/>
                  </a:cubicBezTo>
                  <a:lnTo>
                    <a:pt x="288481" y="55835"/>
                  </a:lnTo>
                  <a:close/>
                  <a:moveTo>
                    <a:pt x="288481" y="167505"/>
                  </a:moveTo>
                  <a:lnTo>
                    <a:pt x="274523" y="167505"/>
                  </a:lnTo>
                  <a:cubicBezTo>
                    <a:pt x="266814" y="167505"/>
                    <a:pt x="260564" y="173755"/>
                    <a:pt x="260564" y="181464"/>
                  </a:cubicBezTo>
                  <a:lnTo>
                    <a:pt x="260564" y="195423"/>
                  </a:lnTo>
                  <a:lnTo>
                    <a:pt x="274523" y="195423"/>
                  </a:lnTo>
                  <a:cubicBezTo>
                    <a:pt x="282232" y="195423"/>
                    <a:pt x="288481" y="189173"/>
                    <a:pt x="288481" y="181464"/>
                  </a:cubicBezTo>
                  <a:lnTo>
                    <a:pt x="288481" y="167505"/>
                  </a:lnTo>
                  <a:close/>
                  <a:moveTo>
                    <a:pt x="27918" y="181464"/>
                  </a:moveTo>
                  <a:cubicBezTo>
                    <a:pt x="27918" y="189173"/>
                    <a:pt x="34167" y="195423"/>
                    <a:pt x="41876" y="195423"/>
                  </a:cubicBezTo>
                  <a:lnTo>
                    <a:pt x="55835" y="195423"/>
                  </a:lnTo>
                  <a:lnTo>
                    <a:pt x="55835" y="181464"/>
                  </a:lnTo>
                  <a:cubicBezTo>
                    <a:pt x="55835" y="173755"/>
                    <a:pt x="49585" y="167505"/>
                    <a:pt x="41876" y="167505"/>
                  </a:cubicBezTo>
                  <a:lnTo>
                    <a:pt x="27918" y="167505"/>
                  </a:lnTo>
                  <a:lnTo>
                    <a:pt x="27918" y="181464"/>
                  </a:lnTo>
                  <a:close/>
                  <a:moveTo>
                    <a:pt x="44694" y="251258"/>
                  </a:moveTo>
                  <a:cubicBezTo>
                    <a:pt x="54348" y="267947"/>
                    <a:pt x="72392" y="279176"/>
                    <a:pt x="93059" y="279176"/>
                  </a:cubicBezTo>
                  <a:lnTo>
                    <a:pt x="283829" y="279176"/>
                  </a:lnTo>
                  <a:cubicBezTo>
                    <a:pt x="332655" y="279176"/>
                    <a:pt x="372234" y="239596"/>
                    <a:pt x="372234" y="190770"/>
                  </a:cubicBezTo>
                  <a:lnTo>
                    <a:pt x="372234" y="93059"/>
                  </a:lnTo>
                  <a:cubicBezTo>
                    <a:pt x="372234" y="72392"/>
                    <a:pt x="361006" y="54348"/>
                    <a:pt x="344317" y="44694"/>
                  </a:cubicBezTo>
                  <a:lnTo>
                    <a:pt x="344317" y="190770"/>
                  </a:lnTo>
                  <a:cubicBezTo>
                    <a:pt x="344317" y="224176"/>
                    <a:pt x="317235" y="251258"/>
                    <a:pt x="283829" y="251258"/>
                  </a:cubicBezTo>
                  <a:lnTo>
                    <a:pt x="44694" y="251258"/>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41" name="グループ化 40">
            <a:extLst>
              <a:ext uri="{FF2B5EF4-FFF2-40B4-BE49-F238E27FC236}">
                <a16:creationId xmlns:a16="http://schemas.microsoft.com/office/drawing/2014/main" id="{751116CC-495F-F4D7-9533-1CFEB434D9BD}"/>
              </a:ext>
            </a:extLst>
          </p:cNvPr>
          <p:cNvGrpSpPr/>
          <p:nvPr/>
        </p:nvGrpSpPr>
        <p:grpSpPr>
          <a:xfrm>
            <a:off x="2506386" y="4732988"/>
            <a:ext cx="402910" cy="402588"/>
            <a:chOff x="6513688" y="4367824"/>
            <a:chExt cx="402910" cy="402588"/>
          </a:xfrm>
        </p:grpSpPr>
        <p:sp>
          <p:nvSpPr>
            <p:cNvPr id="17" name="Oval 108">
              <a:extLst>
                <a:ext uri="{FF2B5EF4-FFF2-40B4-BE49-F238E27FC236}">
                  <a16:creationId xmlns:a16="http://schemas.microsoft.com/office/drawing/2014/main" id="{15735D5C-02FC-6E20-492B-52A05539F2E5}"/>
                </a:ext>
                <a:ext uri="{C183D7F6-B498-43B3-948B-1728B52AA6E4}">
                  <adec:decorative xmlns:adec="http://schemas.microsoft.com/office/drawing/2017/decorative" val="1"/>
                </a:ext>
              </a:extLst>
            </p:cNvPr>
            <p:cNvSpPr/>
            <p:nvPr/>
          </p:nvSpPr>
          <p:spPr bwMode="auto">
            <a:xfrm>
              <a:off x="6513688" y="4367824"/>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9" name="Graphic 101">
              <a:extLst>
                <a:ext uri="{FF2B5EF4-FFF2-40B4-BE49-F238E27FC236}">
                  <a16:creationId xmlns:a16="http://schemas.microsoft.com/office/drawing/2014/main" id="{B00CF547-01E5-EDF9-A627-CCCB84FFCCEB}"/>
                </a:ext>
                <a:ext uri="{C183D7F6-B498-43B3-948B-1728B52AA6E4}">
                  <adec:decorative xmlns:adec="http://schemas.microsoft.com/office/drawing/2017/decorative" val="1"/>
                </a:ext>
              </a:extLst>
            </p:cNvPr>
            <p:cNvSpPr/>
            <p:nvPr/>
          </p:nvSpPr>
          <p:spPr>
            <a:xfrm>
              <a:off x="6617404" y="4473698"/>
              <a:ext cx="195478" cy="190840"/>
            </a:xfrm>
            <a:custGeom>
              <a:avLst/>
              <a:gdLst>
                <a:gd name="connsiteX0" fmla="*/ 131308 w 305683"/>
                <a:gd name="connsiteY0" fmla="*/ 4199 h 298433"/>
                <a:gd name="connsiteX1" fmla="*/ 174376 w 305683"/>
                <a:gd name="connsiteY1" fmla="*/ 4199 h 298433"/>
                <a:gd name="connsiteX2" fmla="*/ 288985 w 305683"/>
                <a:gd name="connsiteY2" fmla="*/ 50662 h 298433"/>
                <a:gd name="connsiteX3" fmla="*/ 305683 w 305683"/>
                <a:gd name="connsiteY3" fmla="*/ 75450 h 298433"/>
                <a:gd name="connsiteX4" fmla="*/ 305683 w 305683"/>
                <a:gd name="connsiteY4" fmla="*/ 222984 h 298433"/>
                <a:gd name="connsiteX5" fmla="*/ 288985 w 305683"/>
                <a:gd name="connsiteY5" fmla="*/ 247772 h 298433"/>
                <a:gd name="connsiteX6" fmla="*/ 174376 w 305683"/>
                <a:gd name="connsiteY6" fmla="*/ 294234 h 298433"/>
                <a:gd name="connsiteX7" fmla="*/ 131308 w 305683"/>
                <a:gd name="connsiteY7" fmla="*/ 294234 h 298433"/>
                <a:gd name="connsiteX8" fmla="*/ 16698 w 305683"/>
                <a:gd name="connsiteY8" fmla="*/ 247772 h 298433"/>
                <a:gd name="connsiteX9" fmla="*/ 0 w 305683"/>
                <a:gd name="connsiteY9" fmla="*/ 222984 h 298433"/>
                <a:gd name="connsiteX10" fmla="*/ 0 w 305683"/>
                <a:gd name="connsiteY10" fmla="*/ 75450 h 298433"/>
                <a:gd name="connsiteX11" fmla="*/ 16698 w 305683"/>
                <a:gd name="connsiteY11" fmla="*/ 50662 h 298433"/>
                <a:gd name="connsiteX12" fmla="*/ 131308 w 305683"/>
                <a:gd name="connsiteY12" fmla="*/ 4199 h 298433"/>
                <a:gd name="connsiteX13" fmla="*/ 165761 w 305683"/>
                <a:gd name="connsiteY13" fmla="*/ 25446 h 298433"/>
                <a:gd name="connsiteX14" fmla="*/ 139922 w 305683"/>
                <a:gd name="connsiteY14" fmla="*/ 25446 h 298433"/>
                <a:gd name="connsiteX15" fmla="*/ 110672 w 305683"/>
                <a:gd name="connsiteY15" fmla="*/ 37303 h 298433"/>
                <a:gd name="connsiteX16" fmla="*/ 225714 w 305683"/>
                <a:gd name="connsiteY16" fmla="*/ 82042 h 298433"/>
                <a:gd name="connsiteX17" fmla="*/ 266510 w 305683"/>
                <a:gd name="connsiteY17" fmla="*/ 66289 h 298433"/>
                <a:gd name="connsiteX18" fmla="*/ 165761 w 305683"/>
                <a:gd name="connsiteY18" fmla="*/ 25446 h 298433"/>
                <a:gd name="connsiteX19" fmla="*/ 193973 w 305683"/>
                <a:gd name="connsiteY19" fmla="*/ 94297 h 298433"/>
                <a:gd name="connsiteX20" fmla="*/ 79703 w 305683"/>
                <a:gd name="connsiteY20" fmla="*/ 49859 h 298433"/>
                <a:gd name="connsiteX21" fmla="*/ 39590 w 305683"/>
                <a:gd name="connsiteY21" fmla="*/ 66120 h 298433"/>
                <a:gd name="connsiteX22" fmla="*/ 152862 w 305683"/>
                <a:gd name="connsiteY22" fmla="*/ 110170 h 298433"/>
                <a:gd name="connsiteX23" fmla="*/ 193973 w 305683"/>
                <a:gd name="connsiteY23" fmla="*/ 94297 h 298433"/>
                <a:gd name="connsiteX24" fmla="*/ 22926 w 305683"/>
                <a:gd name="connsiteY24" fmla="*/ 222984 h 298433"/>
                <a:gd name="connsiteX25" fmla="*/ 25312 w 305683"/>
                <a:gd name="connsiteY25" fmla="*/ 226525 h 298433"/>
                <a:gd name="connsiteX26" fmla="*/ 139922 w 305683"/>
                <a:gd name="connsiteY26" fmla="*/ 272988 h 298433"/>
                <a:gd name="connsiteX27" fmla="*/ 141383 w 305683"/>
                <a:gd name="connsiteY27" fmla="*/ 273543 h 298433"/>
                <a:gd name="connsiteX28" fmla="*/ 141383 w 305683"/>
                <a:gd name="connsiteY28" fmla="*/ 130305 h 298433"/>
                <a:gd name="connsiteX29" fmla="*/ 22926 w 305683"/>
                <a:gd name="connsiteY29" fmla="*/ 84239 h 298433"/>
                <a:gd name="connsiteX30" fmla="*/ 22926 w 305683"/>
                <a:gd name="connsiteY30" fmla="*/ 222984 h 298433"/>
                <a:gd name="connsiteX31" fmla="*/ 165761 w 305683"/>
                <a:gd name="connsiteY31" fmla="*/ 272988 h 298433"/>
                <a:gd name="connsiteX32" fmla="*/ 280371 w 305683"/>
                <a:gd name="connsiteY32" fmla="*/ 226525 h 298433"/>
                <a:gd name="connsiteX33" fmla="*/ 282757 w 305683"/>
                <a:gd name="connsiteY33" fmla="*/ 222984 h 298433"/>
                <a:gd name="connsiteX34" fmla="*/ 282757 w 305683"/>
                <a:gd name="connsiteY34" fmla="*/ 84592 h 298433"/>
                <a:gd name="connsiteX35" fmla="*/ 164309 w 305683"/>
                <a:gd name="connsiteY35" fmla="*/ 130325 h 298433"/>
                <a:gd name="connsiteX36" fmla="*/ 164309 w 305683"/>
                <a:gd name="connsiteY36" fmla="*/ 273539 h 298433"/>
                <a:gd name="connsiteX37" fmla="*/ 165761 w 305683"/>
                <a:gd name="connsiteY37" fmla="*/ 272988 h 298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05683" h="298433">
                  <a:moveTo>
                    <a:pt x="131308" y="4199"/>
                  </a:moveTo>
                  <a:cubicBezTo>
                    <a:pt x="145119" y="-1400"/>
                    <a:pt x="160565" y="-1400"/>
                    <a:pt x="174376" y="4199"/>
                  </a:cubicBezTo>
                  <a:lnTo>
                    <a:pt x="288985" y="50662"/>
                  </a:lnTo>
                  <a:cubicBezTo>
                    <a:pt x="299079" y="54754"/>
                    <a:pt x="305683" y="64558"/>
                    <a:pt x="305683" y="75450"/>
                  </a:cubicBezTo>
                  <a:lnTo>
                    <a:pt x="305683" y="222984"/>
                  </a:lnTo>
                  <a:cubicBezTo>
                    <a:pt x="305683" y="233876"/>
                    <a:pt x="299079" y="243679"/>
                    <a:pt x="288985" y="247772"/>
                  </a:cubicBezTo>
                  <a:lnTo>
                    <a:pt x="174376" y="294234"/>
                  </a:lnTo>
                  <a:cubicBezTo>
                    <a:pt x="160565" y="299833"/>
                    <a:pt x="145119" y="299833"/>
                    <a:pt x="131308" y="294234"/>
                  </a:cubicBezTo>
                  <a:lnTo>
                    <a:pt x="16698" y="247772"/>
                  </a:lnTo>
                  <a:cubicBezTo>
                    <a:pt x="6604" y="243679"/>
                    <a:pt x="0" y="233876"/>
                    <a:pt x="0" y="222984"/>
                  </a:cubicBezTo>
                  <a:lnTo>
                    <a:pt x="0" y="75450"/>
                  </a:lnTo>
                  <a:cubicBezTo>
                    <a:pt x="0" y="64558"/>
                    <a:pt x="6604" y="54754"/>
                    <a:pt x="16698" y="50662"/>
                  </a:cubicBezTo>
                  <a:lnTo>
                    <a:pt x="131308" y="4199"/>
                  </a:lnTo>
                  <a:close/>
                  <a:moveTo>
                    <a:pt x="165761" y="25446"/>
                  </a:moveTo>
                  <a:cubicBezTo>
                    <a:pt x="157476" y="22086"/>
                    <a:pt x="148208" y="22086"/>
                    <a:pt x="139922" y="25446"/>
                  </a:cubicBezTo>
                  <a:lnTo>
                    <a:pt x="110672" y="37303"/>
                  </a:lnTo>
                  <a:lnTo>
                    <a:pt x="225714" y="82042"/>
                  </a:lnTo>
                  <a:lnTo>
                    <a:pt x="266510" y="66289"/>
                  </a:lnTo>
                  <a:lnTo>
                    <a:pt x="165761" y="25446"/>
                  </a:lnTo>
                  <a:close/>
                  <a:moveTo>
                    <a:pt x="193973" y="94297"/>
                  </a:moveTo>
                  <a:lnTo>
                    <a:pt x="79703" y="49859"/>
                  </a:lnTo>
                  <a:lnTo>
                    <a:pt x="39590" y="66120"/>
                  </a:lnTo>
                  <a:lnTo>
                    <a:pt x="152862" y="110170"/>
                  </a:lnTo>
                  <a:lnTo>
                    <a:pt x="193973" y="94297"/>
                  </a:lnTo>
                  <a:close/>
                  <a:moveTo>
                    <a:pt x="22926" y="222984"/>
                  </a:moveTo>
                  <a:cubicBezTo>
                    <a:pt x="22926" y="224540"/>
                    <a:pt x="23870" y="225940"/>
                    <a:pt x="25312" y="226525"/>
                  </a:cubicBezTo>
                  <a:lnTo>
                    <a:pt x="139922" y="272988"/>
                  </a:lnTo>
                  <a:cubicBezTo>
                    <a:pt x="140405" y="273185"/>
                    <a:pt x="140894" y="273370"/>
                    <a:pt x="141383" y="273543"/>
                  </a:cubicBezTo>
                  <a:lnTo>
                    <a:pt x="141383" y="130305"/>
                  </a:lnTo>
                  <a:lnTo>
                    <a:pt x="22926" y="84239"/>
                  </a:lnTo>
                  <a:lnTo>
                    <a:pt x="22926" y="222984"/>
                  </a:lnTo>
                  <a:close/>
                  <a:moveTo>
                    <a:pt x="165761" y="272988"/>
                  </a:moveTo>
                  <a:lnTo>
                    <a:pt x="280371" y="226525"/>
                  </a:lnTo>
                  <a:cubicBezTo>
                    <a:pt x="281814" y="225940"/>
                    <a:pt x="282757" y="224540"/>
                    <a:pt x="282757" y="222984"/>
                  </a:cubicBezTo>
                  <a:lnTo>
                    <a:pt x="282757" y="84592"/>
                  </a:lnTo>
                  <a:lnTo>
                    <a:pt x="164309" y="130325"/>
                  </a:lnTo>
                  <a:lnTo>
                    <a:pt x="164309" y="273539"/>
                  </a:lnTo>
                  <a:cubicBezTo>
                    <a:pt x="164797" y="273367"/>
                    <a:pt x="165281" y="273183"/>
                    <a:pt x="165761" y="272988"/>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sp>
        <p:nvSpPr>
          <p:cNvPr id="30" name="TextBox 27">
            <a:extLst>
              <a:ext uri="{FF2B5EF4-FFF2-40B4-BE49-F238E27FC236}">
                <a16:creationId xmlns:a16="http://schemas.microsoft.com/office/drawing/2014/main" id="{C55D484C-0C3D-DF63-CBCF-79AC96396F52}"/>
              </a:ext>
            </a:extLst>
          </p:cNvPr>
          <p:cNvSpPr txBox="1">
            <a:spLocks/>
          </p:cNvSpPr>
          <p:nvPr/>
        </p:nvSpPr>
        <p:spPr>
          <a:xfrm>
            <a:off x="2009467" y="3833726"/>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ja-JP" altLang="en-US" sz="1400" dirty="0">
                <a:solidFill>
                  <a:schemeClr val="tx1">
                    <a:lumMod val="75000"/>
                    <a:lumOff val="25000"/>
                  </a:schemeClr>
                </a:solidFill>
                <a:latin typeface="Segoe Sans Text"/>
              </a:rPr>
              <a:t>シンプル</a:t>
            </a:r>
            <a:r>
              <a:rPr lang="en-US" altLang="ja-JP" sz="1400" dirty="0">
                <a:solidFill>
                  <a:schemeClr val="tx1">
                    <a:lumMod val="75000"/>
                    <a:lumOff val="25000"/>
                  </a:schemeClr>
                </a:solidFill>
                <a:latin typeface="Segoe Sans Text"/>
              </a:rPr>
              <a:t>: DevOps </a:t>
            </a:r>
            <a:r>
              <a:rPr lang="ja-JP" altLang="en-US" sz="1400" dirty="0">
                <a:solidFill>
                  <a:schemeClr val="tx1">
                    <a:lumMod val="75000"/>
                    <a:lumOff val="25000"/>
                  </a:schemeClr>
                </a:solidFill>
                <a:latin typeface="Segoe Sans Text"/>
              </a:rPr>
              <a:t>に組み込まれたフル マネージド サービス</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1" name="TextBox 26">
            <a:extLst>
              <a:ext uri="{FF2B5EF4-FFF2-40B4-BE49-F238E27FC236}">
                <a16:creationId xmlns:a16="http://schemas.microsoft.com/office/drawing/2014/main" id="{05B9CCEC-5EC7-9B7A-11E4-6273195338DC}"/>
              </a:ext>
            </a:extLst>
          </p:cNvPr>
          <p:cNvSpPr txBox="1">
            <a:spLocks/>
          </p:cNvSpPr>
          <p:nvPr/>
        </p:nvSpPr>
        <p:spPr>
          <a:xfrm>
            <a:off x="4072469" y="3851648"/>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ja-JP" altLang="en-US" sz="1400" dirty="0">
                <a:solidFill>
                  <a:schemeClr val="tx1">
                    <a:lumMod val="75000"/>
                    <a:lumOff val="25000"/>
                  </a:schemeClr>
                </a:solidFill>
                <a:latin typeface="Segoe Sans Text"/>
              </a:rPr>
              <a:t>スケーラブル</a:t>
            </a:r>
            <a:r>
              <a:rPr lang="en-US" altLang="ja-JP" sz="1400" dirty="0">
                <a:solidFill>
                  <a:schemeClr val="tx1">
                    <a:lumMod val="75000"/>
                    <a:lumOff val="25000"/>
                  </a:schemeClr>
                </a:solidFill>
                <a:latin typeface="Segoe Sans Text"/>
              </a:rPr>
              <a:t>:</a:t>
            </a:r>
            <a:r>
              <a:rPr lang="ja-JP" altLang="en-US" sz="1400" dirty="0">
                <a:solidFill>
                  <a:schemeClr val="tx1">
                    <a:lumMod val="75000"/>
                    <a:lumOff val="25000"/>
                  </a:schemeClr>
                </a:solidFill>
                <a:latin typeface="Segoe Sans Text"/>
              </a:rPr>
              <a:t> ゼロからハイパースケールまでシームレスに拡張可能</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2" name="TextBox 49">
            <a:extLst>
              <a:ext uri="{FF2B5EF4-FFF2-40B4-BE49-F238E27FC236}">
                <a16:creationId xmlns:a16="http://schemas.microsoft.com/office/drawing/2014/main" id="{DCD5F5C2-4885-DF67-821D-B07B5849651A}"/>
              </a:ext>
            </a:extLst>
          </p:cNvPr>
          <p:cNvSpPr txBox="1">
            <a:spLocks/>
          </p:cNvSpPr>
          <p:nvPr/>
        </p:nvSpPr>
        <p:spPr>
          <a:xfrm>
            <a:off x="6362296" y="3831858"/>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ja-JP" altLang="en-US" sz="1400" dirty="0">
                <a:solidFill>
                  <a:schemeClr val="tx1">
                    <a:lumMod val="75000"/>
                    <a:lumOff val="25000"/>
                  </a:schemeClr>
                </a:solidFill>
                <a:latin typeface="Segoe Sans Text"/>
              </a:rPr>
              <a:t>効率的</a:t>
            </a:r>
            <a:r>
              <a:rPr lang="en-US" altLang="ja-JP" sz="1400" dirty="0">
                <a:solidFill>
                  <a:schemeClr val="tx1">
                    <a:lumMod val="75000"/>
                    <a:lumOff val="25000"/>
                  </a:schemeClr>
                </a:solidFill>
                <a:latin typeface="Segoe Sans Text"/>
              </a:rPr>
              <a:t>:</a:t>
            </a:r>
            <a:r>
              <a:rPr lang="ja-JP" altLang="en-US" sz="1400" dirty="0">
                <a:solidFill>
                  <a:schemeClr val="tx1">
                    <a:lumMod val="75000"/>
                    <a:lumOff val="25000"/>
                  </a:schemeClr>
                </a:solidFill>
                <a:latin typeface="Segoe Sans Text"/>
              </a:rPr>
              <a:t> 私たちの厳選されたスタックを利用し、より迅速なデリバリーを実現</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3" name="TextBox 25">
            <a:extLst>
              <a:ext uri="{FF2B5EF4-FFF2-40B4-BE49-F238E27FC236}">
                <a16:creationId xmlns:a16="http://schemas.microsoft.com/office/drawing/2014/main" id="{E628D90B-D400-B475-3D14-B7F14885BEDC}"/>
              </a:ext>
            </a:extLst>
          </p:cNvPr>
          <p:cNvSpPr txBox="1">
            <a:spLocks/>
          </p:cNvSpPr>
          <p:nvPr/>
        </p:nvSpPr>
        <p:spPr>
          <a:xfrm>
            <a:off x="8652123" y="3640541"/>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ja-JP" altLang="en-US" sz="1400" dirty="0">
                <a:solidFill>
                  <a:schemeClr val="tx1">
                    <a:lumMod val="75000"/>
                    <a:lumOff val="25000"/>
                  </a:schemeClr>
                </a:solidFill>
                <a:latin typeface="Segoe Sans Text"/>
              </a:rPr>
              <a:t>セキュア</a:t>
            </a:r>
            <a:r>
              <a:rPr lang="en-US" altLang="ja-JP" sz="1400" dirty="0">
                <a:solidFill>
                  <a:schemeClr val="tx1">
                    <a:lumMod val="75000"/>
                    <a:lumOff val="25000"/>
                  </a:schemeClr>
                </a:solidFill>
                <a:latin typeface="Segoe Sans Text"/>
              </a:rPr>
              <a:t>:</a:t>
            </a:r>
            <a:r>
              <a:rPr lang="ja-JP" altLang="en-US" sz="1400" dirty="0">
                <a:solidFill>
                  <a:schemeClr val="tx1">
                    <a:lumMod val="75000"/>
                    <a:lumOff val="25000"/>
                  </a:schemeClr>
                </a:solidFill>
                <a:latin typeface="Segoe Sans Text"/>
              </a:rPr>
              <a:t> </a:t>
            </a:r>
            <a:r>
              <a:rPr lang="en-US" altLang="ja-JP" sz="1400" dirty="0">
                <a:solidFill>
                  <a:schemeClr val="tx1">
                    <a:lumMod val="75000"/>
                    <a:lumOff val="25000"/>
                  </a:schemeClr>
                </a:solidFill>
                <a:latin typeface="Segoe Sans Text"/>
              </a:rPr>
              <a:t>root </a:t>
            </a:r>
            <a:r>
              <a:rPr lang="ja-JP" altLang="en-US" sz="1400" dirty="0">
                <a:solidFill>
                  <a:schemeClr val="tx1">
                    <a:lumMod val="75000"/>
                    <a:lumOff val="25000"/>
                  </a:schemeClr>
                </a:solidFill>
                <a:latin typeface="Segoe Sans Text"/>
              </a:rPr>
              <a:t>権限は一切不要</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4" name="TextBox 13">
            <a:extLst>
              <a:ext uri="{FF2B5EF4-FFF2-40B4-BE49-F238E27FC236}">
                <a16:creationId xmlns:a16="http://schemas.microsoft.com/office/drawing/2014/main" id="{6145E8D7-DC21-A887-CA34-CA432F5104BE}"/>
              </a:ext>
            </a:extLst>
          </p:cNvPr>
          <p:cNvSpPr txBox="1">
            <a:spLocks/>
          </p:cNvSpPr>
          <p:nvPr/>
        </p:nvSpPr>
        <p:spPr>
          <a:xfrm>
            <a:off x="2009467" y="5658928"/>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en-US" sz="1400" dirty="0">
                <a:solidFill>
                  <a:schemeClr val="tx1">
                    <a:lumMod val="75000"/>
                    <a:lumOff val="25000"/>
                  </a:schemeClr>
                </a:solidFill>
                <a:latin typeface="Segoe Sans Text"/>
              </a:rPr>
              <a:t>OSS </a:t>
            </a:r>
            <a:r>
              <a:rPr lang="ja-JP" altLang="en-US" sz="1400" dirty="0">
                <a:solidFill>
                  <a:schemeClr val="tx1">
                    <a:lumMod val="75000"/>
                    <a:lumOff val="25000"/>
                  </a:schemeClr>
                </a:solidFill>
                <a:latin typeface="Segoe Sans Text"/>
              </a:rPr>
              <a:t>との統合： </a:t>
            </a:r>
            <a:r>
              <a:rPr lang="en-US" sz="1400" dirty="0" err="1">
                <a:solidFill>
                  <a:schemeClr val="tx1">
                    <a:lumMod val="75000"/>
                    <a:lumOff val="25000"/>
                  </a:schemeClr>
                </a:solidFill>
                <a:latin typeface="Segoe Sans Text"/>
              </a:rPr>
              <a:t>Dapr、KEDA、Envoy</a:t>
            </a:r>
            <a:r>
              <a:rPr lang="ja-JP" altLang="en-US" sz="1400" dirty="0">
                <a:solidFill>
                  <a:schemeClr val="tx1">
                    <a:lumMod val="75000"/>
                    <a:lumOff val="25000"/>
                  </a:schemeClr>
                </a:solidFill>
                <a:latin typeface="Segoe Sans Text"/>
              </a:rPr>
              <a:t> による </a:t>
            </a:r>
            <a:r>
              <a:rPr lang="en-US" sz="1400" dirty="0">
                <a:solidFill>
                  <a:schemeClr val="tx1">
                    <a:lumMod val="75000"/>
                    <a:lumOff val="25000"/>
                  </a:schemeClr>
                </a:solidFill>
                <a:latin typeface="Segoe Sans Text"/>
              </a:rPr>
              <a:t>Kubernetes</a:t>
            </a:r>
            <a:r>
              <a:rPr lang="ja-JP" altLang="en-US" sz="1400" dirty="0">
                <a:solidFill>
                  <a:schemeClr val="tx1">
                    <a:lumMod val="75000"/>
                    <a:lumOff val="25000"/>
                  </a:schemeClr>
                </a:solidFill>
                <a:latin typeface="Segoe Sans Text"/>
              </a:rPr>
              <a:t> 上での構築</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5" name="TextBox 22">
            <a:extLst>
              <a:ext uri="{FF2B5EF4-FFF2-40B4-BE49-F238E27FC236}">
                <a16:creationId xmlns:a16="http://schemas.microsoft.com/office/drawing/2014/main" id="{75125EB9-EBDE-E472-1C4F-412DB3949A01}"/>
              </a:ext>
            </a:extLst>
          </p:cNvPr>
          <p:cNvSpPr txBox="1">
            <a:spLocks/>
          </p:cNvSpPr>
          <p:nvPr/>
        </p:nvSpPr>
        <p:spPr>
          <a:xfrm>
            <a:off x="4072469" y="5412707"/>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en-US" altLang="ja-JP" sz="1400" dirty="0">
                <a:solidFill>
                  <a:schemeClr val="tx1">
                    <a:lumMod val="75000"/>
                    <a:lumOff val="25000"/>
                  </a:schemeClr>
                </a:solidFill>
                <a:latin typeface="Segoe Sans Text"/>
              </a:rPr>
              <a:t>AI</a:t>
            </a:r>
            <a:r>
              <a:rPr lang="ja-JP" altLang="en-US" sz="1400" dirty="0">
                <a:solidFill>
                  <a:schemeClr val="tx1">
                    <a:lumMod val="75000"/>
                    <a:lumOff val="25000"/>
                  </a:schemeClr>
                </a:solidFill>
                <a:latin typeface="Segoe Sans Text"/>
              </a:rPr>
              <a:t> アプリの最適化</a:t>
            </a:r>
            <a:r>
              <a:rPr lang="en-US" altLang="ja-JP" sz="1400" dirty="0">
                <a:solidFill>
                  <a:schemeClr val="tx1">
                    <a:lumMod val="75000"/>
                    <a:lumOff val="25000"/>
                  </a:schemeClr>
                </a:solidFill>
                <a:latin typeface="Segoe Sans Text"/>
              </a:rPr>
              <a:t>:</a:t>
            </a:r>
            <a:r>
              <a:rPr lang="ja-JP" altLang="en-US" sz="1400" dirty="0">
                <a:solidFill>
                  <a:schemeClr val="tx1">
                    <a:lumMod val="75000"/>
                    <a:lumOff val="25000"/>
                  </a:schemeClr>
                </a:solidFill>
                <a:latin typeface="Segoe Sans Text"/>
              </a:rPr>
              <a:t> </a:t>
            </a:r>
            <a:r>
              <a:rPr lang="en-US" altLang="ja-JP" sz="1400" dirty="0">
                <a:solidFill>
                  <a:schemeClr val="tx1">
                    <a:lumMod val="75000"/>
                    <a:lumOff val="25000"/>
                  </a:schemeClr>
                </a:solidFill>
                <a:latin typeface="Segoe Sans Text"/>
              </a:rPr>
              <a:t>GPU</a:t>
            </a:r>
            <a:r>
              <a:rPr lang="ja-JP" altLang="en-US" sz="1400" dirty="0">
                <a:solidFill>
                  <a:schemeClr val="tx1">
                    <a:lumMod val="75000"/>
                    <a:lumOff val="25000"/>
                  </a:schemeClr>
                </a:solidFill>
                <a:latin typeface="Segoe Sans Text"/>
              </a:rPr>
              <a:t>、ダイナミック セッション</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6" name="TextBox 3">
            <a:extLst>
              <a:ext uri="{FF2B5EF4-FFF2-40B4-BE49-F238E27FC236}">
                <a16:creationId xmlns:a16="http://schemas.microsoft.com/office/drawing/2014/main" id="{7891EA89-D2D8-8C65-74BC-A058EFB5A17C}"/>
              </a:ext>
            </a:extLst>
          </p:cNvPr>
          <p:cNvSpPr txBox="1">
            <a:spLocks/>
          </p:cNvSpPr>
          <p:nvPr/>
        </p:nvSpPr>
        <p:spPr>
          <a:xfrm>
            <a:off x="6362296" y="5412708"/>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0" defTabSz="914400">
              <a:defRPr/>
            </a:pPr>
            <a:r>
              <a:rPr lang="ja-JP" altLang="en-US" sz="1400" dirty="0">
                <a:solidFill>
                  <a:schemeClr val="tx1">
                    <a:lumMod val="75000"/>
                    <a:lumOff val="25000"/>
                  </a:schemeClr>
                </a:solidFill>
                <a:latin typeface="Segoe Sans Text"/>
              </a:rPr>
              <a:t>コスト最適化</a:t>
            </a:r>
            <a:r>
              <a:rPr lang="en-US" altLang="ja-JP" sz="1400" dirty="0">
                <a:solidFill>
                  <a:schemeClr val="tx1">
                    <a:lumMod val="75000"/>
                    <a:lumOff val="25000"/>
                  </a:schemeClr>
                </a:solidFill>
                <a:latin typeface="Segoe Sans Text"/>
              </a:rPr>
              <a:t>: </a:t>
            </a:r>
            <a:r>
              <a:rPr lang="ja-JP" altLang="en-US" sz="1400" dirty="0">
                <a:solidFill>
                  <a:schemeClr val="tx1">
                    <a:lumMod val="75000"/>
                    <a:lumOff val="25000"/>
                  </a:schemeClr>
                </a:solidFill>
                <a:latin typeface="Segoe Sans Text"/>
              </a:rPr>
              <a:t>サーバーレスまたは専用料金プラン</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mn-cs"/>
            </a:endParaRPr>
          </a:p>
        </p:txBody>
      </p:sp>
    </p:spTree>
    <p:extLst>
      <p:ext uri="{BB962C8B-B14F-4D97-AF65-F5344CB8AC3E}">
        <p14:creationId xmlns:p14="http://schemas.microsoft.com/office/powerpoint/2010/main" val="3075192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EE278-B25D-8CE3-B9EF-3AF4F2A7AB6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D1D1206-4444-BFED-B00E-0B65E6CCF9E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Container Apps</a:t>
            </a:r>
            <a:r>
              <a:rPr lang="en-US" altLang="ja-JP" sz="2025" b="1" dirty="0">
                <a:solidFill>
                  <a:srgbClr val="1F2937"/>
                </a:solidFill>
                <a:latin typeface="Meiryo UI"/>
                <a:ea typeface="Meiryo UI"/>
                <a:cs typeface="Meiryo UI"/>
              </a:rPr>
              <a:t> vs Azure Kubernetes Service</a:t>
            </a:r>
            <a:endParaRPr lang="en" altLang="ja-JP"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033E4418-5725-ED64-8FA6-DC0CF644AB2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7D55379C-E2FF-D40C-AFBF-47FAC4F0E49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5" name="Graphic 12" descr="Azure Container Apps icon">
            <a:extLst>
              <a:ext uri="{FF2B5EF4-FFF2-40B4-BE49-F238E27FC236}">
                <a16:creationId xmlns:a16="http://schemas.microsoft.com/office/drawing/2014/main" id="{A9784641-09FD-F7E0-9D32-53AA3D51109A}"/>
              </a:ext>
            </a:extLst>
          </p:cNvPr>
          <p:cNvPicPr>
            <a:picLocks noChangeAspect="1"/>
          </p:cNvPicPr>
          <p:nvPr/>
        </p:nvPicPr>
        <p:blipFill>
          <a:blip>
            <a:alphaModFix amt="32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48359" y="1649738"/>
            <a:ext cx="782999" cy="782999"/>
          </a:xfrm>
          <a:prstGeom prst="rect">
            <a:avLst/>
          </a:prstGeom>
        </p:spPr>
      </p:pic>
      <p:sp>
        <p:nvSpPr>
          <p:cNvPr id="13" name="TextBox 171">
            <a:extLst>
              <a:ext uri="{FF2B5EF4-FFF2-40B4-BE49-F238E27FC236}">
                <a16:creationId xmlns:a16="http://schemas.microsoft.com/office/drawing/2014/main" id="{DFF51801-1A45-8FB0-0804-52D9B3F20ED3}"/>
              </a:ext>
            </a:extLst>
          </p:cNvPr>
          <p:cNvSpPr txBox="1"/>
          <p:nvPr/>
        </p:nvSpPr>
        <p:spPr>
          <a:xfrm>
            <a:off x="7920991" y="2122124"/>
            <a:ext cx="3566095" cy="278837"/>
          </a:xfrm>
          <a:prstGeom prst="rect">
            <a:avLst/>
          </a:prstGeom>
          <a:noFill/>
        </p:spPr>
        <p:txBody>
          <a:bodyPr wrap="square" lIns="93260" tIns="46630" rIns="93260" bIns="46630" anchor="t">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lt"/>
                <a:cs typeface="Segoe UI"/>
              </a:rPr>
              <a:t>アプリケーション重視、インフラの抽象化</a:t>
            </a:r>
          </a:p>
        </p:txBody>
      </p:sp>
      <p:sp>
        <p:nvSpPr>
          <p:cNvPr id="14" name="TextBox 172">
            <a:extLst>
              <a:ext uri="{FF2B5EF4-FFF2-40B4-BE49-F238E27FC236}">
                <a16:creationId xmlns:a16="http://schemas.microsoft.com/office/drawing/2014/main" id="{D18C4258-C771-89CD-6121-040B8B558574}"/>
              </a:ext>
            </a:extLst>
          </p:cNvPr>
          <p:cNvSpPr txBox="1"/>
          <p:nvPr/>
        </p:nvSpPr>
        <p:spPr>
          <a:xfrm>
            <a:off x="7327305" y="1828798"/>
            <a:ext cx="4409448" cy="401947"/>
          </a:xfrm>
          <a:prstGeom prst="rect">
            <a:avLst/>
          </a:prstGeom>
          <a:noFill/>
        </p:spPr>
        <p:txBody>
          <a:bodyPr wrap="square" lIns="93260" tIns="46630" rIns="93260" bIns="46630" anchor="t">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1">
                    <a:lumMod val="75000"/>
                    <a:lumOff val="25000"/>
                  </a:schemeClr>
                </a:solidFill>
                <a:effectLst/>
                <a:uLnTx/>
                <a:uFillTx/>
                <a:latin typeface="Segoe UI Semibold"/>
                <a:ea typeface="+mn-lt"/>
                <a:cs typeface="Segoe UI"/>
              </a:rPr>
              <a:t>Azure Container Apps (ACA) </a:t>
            </a:r>
          </a:p>
        </p:txBody>
      </p:sp>
      <p:pic>
        <p:nvPicPr>
          <p:cNvPr id="15" name="Picture 7" descr="See the source image">
            <a:extLst>
              <a:ext uri="{FF2B5EF4-FFF2-40B4-BE49-F238E27FC236}">
                <a16:creationId xmlns:a16="http://schemas.microsoft.com/office/drawing/2014/main" id="{C8FBAD4A-E749-62F7-BA09-756C6EDAC45B}"/>
              </a:ext>
            </a:extLst>
          </p:cNvPr>
          <p:cNvPicPr>
            <a:picLocks noChangeAspect="1" noChangeArrowheads="1"/>
          </p:cNvPicPr>
          <p:nvPr/>
        </p:nvPicPr>
        <p:blipFill>
          <a:blip r:embed="rId4" cstate="screen">
            <a:alphaModFix amt="35000"/>
            <a:extLst>
              <a:ext uri="{28A0092B-C50C-407E-A947-70E740481C1C}">
                <a14:useLocalDpi xmlns:a14="http://schemas.microsoft.com/office/drawing/2010/main"/>
              </a:ext>
            </a:extLst>
          </a:blip>
          <a:srcRect/>
          <a:stretch>
            <a:fillRect/>
          </a:stretch>
        </p:blipFill>
        <p:spPr bwMode="auto">
          <a:xfrm>
            <a:off x="2675913" y="1672020"/>
            <a:ext cx="885619" cy="782999"/>
          </a:xfrm>
          <a:prstGeom prst="rect">
            <a:avLst/>
          </a:prstGeom>
          <a:noFill/>
        </p:spPr>
      </p:pic>
      <p:sp>
        <p:nvSpPr>
          <p:cNvPr id="16" name="TextBox 172">
            <a:extLst>
              <a:ext uri="{FF2B5EF4-FFF2-40B4-BE49-F238E27FC236}">
                <a16:creationId xmlns:a16="http://schemas.microsoft.com/office/drawing/2014/main" id="{BFD13047-8474-525F-4B19-0AF4423CCC9A}"/>
              </a:ext>
            </a:extLst>
          </p:cNvPr>
          <p:cNvSpPr txBox="1"/>
          <p:nvPr/>
        </p:nvSpPr>
        <p:spPr>
          <a:xfrm>
            <a:off x="3404648" y="2149891"/>
            <a:ext cx="2975335" cy="278837"/>
          </a:xfrm>
          <a:prstGeom prst="rect">
            <a:avLst/>
          </a:prstGeom>
          <a:noFill/>
        </p:spPr>
        <p:txBody>
          <a:bodyPr wrap="square" lIns="93260" tIns="46630" rIns="93260" bIns="46630" anchor="t">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lt"/>
                <a:cs typeface="Segoe UI"/>
              </a:rPr>
              <a:t>インフラ重視、高い柔軟性</a:t>
            </a:r>
          </a:p>
        </p:txBody>
      </p:sp>
      <p:sp>
        <p:nvSpPr>
          <p:cNvPr id="19" name="TextBox 172">
            <a:extLst>
              <a:ext uri="{FF2B5EF4-FFF2-40B4-BE49-F238E27FC236}">
                <a16:creationId xmlns:a16="http://schemas.microsoft.com/office/drawing/2014/main" id="{669C1CFD-E245-2010-7F4E-AF8B5BC57018}"/>
              </a:ext>
            </a:extLst>
          </p:cNvPr>
          <p:cNvSpPr txBox="1"/>
          <p:nvPr/>
        </p:nvSpPr>
        <p:spPr>
          <a:xfrm>
            <a:off x="2838911" y="1838222"/>
            <a:ext cx="4409448" cy="401947"/>
          </a:xfrm>
          <a:prstGeom prst="rect">
            <a:avLst/>
          </a:prstGeom>
          <a:noFill/>
        </p:spPr>
        <p:txBody>
          <a:bodyPr wrap="square" lIns="93260" tIns="46630" rIns="93260" bIns="46630" anchor="t">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1">
                    <a:lumMod val="75000"/>
                    <a:lumOff val="25000"/>
                  </a:schemeClr>
                </a:solidFill>
                <a:effectLst/>
                <a:uLnTx/>
                <a:uFillTx/>
                <a:latin typeface="Segoe UI Semibold"/>
                <a:ea typeface="+mn-lt"/>
                <a:cs typeface="Segoe UI"/>
              </a:rPr>
              <a:t>Azure Kubernetes Service (AKS)</a:t>
            </a:r>
          </a:p>
        </p:txBody>
      </p:sp>
      <p:cxnSp>
        <p:nvCxnSpPr>
          <p:cNvPr id="20" name="Straight Connector 31">
            <a:extLst>
              <a:ext uri="{FF2B5EF4-FFF2-40B4-BE49-F238E27FC236}">
                <a16:creationId xmlns:a16="http://schemas.microsoft.com/office/drawing/2014/main" id="{F9097701-C3AB-5D87-3047-0C287037DFEA}"/>
              </a:ext>
              <a:ext uri="{C183D7F6-B498-43B3-948B-1728B52AA6E4}">
                <adec:decorative xmlns:adec="http://schemas.microsoft.com/office/drawing/2017/decorative" val="1"/>
              </a:ext>
            </a:extLst>
          </p:cNvPr>
          <p:cNvCxnSpPr>
            <a:cxnSpLocks/>
          </p:cNvCxnSpPr>
          <p:nvPr/>
        </p:nvCxnSpPr>
        <p:spPr>
          <a:xfrm flipV="1">
            <a:off x="2514191" y="2627895"/>
            <a:ext cx="0" cy="3926131"/>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34">
            <a:extLst>
              <a:ext uri="{FF2B5EF4-FFF2-40B4-BE49-F238E27FC236}">
                <a16:creationId xmlns:a16="http://schemas.microsoft.com/office/drawing/2014/main" id="{CF4671F9-0D88-2CA2-897C-00C13FA45262}"/>
              </a:ext>
              <a:ext uri="{C183D7F6-B498-43B3-948B-1728B52AA6E4}">
                <adec:decorative xmlns:adec="http://schemas.microsoft.com/office/drawing/2017/decorative" val="1"/>
              </a:ext>
            </a:extLst>
          </p:cNvPr>
          <p:cNvCxnSpPr>
            <a:cxnSpLocks/>
          </p:cNvCxnSpPr>
          <p:nvPr/>
        </p:nvCxnSpPr>
        <p:spPr>
          <a:xfrm flipH="1" flipV="1">
            <a:off x="579037" y="2603345"/>
            <a:ext cx="11157708" cy="4094"/>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Straight Connector 38">
            <a:extLst>
              <a:ext uri="{FF2B5EF4-FFF2-40B4-BE49-F238E27FC236}">
                <a16:creationId xmlns:a16="http://schemas.microsoft.com/office/drawing/2014/main" id="{2E76E6F9-0FB1-1082-5287-F028CA2A24D7}"/>
              </a:ext>
              <a:ext uri="{C183D7F6-B498-43B3-948B-1728B52AA6E4}">
                <adec:decorative xmlns:adec="http://schemas.microsoft.com/office/drawing/2017/decorative" val="1"/>
              </a:ext>
            </a:extLst>
          </p:cNvPr>
          <p:cNvCxnSpPr>
            <a:cxnSpLocks/>
          </p:cNvCxnSpPr>
          <p:nvPr/>
        </p:nvCxnSpPr>
        <p:spPr>
          <a:xfrm>
            <a:off x="6934480" y="2620516"/>
            <a:ext cx="0" cy="3924439"/>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 name="Straight Connector 42">
            <a:extLst>
              <a:ext uri="{FF2B5EF4-FFF2-40B4-BE49-F238E27FC236}">
                <a16:creationId xmlns:a16="http://schemas.microsoft.com/office/drawing/2014/main" id="{66742325-F78C-C8BD-FAC6-CDE37635C2C4}"/>
              </a:ext>
              <a:ext uri="{C183D7F6-B498-43B3-948B-1728B52AA6E4}">
                <adec:decorative xmlns:adec="http://schemas.microsoft.com/office/drawing/2017/decorative" val="1"/>
              </a:ext>
            </a:extLst>
          </p:cNvPr>
          <p:cNvCxnSpPr>
            <a:cxnSpLocks/>
          </p:cNvCxnSpPr>
          <p:nvPr/>
        </p:nvCxnSpPr>
        <p:spPr>
          <a:xfrm flipH="1">
            <a:off x="583116" y="3367337"/>
            <a:ext cx="11153634" cy="0"/>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6" name="Straight Connector 43">
            <a:extLst>
              <a:ext uri="{FF2B5EF4-FFF2-40B4-BE49-F238E27FC236}">
                <a16:creationId xmlns:a16="http://schemas.microsoft.com/office/drawing/2014/main" id="{0725376F-D043-5FFE-0F04-635255A86C8D}"/>
              </a:ext>
              <a:ext uri="{C183D7F6-B498-43B3-948B-1728B52AA6E4}">
                <adec:decorative xmlns:adec="http://schemas.microsoft.com/office/drawing/2017/decorative" val="1"/>
              </a:ext>
            </a:extLst>
          </p:cNvPr>
          <p:cNvCxnSpPr>
            <a:cxnSpLocks/>
          </p:cNvCxnSpPr>
          <p:nvPr/>
        </p:nvCxnSpPr>
        <p:spPr>
          <a:xfrm flipH="1">
            <a:off x="579037" y="4131055"/>
            <a:ext cx="11157713" cy="0"/>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7" name="Straight Connector 44">
            <a:extLst>
              <a:ext uri="{FF2B5EF4-FFF2-40B4-BE49-F238E27FC236}">
                <a16:creationId xmlns:a16="http://schemas.microsoft.com/office/drawing/2014/main" id="{5E98D4F4-7CDA-BCBE-F1BF-AD553C203033}"/>
              </a:ext>
              <a:ext uri="{C183D7F6-B498-43B3-948B-1728B52AA6E4}">
                <adec:decorative xmlns:adec="http://schemas.microsoft.com/office/drawing/2017/decorative" val="1"/>
              </a:ext>
            </a:extLst>
          </p:cNvPr>
          <p:cNvCxnSpPr>
            <a:cxnSpLocks/>
          </p:cNvCxnSpPr>
          <p:nvPr/>
        </p:nvCxnSpPr>
        <p:spPr>
          <a:xfrm flipH="1">
            <a:off x="579037" y="5197842"/>
            <a:ext cx="11157708" cy="0"/>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5">
            <a:extLst>
              <a:ext uri="{FF2B5EF4-FFF2-40B4-BE49-F238E27FC236}">
                <a16:creationId xmlns:a16="http://schemas.microsoft.com/office/drawing/2014/main" id="{623D16CC-CEE4-1831-E414-19FFB5C6D3B3}"/>
              </a:ext>
              <a:ext uri="{C183D7F6-B498-43B3-948B-1728B52AA6E4}">
                <adec:decorative xmlns:adec="http://schemas.microsoft.com/office/drawing/2017/decorative" val="1"/>
              </a:ext>
            </a:extLst>
          </p:cNvPr>
          <p:cNvCxnSpPr>
            <a:cxnSpLocks/>
          </p:cNvCxnSpPr>
          <p:nvPr/>
        </p:nvCxnSpPr>
        <p:spPr>
          <a:xfrm flipH="1">
            <a:off x="579037" y="6544955"/>
            <a:ext cx="11157708" cy="0"/>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9" name="TextBox 50">
            <a:extLst>
              <a:ext uri="{FF2B5EF4-FFF2-40B4-BE49-F238E27FC236}">
                <a16:creationId xmlns:a16="http://schemas.microsoft.com/office/drawing/2014/main" id="{E350673A-3AD6-F877-4F13-483AAC4D61FA}"/>
              </a:ext>
            </a:extLst>
          </p:cNvPr>
          <p:cNvSpPr txBox="1"/>
          <p:nvPr/>
        </p:nvSpPr>
        <p:spPr>
          <a:xfrm>
            <a:off x="783444" y="2894346"/>
            <a:ext cx="923330"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ea"/>
                <a:cs typeface="+mn-cs"/>
              </a:rPr>
              <a:t>主な価値提案</a:t>
            </a:r>
          </a:p>
        </p:txBody>
      </p:sp>
      <p:sp>
        <p:nvSpPr>
          <p:cNvPr id="50" name="TextBox 52">
            <a:extLst>
              <a:ext uri="{FF2B5EF4-FFF2-40B4-BE49-F238E27FC236}">
                <a16:creationId xmlns:a16="http://schemas.microsoft.com/office/drawing/2014/main" id="{DA2ABE3D-CF80-1FF3-2805-331550070983}"/>
              </a:ext>
            </a:extLst>
          </p:cNvPr>
          <p:cNvSpPr txBox="1"/>
          <p:nvPr/>
        </p:nvSpPr>
        <p:spPr>
          <a:xfrm>
            <a:off x="2710984" y="2705720"/>
            <a:ext cx="4104557"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Kubernetes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APIサーバーへのフルアクセスとクラスター構成の高度な制御が可能な、AzureのマネージドKubernetesクラスタ</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ー。</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ノードベースの料金モデル</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
        <p:nvSpPr>
          <p:cNvPr id="51" name="TextBox 54">
            <a:extLst>
              <a:ext uri="{FF2B5EF4-FFF2-40B4-BE49-F238E27FC236}">
                <a16:creationId xmlns:a16="http://schemas.microsoft.com/office/drawing/2014/main" id="{F5AB1EF0-D7D0-740F-44D9-C8436CBE8FF8}"/>
              </a:ext>
            </a:extLst>
          </p:cNvPr>
          <p:cNvSpPr txBox="1"/>
          <p:nvPr/>
        </p:nvSpPr>
        <p:spPr>
          <a:xfrm>
            <a:off x="7133201" y="2713182"/>
            <a:ext cx="4372986"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Kubernetesインフラ上のフルマネージドサーバーレス抽象化。イベント駆動型マイクロサービスの管理とスケーリングに特化。従量課金モデル</a:t>
            </a:r>
          </a:p>
        </p:txBody>
      </p:sp>
      <p:sp>
        <p:nvSpPr>
          <p:cNvPr id="52" name="TextBox 66">
            <a:extLst>
              <a:ext uri="{FF2B5EF4-FFF2-40B4-BE49-F238E27FC236}">
                <a16:creationId xmlns:a16="http://schemas.microsoft.com/office/drawing/2014/main" id="{4C1F9851-91FB-BCCE-CA56-4D3576B96228}"/>
              </a:ext>
            </a:extLst>
          </p:cNvPr>
          <p:cNvSpPr txBox="1"/>
          <p:nvPr/>
        </p:nvSpPr>
        <p:spPr>
          <a:xfrm>
            <a:off x="776976" y="3624215"/>
            <a:ext cx="769441"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ea"/>
                <a:cs typeface="+mn-cs"/>
              </a:rPr>
              <a:t>最適化対象</a:t>
            </a:r>
          </a:p>
        </p:txBody>
      </p:sp>
      <p:sp>
        <p:nvSpPr>
          <p:cNvPr id="53" name="TextBox 73">
            <a:extLst>
              <a:ext uri="{FF2B5EF4-FFF2-40B4-BE49-F238E27FC236}">
                <a16:creationId xmlns:a16="http://schemas.microsoft.com/office/drawing/2014/main" id="{CD412E16-818D-B3AB-EF54-2C87547C6B34}"/>
              </a:ext>
            </a:extLst>
          </p:cNvPr>
          <p:cNvSpPr txBox="1"/>
          <p:nvPr/>
        </p:nvSpPr>
        <p:spPr>
          <a:xfrm>
            <a:off x="2675905" y="3439549"/>
            <a:ext cx="4139644" cy="67710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マネージドコントロールプレーンによるアップストリーム機能の同等性</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高度なカスタマイズによる運用の柔軟性</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Kubernetes運用経験者向け</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
        <p:nvSpPr>
          <p:cNvPr id="54" name="TextBox 75">
            <a:extLst>
              <a:ext uri="{FF2B5EF4-FFF2-40B4-BE49-F238E27FC236}">
                <a16:creationId xmlns:a16="http://schemas.microsoft.com/office/drawing/2014/main" id="{E071F7B7-8C3E-7086-631F-98DAB29FE75E}"/>
              </a:ext>
            </a:extLst>
          </p:cNvPr>
          <p:cNvSpPr txBox="1"/>
          <p:nvPr/>
        </p:nvSpPr>
        <p:spPr>
          <a:xfrm>
            <a:off x="7108722" y="3460005"/>
            <a:ext cx="4378360" cy="507831"/>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サーバーレススケールのPaaS体験</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低い運用負荷による開発者の生産性向上</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Linuxベースの汎用ステートレスコンテナ</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
        <p:nvSpPr>
          <p:cNvPr id="55" name="TextBox 32">
            <a:extLst>
              <a:ext uri="{FF2B5EF4-FFF2-40B4-BE49-F238E27FC236}">
                <a16:creationId xmlns:a16="http://schemas.microsoft.com/office/drawing/2014/main" id="{8A1E84CB-D344-04C3-5A87-70B545975D5A}"/>
              </a:ext>
            </a:extLst>
          </p:cNvPr>
          <p:cNvSpPr txBox="1"/>
          <p:nvPr/>
        </p:nvSpPr>
        <p:spPr>
          <a:xfrm>
            <a:off x="776976" y="5545862"/>
            <a:ext cx="586699"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ea"/>
                <a:cs typeface="+mn-cs"/>
              </a:rPr>
              <a:t>OSS統合</a:t>
            </a:r>
          </a:p>
        </p:txBody>
      </p:sp>
      <p:sp>
        <p:nvSpPr>
          <p:cNvPr id="56" name="TextBox 35">
            <a:extLst>
              <a:ext uri="{FF2B5EF4-FFF2-40B4-BE49-F238E27FC236}">
                <a16:creationId xmlns:a16="http://schemas.microsoft.com/office/drawing/2014/main" id="{1885D520-44D0-4413-C64A-064B1FAF7F30}"/>
              </a:ext>
            </a:extLst>
          </p:cNvPr>
          <p:cNvSpPr txBox="1"/>
          <p:nvPr/>
        </p:nvSpPr>
        <p:spPr>
          <a:xfrm>
            <a:off x="2675904" y="5335188"/>
            <a:ext cx="4139639" cy="67710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Dapr、KEDA、Open</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Service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Mesh、GitOps</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(Flux）、Pod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Identityなど、クラスター内でOSSコンポーネントを有効にするためのクラスター拡張機能とアドオンのセットを提供</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Kubernetesマニフェストによる手動インストールをサポート</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
        <p:nvSpPr>
          <p:cNvPr id="57" name="TextBox 37">
            <a:extLst>
              <a:ext uri="{FF2B5EF4-FFF2-40B4-BE49-F238E27FC236}">
                <a16:creationId xmlns:a16="http://schemas.microsoft.com/office/drawing/2014/main" id="{522BEC2D-07BF-FBA4-9990-25B5FBA8692A}"/>
              </a:ext>
            </a:extLst>
          </p:cNvPr>
          <p:cNvSpPr txBox="1"/>
          <p:nvPr/>
        </p:nvSpPr>
        <p:spPr>
          <a:xfrm>
            <a:off x="7096193" y="5282479"/>
            <a:ext cx="4409991" cy="101566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Dapr、KEDA、Envoyなど、CNCFプロジェクトを活用したプラットフォーム機能を搭載。すべてフルマネージドでサポート対象</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Envoy: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マネージドイングレスとトラフィック分割</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KEDA: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マネージドのイベント駆動型オートスケール</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Dapr</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マイクロサービスのベストプラクティスを体系化</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
        <p:nvSpPr>
          <p:cNvPr id="58" name="TextBox 40">
            <a:extLst>
              <a:ext uri="{FF2B5EF4-FFF2-40B4-BE49-F238E27FC236}">
                <a16:creationId xmlns:a16="http://schemas.microsoft.com/office/drawing/2014/main" id="{5D9D35CF-F80C-B92D-AC18-4D867BD85D5C}"/>
              </a:ext>
            </a:extLst>
          </p:cNvPr>
          <p:cNvSpPr txBox="1"/>
          <p:nvPr/>
        </p:nvSpPr>
        <p:spPr>
          <a:xfrm>
            <a:off x="778367" y="4504939"/>
            <a:ext cx="769441"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ea"/>
                <a:cs typeface="+mn-cs"/>
              </a:rPr>
              <a:t>操作モデル</a:t>
            </a:r>
          </a:p>
        </p:txBody>
      </p:sp>
      <p:sp>
        <p:nvSpPr>
          <p:cNvPr id="59" name="TextBox 46">
            <a:extLst>
              <a:ext uri="{FF2B5EF4-FFF2-40B4-BE49-F238E27FC236}">
                <a16:creationId xmlns:a16="http://schemas.microsoft.com/office/drawing/2014/main" id="{0DED7685-3D4C-F522-CF89-B2E547D2D310}"/>
              </a:ext>
            </a:extLst>
          </p:cNvPr>
          <p:cNvSpPr txBox="1"/>
          <p:nvPr/>
        </p:nvSpPr>
        <p:spPr>
          <a:xfrm>
            <a:off x="2675905" y="4199301"/>
            <a:ext cx="4139648" cy="1015663"/>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運用者はAzure</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Portal、CLI、またはInfrastructure-as-Code</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IaC</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テンプレートを使用してノードベースのAKSクラスターをデプロイ</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開発者はKubernetesデプロイメントマニフェストまたはHELMチャートを使用して、クラスター内の論理的に分離された名前空間にコンテナをデプロイ</a:t>
            </a:r>
          </a:p>
        </p:txBody>
      </p:sp>
      <p:sp>
        <p:nvSpPr>
          <p:cNvPr id="60" name="TextBox 48">
            <a:extLst>
              <a:ext uri="{FF2B5EF4-FFF2-40B4-BE49-F238E27FC236}">
                <a16:creationId xmlns:a16="http://schemas.microsoft.com/office/drawing/2014/main" id="{9EF372CE-1F87-7AAD-76EB-C4035AAFFEE6}"/>
              </a:ext>
            </a:extLst>
          </p:cNvPr>
          <p:cNvSpPr txBox="1"/>
          <p:nvPr/>
        </p:nvSpPr>
        <p:spPr>
          <a:xfrm>
            <a:off x="7108721" y="4186079"/>
            <a:ext cx="4397471" cy="846386"/>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開発者はAzure</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Portal、CLI、またはIaCテンプレートを使用して、Kubernetesマニフェスト不要で個別のContainer</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Appsとしてコンテナをデプロイ</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関連するコンテナアプリはKubernetesの名前空間に相当する共有Container</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Apps環境にデプロイ</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Tree>
    <p:extLst>
      <p:ext uri="{BB962C8B-B14F-4D97-AF65-F5344CB8AC3E}">
        <p14:creationId xmlns:p14="http://schemas.microsoft.com/office/powerpoint/2010/main" val="2508540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855DB-D41D-C24D-A5CA-D65FDA4106F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538CB33-3AF7-B0C1-D0DB-FDEBF363624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認証基盤としての</a:t>
            </a:r>
            <a:r>
              <a:rPr lang="en-US" altLang="ja-JP" sz="2025" b="1" dirty="0">
                <a:solidFill>
                  <a:srgbClr val="1F2937"/>
                </a:solidFill>
                <a:latin typeface="Meiryo UI"/>
                <a:ea typeface="Meiryo UI"/>
                <a:cs typeface="Meiryo UI"/>
              </a:rPr>
              <a:t> Entra ID</a:t>
            </a:r>
            <a:endParaRPr lang="en" altLang="ja-JP"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26A08CAB-8341-0447-E9BA-2E458AE9A7A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48A29970-3509-038F-BFF7-DE222C985F1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図 2">
            <a:extLst>
              <a:ext uri="{FF2B5EF4-FFF2-40B4-BE49-F238E27FC236}">
                <a16:creationId xmlns:a16="http://schemas.microsoft.com/office/drawing/2014/main" id="{74B6981E-6CF2-9EDF-1C2B-F5BD382777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6000" y="2019537"/>
            <a:ext cx="5632218" cy="4354402"/>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Rectangle 6">
            <a:extLst>
              <a:ext uri="{FF2B5EF4-FFF2-40B4-BE49-F238E27FC236}">
                <a16:creationId xmlns:a16="http://schemas.microsoft.com/office/drawing/2014/main" id="{4E690503-D425-D167-9BE0-3D01C4F51C1E}"/>
              </a:ext>
              <a:ext uri="{C183D7F6-B498-43B3-948B-1728B52AA6E4}">
                <adec:decorative xmlns:adec="http://schemas.microsoft.com/office/drawing/2017/decorative" val="1"/>
              </a:ext>
            </a:extLst>
          </p:cNvPr>
          <p:cNvSpPr/>
          <p:nvPr/>
        </p:nvSpPr>
        <p:spPr>
          <a:xfrm>
            <a:off x="665485" y="2053431"/>
            <a:ext cx="4256032" cy="369332"/>
          </a:xfrm>
          <a:prstGeom prst="rect">
            <a:avLst/>
          </a:prstGeom>
        </p:spPr>
        <p:txBody>
          <a:bodyPr wrap="square" lIns="0">
            <a:spAutoFit/>
          </a:bodyPr>
          <a:lstStyle/>
          <a:p>
            <a:pPr marL="0" marR="0" lvl="0" indent="0" algn="l" defTabSz="913782" rtl="0" eaLnBrk="1" fontAlgn="auto" latinLnBrk="0" hangingPunct="1">
              <a:lnSpc>
                <a:spcPct val="100000"/>
              </a:lnSpc>
              <a:spcBef>
                <a:spcPct val="20000"/>
              </a:spcBef>
              <a:spcAft>
                <a:spcPts val="600"/>
              </a:spcAft>
              <a:buClrTx/>
              <a:buSzPct val="90000"/>
              <a:buFontTx/>
              <a:buNone/>
              <a:tabLst/>
              <a:defRPr/>
            </a:pPr>
            <a:r>
              <a:rPr kumimoji="0" lang="ja-JP" altLang="en-US" sz="1800" b="0" i="0" u="none" strike="noStrike" kern="1200" cap="none" spc="0" normalizeH="0" baseline="0" noProof="0">
                <a:ln>
                  <a:noFill/>
                </a:ln>
                <a:solidFill>
                  <a:srgbClr val="E6E6E6">
                    <a:lumMod val="25000"/>
                  </a:srgbClr>
                </a:solidFill>
                <a:effectLst/>
                <a:uLnTx/>
                <a:uFillTx/>
                <a:latin typeface="Yu Gothic UI"/>
                <a:ea typeface="Yu Gothic UI"/>
                <a:cs typeface="Segoe UI Semibold" panose="020B0702040204020203" pitchFamily="34" charset="0"/>
              </a:rPr>
              <a:t>認証・認可の標準プロトコルをサポート</a:t>
            </a:r>
            <a:endParaRPr kumimoji="0" lang="en-US" altLang="ja-JP" sz="1800" b="0" i="0" u="none" strike="noStrike" kern="1200" cap="none" spc="0" normalizeH="0" baseline="0" noProof="0">
              <a:ln>
                <a:noFill/>
              </a:ln>
              <a:solidFill>
                <a:srgbClr val="E6E6E6">
                  <a:lumMod val="25000"/>
                </a:srgbClr>
              </a:solidFill>
              <a:effectLst/>
              <a:uLnTx/>
              <a:uFillTx/>
              <a:latin typeface="Yu Gothic UI"/>
              <a:ea typeface="Yu Gothic UI"/>
              <a:cs typeface="Segoe UI Semibold" panose="020B0702040204020203" pitchFamily="34" charset="0"/>
            </a:endParaRPr>
          </a:p>
        </p:txBody>
      </p:sp>
      <p:sp>
        <p:nvSpPr>
          <p:cNvPr id="7" name="Text Placeholder 2">
            <a:extLst>
              <a:ext uri="{FF2B5EF4-FFF2-40B4-BE49-F238E27FC236}">
                <a16:creationId xmlns:a16="http://schemas.microsoft.com/office/drawing/2014/main" id="{E67B8D7C-E39C-1F06-03B3-640AFBE13855}"/>
              </a:ext>
            </a:extLst>
          </p:cNvPr>
          <p:cNvSpPr txBox="1">
            <a:spLocks/>
          </p:cNvSpPr>
          <p:nvPr/>
        </p:nvSpPr>
        <p:spPr>
          <a:xfrm>
            <a:off x="699798" y="2515822"/>
            <a:ext cx="4879838" cy="1509777"/>
          </a:xfrm>
          <a:prstGeom prst="rect">
            <a:avLst/>
          </a:prstGeom>
        </p:spPr>
        <p:txBody>
          <a:bodyPr/>
          <a:lst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OAuth 2.0</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OpenID Connect (OIDC)</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JSON Web </a:t>
            </a: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トークン </a:t>
            </a: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(JWT)</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Security Assertion Markup Language (SAML)</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クロスドメイン </a:t>
            </a: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ID </a:t>
            </a: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管理システム </a:t>
            </a: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(SCIM)</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Web Services Federation (WS-Fed)</a:t>
            </a:r>
          </a:p>
        </p:txBody>
      </p:sp>
      <p:sp>
        <p:nvSpPr>
          <p:cNvPr id="8" name="Text Placeholder 2">
            <a:extLst>
              <a:ext uri="{FF2B5EF4-FFF2-40B4-BE49-F238E27FC236}">
                <a16:creationId xmlns:a16="http://schemas.microsoft.com/office/drawing/2014/main" id="{ADE71796-A9EE-2998-7B20-52B3905B20D5}"/>
              </a:ext>
            </a:extLst>
          </p:cNvPr>
          <p:cNvSpPr txBox="1">
            <a:spLocks/>
          </p:cNvSpPr>
          <p:nvPr/>
        </p:nvSpPr>
        <p:spPr>
          <a:xfrm>
            <a:off x="699798" y="4914042"/>
            <a:ext cx="4241663" cy="1459897"/>
          </a:xfrm>
          <a:prstGeom prst="rect">
            <a:avLst/>
          </a:prstGeom>
        </p:spPr>
        <p:txBody>
          <a:bodyPr/>
          <a:lst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シングルページ アプリ</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Web Apps</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Web API</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モバイル アプリ</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ネイティブ アプリ</a:t>
            </a:r>
          </a:p>
        </p:txBody>
      </p:sp>
      <p:sp>
        <p:nvSpPr>
          <p:cNvPr id="10" name="Rectangle 6">
            <a:extLst>
              <a:ext uri="{FF2B5EF4-FFF2-40B4-BE49-F238E27FC236}">
                <a16:creationId xmlns:a16="http://schemas.microsoft.com/office/drawing/2014/main" id="{E2F63B53-6EFC-46D5-E980-64D285E17620}"/>
              </a:ext>
              <a:ext uri="{C183D7F6-B498-43B3-948B-1728B52AA6E4}">
                <adec:decorative xmlns:adec="http://schemas.microsoft.com/office/drawing/2017/decorative" val="1"/>
              </a:ext>
            </a:extLst>
          </p:cNvPr>
          <p:cNvSpPr/>
          <p:nvPr/>
        </p:nvSpPr>
        <p:spPr>
          <a:xfrm>
            <a:off x="665485" y="4544710"/>
            <a:ext cx="4310291" cy="369332"/>
          </a:xfrm>
          <a:prstGeom prst="rect">
            <a:avLst/>
          </a:prstGeom>
        </p:spPr>
        <p:txBody>
          <a:bodyPr wrap="square" lIns="0">
            <a:spAutoFit/>
          </a:bodyPr>
          <a:lstStyle/>
          <a:p>
            <a:pPr marL="0" marR="0" lvl="0" indent="0" algn="l" defTabSz="913782" rtl="0" eaLnBrk="1" fontAlgn="auto" latinLnBrk="0" hangingPunct="1">
              <a:lnSpc>
                <a:spcPct val="100000"/>
              </a:lnSpc>
              <a:spcBef>
                <a:spcPct val="20000"/>
              </a:spcBef>
              <a:spcAft>
                <a:spcPts val="600"/>
              </a:spcAft>
              <a:buClrTx/>
              <a:buSzPct val="90000"/>
              <a:buFontTx/>
              <a:buNone/>
              <a:tabLst/>
              <a:defRPr/>
            </a:pPr>
            <a:r>
              <a:rPr kumimoji="0" lang="ja-JP" altLang="en-US" sz="1800" b="0" i="0" u="none" strike="noStrike" kern="1200" cap="none" spc="0" normalizeH="0" baseline="0" noProof="0">
                <a:ln>
                  <a:noFill/>
                </a:ln>
                <a:solidFill>
                  <a:srgbClr val="E6E6E6">
                    <a:lumMod val="25000"/>
                  </a:srgbClr>
                </a:solidFill>
                <a:effectLst/>
                <a:uLnTx/>
                <a:uFillTx/>
                <a:latin typeface="Yu Gothic UI"/>
                <a:ea typeface="Yu Gothic UI"/>
                <a:cs typeface="Segoe UI Semibold" panose="020B0702040204020203" pitchFamily="34" charset="0"/>
              </a:rPr>
              <a:t>様々なアプリのタイプの認証をサポート</a:t>
            </a:r>
            <a:endParaRPr kumimoji="0" lang="en-US" altLang="ja-JP" sz="1800" b="0" i="0" u="none" strike="noStrike" kern="1200" cap="none" spc="0" normalizeH="0" baseline="0" noProof="0">
              <a:ln>
                <a:noFill/>
              </a:ln>
              <a:solidFill>
                <a:srgbClr val="E6E6E6">
                  <a:lumMod val="25000"/>
                </a:srgbClr>
              </a:solidFill>
              <a:effectLst/>
              <a:uLnTx/>
              <a:uFillTx/>
              <a:latin typeface="Yu Gothic UI"/>
              <a:ea typeface="Yu Gothic UI"/>
              <a:cs typeface="Segoe UI Semibold" panose="020B0702040204020203" pitchFamily="34" charset="0"/>
            </a:endParaRPr>
          </a:p>
        </p:txBody>
      </p:sp>
      <p:sp>
        <p:nvSpPr>
          <p:cNvPr id="11" name="テキスト ボックス 10">
            <a:extLst>
              <a:ext uri="{FF2B5EF4-FFF2-40B4-BE49-F238E27FC236}">
                <a16:creationId xmlns:a16="http://schemas.microsoft.com/office/drawing/2014/main" id="{5521A501-2BF2-C757-2186-542DB55FF047}"/>
              </a:ext>
            </a:extLst>
          </p:cNvPr>
          <p:cNvSpPr txBox="1"/>
          <p:nvPr/>
        </p:nvSpPr>
        <p:spPr>
          <a:xfrm>
            <a:off x="572729" y="1390650"/>
            <a:ext cx="1115254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Entra ID </a:t>
            </a:r>
            <a:r>
              <a:rPr kumimoji="0" lang="ja-JP" altLang="en-US" sz="1800" b="0" i="0" u="none" strike="noStrike" kern="1200" cap="none" spc="0" normalizeH="0" baseline="0" noProof="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は</a:t>
            </a:r>
            <a:r>
              <a:rPr kumimoji="0" lang="en-US" altLang="ja-JP" sz="1800" b="0" i="0" u="none" strike="noStrike" kern="1200" cap="none" spc="0" normalizeH="0" baseline="0" noProof="0" dirty="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 Web </a:t>
            </a:r>
            <a:r>
              <a:rPr kumimoji="0" lang="ja-JP" altLang="en-US" sz="1800" b="0" i="0" u="none" strike="noStrike" kern="1200" cap="none" spc="0" normalizeH="0" baseline="0" noProof="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またはモバイル アプリのようなクライアント アプリや </a:t>
            </a:r>
            <a:r>
              <a:rPr kumimoji="0" lang="en-US" altLang="ja-JP" sz="1800" b="0" i="0" u="none" strike="noStrike" kern="1200" cap="none" spc="0" normalizeH="0" baseline="0" noProof="0" dirty="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Web API </a:t>
            </a:r>
            <a:r>
              <a:rPr kumimoji="0" lang="ja-JP" altLang="en-US" sz="1800" b="0" i="0" u="none" strike="noStrike" kern="1200" cap="none" spc="0" normalizeH="0" baseline="0" noProof="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などを登録</a:t>
            </a:r>
            <a:r>
              <a:rPr lang="ja-JP" altLang="en-US">
                <a:ln w="3175">
                  <a:noFill/>
                </a:ln>
                <a:gradFill>
                  <a:gsLst>
                    <a:gs pos="1250">
                      <a:srgbClr val="0078D4"/>
                    </a:gs>
                    <a:gs pos="100000">
                      <a:srgbClr val="0078D4"/>
                    </a:gs>
                  </a:gsLst>
                  <a:lin ang="5400000" scaled="0"/>
                </a:gradFill>
                <a:latin typeface="Yu Gothic UI" panose="020B0500000000000000" pitchFamily="50" charset="-128"/>
                <a:ea typeface="Yu Gothic UI" panose="020B0500000000000000" pitchFamily="50" charset="-128"/>
                <a:cs typeface="Segoe UI Semibold"/>
              </a:rPr>
              <a:t>し、それらのアプリの認証が可能</a:t>
            </a:r>
            <a:endParaRPr kumimoji="1" lang="ja-JP" altLang="en-US" sz="18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Tree>
    <p:extLst>
      <p:ext uri="{BB962C8B-B14F-4D97-AF65-F5344CB8AC3E}">
        <p14:creationId xmlns:p14="http://schemas.microsoft.com/office/powerpoint/2010/main" val="615457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92F3C-BBD9-BFC0-A4CD-B71339C114B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33E6C7E-5063-0278-57ED-37FDF0FA14A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en-US" sz="2025" b="1" dirty="0" err="1">
                <a:solidFill>
                  <a:srgbClr val="1F2937"/>
                </a:solidFill>
                <a:latin typeface="Meiryo UI"/>
                <a:ea typeface="Meiryo UI"/>
                <a:cs typeface="Meiryo UI"/>
              </a:rPr>
              <a:t>ネットワーク</a:t>
            </a:r>
            <a:r>
              <a:rPr lang="en-US" altLang="ja-JP" sz="2025" b="1" dirty="0" err="1">
                <a:solidFill>
                  <a:srgbClr val="1F2937"/>
                </a:solidFill>
                <a:latin typeface="Meiryo UI"/>
                <a:ea typeface="Meiryo UI"/>
                <a:cs typeface="Meiryo UI"/>
              </a:rPr>
              <a:t>アーキテクチャ</a:t>
            </a:r>
            <a:r>
              <a:rPr lang="en-US" sz="2025" b="1" dirty="0" err="1">
                <a:solidFill>
                  <a:srgbClr val="1F2937"/>
                </a:solidFill>
                <a:latin typeface="Meiryo UI"/>
                <a:ea typeface="Meiryo UI"/>
                <a:cs typeface="Meiryo UI"/>
              </a:rPr>
              <a:t>の特徴</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3E1E1F41-D3D8-041B-953D-B11972E8EEA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9C8681ED-8B41-3AA5-3851-0EB8EC2CB5A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FE6E56D7-5A71-1976-1A8F-615F1CE2945B}"/>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今回のサンプルアプリのアーキテクチャでは</a:t>
            </a:r>
            <a:r>
              <a:rPr lang="en-US" altLang="ja-JP" sz="1200" dirty="0">
                <a:solidFill>
                  <a:srgbClr val="64748B"/>
                </a:solidFill>
                <a:latin typeface="Yu Gothic"/>
                <a:ea typeface="Yu Gothic"/>
                <a:cs typeface="Yu Gothic"/>
              </a:rPr>
              <a:t> ACA</a:t>
            </a:r>
            <a:r>
              <a:rPr lang="ja-JP" altLang="en-US" sz="1200">
                <a:solidFill>
                  <a:srgbClr val="64748B"/>
                </a:solidFill>
                <a:latin typeface="Yu Gothic"/>
                <a:ea typeface="Yu Gothic"/>
                <a:cs typeface="Yu Gothic"/>
              </a:rPr>
              <a:t>、</a:t>
            </a:r>
            <a:r>
              <a:rPr lang="en-US" altLang="ja-JP" sz="1200" dirty="0">
                <a:solidFill>
                  <a:srgbClr val="64748B"/>
                </a:solidFill>
                <a:latin typeface="Yu Gothic"/>
                <a:ea typeface="Yu Gothic"/>
                <a:cs typeface="Yu Gothic"/>
              </a:rPr>
              <a:t> PostgreSQL </a:t>
            </a:r>
            <a:r>
              <a:rPr lang="ja-JP" altLang="en-US" sz="1200">
                <a:solidFill>
                  <a:srgbClr val="64748B"/>
                </a:solidFill>
                <a:latin typeface="Yu Gothic"/>
                <a:ea typeface="Yu Gothic"/>
                <a:cs typeface="Yu Gothic"/>
              </a:rPr>
              <a:t>がすべて</a:t>
            </a:r>
            <a:r>
              <a:rPr lang="en-US" altLang="ja-JP" sz="1200" dirty="0">
                <a:solidFill>
                  <a:srgbClr val="64748B"/>
                </a:solidFill>
                <a:latin typeface="Yu Gothic"/>
                <a:ea typeface="Yu Gothic"/>
                <a:cs typeface="Yu Gothic"/>
              </a:rPr>
              <a:t> </a:t>
            </a:r>
            <a:r>
              <a:rPr lang="en-US" altLang="ja-JP" sz="1200" dirty="0" err="1">
                <a:solidFill>
                  <a:srgbClr val="64748B"/>
                </a:solidFill>
                <a:latin typeface="Yu Gothic"/>
                <a:ea typeface="Yu Gothic"/>
                <a:cs typeface="Yu Gothic"/>
              </a:rPr>
              <a:t>VNet</a:t>
            </a:r>
            <a:r>
              <a:rPr lang="en-US" altLang="ja-JP" sz="1200" dirty="0">
                <a:solidFill>
                  <a:srgbClr val="64748B"/>
                </a:solidFill>
                <a:latin typeface="Yu Gothic"/>
                <a:ea typeface="Yu Gothic"/>
                <a:cs typeface="Yu Gothic"/>
              </a:rPr>
              <a:t> </a:t>
            </a:r>
            <a:r>
              <a:rPr lang="ja-JP" altLang="en-US" sz="1200">
                <a:solidFill>
                  <a:srgbClr val="64748B"/>
                </a:solidFill>
                <a:latin typeface="Yu Gothic"/>
                <a:ea typeface="Yu Gothic"/>
                <a:cs typeface="Yu Gothic"/>
              </a:rPr>
              <a:t>の内部にデプロイされ、</a:t>
            </a:r>
            <a:r>
              <a:rPr lang="en-US" altLang="ja-JP" sz="1200" dirty="0">
                <a:solidFill>
                  <a:srgbClr val="64748B"/>
                </a:solidFill>
                <a:latin typeface="Yu Gothic"/>
                <a:ea typeface="Yu Gothic"/>
                <a:cs typeface="Yu Gothic"/>
              </a:rPr>
              <a:t>ACR </a:t>
            </a:r>
            <a:r>
              <a:rPr lang="ja-JP" altLang="en-US" sz="1200">
                <a:solidFill>
                  <a:srgbClr val="64748B"/>
                </a:solidFill>
                <a:latin typeface="Yu Gothic"/>
                <a:ea typeface="Yu Gothic"/>
                <a:cs typeface="Yu Gothic"/>
              </a:rPr>
              <a:t>も原則パブリックアクセスを無効化し、</a:t>
            </a:r>
            <a:r>
              <a:rPr lang="en-US" altLang="ja-JP" sz="1200" dirty="0" err="1">
                <a:solidFill>
                  <a:srgbClr val="64748B"/>
                </a:solidFill>
                <a:latin typeface="Yu Gothic"/>
                <a:ea typeface="Yu Gothic"/>
                <a:cs typeface="Yu Gothic"/>
              </a:rPr>
              <a:t>VNet</a:t>
            </a:r>
            <a:r>
              <a:rPr lang="en-US" altLang="ja-JP" sz="1200" dirty="0">
                <a:solidFill>
                  <a:srgbClr val="64748B"/>
                </a:solidFill>
                <a:latin typeface="Yu Gothic"/>
                <a:ea typeface="Yu Gothic"/>
                <a:cs typeface="Yu Gothic"/>
              </a:rPr>
              <a:t> </a:t>
            </a:r>
            <a:r>
              <a:rPr lang="ja-JP" altLang="en-US" sz="1200">
                <a:solidFill>
                  <a:srgbClr val="64748B"/>
                </a:solidFill>
                <a:latin typeface="Yu Gothic"/>
                <a:ea typeface="Yu Gothic"/>
                <a:cs typeface="Yu Gothic"/>
              </a:rPr>
              <a:t>内に用意した</a:t>
            </a:r>
            <a:r>
              <a:rPr lang="en-US" altLang="ja-JP" sz="1200" dirty="0">
                <a:solidFill>
                  <a:srgbClr val="64748B"/>
                </a:solidFill>
                <a:latin typeface="Yu Gothic"/>
                <a:ea typeface="Yu Gothic"/>
                <a:cs typeface="Yu Gothic"/>
              </a:rPr>
              <a:t> Private Endpoint </a:t>
            </a:r>
            <a:r>
              <a:rPr lang="ja-JP" altLang="en-US" sz="1200">
                <a:solidFill>
                  <a:srgbClr val="64748B"/>
                </a:solidFill>
                <a:latin typeface="Yu Gothic"/>
                <a:ea typeface="Yu Gothic"/>
                <a:cs typeface="Yu Gothic"/>
              </a:rPr>
              <a:t>からしかアクセスできないようにし、アタックサーフェースを最小化しています。</a:t>
            </a:r>
            <a:r>
              <a:rPr lang="en-US" altLang="ja-JP" sz="1200" dirty="0">
                <a:solidFill>
                  <a:srgbClr val="64748B"/>
                </a:solidFill>
                <a:latin typeface="Yu Gothic"/>
                <a:ea typeface="Yu Gothic"/>
                <a:cs typeface="Yu Gothic"/>
              </a:rPr>
              <a:t> </a:t>
            </a:r>
            <a:endParaRPr lang="ja-JP" altLang="en-US" sz="1200" dirty="0">
              <a:solidFill>
                <a:srgbClr val="64748B"/>
              </a:solidFill>
              <a:latin typeface="Yu Gothic"/>
              <a:ea typeface="Yu Gothic"/>
              <a:cs typeface="Yu Gothic"/>
            </a:endParaRPr>
          </a:p>
        </p:txBody>
      </p:sp>
      <p:sp>
        <p:nvSpPr>
          <p:cNvPr id="3" name="正方形/長方形 2">
            <a:extLst>
              <a:ext uri="{FF2B5EF4-FFF2-40B4-BE49-F238E27FC236}">
                <a16:creationId xmlns:a16="http://schemas.microsoft.com/office/drawing/2014/main" id="{941DBC13-079A-A6B2-72A7-2F6E1CFD2659}"/>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7" name="図 6" descr="Architecture">
            <a:extLst>
              <a:ext uri="{FF2B5EF4-FFF2-40B4-BE49-F238E27FC236}">
                <a16:creationId xmlns:a16="http://schemas.microsoft.com/office/drawing/2014/main" id="{7C8C7EA3-EDA5-00F1-DD16-B52771C7E1A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84309" y="2262648"/>
            <a:ext cx="4377083" cy="3719052"/>
          </a:xfrm>
          <a:prstGeom prst="rect">
            <a:avLst/>
          </a:prstGeom>
        </p:spPr>
      </p:pic>
      <p:sp>
        <p:nvSpPr>
          <p:cNvPr id="8" name="円/楕円 7">
            <a:extLst>
              <a:ext uri="{FF2B5EF4-FFF2-40B4-BE49-F238E27FC236}">
                <a16:creationId xmlns:a16="http://schemas.microsoft.com/office/drawing/2014/main" id="{CE6BF160-DDB2-49E4-B369-AD9F72957E73}"/>
              </a:ext>
            </a:extLst>
          </p:cNvPr>
          <p:cNvSpPr/>
          <p:nvPr/>
        </p:nvSpPr>
        <p:spPr>
          <a:xfrm>
            <a:off x="4503173" y="3657600"/>
            <a:ext cx="275303" cy="226142"/>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a:extLst>
              <a:ext uri="{FF2B5EF4-FFF2-40B4-BE49-F238E27FC236}">
                <a16:creationId xmlns:a16="http://schemas.microsoft.com/office/drawing/2014/main" id="{652DF162-F4E8-6473-863C-578DDFDEF326}"/>
              </a:ext>
            </a:extLst>
          </p:cNvPr>
          <p:cNvSpPr/>
          <p:nvPr/>
        </p:nvSpPr>
        <p:spPr>
          <a:xfrm>
            <a:off x="1317523" y="2721625"/>
            <a:ext cx="2271253" cy="738665"/>
          </a:xfrm>
          <a:prstGeom prst="wedgeRectCallout">
            <a:avLst>
              <a:gd name="adj1" fmla="val 82822"/>
              <a:gd name="adj2" fmla="val 75012"/>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テキスト ボックス 11">
            <a:extLst>
              <a:ext uri="{FF2B5EF4-FFF2-40B4-BE49-F238E27FC236}">
                <a16:creationId xmlns:a16="http://schemas.microsoft.com/office/drawing/2014/main" id="{20C21706-3B9B-70C8-44F5-F5B44BD63F6A}"/>
              </a:ext>
            </a:extLst>
          </p:cNvPr>
          <p:cNvSpPr txBox="1"/>
          <p:nvPr/>
        </p:nvSpPr>
        <p:spPr>
          <a:xfrm>
            <a:off x="1317523" y="2723980"/>
            <a:ext cx="2271253" cy="738664"/>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ja-JP" altLang="en-US" sz="1400">
                <a:solidFill>
                  <a:srgbClr val="1F2937"/>
                </a:solidFill>
                <a:latin typeface="Yu Gothic UI" panose="020B0500000000000000" pitchFamily="34" charset="-128"/>
                <a:ea typeface="Yu Gothic UI" panose="020B0500000000000000" pitchFamily="34" charset="-128"/>
                <a:cs typeface="Yu Gothic"/>
              </a:rPr>
              <a:t>今回のアーキテクチャでインターネットからアクセスできるのは</a:t>
            </a:r>
            <a:r>
              <a:rPr lang="en-US" altLang="ja-JP" sz="1400" dirty="0">
                <a:solidFill>
                  <a:srgbClr val="1F2937"/>
                </a:solidFill>
                <a:latin typeface="Yu Gothic UI" panose="020B0500000000000000" pitchFamily="34" charset="-128"/>
                <a:ea typeface="Yu Gothic UI" panose="020B0500000000000000" pitchFamily="34" charset="-128"/>
                <a:cs typeface="Yu Gothic"/>
              </a:rPr>
              <a:t> Web </a:t>
            </a:r>
            <a:r>
              <a:rPr lang="ja-JP" altLang="en-US" sz="1400">
                <a:solidFill>
                  <a:srgbClr val="1F2937"/>
                </a:solidFill>
                <a:latin typeface="Yu Gothic UI" panose="020B0500000000000000" pitchFamily="34" charset="-128"/>
                <a:ea typeface="Yu Gothic UI" panose="020B0500000000000000" pitchFamily="34" charset="-128"/>
                <a:cs typeface="Yu Gothic"/>
              </a:rPr>
              <a:t>層のインターフェースのみ</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13" name="正方形/長方形 12">
            <a:extLst>
              <a:ext uri="{FF2B5EF4-FFF2-40B4-BE49-F238E27FC236}">
                <a16:creationId xmlns:a16="http://schemas.microsoft.com/office/drawing/2014/main" id="{867F76EC-CEBE-389C-CAEA-AFC4DA0FD956}"/>
              </a:ext>
            </a:extLst>
          </p:cNvPr>
          <p:cNvSpPr/>
          <p:nvPr/>
        </p:nvSpPr>
        <p:spPr>
          <a:xfrm>
            <a:off x="4861744" y="3460290"/>
            <a:ext cx="924233" cy="1524000"/>
          </a:xfrm>
          <a:prstGeom prst="rect">
            <a:avLst/>
          </a:prstGeom>
          <a:solidFill>
            <a:schemeClr val="accent1">
              <a:alpha val="349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6C66870-4B75-AB12-BE54-C577EB9A161C}"/>
              </a:ext>
            </a:extLst>
          </p:cNvPr>
          <p:cNvSpPr/>
          <p:nvPr/>
        </p:nvSpPr>
        <p:spPr>
          <a:xfrm>
            <a:off x="4861744" y="4414684"/>
            <a:ext cx="2266643" cy="569606"/>
          </a:xfrm>
          <a:prstGeom prst="rect">
            <a:avLst/>
          </a:prstGeom>
          <a:solidFill>
            <a:schemeClr val="accent1">
              <a:alpha val="349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B543560A-8711-8DEE-9CAE-BCB143F06B30}"/>
              </a:ext>
            </a:extLst>
          </p:cNvPr>
          <p:cNvSpPr/>
          <p:nvPr/>
        </p:nvSpPr>
        <p:spPr>
          <a:xfrm>
            <a:off x="1317523" y="4531852"/>
            <a:ext cx="2271253" cy="973598"/>
          </a:xfrm>
          <a:prstGeom prst="wedgeRectCallout">
            <a:avLst>
              <a:gd name="adj1" fmla="val 102303"/>
              <a:gd name="adj2" fmla="val -28813"/>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テキスト ボックス 16">
            <a:extLst>
              <a:ext uri="{FF2B5EF4-FFF2-40B4-BE49-F238E27FC236}">
                <a16:creationId xmlns:a16="http://schemas.microsoft.com/office/drawing/2014/main" id="{73244DAA-C42B-647F-F3E0-DC34E929FFD7}"/>
              </a:ext>
            </a:extLst>
          </p:cNvPr>
          <p:cNvSpPr txBox="1"/>
          <p:nvPr/>
        </p:nvSpPr>
        <p:spPr>
          <a:xfrm>
            <a:off x="1317523" y="4529498"/>
            <a:ext cx="2271253" cy="95410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Web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r>
              <a:rPr lang="en-US" altLang="ja-JP" sz="1400" dirty="0">
                <a:solidFill>
                  <a:srgbClr val="1F2937"/>
                </a:solidFill>
                <a:latin typeface="Yu Gothic UI" panose="020B0500000000000000" pitchFamily="34" charset="-128"/>
                <a:ea typeface="Yu Gothic UI" panose="020B0500000000000000" pitchFamily="34" charset="-128"/>
                <a:cs typeface="Yu Gothic"/>
              </a:rPr>
              <a:t>, AP </a:t>
            </a:r>
            <a:r>
              <a:rPr lang="ja-JP" altLang="en-US" sz="1400">
                <a:solidFill>
                  <a:srgbClr val="1F2937"/>
                </a:solidFill>
                <a:latin typeface="Yu Gothic UI" panose="020B0500000000000000" pitchFamily="34" charset="-128"/>
                <a:ea typeface="Yu Gothic UI" panose="020B0500000000000000" pitchFamily="34" charset="-128"/>
                <a:cs typeface="Yu Gothic"/>
              </a:rPr>
              <a:t>層の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ACA </a:t>
            </a:r>
            <a:r>
              <a:rPr lang="ja-JP" altLang="en-US" sz="1400">
                <a:solidFill>
                  <a:srgbClr val="1F2937"/>
                </a:solidFill>
                <a:latin typeface="Yu Gothic UI" panose="020B0500000000000000" pitchFamily="34" charset="-128"/>
                <a:ea typeface="Yu Gothic UI" panose="020B0500000000000000" pitchFamily="34" charset="-128"/>
                <a:cs typeface="Yu Gothic"/>
              </a:rPr>
              <a:t>と</a:t>
            </a:r>
            <a:r>
              <a:rPr lang="en-US" altLang="ja-JP" sz="1400" dirty="0">
                <a:solidFill>
                  <a:srgbClr val="1F2937"/>
                </a:solidFill>
                <a:latin typeface="Yu Gothic UI" panose="020B0500000000000000" pitchFamily="34" charset="-128"/>
                <a:ea typeface="Yu Gothic UI" panose="020B0500000000000000" pitchFamily="34" charset="-128"/>
                <a:cs typeface="Yu Gothic"/>
              </a:rPr>
              <a:t> DB </a:t>
            </a:r>
            <a:r>
              <a:rPr lang="ja-JP" altLang="en-US" sz="1400">
                <a:solidFill>
                  <a:srgbClr val="1F2937"/>
                </a:solidFill>
                <a:latin typeface="Yu Gothic UI" panose="020B0500000000000000" pitchFamily="34" charset="-128"/>
                <a:ea typeface="Yu Gothic UI" panose="020B0500000000000000" pitchFamily="34" charset="-128"/>
                <a:cs typeface="Yu Gothic"/>
              </a:rPr>
              <a:t>は</a:t>
            </a:r>
            <a:r>
              <a:rPr lang="en-US" altLang="ja-JP" sz="1400" dirty="0">
                <a:solidFill>
                  <a:srgbClr val="1F2937"/>
                </a:solidFill>
                <a:latin typeface="Yu Gothic UI" panose="020B0500000000000000" pitchFamily="34" charset="-128"/>
                <a:ea typeface="Yu Gothic UI" panose="020B0500000000000000" pitchFamily="34" charset="-128"/>
                <a:cs typeface="Yu Gothic"/>
              </a:rPr>
              <a:t> </a:t>
            </a:r>
            <a:r>
              <a:rPr lang="en-US" altLang="ja-JP" sz="1400" dirty="0" err="1">
                <a:solidFill>
                  <a:srgbClr val="1F2937"/>
                </a:solidFill>
                <a:latin typeface="Yu Gothic UI" panose="020B0500000000000000" pitchFamily="34" charset="-128"/>
                <a:ea typeface="Yu Gothic UI" panose="020B0500000000000000" pitchFamily="34" charset="-128"/>
                <a:cs typeface="Yu Gothic"/>
              </a:rPr>
              <a:t>VNet</a:t>
            </a:r>
            <a:r>
              <a:rPr lang="en-US" altLang="ja-JP" sz="1400" dirty="0">
                <a:solidFill>
                  <a:srgbClr val="1F2937"/>
                </a:solidFill>
                <a:latin typeface="Yu Gothic UI" panose="020B0500000000000000" pitchFamily="34" charset="-128"/>
                <a:ea typeface="Yu Gothic UI" panose="020B0500000000000000" pitchFamily="34" charset="-128"/>
                <a:cs typeface="Yu Gothic"/>
              </a:rPr>
              <a:t> </a:t>
            </a:r>
            <a:r>
              <a:rPr lang="ja-JP" altLang="en-US" sz="1400">
                <a:solidFill>
                  <a:srgbClr val="1F2937"/>
                </a:solidFill>
                <a:latin typeface="Yu Gothic UI" panose="020B0500000000000000" pitchFamily="34" charset="-128"/>
                <a:ea typeface="Yu Gothic UI" panose="020B0500000000000000" pitchFamily="34" charset="-128"/>
                <a:cs typeface="Yu Gothic"/>
              </a:rPr>
              <a:t>内に配置。特に</a:t>
            </a:r>
            <a:r>
              <a:rPr lang="en-US" altLang="ja-JP" sz="1400" dirty="0">
                <a:solidFill>
                  <a:srgbClr val="1F2937"/>
                </a:solidFill>
                <a:latin typeface="Yu Gothic UI" panose="020B0500000000000000" pitchFamily="34" charset="-128"/>
                <a:ea typeface="Yu Gothic UI" panose="020B0500000000000000" pitchFamily="34" charset="-128"/>
                <a:cs typeface="Yu Gothic"/>
              </a:rPr>
              <a:t> AP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r>
              <a:rPr lang="en-US" altLang="ja-JP" sz="1400" dirty="0">
                <a:solidFill>
                  <a:srgbClr val="1F2937"/>
                </a:solidFill>
                <a:latin typeface="Yu Gothic UI" panose="020B0500000000000000" pitchFamily="34" charset="-128"/>
                <a:ea typeface="Yu Gothic UI" panose="020B0500000000000000" pitchFamily="34" charset="-128"/>
                <a:cs typeface="Yu Gothic"/>
              </a:rPr>
              <a:t> DB </a:t>
            </a:r>
            <a:r>
              <a:rPr lang="ja-JP" altLang="en-US" sz="1400">
                <a:solidFill>
                  <a:srgbClr val="1F2937"/>
                </a:solidFill>
                <a:latin typeface="Yu Gothic UI" panose="020B0500000000000000" pitchFamily="34" charset="-128"/>
                <a:ea typeface="Yu Gothic UI" panose="020B0500000000000000" pitchFamily="34" charset="-128"/>
                <a:cs typeface="Yu Gothic"/>
              </a:rPr>
              <a:t>層は</a:t>
            </a:r>
            <a:r>
              <a:rPr lang="en-US" altLang="ja-JP" sz="1400" dirty="0">
                <a:solidFill>
                  <a:srgbClr val="1F2937"/>
                </a:solidFill>
                <a:latin typeface="Yu Gothic UI" panose="020B0500000000000000" pitchFamily="34" charset="-128"/>
                <a:ea typeface="Yu Gothic UI" panose="020B0500000000000000" pitchFamily="34" charset="-128"/>
                <a:cs typeface="Yu Gothic"/>
              </a:rPr>
              <a:t> </a:t>
            </a:r>
            <a:r>
              <a:rPr lang="en-US" altLang="ja-JP" sz="1400" dirty="0" err="1">
                <a:solidFill>
                  <a:srgbClr val="1F2937"/>
                </a:solidFill>
                <a:latin typeface="Yu Gothic UI" panose="020B0500000000000000" pitchFamily="34" charset="-128"/>
                <a:ea typeface="Yu Gothic UI" panose="020B0500000000000000" pitchFamily="34" charset="-128"/>
                <a:cs typeface="Yu Gothic"/>
              </a:rPr>
              <a:t>VNet</a:t>
            </a:r>
            <a:r>
              <a:rPr lang="en-US" altLang="ja-JP" sz="1400" dirty="0">
                <a:solidFill>
                  <a:srgbClr val="1F2937"/>
                </a:solidFill>
                <a:latin typeface="Yu Gothic UI" panose="020B0500000000000000" pitchFamily="34" charset="-128"/>
                <a:ea typeface="Yu Gothic UI" panose="020B0500000000000000" pitchFamily="34" charset="-128"/>
                <a:cs typeface="Yu Gothic"/>
              </a:rPr>
              <a:t> </a:t>
            </a:r>
            <a:r>
              <a:rPr lang="ja-JP" altLang="en-US" sz="1400">
                <a:solidFill>
                  <a:srgbClr val="1F2937"/>
                </a:solidFill>
                <a:latin typeface="Yu Gothic UI" panose="020B0500000000000000" pitchFamily="34" charset="-128"/>
                <a:ea typeface="Yu Gothic UI" panose="020B0500000000000000" pitchFamily="34" charset="-128"/>
                <a:cs typeface="Yu Gothic"/>
              </a:rPr>
              <a:t>内部からしかアクセスできない</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18" name="四角形吹き出し 17">
            <a:extLst>
              <a:ext uri="{FF2B5EF4-FFF2-40B4-BE49-F238E27FC236}">
                <a16:creationId xmlns:a16="http://schemas.microsoft.com/office/drawing/2014/main" id="{92E7D87A-B817-A38B-B023-BAA9BE8C8783}"/>
              </a:ext>
            </a:extLst>
          </p:cNvPr>
          <p:cNvSpPr/>
          <p:nvPr/>
        </p:nvSpPr>
        <p:spPr>
          <a:xfrm>
            <a:off x="8503673" y="3659954"/>
            <a:ext cx="2271253" cy="973598"/>
          </a:xfrm>
          <a:prstGeom prst="wedgeRectCallout">
            <a:avLst>
              <a:gd name="adj1" fmla="val -68260"/>
              <a:gd name="adj2" fmla="val -31843"/>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9" name="テキスト ボックス 18">
            <a:extLst>
              <a:ext uri="{FF2B5EF4-FFF2-40B4-BE49-F238E27FC236}">
                <a16:creationId xmlns:a16="http://schemas.microsoft.com/office/drawing/2014/main" id="{6CFB2C7F-B2F1-58EA-642B-75E4900F55A5}"/>
              </a:ext>
            </a:extLst>
          </p:cNvPr>
          <p:cNvSpPr txBox="1"/>
          <p:nvPr/>
        </p:nvSpPr>
        <p:spPr>
          <a:xfrm>
            <a:off x="8503673" y="3657600"/>
            <a:ext cx="2271253" cy="95410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ACR </a:t>
            </a:r>
            <a:r>
              <a:rPr lang="ja-JP" altLang="en-US" sz="1400">
                <a:solidFill>
                  <a:srgbClr val="1F2937"/>
                </a:solidFill>
                <a:latin typeface="Yu Gothic UI" panose="020B0500000000000000" pitchFamily="34" charset="-128"/>
                <a:ea typeface="Yu Gothic UI" panose="020B0500000000000000" pitchFamily="34" charset="-128"/>
                <a:cs typeface="Yu Gothic"/>
              </a:rPr>
              <a:t>も一部許可した送信元以外からはパブリックアクセスを無効化。</a:t>
            </a:r>
            <a:r>
              <a:rPr lang="en-US" altLang="ja-JP" sz="1400" dirty="0" err="1">
                <a:solidFill>
                  <a:srgbClr val="1F2937"/>
                </a:solidFill>
                <a:latin typeface="Yu Gothic UI" panose="020B0500000000000000" pitchFamily="34" charset="-128"/>
                <a:ea typeface="Yu Gothic UI" panose="020B0500000000000000" pitchFamily="34" charset="-128"/>
                <a:cs typeface="Yu Gothic"/>
              </a:rPr>
              <a:t>VNet</a:t>
            </a:r>
            <a:r>
              <a:rPr lang="en-US" altLang="ja-JP" sz="1400" dirty="0">
                <a:solidFill>
                  <a:srgbClr val="1F2937"/>
                </a:solidFill>
                <a:latin typeface="Yu Gothic UI" panose="020B0500000000000000" pitchFamily="34" charset="-128"/>
                <a:ea typeface="Yu Gothic UI" panose="020B0500000000000000" pitchFamily="34" charset="-128"/>
                <a:cs typeface="Yu Gothic"/>
              </a:rPr>
              <a:t> </a:t>
            </a:r>
            <a:r>
              <a:rPr lang="ja-JP" altLang="en-US" sz="1400">
                <a:solidFill>
                  <a:srgbClr val="1F2937"/>
                </a:solidFill>
                <a:latin typeface="Yu Gothic UI" panose="020B0500000000000000" pitchFamily="34" charset="-128"/>
                <a:ea typeface="Yu Gothic UI" panose="020B0500000000000000" pitchFamily="34" charset="-128"/>
                <a:cs typeface="Yu Gothic"/>
              </a:rPr>
              <a:t>内部からしかアクセスできない</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Tree>
    <p:extLst>
      <p:ext uri="{BB962C8B-B14F-4D97-AF65-F5344CB8AC3E}">
        <p14:creationId xmlns:p14="http://schemas.microsoft.com/office/powerpoint/2010/main" val="1268172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6B1B0-8D27-1879-915E-C3F19932556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EF2A716-E81B-50A3-3E1D-612D3742915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US" sz="2025" b="1" dirty="0" err="1">
                <a:solidFill>
                  <a:srgbClr val="1F2937"/>
                </a:solidFill>
                <a:latin typeface="Meiryo UI"/>
                <a:ea typeface="Meiryo UI"/>
                <a:cs typeface="Meiryo UI"/>
              </a:rPr>
              <a:t>認証レイヤによる多層防御</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720B4B58-0DF1-12C5-971B-32D75054520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13C9C19C-A963-D837-160E-1A323A56DB6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0A8B9E7-A6B9-62E4-C62B-D00CD110499A}"/>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今回のサンプルアプリでは特にデータを保存する</a:t>
            </a:r>
            <a:r>
              <a:rPr lang="en-US" altLang="ja-JP" sz="1200" dirty="0">
                <a:solidFill>
                  <a:srgbClr val="64748B"/>
                </a:solidFill>
                <a:latin typeface="Yu Gothic"/>
                <a:ea typeface="Yu Gothic"/>
                <a:cs typeface="Yu Gothic"/>
              </a:rPr>
              <a:t> DB </a:t>
            </a:r>
            <a:r>
              <a:rPr lang="ja-JP" altLang="en-US" sz="1200">
                <a:solidFill>
                  <a:srgbClr val="64748B"/>
                </a:solidFill>
                <a:latin typeface="Yu Gothic"/>
                <a:ea typeface="Yu Gothic"/>
                <a:cs typeface="Yu Gothic"/>
              </a:rPr>
              <a:t>において、ネットワークを閉域化するだけではなく、</a:t>
            </a:r>
            <a:r>
              <a:rPr lang="en-US" altLang="ja-JP" sz="1200" dirty="0">
                <a:solidFill>
                  <a:srgbClr val="64748B"/>
                </a:solidFill>
                <a:latin typeface="Yu Gothic"/>
                <a:ea typeface="Yu Gothic"/>
                <a:cs typeface="Yu Gothic"/>
              </a:rPr>
              <a:t>Entra ID </a:t>
            </a:r>
            <a:r>
              <a:rPr lang="ja-JP" altLang="en-US" sz="1200">
                <a:solidFill>
                  <a:srgbClr val="64748B"/>
                </a:solidFill>
                <a:latin typeface="Yu Gothic"/>
                <a:ea typeface="Yu Gothic"/>
                <a:cs typeface="Yu Gothic"/>
              </a:rPr>
              <a:t>認証を利用することで認証レイヤの防壁も設定し、多層防御を実現しています。一方で、</a:t>
            </a:r>
            <a:r>
              <a:rPr lang="en-US" altLang="ja-JP" sz="1200" dirty="0">
                <a:solidFill>
                  <a:srgbClr val="64748B"/>
                </a:solidFill>
                <a:latin typeface="Yu Gothic"/>
                <a:ea typeface="Yu Gothic"/>
                <a:cs typeface="Yu Gothic"/>
              </a:rPr>
              <a:t>AP </a:t>
            </a:r>
            <a:r>
              <a:rPr lang="ja-JP" altLang="en-US" sz="1200">
                <a:solidFill>
                  <a:srgbClr val="64748B"/>
                </a:solidFill>
                <a:latin typeface="Yu Gothic"/>
                <a:ea typeface="Yu Gothic"/>
                <a:cs typeface="Yu Gothic"/>
              </a:rPr>
              <a:t>層が</a:t>
            </a:r>
            <a:r>
              <a:rPr lang="en-US" altLang="ja-JP" sz="1200" dirty="0">
                <a:solidFill>
                  <a:srgbClr val="64748B"/>
                </a:solidFill>
                <a:latin typeface="Yu Gothic"/>
                <a:ea typeface="Yu Gothic"/>
                <a:cs typeface="Yu Gothic"/>
              </a:rPr>
              <a:t> DB </a:t>
            </a:r>
            <a:r>
              <a:rPr lang="ja-JP" altLang="en-US" sz="1200">
                <a:solidFill>
                  <a:srgbClr val="64748B"/>
                </a:solidFill>
                <a:latin typeface="Yu Gothic"/>
                <a:ea typeface="Yu Gothic"/>
                <a:cs typeface="Yu Gothic"/>
              </a:rPr>
              <a:t>にアクセスするときに使うアカウントは</a:t>
            </a:r>
            <a:r>
              <a:rPr lang="en-US" altLang="ja-JP" sz="1200" dirty="0">
                <a:solidFill>
                  <a:srgbClr val="64748B"/>
                </a:solidFill>
                <a:latin typeface="Yu Gothic"/>
                <a:ea typeface="Yu Gothic"/>
                <a:cs typeface="Yu Gothic"/>
              </a:rPr>
              <a:t> Entra ID </a:t>
            </a:r>
            <a:r>
              <a:rPr lang="ja-JP" altLang="en-US" sz="1200">
                <a:solidFill>
                  <a:srgbClr val="64748B"/>
                </a:solidFill>
                <a:latin typeface="Yu Gothic"/>
                <a:ea typeface="Yu Gothic"/>
                <a:cs typeface="Yu Gothic"/>
              </a:rPr>
              <a:t>のマネージド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を使い、運用を省力化しています。</a:t>
            </a:r>
            <a:endParaRPr lang="ja-JP" altLang="en-US" sz="1200" dirty="0">
              <a:solidFill>
                <a:srgbClr val="64748B"/>
              </a:solidFill>
              <a:latin typeface="Yu Gothic"/>
              <a:ea typeface="Yu Gothic"/>
              <a:cs typeface="Yu Gothic"/>
            </a:endParaRPr>
          </a:p>
        </p:txBody>
      </p:sp>
      <p:sp>
        <p:nvSpPr>
          <p:cNvPr id="3" name="正方形/長方形 2">
            <a:extLst>
              <a:ext uri="{FF2B5EF4-FFF2-40B4-BE49-F238E27FC236}">
                <a16:creationId xmlns:a16="http://schemas.microsoft.com/office/drawing/2014/main" id="{37BD6B56-5E45-8872-6308-57A1F7096F5F}"/>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7" name="図 6" descr="Architecture">
            <a:extLst>
              <a:ext uri="{FF2B5EF4-FFF2-40B4-BE49-F238E27FC236}">
                <a16:creationId xmlns:a16="http://schemas.microsoft.com/office/drawing/2014/main" id="{87CF8A44-039F-89DC-EB8D-E12607781D7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84309" y="2262648"/>
            <a:ext cx="4377083" cy="3719052"/>
          </a:xfrm>
          <a:prstGeom prst="rect">
            <a:avLst/>
          </a:prstGeom>
        </p:spPr>
      </p:pic>
      <p:sp>
        <p:nvSpPr>
          <p:cNvPr id="8" name="円/楕円 7">
            <a:extLst>
              <a:ext uri="{FF2B5EF4-FFF2-40B4-BE49-F238E27FC236}">
                <a16:creationId xmlns:a16="http://schemas.microsoft.com/office/drawing/2014/main" id="{BF20BF9A-06B9-90A5-9660-AC897E6ABE52}"/>
              </a:ext>
            </a:extLst>
          </p:cNvPr>
          <p:cNvSpPr/>
          <p:nvPr/>
        </p:nvSpPr>
        <p:spPr>
          <a:xfrm>
            <a:off x="6233650" y="4375732"/>
            <a:ext cx="845575" cy="786203"/>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a:extLst>
              <a:ext uri="{FF2B5EF4-FFF2-40B4-BE49-F238E27FC236}">
                <a16:creationId xmlns:a16="http://schemas.microsoft.com/office/drawing/2014/main" id="{98D13D1A-2B1C-524B-23E4-AC3F264B9B6D}"/>
              </a:ext>
            </a:extLst>
          </p:cNvPr>
          <p:cNvSpPr/>
          <p:nvPr/>
        </p:nvSpPr>
        <p:spPr>
          <a:xfrm>
            <a:off x="1140168" y="3538421"/>
            <a:ext cx="2271253" cy="738665"/>
          </a:xfrm>
          <a:prstGeom prst="wedgeRectCallout">
            <a:avLst>
              <a:gd name="adj1" fmla="val 116588"/>
              <a:gd name="adj2" fmla="val -22157"/>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テキスト ボックス 11">
            <a:extLst>
              <a:ext uri="{FF2B5EF4-FFF2-40B4-BE49-F238E27FC236}">
                <a16:creationId xmlns:a16="http://schemas.microsoft.com/office/drawing/2014/main" id="{B52A8182-34DF-996C-4432-1F146CCA5CB3}"/>
              </a:ext>
            </a:extLst>
          </p:cNvPr>
          <p:cNvSpPr txBox="1"/>
          <p:nvPr/>
        </p:nvSpPr>
        <p:spPr>
          <a:xfrm>
            <a:off x="1140168" y="3540776"/>
            <a:ext cx="2271253" cy="738664"/>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3. Web </a:t>
            </a:r>
            <a:r>
              <a:rPr lang="ja-JP" altLang="en-US" sz="1400">
                <a:solidFill>
                  <a:srgbClr val="1F2937"/>
                </a:solidFill>
                <a:latin typeface="Yu Gothic UI" panose="020B0500000000000000" pitchFamily="34" charset="-128"/>
                <a:ea typeface="Yu Gothic UI" panose="020B0500000000000000" pitchFamily="34" charset="-128"/>
                <a:cs typeface="Yu Gothic"/>
              </a:rPr>
              <a:t>層も</a:t>
            </a:r>
            <a:r>
              <a:rPr lang="en-US" altLang="ja-JP" sz="1400" dirty="0">
                <a:solidFill>
                  <a:srgbClr val="1F2937"/>
                </a:solidFill>
                <a:latin typeface="Yu Gothic UI" panose="020B0500000000000000" pitchFamily="34" charset="-128"/>
                <a:ea typeface="Yu Gothic UI" panose="020B0500000000000000" pitchFamily="34" charset="-128"/>
                <a:cs typeface="Yu Gothic"/>
              </a:rPr>
              <a:t> ACR </a:t>
            </a:r>
            <a:r>
              <a:rPr lang="ja-JP" altLang="en-US" sz="1400">
                <a:solidFill>
                  <a:srgbClr val="1F2937"/>
                </a:solidFill>
                <a:latin typeface="Yu Gothic UI" panose="020B0500000000000000" pitchFamily="34" charset="-128"/>
                <a:ea typeface="Yu Gothic UI" panose="020B0500000000000000" pitchFamily="34" charset="-128"/>
                <a:cs typeface="Yu Gothic"/>
              </a:rPr>
              <a:t>からコンテナイメージの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pull </a:t>
            </a:r>
            <a:r>
              <a:rPr lang="ja-JP" altLang="en-US" sz="1400">
                <a:solidFill>
                  <a:srgbClr val="1F2937"/>
                </a:solidFill>
                <a:latin typeface="Yu Gothic UI" panose="020B0500000000000000" pitchFamily="34" charset="-128"/>
                <a:ea typeface="Yu Gothic UI" panose="020B0500000000000000" pitchFamily="34" charset="-128"/>
                <a:cs typeface="Yu Gothic"/>
              </a:rPr>
              <a:t>にマネージド</a:t>
            </a:r>
            <a:r>
              <a:rPr lang="en-US" altLang="ja-JP" sz="1400" dirty="0">
                <a:solidFill>
                  <a:srgbClr val="1F2937"/>
                </a:solidFill>
                <a:latin typeface="Yu Gothic UI" panose="020B0500000000000000" pitchFamily="34" charset="-128"/>
                <a:ea typeface="Yu Gothic UI" panose="020B0500000000000000" pitchFamily="34" charset="-128"/>
                <a:cs typeface="Yu Gothic"/>
              </a:rPr>
              <a:t> ID </a:t>
            </a:r>
            <a:r>
              <a:rPr lang="ja-JP" altLang="en-US" sz="1400">
                <a:solidFill>
                  <a:srgbClr val="1F2937"/>
                </a:solidFill>
                <a:latin typeface="Yu Gothic UI" panose="020B0500000000000000" pitchFamily="34" charset="-128"/>
                <a:ea typeface="Yu Gothic UI" panose="020B0500000000000000" pitchFamily="34" charset="-128"/>
                <a:cs typeface="Yu Gothic"/>
              </a:rPr>
              <a:t>を利用。</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16" name="四角形吹き出し 15">
            <a:extLst>
              <a:ext uri="{FF2B5EF4-FFF2-40B4-BE49-F238E27FC236}">
                <a16:creationId xmlns:a16="http://schemas.microsoft.com/office/drawing/2014/main" id="{3A2E7161-55F4-A59D-45D9-71550EB14FB3}"/>
              </a:ext>
            </a:extLst>
          </p:cNvPr>
          <p:cNvSpPr/>
          <p:nvPr/>
        </p:nvSpPr>
        <p:spPr>
          <a:xfrm>
            <a:off x="1317523" y="4531851"/>
            <a:ext cx="2271253" cy="1382641"/>
          </a:xfrm>
          <a:prstGeom prst="wedgeRectCallout">
            <a:avLst>
              <a:gd name="adj1" fmla="val 102303"/>
              <a:gd name="adj2" fmla="val -28813"/>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テキスト ボックス 16">
            <a:extLst>
              <a:ext uri="{FF2B5EF4-FFF2-40B4-BE49-F238E27FC236}">
                <a16:creationId xmlns:a16="http://schemas.microsoft.com/office/drawing/2014/main" id="{FA5F03DA-C9E3-D3A0-541A-0D0C1AF0D020}"/>
              </a:ext>
            </a:extLst>
          </p:cNvPr>
          <p:cNvSpPr txBox="1"/>
          <p:nvPr/>
        </p:nvSpPr>
        <p:spPr>
          <a:xfrm>
            <a:off x="1317523" y="4529498"/>
            <a:ext cx="2271253" cy="1384995"/>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2. AP </a:t>
            </a:r>
            <a:r>
              <a:rPr lang="ja-JP" altLang="en-US" sz="1400">
                <a:solidFill>
                  <a:srgbClr val="1F2937"/>
                </a:solidFill>
                <a:latin typeface="Yu Gothic UI" panose="020B0500000000000000" pitchFamily="34" charset="-128"/>
                <a:ea typeface="Yu Gothic UI" panose="020B0500000000000000" pitchFamily="34" charset="-128"/>
                <a:cs typeface="Yu Gothic"/>
              </a:rPr>
              <a:t>層のアプリが</a:t>
            </a:r>
            <a:r>
              <a:rPr lang="en-US" altLang="ja-JP" sz="1400" dirty="0">
                <a:solidFill>
                  <a:srgbClr val="1F2937"/>
                </a:solidFill>
                <a:latin typeface="Yu Gothic UI" panose="020B0500000000000000" pitchFamily="34" charset="-128"/>
                <a:ea typeface="Yu Gothic UI" panose="020B0500000000000000" pitchFamily="34" charset="-128"/>
                <a:cs typeface="Yu Gothic"/>
              </a:rPr>
              <a:t> DB </a:t>
            </a:r>
            <a:r>
              <a:rPr lang="ja-JP" altLang="en-US" sz="1400">
                <a:solidFill>
                  <a:srgbClr val="1F2937"/>
                </a:solidFill>
                <a:latin typeface="Yu Gothic UI" panose="020B0500000000000000" pitchFamily="34" charset="-128"/>
                <a:ea typeface="Yu Gothic UI" panose="020B0500000000000000" pitchFamily="34" charset="-128"/>
                <a:cs typeface="Yu Gothic"/>
              </a:rPr>
              <a:t>層にアクセスするときは、マネージド</a:t>
            </a:r>
            <a:r>
              <a:rPr lang="en-US" altLang="ja-JP" sz="1400" dirty="0">
                <a:solidFill>
                  <a:srgbClr val="1F2937"/>
                </a:solidFill>
                <a:latin typeface="Yu Gothic UI" panose="020B0500000000000000" pitchFamily="34" charset="-128"/>
                <a:ea typeface="Yu Gothic UI" panose="020B0500000000000000" pitchFamily="34" charset="-128"/>
                <a:cs typeface="Yu Gothic"/>
              </a:rPr>
              <a:t> ID </a:t>
            </a:r>
            <a:r>
              <a:rPr lang="ja-JP" altLang="en-US" sz="1400">
                <a:solidFill>
                  <a:srgbClr val="1F2937"/>
                </a:solidFill>
                <a:latin typeface="Yu Gothic UI" panose="020B0500000000000000" pitchFamily="34" charset="-128"/>
                <a:ea typeface="Yu Gothic UI" panose="020B0500000000000000" pitchFamily="34" charset="-128"/>
                <a:cs typeface="Yu Gothic"/>
              </a:rPr>
              <a:t>を利用。</a:t>
            </a:r>
            <a:endParaRPr lang="en-US" altLang="ja-JP" sz="1400" dirty="0">
              <a:solidFill>
                <a:srgbClr val="1F2937"/>
              </a:solidFill>
              <a:latin typeface="Yu Gothic UI" panose="020B0500000000000000" pitchFamily="34" charset="-128"/>
              <a:ea typeface="Yu Gothic UI" panose="020B0500000000000000" pitchFamily="34" charset="-128"/>
              <a:cs typeface="Yu Gothic"/>
            </a:endParaRPr>
          </a:p>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ACR </a:t>
            </a:r>
            <a:r>
              <a:rPr lang="ja-JP" altLang="en-US" sz="1400">
                <a:solidFill>
                  <a:srgbClr val="1F2937"/>
                </a:solidFill>
                <a:latin typeface="Yu Gothic UI" panose="020B0500000000000000" pitchFamily="34" charset="-128"/>
                <a:ea typeface="Yu Gothic UI" panose="020B0500000000000000" pitchFamily="34" charset="-128"/>
                <a:cs typeface="Yu Gothic"/>
              </a:rPr>
              <a:t>からコンテナイメージを</a:t>
            </a:r>
            <a:r>
              <a:rPr lang="en-US" altLang="ja-JP" sz="1400" dirty="0">
                <a:solidFill>
                  <a:srgbClr val="1F2937"/>
                </a:solidFill>
                <a:latin typeface="Yu Gothic UI" panose="020B0500000000000000" pitchFamily="34" charset="-128"/>
                <a:ea typeface="Yu Gothic UI" panose="020B0500000000000000" pitchFamily="34" charset="-128"/>
                <a:cs typeface="Yu Gothic"/>
              </a:rPr>
              <a:t> pull </a:t>
            </a:r>
            <a:r>
              <a:rPr lang="ja-JP" altLang="en-US" sz="1400">
                <a:solidFill>
                  <a:srgbClr val="1F2937"/>
                </a:solidFill>
                <a:latin typeface="Yu Gothic UI" panose="020B0500000000000000" pitchFamily="34" charset="-128"/>
                <a:ea typeface="Yu Gothic UI" panose="020B0500000000000000" pitchFamily="34" charset="-128"/>
                <a:cs typeface="Yu Gothic"/>
              </a:rPr>
              <a:t>するときも、同マネージド</a:t>
            </a:r>
            <a:r>
              <a:rPr lang="en-US" altLang="ja-JP" sz="1400" dirty="0">
                <a:solidFill>
                  <a:srgbClr val="1F2937"/>
                </a:solidFill>
                <a:latin typeface="Yu Gothic UI" panose="020B0500000000000000" pitchFamily="34" charset="-128"/>
                <a:ea typeface="Yu Gothic UI" panose="020B0500000000000000" pitchFamily="34" charset="-128"/>
                <a:cs typeface="Yu Gothic"/>
              </a:rPr>
              <a:t> ID </a:t>
            </a:r>
            <a:r>
              <a:rPr lang="ja-JP" altLang="en-US" sz="1400">
                <a:solidFill>
                  <a:srgbClr val="1F2937"/>
                </a:solidFill>
                <a:latin typeface="Yu Gothic UI" panose="020B0500000000000000" pitchFamily="34" charset="-128"/>
                <a:ea typeface="Yu Gothic UI" panose="020B0500000000000000" pitchFamily="34" charset="-128"/>
                <a:cs typeface="Yu Gothic"/>
              </a:rPr>
              <a:t>を利用</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18" name="四角形吹き出し 17">
            <a:extLst>
              <a:ext uri="{FF2B5EF4-FFF2-40B4-BE49-F238E27FC236}">
                <a16:creationId xmlns:a16="http://schemas.microsoft.com/office/drawing/2014/main" id="{32E14E3E-4B12-5FF1-09EB-968DA062BBC8}"/>
              </a:ext>
            </a:extLst>
          </p:cNvPr>
          <p:cNvSpPr/>
          <p:nvPr/>
        </p:nvSpPr>
        <p:spPr>
          <a:xfrm>
            <a:off x="8503673" y="3659954"/>
            <a:ext cx="2271253" cy="973598"/>
          </a:xfrm>
          <a:prstGeom prst="wedgeRectCallout">
            <a:avLst>
              <a:gd name="adj1" fmla="val -111983"/>
              <a:gd name="adj2" fmla="val 60057"/>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9" name="テキスト ボックス 18">
            <a:extLst>
              <a:ext uri="{FF2B5EF4-FFF2-40B4-BE49-F238E27FC236}">
                <a16:creationId xmlns:a16="http://schemas.microsoft.com/office/drawing/2014/main" id="{1117E139-B50C-1DB3-133C-689C4FBC1BAB}"/>
              </a:ext>
            </a:extLst>
          </p:cNvPr>
          <p:cNvSpPr txBox="1"/>
          <p:nvPr/>
        </p:nvSpPr>
        <p:spPr>
          <a:xfrm>
            <a:off x="8503673" y="3657600"/>
            <a:ext cx="2271253" cy="95410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1. DB </a:t>
            </a:r>
            <a:r>
              <a:rPr lang="ja-JP" altLang="en-US" sz="1400">
                <a:solidFill>
                  <a:srgbClr val="1F2937"/>
                </a:solidFill>
                <a:latin typeface="Yu Gothic UI" panose="020B0500000000000000" pitchFamily="34" charset="-128"/>
                <a:ea typeface="Yu Gothic UI" panose="020B0500000000000000" pitchFamily="34" charset="-128"/>
                <a:cs typeface="Yu Gothic"/>
              </a:rPr>
              <a:t>はアクセスされるときに、</a:t>
            </a:r>
            <a:r>
              <a:rPr lang="en-US" altLang="ja-JP" sz="1400" dirty="0">
                <a:solidFill>
                  <a:srgbClr val="1F2937"/>
                </a:solidFill>
                <a:latin typeface="Yu Gothic UI" panose="020B0500000000000000" pitchFamily="34" charset="-128"/>
                <a:ea typeface="Yu Gothic UI" panose="020B0500000000000000" pitchFamily="34" charset="-128"/>
                <a:cs typeface="Yu Gothic"/>
              </a:rPr>
              <a:t>Entra ID </a:t>
            </a:r>
            <a:r>
              <a:rPr lang="ja-JP" altLang="en-US" sz="1400">
                <a:solidFill>
                  <a:srgbClr val="1F2937"/>
                </a:solidFill>
                <a:latin typeface="Yu Gothic UI" panose="020B0500000000000000" pitchFamily="34" charset="-128"/>
                <a:ea typeface="Yu Gothic UI" panose="020B0500000000000000" pitchFamily="34" charset="-128"/>
                <a:cs typeface="Yu Gothic"/>
              </a:rPr>
              <a:t>認証、認可を要求。ネットワーク内部に侵入されても認証レイヤで防御</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6" name="円/楕円 5">
            <a:extLst>
              <a:ext uri="{FF2B5EF4-FFF2-40B4-BE49-F238E27FC236}">
                <a16:creationId xmlns:a16="http://schemas.microsoft.com/office/drawing/2014/main" id="{3F07A99B-5D41-9075-06F6-42402DEA93D7}"/>
              </a:ext>
            </a:extLst>
          </p:cNvPr>
          <p:cNvSpPr/>
          <p:nvPr/>
        </p:nvSpPr>
        <p:spPr>
          <a:xfrm>
            <a:off x="4935794" y="4470506"/>
            <a:ext cx="344129" cy="31780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a:extLst>
              <a:ext uri="{FF2B5EF4-FFF2-40B4-BE49-F238E27FC236}">
                <a16:creationId xmlns:a16="http://schemas.microsoft.com/office/drawing/2014/main" id="{37C8011F-0FCF-78A6-5EAC-9A0152F57E9D}"/>
              </a:ext>
            </a:extLst>
          </p:cNvPr>
          <p:cNvSpPr/>
          <p:nvPr/>
        </p:nvSpPr>
        <p:spPr>
          <a:xfrm>
            <a:off x="4935793" y="3521670"/>
            <a:ext cx="344129" cy="31780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38A6AB83-6D60-7310-2733-84C92597BAE4}"/>
              </a:ext>
            </a:extLst>
          </p:cNvPr>
          <p:cNvSpPr/>
          <p:nvPr/>
        </p:nvSpPr>
        <p:spPr>
          <a:xfrm>
            <a:off x="8503672" y="2714626"/>
            <a:ext cx="2548160" cy="738665"/>
          </a:xfrm>
          <a:prstGeom prst="wedgeRectCallout">
            <a:avLst>
              <a:gd name="adj1" fmla="val -65230"/>
              <a:gd name="adj2" fmla="val 73681"/>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0" name="テキスト ボックス 19">
            <a:extLst>
              <a:ext uri="{FF2B5EF4-FFF2-40B4-BE49-F238E27FC236}">
                <a16:creationId xmlns:a16="http://schemas.microsoft.com/office/drawing/2014/main" id="{C70820AE-F73C-93F0-253A-D0780EF37DB9}"/>
              </a:ext>
            </a:extLst>
          </p:cNvPr>
          <p:cNvSpPr txBox="1"/>
          <p:nvPr/>
        </p:nvSpPr>
        <p:spPr>
          <a:xfrm>
            <a:off x="8503671" y="2714626"/>
            <a:ext cx="2548161" cy="738664"/>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4. ACR </a:t>
            </a:r>
            <a:r>
              <a:rPr lang="ja-JP" altLang="en-US" sz="1400">
                <a:solidFill>
                  <a:srgbClr val="1F2937"/>
                </a:solidFill>
                <a:latin typeface="Yu Gothic UI" panose="020B0500000000000000" pitchFamily="34" charset="-128"/>
                <a:ea typeface="Yu Gothic UI" panose="020B0500000000000000" pitchFamily="34" charset="-128"/>
                <a:cs typeface="Yu Gothic"/>
              </a:rPr>
              <a:t>はデフォルトで</a:t>
            </a:r>
            <a:r>
              <a:rPr lang="en-US" altLang="ja-JP" sz="1400" dirty="0">
                <a:solidFill>
                  <a:srgbClr val="1F2937"/>
                </a:solidFill>
                <a:latin typeface="Yu Gothic UI" panose="020B0500000000000000" pitchFamily="34" charset="-128"/>
                <a:ea typeface="Yu Gothic UI" panose="020B0500000000000000" pitchFamily="34" charset="-128"/>
                <a:cs typeface="Yu Gothic"/>
              </a:rPr>
              <a:t> Entra ID </a:t>
            </a:r>
            <a:r>
              <a:rPr lang="ja-JP" altLang="en-US" sz="1400">
                <a:solidFill>
                  <a:srgbClr val="1F2937"/>
                </a:solidFill>
                <a:latin typeface="Yu Gothic UI" panose="020B0500000000000000" pitchFamily="34" charset="-128"/>
                <a:ea typeface="Yu Gothic UI" panose="020B0500000000000000" pitchFamily="34" charset="-128"/>
                <a:cs typeface="Yu Gothic"/>
              </a:rPr>
              <a:t>認証と連携し、適切な</a:t>
            </a:r>
            <a:r>
              <a:rPr lang="en-US" altLang="ja-JP" sz="1400" dirty="0">
                <a:solidFill>
                  <a:srgbClr val="1F2937"/>
                </a:solidFill>
                <a:latin typeface="Yu Gothic UI" panose="020B0500000000000000" pitchFamily="34" charset="-128"/>
                <a:ea typeface="Yu Gothic UI" panose="020B0500000000000000" pitchFamily="34" charset="-128"/>
                <a:cs typeface="Yu Gothic"/>
              </a:rPr>
              <a:t> ID</a:t>
            </a:r>
            <a:r>
              <a:rPr lang="ja-JP" altLang="en-US" sz="1400">
                <a:solidFill>
                  <a:srgbClr val="1F2937"/>
                </a:solidFill>
                <a:latin typeface="Yu Gothic UI" panose="020B0500000000000000" pitchFamily="34" charset="-128"/>
                <a:ea typeface="Yu Gothic UI" panose="020B0500000000000000" pitchFamily="34" charset="-128"/>
                <a:cs typeface="Yu Gothic"/>
              </a:rPr>
              <a:t>、ロールをもたないとアクセスできない</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21" name="四角形吹き出し 20">
            <a:extLst>
              <a:ext uri="{FF2B5EF4-FFF2-40B4-BE49-F238E27FC236}">
                <a16:creationId xmlns:a16="http://schemas.microsoft.com/office/drawing/2014/main" id="{5B404167-1E19-441E-E0A2-AC247439F458}"/>
              </a:ext>
            </a:extLst>
          </p:cNvPr>
          <p:cNvSpPr/>
          <p:nvPr/>
        </p:nvSpPr>
        <p:spPr>
          <a:xfrm>
            <a:off x="1140168" y="2347912"/>
            <a:ext cx="2271253" cy="738665"/>
          </a:xfrm>
          <a:prstGeom prst="wedgeRectCallout">
            <a:avLst>
              <a:gd name="adj1" fmla="val 107497"/>
              <a:gd name="adj2" fmla="val -19495"/>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2" name="テキスト ボックス 21">
            <a:extLst>
              <a:ext uri="{FF2B5EF4-FFF2-40B4-BE49-F238E27FC236}">
                <a16:creationId xmlns:a16="http://schemas.microsoft.com/office/drawing/2014/main" id="{05D7B0B7-0C2A-1AA5-667E-8FD14E7E5974}"/>
              </a:ext>
            </a:extLst>
          </p:cNvPr>
          <p:cNvSpPr txBox="1"/>
          <p:nvPr/>
        </p:nvSpPr>
        <p:spPr>
          <a:xfrm>
            <a:off x="1140168" y="2350267"/>
            <a:ext cx="2271253" cy="738664"/>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5. </a:t>
            </a:r>
            <a:r>
              <a:rPr lang="ja-JP" altLang="en-US" sz="1400">
                <a:solidFill>
                  <a:srgbClr val="1F2937"/>
                </a:solidFill>
                <a:latin typeface="Yu Gothic UI" panose="020B0500000000000000" pitchFamily="34" charset="-128"/>
                <a:ea typeface="Yu Gothic UI" panose="020B0500000000000000" pitchFamily="34" charset="-128"/>
                <a:cs typeface="Yu Gothic"/>
              </a:rPr>
              <a:t>マネージド</a:t>
            </a:r>
            <a:r>
              <a:rPr lang="en-US" altLang="ja-JP" sz="1400" dirty="0">
                <a:solidFill>
                  <a:srgbClr val="1F2937"/>
                </a:solidFill>
                <a:latin typeface="Yu Gothic UI" panose="020B0500000000000000" pitchFamily="34" charset="-128"/>
                <a:ea typeface="Yu Gothic UI" panose="020B0500000000000000" pitchFamily="34" charset="-128"/>
                <a:cs typeface="Yu Gothic"/>
              </a:rPr>
              <a:t> ID </a:t>
            </a:r>
            <a:r>
              <a:rPr lang="ja-JP" altLang="en-US" sz="1400">
                <a:solidFill>
                  <a:srgbClr val="1F2937"/>
                </a:solidFill>
                <a:latin typeface="Yu Gothic UI" panose="020B0500000000000000" pitchFamily="34" charset="-128"/>
                <a:ea typeface="Yu Gothic UI" panose="020B0500000000000000" pitchFamily="34" charset="-128"/>
                <a:cs typeface="Yu Gothic"/>
              </a:rPr>
              <a:t>は</a:t>
            </a:r>
            <a:r>
              <a:rPr lang="en-US" altLang="ja-JP" sz="1400" dirty="0">
                <a:solidFill>
                  <a:srgbClr val="1F2937"/>
                </a:solidFill>
                <a:latin typeface="Yu Gothic UI" panose="020B0500000000000000" pitchFamily="34" charset="-128"/>
                <a:ea typeface="Yu Gothic UI" panose="020B0500000000000000" pitchFamily="34" charset="-128"/>
                <a:cs typeface="Yu Gothic"/>
              </a:rPr>
              <a:t> Entra ID </a:t>
            </a:r>
            <a:r>
              <a:rPr lang="ja-JP" altLang="en-US" sz="1400">
                <a:solidFill>
                  <a:srgbClr val="1F2937"/>
                </a:solidFill>
                <a:latin typeface="Yu Gothic UI" panose="020B0500000000000000" pitchFamily="34" charset="-128"/>
                <a:ea typeface="Yu Gothic UI" panose="020B0500000000000000" pitchFamily="34" charset="-128"/>
                <a:cs typeface="Yu Gothic"/>
              </a:rPr>
              <a:t>で管理され、証明書の管理が自動化されている</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Tree>
    <p:extLst>
      <p:ext uri="{BB962C8B-B14F-4D97-AF65-F5344CB8AC3E}">
        <p14:creationId xmlns:p14="http://schemas.microsoft.com/office/powerpoint/2010/main" val="103018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74465-63B0-3417-25A2-A758B2F47FD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1B22D45-A271-DC26-6F7B-5A9426BAD0F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ハンズオンで使う値</a:t>
            </a:r>
          </a:p>
        </p:txBody>
      </p:sp>
      <p:sp>
        <p:nvSpPr>
          <p:cNvPr id="2" name="正方形/長方形 1">
            <a:extLst>
              <a:ext uri="{FF2B5EF4-FFF2-40B4-BE49-F238E27FC236}">
                <a16:creationId xmlns:a16="http://schemas.microsoft.com/office/drawing/2014/main" id="{132FF99C-E01A-4274-D32E-4BFA578AC90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23102105-7BEB-C4C5-48C6-F1DA63D33AD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3A6BAAD2-9900-6490-7C94-4065670C7A9C}"/>
              </a:ext>
            </a:extLst>
          </p:cNvPr>
          <p:cNvSpPr>
            <a:spLocks noGrp="1"/>
          </p:cNvSpPr>
          <p:nvPr/>
        </p:nvSpPr>
        <p:spPr>
          <a:xfrm>
            <a:off x="856636" y="1519238"/>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7" name="正方形/長方形 6">
            <a:extLst>
              <a:ext uri="{FF2B5EF4-FFF2-40B4-BE49-F238E27FC236}">
                <a16:creationId xmlns:a16="http://schemas.microsoft.com/office/drawing/2014/main" id="{E6A10A52-719A-D4E1-2B81-AB7FD51C9FC3}"/>
              </a:ext>
            </a:extLst>
          </p:cNvPr>
          <p:cNvSpPr>
            <a:spLocks noGrp="1"/>
          </p:cNvSpPr>
          <p:nvPr/>
        </p:nvSpPr>
        <p:spPr>
          <a:xfrm>
            <a:off x="4336436" y="1519238"/>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8" name="正方形/長方形 7">
            <a:extLst>
              <a:ext uri="{FF2B5EF4-FFF2-40B4-BE49-F238E27FC236}">
                <a16:creationId xmlns:a16="http://schemas.microsoft.com/office/drawing/2014/main" id="{DE5CFE5D-E511-4E61-5D77-952BF756CE24}"/>
              </a:ext>
            </a:extLst>
          </p:cNvPr>
          <p:cNvSpPr>
            <a:spLocks noGrp="1"/>
          </p:cNvSpPr>
          <p:nvPr/>
        </p:nvSpPr>
        <p:spPr>
          <a:xfrm>
            <a:off x="7816236" y="1519238"/>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0" name="正方形/長方形 9">
            <a:extLst>
              <a:ext uri="{FF2B5EF4-FFF2-40B4-BE49-F238E27FC236}">
                <a16:creationId xmlns:a16="http://schemas.microsoft.com/office/drawing/2014/main" id="{216E29CC-4C46-29A9-E526-89AC7B9FC294}"/>
              </a:ext>
            </a:extLst>
          </p:cNvPr>
          <p:cNvSpPr>
            <a:spLocks noGrp="1"/>
          </p:cNvSpPr>
          <p:nvPr/>
        </p:nvSpPr>
        <p:spPr>
          <a:xfrm>
            <a:off x="856636" y="1957388"/>
            <a:ext cx="3479800" cy="933450"/>
          </a:xfrm>
          <a:prstGeom prst="rect">
            <a:avLst/>
          </a:prstGeom>
          <a:solidFill>
            <a:srgbClr val="EAF1FB"/>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1" name="正方形/長方形 10">
            <a:extLst>
              <a:ext uri="{FF2B5EF4-FFF2-40B4-BE49-F238E27FC236}">
                <a16:creationId xmlns:a16="http://schemas.microsoft.com/office/drawing/2014/main" id="{3EB40EF8-8F2D-951E-611A-4A2E5D155457}"/>
              </a:ext>
            </a:extLst>
          </p:cNvPr>
          <p:cNvSpPr>
            <a:spLocks noGrp="1"/>
          </p:cNvSpPr>
          <p:nvPr/>
        </p:nvSpPr>
        <p:spPr>
          <a:xfrm>
            <a:off x="4336436" y="19573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2" name="正方形/長方形 11">
            <a:extLst>
              <a:ext uri="{FF2B5EF4-FFF2-40B4-BE49-F238E27FC236}">
                <a16:creationId xmlns:a16="http://schemas.microsoft.com/office/drawing/2014/main" id="{ADC478BA-AF71-4581-1946-958104364C1A}"/>
              </a:ext>
            </a:extLst>
          </p:cNvPr>
          <p:cNvSpPr>
            <a:spLocks noGrp="1"/>
          </p:cNvSpPr>
          <p:nvPr/>
        </p:nvSpPr>
        <p:spPr>
          <a:xfrm>
            <a:off x="7816236" y="19573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3" name="正方形/長方形 12">
            <a:extLst>
              <a:ext uri="{FF2B5EF4-FFF2-40B4-BE49-F238E27FC236}">
                <a16:creationId xmlns:a16="http://schemas.microsoft.com/office/drawing/2014/main" id="{81777762-F8D1-0D9B-0507-8645403A50A4}"/>
              </a:ext>
            </a:extLst>
          </p:cNvPr>
          <p:cNvSpPr>
            <a:spLocks noGrp="1"/>
          </p:cNvSpPr>
          <p:nvPr/>
        </p:nvSpPr>
        <p:spPr>
          <a:xfrm>
            <a:off x="856636" y="2890838"/>
            <a:ext cx="3479800" cy="933450"/>
          </a:xfrm>
          <a:prstGeom prst="rect">
            <a:avLst/>
          </a:prstGeom>
          <a:solidFill>
            <a:srgbClr val="EAF1FB"/>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4" name="正方形/長方形 13">
            <a:extLst>
              <a:ext uri="{FF2B5EF4-FFF2-40B4-BE49-F238E27FC236}">
                <a16:creationId xmlns:a16="http://schemas.microsoft.com/office/drawing/2014/main" id="{D9AF27BD-8CDA-EE53-90ED-AAB1F1F6D084}"/>
              </a:ext>
            </a:extLst>
          </p:cNvPr>
          <p:cNvSpPr>
            <a:spLocks noGrp="1"/>
          </p:cNvSpPr>
          <p:nvPr/>
        </p:nvSpPr>
        <p:spPr>
          <a:xfrm>
            <a:off x="4336436" y="289083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5" name="正方形/長方形 14">
            <a:extLst>
              <a:ext uri="{FF2B5EF4-FFF2-40B4-BE49-F238E27FC236}">
                <a16:creationId xmlns:a16="http://schemas.microsoft.com/office/drawing/2014/main" id="{06719241-7EB3-87E8-B673-A151985DE37E}"/>
              </a:ext>
            </a:extLst>
          </p:cNvPr>
          <p:cNvSpPr>
            <a:spLocks noGrp="1"/>
          </p:cNvSpPr>
          <p:nvPr/>
        </p:nvSpPr>
        <p:spPr>
          <a:xfrm>
            <a:off x="7816236" y="289083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6" name="正方形/長方形 15">
            <a:extLst>
              <a:ext uri="{FF2B5EF4-FFF2-40B4-BE49-F238E27FC236}">
                <a16:creationId xmlns:a16="http://schemas.microsoft.com/office/drawing/2014/main" id="{3B896ED6-7E2A-54BD-C878-0DA4EF0CAF97}"/>
              </a:ext>
            </a:extLst>
          </p:cNvPr>
          <p:cNvSpPr>
            <a:spLocks noGrp="1"/>
          </p:cNvSpPr>
          <p:nvPr/>
        </p:nvSpPr>
        <p:spPr>
          <a:xfrm>
            <a:off x="856636" y="3824288"/>
            <a:ext cx="3479800" cy="933450"/>
          </a:xfrm>
          <a:prstGeom prst="rect">
            <a:avLst/>
          </a:prstGeom>
          <a:solidFill>
            <a:srgbClr val="EAF1FB"/>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7" name="正方形/長方形 16">
            <a:extLst>
              <a:ext uri="{FF2B5EF4-FFF2-40B4-BE49-F238E27FC236}">
                <a16:creationId xmlns:a16="http://schemas.microsoft.com/office/drawing/2014/main" id="{2C0488BC-FB76-61D4-095A-C31B0CA2CF6D}"/>
              </a:ext>
            </a:extLst>
          </p:cNvPr>
          <p:cNvSpPr>
            <a:spLocks noGrp="1"/>
          </p:cNvSpPr>
          <p:nvPr/>
        </p:nvSpPr>
        <p:spPr>
          <a:xfrm>
            <a:off x="4336436" y="38242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8" name="正方形/長方形 17">
            <a:extLst>
              <a:ext uri="{FF2B5EF4-FFF2-40B4-BE49-F238E27FC236}">
                <a16:creationId xmlns:a16="http://schemas.microsoft.com/office/drawing/2014/main" id="{4D0D2305-8772-5A86-6DCE-9B3F02D7465C}"/>
              </a:ext>
            </a:extLst>
          </p:cNvPr>
          <p:cNvSpPr>
            <a:spLocks noGrp="1"/>
          </p:cNvSpPr>
          <p:nvPr/>
        </p:nvSpPr>
        <p:spPr>
          <a:xfrm>
            <a:off x="7816236" y="38242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9" name="正方形/長方形 18">
            <a:extLst>
              <a:ext uri="{FF2B5EF4-FFF2-40B4-BE49-F238E27FC236}">
                <a16:creationId xmlns:a16="http://schemas.microsoft.com/office/drawing/2014/main" id="{EA17663E-A996-3B61-E961-589CEAEC7CB5}"/>
              </a:ext>
            </a:extLst>
          </p:cNvPr>
          <p:cNvSpPr>
            <a:spLocks noGrp="1"/>
          </p:cNvSpPr>
          <p:nvPr/>
        </p:nvSpPr>
        <p:spPr>
          <a:xfrm>
            <a:off x="856636" y="4757738"/>
            <a:ext cx="3479800" cy="933450"/>
          </a:xfrm>
          <a:prstGeom prst="rect">
            <a:avLst/>
          </a:prstGeom>
          <a:solidFill>
            <a:srgbClr val="EAF1FB"/>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20" name="正方形/長方形 19">
            <a:extLst>
              <a:ext uri="{FF2B5EF4-FFF2-40B4-BE49-F238E27FC236}">
                <a16:creationId xmlns:a16="http://schemas.microsoft.com/office/drawing/2014/main" id="{4A6295E1-61F0-3E0B-348E-7B112103316A}"/>
              </a:ext>
            </a:extLst>
          </p:cNvPr>
          <p:cNvSpPr>
            <a:spLocks noGrp="1"/>
          </p:cNvSpPr>
          <p:nvPr/>
        </p:nvSpPr>
        <p:spPr>
          <a:xfrm>
            <a:off x="4336436" y="475773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21" name="正方形/長方形 20">
            <a:extLst>
              <a:ext uri="{FF2B5EF4-FFF2-40B4-BE49-F238E27FC236}">
                <a16:creationId xmlns:a16="http://schemas.microsoft.com/office/drawing/2014/main" id="{7948FE77-F6B2-7ABB-622D-BBCB8EF961BB}"/>
              </a:ext>
            </a:extLst>
          </p:cNvPr>
          <p:cNvSpPr>
            <a:spLocks noGrp="1"/>
          </p:cNvSpPr>
          <p:nvPr/>
        </p:nvSpPr>
        <p:spPr>
          <a:xfrm>
            <a:off x="7816236" y="475773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22" name="正方形/長方形 21">
            <a:extLst>
              <a:ext uri="{FF2B5EF4-FFF2-40B4-BE49-F238E27FC236}">
                <a16:creationId xmlns:a16="http://schemas.microsoft.com/office/drawing/2014/main" id="{02CE1221-8339-039D-AE28-DA943B935AD7}"/>
              </a:ext>
            </a:extLst>
          </p:cNvPr>
          <p:cNvSpPr>
            <a:spLocks noGrp="1"/>
          </p:cNvSpPr>
          <p:nvPr/>
        </p:nvSpPr>
        <p:spPr>
          <a:xfrm>
            <a:off x="856636" y="5691188"/>
            <a:ext cx="3479800" cy="933450"/>
          </a:xfrm>
          <a:prstGeom prst="rect">
            <a:avLst/>
          </a:prstGeom>
          <a:solidFill>
            <a:srgbClr val="EAF1FB"/>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23" name="正方形/長方形 22">
            <a:extLst>
              <a:ext uri="{FF2B5EF4-FFF2-40B4-BE49-F238E27FC236}">
                <a16:creationId xmlns:a16="http://schemas.microsoft.com/office/drawing/2014/main" id="{2EBA43FD-7839-1111-03E0-9674168EB52A}"/>
              </a:ext>
            </a:extLst>
          </p:cNvPr>
          <p:cNvSpPr>
            <a:spLocks noGrp="1"/>
          </p:cNvSpPr>
          <p:nvPr/>
        </p:nvSpPr>
        <p:spPr>
          <a:xfrm>
            <a:off x="4336436" y="56911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24" name="正方形/長方形 23">
            <a:extLst>
              <a:ext uri="{FF2B5EF4-FFF2-40B4-BE49-F238E27FC236}">
                <a16:creationId xmlns:a16="http://schemas.microsoft.com/office/drawing/2014/main" id="{5451B862-757F-6A6C-0290-0B593511ABA8}"/>
              </a:ext>
            </a:extLst>
          </p:cNvPr>
          <p:cNvSpPr>
            <a:spLocks noGrp="1"/>
          </p:cNvSpPr>
          <p:nvPr/>
        </p:nvSpPr>
        <p:spPr>
          <a:xfrm>
            <a:off x="7816236" y="56911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43" name="正方形/長方形 42">
            <a:extLst>
              <a:ext uri="{FF2B5EF4-FFF2-40B4-BE49-F238E27FC236}">
                <a16:creationId xmlns:a16="http://schemas.microsoft.com/office/drawing/2014/main" id="{DC8F235E-629D-FAAE-1A83-EA455FBF36E8}"/>
              </a:ext>
            </a:extLst>
          </p:cNvPr>
          <p:cNvSpPr>
            <a:spLocks noGrp="1"/>
          </p:cNvSpPr>
          <p:nvPr/>
        </p:nvSpPr>
        <p:spPr>
          <a:xfrm>
            <a:off x="1000125" y="1520928"/>
            <a:ext cx="3270250" cy="438150"/>
          </a:xfrm>
          <a:prstGeom prst="rect">
            <a:avLst/>
          </a:prstGeom>
          <a:ln w="0">
            <a:noFill/>
            <a:prstDash val="solid"/>
          </a:ln>
        </p:spPr>
        <p:txBody>
          <a:bodyPr lIns="0" tIns="0" rIns="0" bIns="0" anchor="ctr"/>
          <a:lstStyle/>
          <a:p>
            <a:pPr>
              <a:defRPr sz="1125" b="1">
                <a:solidFill>
                  <a:srgbClr val="2563EB"/>
                </a:solidFill>
                <a:latin typeface="Yu Gothic"/>
                <a:ea typeface="Yu Gothic"/>
                <a:cs typeface="Yu Gothic"/>
              </a:defRPr>
            </a:pPr>
            <a:r>
              <a:rPr sz="1600" b="1" dirty="0" err="1">
                <a:solidFill>
                  <a:schemeClr val="bg1"/>
                </a:solidFill>
                <a:latin typeface="Yu Gothic"/>
                <a:ea typeface="Yu Gothic"/>
                <a:cs typeface="Yu Gothic"/>
              </a:rPr>
              <a:t>項目</a:t>
            </a:r>
            <a:endParaRPr sz="1600" b="1" dirty="0">
              <a:solidFill>
                <a:schemeClr val="bg1"/>
              </a:solidFill>
              <a:latin typeface="Yu Gothic"/>
              <a:ea typeface="Yu Gothic"/>
              <a:cs typeface="Yu Gothic"/>
            </a:endParaRPr>
          </a:p>
        </p:txBody>
      </p:sp>
      <p:sp>
        <p:nvSpPr>
          <p:cNvPr id="44" name="正方形/長方形 43">
            <a:extLst>
              <a:ext uri="{FF2B5EF4-FFF2-40B4-BE49-F238E27FC236}">
                <a16:creationId xmlns:a16="http://schemas.microsoft.com/office/drawing/2014/main" id="{86235850-67B7-E5EA-BCAC-8F1CE27F78A5}"/>
              </a:ext>
            </a:extLst>
          </p:cNvPr>
          <p:cNvSpPr>
            <a:spLocks noGrp="1"/>
          </p:cNvSpPr>
          <p:nvPr/>
        </p:nvSpPr>
        <p:spPr>
          <a:xfrm>
            <a:off x="4460875" y="1520928"/>
            <a:ext cx="3270250" cy="438150"/>
          </a:xfrm>
          <a:prstGeom prst="rect">
            <a:avLst/>
          </a:prstGeom>
          <a:ln w="0">
            <a:noFill/>
            <a:prstDash val="solid"/>
          </a:ln>
        </p:spPr>
        <p:txBody>
          <a:bodyPr lIns="0" tIns="0" rIns="0" bIns="0" anchor="ctr"/>
          <a:lstStyle/>
          <a:p>
            <a:pPr>
              <a:defRPr sz="1125" b="1">
                <a:solidFill>
                  <a:srgbClr val="2563EB"/>
                </a:solidFill>
                <a:latin typeface="Yu Gothic"/>
                <a:ea typeface="Yu Gothic"/>
                <a:cs typeface="Yu Gothic"/>
              </a:defRPr>
            </a:pPr>
            <a:r>
              <a:rPr sz="1600" b="1" dirty="0" err="1">
                <a:solidFill>
                  <a:schemeClr val="bg1"/>
                </a:solidFill>
                <a:latin typeface="Yu Gothic"/>
                <a:ea typeface="Yu Gothic"/>
                <a:cs typeface="Yu Gothic"/>
              </a:rPr>
              <a:t>値の例</a:t>
            </a:r>
            <a:endParaRPr sz="1600" b="1" dirty="0">
              <a:solidFill>
                <a:schemeClr val="bg1"/>
              </a:solidFill>
              <a:latin typeface="Yu Gothic"/>
              <a:ea typeface="Yu Gothic"/>
              <a:cs typeface="Yu Gothic"/>
            </a:endParaRPr>
          </a:p>
        </p:txBody>
      </p:sp>
      <p:sp>
        <p:nvSpPr>
          <p:cNvPr id="45" name="正方形/長方形 44">
            <a:extLst>
              <a:ext uri="{FF2B5EF4-FFF2-40B4-BE49-F238E27FC236}">
                <a16:creationId xmlns:a16="http://schemas.microsoft.com/office/drawing/2014/main" id="{2F0B33D6-9EDB-B19A-A868-42D308E60821}"/>
              </a:ext>
            </a:extLst>
          </p:cNvPr>
          <p:cNvSpPr>
            <a:spLocks noGrp="1"/>
          </p:cNvSpPr>
          <p:nvPr/>
        </p:nvSpPr>
        <p:spPr>
          <a:xfrm>
            <a:off x="7921625" y="1520928"/>
            <a:ext cx="3270250" cy="438150"/>
          </a:xfrm>
          <a:prstGeom prst="rect">
            <a:avLst/>
          </a:prstGeom>
          <a:ln w="0">
            <a:noFill/>
            <a:prstDash val="solid"/>
          </a:ln>
        </p:spPr>
        <p:txBody>
          <a:bodyPr lIns="0" tIns="0" rIns="0" bIns="0" anchor="ctr"/>
          <a:lstStyle/>
          <a:p>
            <a:pPr>
              <a:defRPr sz="1125" b="1">
                <a:solidFill>
                  <a:srgbClr val="2563EB"/>
                </a:solidFill>
                <a:latin typeface="Yu Gothic"/>
                <a:ea typeface="Yu Gothic"/>
                <a:cs typeface="Yu Gothic"/>
              </a:defRPr>
            </a:pPr>
            <a:r>
              <a:rPr sz="1600" b="1">
                <a:solidFill>
                  <a:schemeClr val="bg1"/>
                </a:solidFill>
                <a:latin typeface="Yu Gothic"/>
                <a:ea typeface="Yu Gothic"/>
                <a:cs typeface="Yu Gothic"/>
              </a:rPr>
              <a:t>注意</a:t>
            </a:r>
          </a:p>
        </p:txBody>
      </p:sp>
      <p:sp>
        <p:nvSpPr>
          <p:cNvPr id="46" name="正方形/長方形 45">
            <a:extLst>
              <a:ext uri="{FF2B5EF4-FFF2-40B4-BE49-F238E27FC236}">
                <a16:creationId xmlns:a16="http://schemas.microsoft.com/office/drawing/2014/main" id="{8E01469F-FA30-2437-C3E6-F6296028E4CF}"/>
              </a:ext>
            </a:extLst>
          </p:cNvPr>
          <p:cNvSpPr>
            <a:spLocks noGrp="1"/>
          </p:cNvSpPr>
          <p:nvPr/>
        </p:nvSpPr>
        <p:spPr>
          <a:xfrm>
            <a:off x="1000125" y="2161253"/>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Resource group</a:t>
            </a:r>
          </a:p>
        </p:txBody>
      </p:sp>
      <p:sp>
        <p:nvSpPr>
          <p:cNvPr id="47" name="正方形/長方形 46">
            <a:extLst>
              <a:ext uri="{FF2B5EF4-FFF2-40B4-BE49-F238E27FC236}">
                <a16:creationId xmlns:a16="http://schemas.microsoft.com/office/drawing/2014/main" id="{7896BFED-135F-0606-55C9-09427291007C}"/>
              </a:ext>
            </a:extLst>
          </p:cNvPr>
          <p:cNvSpPr>
            <a:spLocks noGrp="1"/>
          </p:cNvSpPr>
          <p:nvPr/>
        </p:nvSpPr>
        <p:spPr>
          <a:xfrm>
            <a:off x="4460875" y="2161253"/>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rg-azbeg-l05-</a:t>
            </a:r>
            <a:r>
              <a:rPr lang="en-US" sz="1200" dirty="0">
                <a:solidFill>
                  <a:srgbClr val="1F2937"/>
                </a:solidFill>
                <a:latin typeface="Yu Gothic"/>
                <a:ea typeface="Yu Gothic"/>
                <a:cs typeface="Yu Gothic"/>
              </a:rPr>
              <a:t>&lt;</a:t>
            </a:r>
            <a:r>
              <a:rPr lang="en-US" sz="1200" dirty="0" err="1">
                <a:solidFill>
                  <a:srgbClr val="1F2937"/>
                </a:solidFill>
                <a:latin typeface="Yu Gothic"/>
                <a:ea typeface="Yu Gothic"/>
                <a:cs typeface="Yu Gothic"/>
              </a:rPr>
              <a:t>受講者番号</a:t>
            </a:r>
            <a:r>
              <a:rPr lang="en-US" sz="1200" dirty="0">
                <a:solidFill>
                  <a:srgbClr val="1F2937"/>
                </a:solidFill>
                <a:latin typeface="Yu Gothic"/>
                <a:ea typeface="Yu Gothic"/>
                <a:cs typeface="Yu Gothic"/>
              </a:rPr>
              <a:t>&gt;</a:t>
            </a:r>
            <a:endParaRPr sz="1200" b="0" dirty="0">
              <a:solidFill>
                <a:srgbClr val="1F2937"/>
              </a:solidFill>
              <a:latin typeface="Yu Gothic"/>
              <a:ea typeface="Yu Gothic"/>
              <a:cs typeface="Yu Gothic"/>
            </a:endParaRPr>
          </a:p>
        </p:txBody>
      </p:sp>
      <p:sp>
        <p:nvSpPr>
          <p:cNvPr id="48" name="正方形/長方形 47">
            <a:extLst>
              <a:ext uri="{FF2B5EF4-FFF2-40B4-BE49-F238E27FC236}">
                <a16:creationId xmlns:a16="http://schemas.microsoft.com/office/drawing/2014/main" id="{FC272453-1B6F-E6FC-253E-2E286341C64E}"/>
              </a:ext>
            </a:extLst>
          </p:cNvPr>
          <p:cNvSpPr>
            <a:spLocks noGrp="1"/>
          </p:cNvSpPr>
          <p:nvPr/>
        </p:nvSpPr>
        <p:spPr>
          <a:xfrm>
            <a:off x="7921625" y="2161253"/>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第6回まで削除しない</a:t>
            </a:r>
          </a:p>
        </p:txBody>
      </p:sp>
      <p:sp>
        <p:nvSpPr>
          <p:cNvPr id="49" name="正方形/長方形 48">
            <a:extLst>
              <a:ext uri="{FF2B5EF4-FFF2-40B4-BE49-F238E27FC236}">
                <a16:creationId xmlns:a16="http://schemas.microsoft.com/office/drawing/2014/main" id="{DD16C539-DE3E-D2E1-40E6-D17C955561F5}"/>
              </a:ext>
            </a:extLst>
          </p:cNvPr>
          <p:cNvSpPr>
            <a:spLocks noGrp="1"/>
          </p:cNvSpPr>
          <p:nvPr/>
        </p:nvSpPr>
        <p:spPr>
          <a:xfrm>
            <a:off x="1000125" y="3095318"/>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ACR</a:t>
            </a:r>
          </a:p>
        </p:txBody>
      </p:sp>
      <p:sp>
        <p:nvSpPr>
          <p:cNvPr id="50" name="正方形/長方形 49">
            <a:extLst>
              <a:ext uri="{FF2B5EF4-FFF2-40B4-BE49-F238E27FC236}">
                <a16:creationId xmlns:a16="http://schemas.microsoft.com/office/drawing/2014/main" id="{F753DFBD-9E30-1144-EAE2-A541CDE65B27}"/>
              </a:ext>
            </a:extLst>
          </p:cNvPr>
          <p:cNvSpPr>
            <a:spLocks noGrp="1"/>
          </p:cNvSpPr>
          <p:nvPr/>
        </p:nvSpPr>
        <p:spPr>
          <a:xfrm>
            <a:off x="4460875" y="3095318"/>
            <a:ext cx="3270250" cy="476250"/>
          </a:xfrm>
          <a:prstGeom prst="rect">
            <a:avLst/>
          </a:prstGeom>
          <a:ln w="0">
            <a:noFill/>
            <a:prstDash val="solid"/>
          </a:ln>
        </p:spPr>
        <p:txBody>
          <a:bodyPr lIns="0" tIns="0" rIns="0" bIns="0" anchor="ctr"/>
          <a:lstStyle/>
          <a:p>
            <a:pPr>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acrazbegl05</a:t>
            </a:r>
            <a:r>
              <a:rPr lang="en-US" altLang="ja-JP" sz="1200" dirty="0">
                <a:solidFill>
                  <a:srgbClr val="1F2937"/>
                </a:solidFill>
                <a:latin typeface="Yu Gothic"/>
                <a:ea typeface="Yu Gothic"/>
                <a:cs typeface="Yu Gothic"/>
              </a:rPr>
              <a:t>&lt;</a:t>
            </a:r>
            <a:r>
              <a:rPr lang="en-US" altLang="ja-JP" sz="1200" dirty="0" err="1">
                <a:solidFill>
                  <a:srgbClr val="1F2937"/>
                </a:solidFill>
                <a:latin typeface="Yu Gothic"/>
                <a:ea typeface="Yu Gothic"/>
                <a:cs typeface="Yu Gothic"/>
              </a:rPr>
              <a:t>受講者番号</a:t>
            </a:r>
            <a:r>
              <a:rPr lang="en-US" altLang="ja-JP" sz="1200" dirty="0">
                <a:solidFill>
                  <a:srgbClr val="1F2937"/>
                </a:solidFill>
                <a:latin typeface="Yu Gothic"/>
                <a:ea typeface="Yu Gothic"/>
                <a:cs typeface="Yu Gothic"/>
              </a:rPr>
              <a:t>&gt;</a:t>
            </a:r>
            <a:r>
              <a:rPr sz="1200" b="0" dirty="0">
                <a:solidFill>
                  <a:srgbClr val="1F2937"/>
                </a:solidFill>
                <a:latin typeface="Yu Gothic"/>
                <a:ea typeface="Yu Gothic"/>
                <a:cs typeface="Yu Gothic"/>
              </a:rPr>
              <a:t>&lt;</a:t>
            </a:r>
            <a:r>
              <a:rPr sz="1200" b="0" dirty="0" err="1">
                <a:solidFill>
                  <a:srgbClr val="1F2937"/>
                </a:solidFill>
                <a:latin typeface="Yu Gothic"/>
                <a:ea typeface="Yu Gothic"/>
                <a:cs typeface="Yu Gothic"/>
              </a:rPr>
              <a:t>接尾辞</a:t>
            </a:r>
            <a:r>
              <a:rPr sz="1200" b="0" dirty="0">
                <a:solidFill>
                  <a:srgbClr val="1F2937"/>
                </a:solidFill>
                <a:latin typeface="Yu Gothic"/>
                <a:ea typeface="Yu Gothic"/>
                <a:cs typeface="Yu Gothic"/>
              </a:rPr>
              <a:t>&gt;</a:t>
            </a:r>
          </a:p>
        </p:txBody>
      </p:sp>
      <p:sp>
        <p:nvSpPr>
          <p:cNvPr id="51" name="正方形/長方形 50">
            <a:extLst>
              <a:ext uri="{FF2B5EF4-FFF2-40B4-BE49-F238E27FC236}">
                <a16:creationId xmlns:a16="http://schemas.microsoft.com/office/drawing/2014/main" id="{5738301E-DD1E-D662-3ADD-D5BA15C30A2D}"/>
              </a:ext>
            </a:extLst>
          </p:cNvPr>
          <p:cNvSpPr>
            <a:spLocks noGrp="1"/>
          </p:cNvSpPr>
          <p:nvPr/>
        </p:nvSpPr>
        <p:spPr>
          <a:xfrm>
            <a:off x="7921625" y="3095318"/>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小文字英数字、グローバル一意</a:t>
            </a:r>
          </a:p>
        </p:txBody>
      </p:sp>
      <p:sp>
        <p:nvSpPr>
          <p:cNvPr id="52" name="正方形/長方形 51">
            <a:extLst>
              <a:ext uri="{FF2B5EF4-FFF2-40B4-BE49-F238E27FC236}">
                <a16:creationId xmlns:a16="http://schemas.microsoft.com/office/drawing/2014/main" id="{ED877276-FCCA-1D2F-9C42-74D4BB7509C4}"/>
              </a:ext>
            </a:extLst>
          </p:cNvPr>
          <p:cNvSpPr>
            <a:spLocks noGrp="1"/>
          </p:cNvSpPr>
          <p:nvPr/>
        </p:nvSpPr>
        <p:spPr>
          <a:xfrm>
            <a:off x="1000125" y="4039215"/>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API/Web App</a:t>
            </a:r>
          </a:p>
        </p:txBody>
      </p:sp>
      <p:sp>
        <p:nvSpPr>
          <p:cNvPr id="53" name="正方形/長方形 52">
            <a:extLst>
              <a:ext uri="{FF2B5EF4-FFF2-40B4-BE49-F238E27FC236}">
                <a16:creationId xmlns:a16="http://schemas.microsoft.com/office/drawing/2014/main" id="{D8E0D758-1E03-5329-9399-F5D21BB2F9D0}"/>
              </a:ext>
            </a:extLst>
          </p:cNvPr>
          <p:cNvSpPr>
            <a:spLocks noGrp="1"/>
          </p:cNvSpPr>
          <p:nvPr/>
        </p:nvSpPr>
        <p:spPr>
          <a:xfrm>
            <a:off x="4460875" y="4039215"/>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app-todomanagement-api / web</a:t>
            </a:r>
          </a:p>
        </p:txBody>
      </p:sp>
      <p:sp>
        <p:nvSpPr>
          <p:cNvPr id="54" name="正方形/長方形 53">
            <a:extLst>
              <a:ext uri="{FF2B5EF4-FFF2-40B4-BE49-F238E27FC236}">
                <a16:creationId xmlns:a16="http://schemas.microsoft.com/office/drawing/2014/main" id="{010539C1-ACFF-89E7-48DD-99CBDCE9F0CA}"/>
              </a:ext>
            </a:extLst>
          </p:cNvPr>
          <p:cNvSpPr>
            <a:spLocks noGrp="1"/>
          </p:cNvSpPr>
          <p:nvPr/>
        </p:nvSpPr>
        <p:spPr>
          <a:xfrm>
            <a:off x="7921625" y="4039215"/>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同じ Environment に作成</a:t>
            </a:r>
          </a:p>
        </p:txBody>
      </p:sp>
      <p:sp>
        <p:nvSpPr>
          <p:cNvPr id="55" name="正方形/長方形 54">
            <a:extLst>
              <a:ext uri="{FF2B5EF4-FFF2-40B4-BE49-F238E27FC236}">
                <a16:creationId xmlns:a16="http://schemas.microsoft.com/office/drawing/2014/main" id="{00B9E34F-05DC-51AB-A885-30E6536F7B1E}"/>
              </a:ext>
            </a:extLst>
          </p:cNvPr>
          <p:cNvSpPr>
            <a:spLocks noGrp="1"/>
          </p:cNvSpPr>
          <p:nvPr/>
        </p:nvSpPr>
        <p:spPr>
          <a:xfrm>
            <a:off x="1000125" y="5022442"/>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PostgreSQL</a:t>
            </a:r>
          </a:p>
        </p:txBody>
      </p:sp>
      <p:sp>
        <p:nvSpPr>
          <p:cNvPr id="56" name="正方形/長方形 55">
            <a:extLst>
              <a:ext uri="{FF2B5EF4-FFF2-40B4-BE49-F238E27FC236}">
                <a16:creationId xmlns:a16="http://schemas.microsoft.com/office/drawing/2014/main" id="{4DE8A63E-903C-5A79-FBFB-DFB6B2700371}"/>
              </a:ext>
            </a:extLst>
          </p:cNvPr>
          <p:cNvSpPr>
            <a:spLocks noGrp="1"/>
          </p:cNvSpPr>
          <p:nvPr/>
        </p:nvSpPr>
        <p:spPr>
          <a:xfrm>
            <a:off x="4460875" y="5022442"/>
            <a:ext cx="3270250" cy="476250"/>
          </a:xfrm>
          <a:prstGeom prst="rect">
            <a:avLst/>
          </a:prstGeom>
          <a:ln w="0">
            <a:noFill/>
            <a:prstDash val="solid"/>
          </a:ln>
        </p:spPr>
        <p:txBody>
          <a:bodyPr lIns="0" tIns="0" rIns="0" bIns="0" anchor="ctr"/>
          <a:lstStyle/>
          <a:p>
            <a:pPr>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psql-azbeg-l05-</a:t>
            </a:r>
            <a:r>
              <a:rPr lang="en-US" altLang="ja-JP" sz="1200" dirty="0">
                <a:solidFill>
                  <a:srgbClr val="1F2937"/>
                </a:solidFill>
                <a:latin typeface="Yu Gothic"/>
                <a:ea typeface="Yu Gothic"/>
                <a:cs typeface="Yu Gothic"/>
              </a:rPr>
              <a:t>&lt;</a:t>
            </a:r>
            <a:r>
              <a:rPr lang="en-US" altLang="ja-JP" sz="1200" dirty="0" err="1">
                <a:solidFill>
                  <a:srgbClr val="1F2937"/>
                </a:solidFill>
                <a:latin typeface="Yu Gothic"/>
                <a:ea typeface="Yu Gothic"/>
                <a:cs typeface="Yu Gothic"/>
              </a:rPr>
              <a:t>受講者番号</a:t>
            </a:r>
            <a:r>
              <a:rPr lang="en-US" altLang="ja-JP" sz="1200" dirty="0">
                <a:solidFill>
                  <a:srgbClr val="1F2937"/>
                </a:solidFill>
                <a:latin typeface="Yu Gothic"/>
                <a:ea typeface="Yu Gothic"/>
                <a:cs typeface="Yu Gothic"/>
              </a:rPr>
              <a:t>&gt;</a:t>
            </a:r>
            <a:r>
              <a:rPr sz="1200" b="0" dirty="0">
                <a:solidFill>
                  <a:srgbClr val="1F2937"/>
                </a:solidFill>
                <a:latin typeface="Yu Gothic"/>
                <a:ea typeface="Yu Gothic"/>
                <a:cs typeface="Yu Gothic"/>
              </a:rPr>
              <a:t>-&lt;</a:t>
            </a:r>
            <a:r>
              <a:rPr sz="1200" b="0" dirty="0" err="1">
                <a:solidFill>
                  <a:srgbClr val="1F2937"/>
                </a:solidFill>
                <a:latin typeface="Yu Gothic"/>
                <a:ea typeface="Yu Gothic"/>
                <a:cs typeface="Yu Gothic"/>
              </a:rPr>
              <a:t>接尾辞</a:t>
            </a:r>
            <a:r>
              <a:rPr sz="1200" b="0" dirty="0">
                <a:solidFill>
                  <a:srgbClr val="1F2937"/>
                </a:solidFill>
                <a:latin typeface="Yu Gothic"/>
                <a:ea typeface="Yu Gothic"/>
                <a:cs typeface="Yu Gothic"/>
              </a:rPr>
              <a:t>&gt;</a:t>
            </a:r>
          </a:p>
        </p:txBody>
      </p:sp>
      <p:sp>
        <p:nvSpPr>
          <p:cNvPr id="57" name="正方形/長方形 56">
            <a:extLst>
              <a:ext uri="{FF2B5EF4-FFF2-40B4-BE49-F238E27FC236}">
                <a16:creationId xmlns:a16="http://schemas.microsoft.com/office/drawing/2014/main" id="{F17D99D3-09B8-E311-2792-6A0327599C8B}"/>
              </a:ext>
            </a:extLst>
          </p:cNvPr>
          <p:cNvSpPr>
            <a:spLocks noGrp="1"/>
          </p:cNvSpPr>
          <p:nvPr/>
        </p:nvSpPr>
        <p:spPr>
          <a:xfrm>
            <a:off x="7921625" y="5022442"/>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err="1">
                <a:solidFill>
                  <a:srgbClr val="1F2937"/>
                </a:solidFill>
                <a:latin typeface="Yu Gothic"/>
                <a:ea typeface="Yu Gothic"/>
                <a:cs typeface="Yu Gothic"/>
              </a:rPr>
              <a:t>最後に</a:t>
            </a:r>
            <a:r>
              <a:rPr sz="1200" b="0" dirty="0">
                <a:solidFill>
                  <a:srgbClr val="1F2937"/>
                </a:solidFill>
                <a:latin typeface="Yu Gothic"/>
                <a:ea typeface="Yu Gothic"/>
                <a:cs typeface="Yu Gothic"/>
              </a:rPr>
              <a:t> Stop</a:t>
            </a:r>
          </a:p>
        </p:txBody>
      </p:sp>
      <p:sp>
        <p:nvSpPr>
          <p:cNvPr id="58" name="正方形/長方形 57">
            <a:extLst>
              <a:ext uri="{FF2B5EF4-FFF2-40B4-BE49-F238E27FC236}">
                <a16:creationId xmlns:a16="http://schemas.microsoft.com/office/drawing/2014/main" id="{2E4F9668-8CA3-E820-558C-C173B2AAE094}"/>
              </a:ext>
            </a:extLst>
          </p:cNvPr>
          <p:cNvSpPr>
            <a:spLocks noGrp="1"/>
          </p:cNvSpPr>
          <p:nvPr/>
        </p:nvSpPr>
        <p:spPr>
          <a:xfrm>
            <a:off x="1000125" y="5927010"/>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Identity / Entra</a:t>
            </a:r>
          </a:p>
        </p:txBody>
      </p:sp>
      <p:sp>
        <p:nvSpPr>
          <p:cNvPr id="59" name="正方形/長方形 58">
            <a:extLst>
              <a:ext uri="{FF2B5EF4-FFF2-40B4-BE49-F238E27FC236}">
                <a16:creationId xmlns:a16="http://schemas.microsoft.com/office/drawing/2014/main" id="{E2B4336E-578F-8745-03DE-182D484C9AA6}"/>
              </a:ext>
            </a:extLst>
          </p:cNvPr>
          <p:cNvSpPr>
            <a:spLocks noGrp="1"/>
          </p:cNvSpPr>
          <p:nvPr/>
        </p:nvSpPr>
        <p:spPr>
          <a:xfrm>
            <a:off x="4460875" y="5927010"/>
            <a:ext cx="3270250" cy="476250"/>
          </a:xfrm>
          <a:prstGeom prst="rect">
            <a:avLst/>
          </a:prstGeom>
          <a:ln w="0">
            <a:noFill/>
            <a:prstDash val="solid"/>
          </a:ln>
        </p:spPr>
        <p:txBody>
          <a:bodyPr lIns="0" tIns="0" rIns="0" bIns="0" anchor="ctr"/>
          <a:lstStyle/>
          <a:p>
            <a:pPr>
              <a:defRPr sz="938" b="0">
                <a:solidFill>
                  <a:srgbClr val="1F2937"/>
                </a:solidFill>
                <a:latin typeface="Yu Gothic"/>
                <a:ea typeface="Yu Gothic"/>
                <a:cs typeface="Yu Gothic"/>
              </a:defRPr>
            </a:pPr>
            <a:r>
              <a:rPr sz="1050" b="0" dirty="0">
                <a:solidFill>
                  <a:srgbClr val="1F2937"/>
                </a:solidFill>
                <a:latin typeface="Yu Gothic"/>
                <a:ea typeface="Yu Gothic"/>
                <a:cs typeface="Yu Gothic"/>
              </a:rPr>
              <a:t>id-azbeg-l05-</a:t>
            </a:r>
            <a:r>
              <a:rPr lang="en-US" altLang="ja-JP" sz="1100" dirty="0">
                <a:solidFill>
                  <a:srgbClr val="1F2937"/>
                </a:solidFill>
                <a:latin typeface="Yu Gothic"/>
                <a:ea typeface="Yu Gothic"/>
                <a:cs typeface="Yu Gothic"/>
              </a:rPr>
              <a:t>&lt;</a:t>
            </a:r>
            <a:r>
              <a:rPr lang="en-US" altLang="ja-JP" sz="1100" dirty="0" err="1">
                <a:solidFill>
                  <a:srgbClr val="1F2937"/>
                </a:solidFill>
                <a:latin typeface="Yu Gothic"/>
                <a:ea typeface="Yu Gothic"/>
                <a:cs typeface="Yu Gothic"/>
              </a:rPr>
              <a:t>受講者番号</a:t>
            </a:r>
            <a:r>
              <a:rPr lang="en-US" altLang="ja-JP" sz="1100" dirty="0">
                <a:solidFill>
                  <a:srgbClr val="1F2937"/>
                </a:solidFill>
                <a:latin typeface="Yu Gothic"/>
                <a:ea typeface="Yu Gothic"/>
                <a:cs typeface="Yu Gothic"/>
              </a:rPr>
              <a:t>&gt;</a:t>
            </a:r>
            <a:r>
              <a:rPr sz="1050" b="0" dirty="0">
                <a:solidFill>
                  <a:srgbClr val="1F2937"/>
                </a:solidFill>
                <a:latin typeface="Yu Gothic"/>
                <a:ea typeface="Yu Gothic"/>
                <a:cs typeface="Yu Gothic"/>
              </a:rPr>
              <a:t> / app-azbeg-l05-</a:t>
            </a:r>
            <a:r>
              <a:rPr lang="en-US" altLang="ja-JP" sz="1100" dirty="0">
                <a:solidFill>
                  <a:srgbClr val="1F2937"/>
                </a:solidFill>
                <a:latin typeface="Yu Gothic"/>
                <a:ea typeface="Yu Gothic"/>
                <a:cs typeface="Yu Gothic"/>
              </a:rPr>
              <a:t>&lt;</a:t>
            </a:r>
            <a:r>
              <a:rPr lang="en-US" altLang="ja-JP" sz="1100" dirty="0" err="1">
                <a:solidFill>
                  <a:srgbClr val="1F2937"/>
                </a:solidFill>
                <a:latin typeface="Yu Gothic"/>
                <a:ea typeface="Yu Gothic"/>
                <a:cs typeface="Yu Gothic"/>
              </a:rPr>
              <a:t>受講者番号</a:t>
            </a:r>
            <a:r>
              <a:rPr lang="en-US" altLang="ja-JP" sz="1100" dirty="0">
                <a:solidFill>
                  <a:srgbClr val="1F2937"/>
                </a:solidFill>
                <a:latin typeface="Yu Gothic"/>
                <a:ea typeface="Yu Gothic"/>
                <a:cs typeface="Yu Gothic"/>
              </a:rPr>
              <a:t>&gt;</a:t>
            </a:r>
            <a:endParaRPr sz="1050" b="0" dirty="0">
              <a:solidFill>
                <a:srgbClr val="1F2937"/>
              </a:solidFill>
              <a:latin typeface="Yu Gothic"/>
              <a:ea typeface="Yu Gothic"/>
              <a:cs typeface="Yu Gothic"/>
            </a:endParaRPr>
          </a:p>
        </p:txBody>
      </p:sp>
      <p:sp>
        <p:nvSpPr>
          <p:cNvPr id="60" name="正方形/長方形 59">
            <a:extLst>
              <a:ext uri="{FF2B5EF4-FFF2-40B4-BE49-F238E27FC236}">
                <a16:creationId xmlns:a16="http://schemas.microsoft.com/office/drawing/2014/main" id="{3597BB83-7744-0048-5EB1-30049AB3CE3D}"/>
              </a:ext>
            </a:extLst>
          </p:cNvPr>
          <p:cNvSpPr>
            <a:spLocks noGrp="1"/>
          </p:cNvSpPr>
          <p:nvPr/>
        </p:nvSpPr>
        <p:spPr>
          <a:xfrm>
            <a:off x="7921625" y="5927010"/>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Client ID などを記録</a:t>
            </a:r>
          </a:p>
        </p:txBody>
      </p:sp>
    </p:spTree>
    <p:extLst>
      <p:ext uri="{BB962C8B-B14F-4D97-AF65-F5344CB8AC3E}">
        <p14:creationId xmlns:p14="http://schemas.microsoft.com/office/powerpoint/2010/main" val="2340499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20D74-13C1-72BD-0499-E6C0361AB51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444497-8F0A-6710-5820-64935D6D543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ja-JP" altLang="en-US" sz="2000" b="1">
                <a:solidFill>
                  <a:srgbClr val="1F2937"/>
                </a:solidFill>
                <a:latin typeface="Yu Gothic"/>
                <a:ea typeface="Yu Gothic"/>
                <a:cs typeface="Yu Gothic"/>
              </a:rPr>
              <a:t>第</a:t>
            </a:r>
            <a:r>
              <a:rPr lang="en-US" altLang="ja-JP" sz="2000" b="1" dirty="0">
                <a:solidFill>
                  <a:srgbClr val="1F2937"/>
                </a:solidFill>
                <a:latin typeface="Yu Gothic"/>
                <a:ea typeface="Yu Gothic"/>
                <a:cs typeface="Yu Gothic"/>
              </a:rPr>
              <a:t>5</a:t>
            </a:r>
            <a:r>
              <a:rPr lang="ja-JP" altLang="en-US" sz="2000" b="1">
                <a:solidFill>
                  <a:srgbClr val="1F2937"/>
                </a:solidFill>
                <a:latin typeface="Yu Gothic"/>
                <a:ea typeface="Yu Gothic"/>
                <a:cs typeface="Yu Gothic"/>
              </a:rPr>
              <a:t>回と第</a:t>
            </a:r>
            <a:r>
              <a:rPr lang="en-US" altLang="ja-JP" sz="2000" b="1" dirty="0">
                <a:solidFill>
                  <a:srgbClr val="1F2937"/>
                </a:solidFill>
                <a:latin typeface="Yu Gothic"/>
                <a:ea typeface="Yu Gothic"/>
                <a:cs typeface="Yu Gothic"/>
              </a:rPr>
              <a:t>6</a:t>
            </a:r>
            <a:r>
              <a:rPr lang="ja-JP" altLang="en-US" sz="2000" b="1">
                <a:solidFill>
                  <a:srgbClr val="1F2937"/>
                </a:solidFill>
                <a:latin typeface="Yu Gothic"/>
                <a:ea typeface="Yu Gothic"/>
                <a:cs typeface="Yu Gothic"/>
              </a:rPr>
              <a:t>回の分担</a:t>
            </a:r>
            <a:r>
              <a:rPr lang="en-US" altLang="ja-JP" sz="2000" b="1" dirty="0">
                <a:solidFill>
                  <a:srgbClr val="1F2937"/>
                </a:solidFill>
                <a:latin typeface="Yu Gothic"/>
                <a:ea typeface="Yu Gothic"/>
                <a:cs typeface="Yu Gothic"/>
              </a:rPr>
              <a:t> (</a:t>
            </a:r>
            <a:r>
              <a:rPr lang="ja-JP" altLang="en-US" sz="2000" b="1">
                <a:solidFill>
                  <a:srgbClr val="1F2937"/>
                </a:solidFill>
                <a:latin typeface="Yu Gothic"/>
                <a:ea typeface="Yu Gothic"/>
                <a:cs typeface="Yu Gothic"/>
              </a:rPr>
              <a:t>再掲</a:t>
            </a:r>
            <a:r>
              <a:rPr lang="en-US" altLang="ja-JP" sz="2000" b="1" dirty="0">
                <a:solidFill>
                  <a:srgbClr val="1F2937"/>
                </a:solidFill>
                <a:latin typeface="Yu Gothic"/>
                <a:ea typeface="Yu Gothic"/>
                <a:cs typeface="Yu Gothic"/>
              </a:rPr>
              <a:t>)</a:t>
            </a:r>
            <a:endParaRPr lang="ja-JP" altLang="en-US" sz="2000" b="1">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AAF2740F-0941-DD4B-C979-456039719E5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CE97FB47-D36A-698B-6382-88AEB971739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DDA4289A-CC45-8497-DAC7-F94F51F5E5A6}"/>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en-US" altLang="ja-JP" sz="1200" dirty="0">
                <a:solidFill>
                  <a:srgbClr val="64748B"/>
                </a:solidFill>
                <a:latin typeface="Yu Gothic"/>
                <a:ea typeface="Yu Gothic"/>
                <a:cs typeface="Yu Gothic"/>
              </a:rPr>
              <a:t>2</a:t>
            </a:r>
            <a:r>
              <a:rPr lang="ja-JP" altLang="en-US" sz="1200">
                <a:solidFill>
                  <a:srgbClr val="64748B"/>
                </a:solidFill>
                <a:latin typeface="Yu Gothic"/>
                <a:ea typeface="Yu Gothic"/>
                <a:cs typeface="Yu Gothic"/>
              </a:rPr>
              <a:t>回続きのハンズオンなので、今日は土台を作って引き継ぐ日、第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回は </a:t>
            </a:r>
            <a:r>
              <a:rPr lang="en" altLang="ja-JP" sz="1200" dirty="0">
                <a:solidFill>
                  <a:srgbClr val="64748B"/>
                </a:solidFill>
                <a:latin typeface="Yu Gothic"/>
                <a:ea typeface="Yu Gothic"/>
                <a:cs typeface="Yu Gothic"/>
              </a:rPr>
              <a:t>GitHub Actions </a:t>
            </a:r>
            <a:r>
              <a:rPr lang="ja-JP" altLang="en-US" sz="1200">
                <a:solidFill>
                  <a:srgbClr val="64748B"/>
                </a:solidFill>
                <a:latin typeface="Yu Gothic"/>
                <a:ea typeface="Yu Gothic"/>
                <a:cs typeface="Yu Gothic"/>
              </a:rPr>
              <a:t>で実アプリをデプロイして動作確認する日、と分けて考えます。</a:t>
            </a:r>
            <a:endParaRPr lang="ja-JP" altLang="en-US" sz="1200" dirty="0">
              <a:solidFill>
                <a:srgbClr val="64748B"/>
              </a:solidFill>
              <a:latin typeface="Yu Gothic"/>
              <a:ea typeface="Yu Gothic"/>
              <a:cs typeface="Yu Gothic"/>
            </a:endParaRPr>
          </a:p>
        </p:txBody>
      </p:sp>
      <p:sp>
        <p:nvSpPr>
          <p:cNvPr id="3" name="角丸四角形 2">
            <a:extLst>
              <a:ext uri="{FF2B5EF4-FFF2-40B4-BE49-F238E27FC236}">
                <a16:creationId xmlns:a16="http://schemas.microsoft.com/office/drawing/2014/main" id="{4406FA7F-B001-FF64-BB16-A74868528705}"/>
              </a:ext>
            </a:extLst>
          </p:cNvPr>
          <p:cNvSpPr/>
          <p:nvPr/>
        </p:nvSpPr>
        <p:spPr>
          <a:xfrm>
            <a:off x="1199535" y="2099855"/>
            <a:ext cx="4621161" cy="3881845"/>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B033224-DFDD-689A-176D-663DD841D499}"/>
              </a:ext>
            </a:extLst>
          </p:cNvPr>
          <p:cNvSpPr txBox="1"/>
          <p:nvPr/>
        </p:nvSpPr>
        <p:spPr>
          <a:xfrm>
            <a:off x="2826671" y="2191636"/>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dirty="0">
                <a:latin typeface="Yu Gothic UI" panose="020B0500000000000000" pitchFamily="34" charset="-128"/>
                <a:ea typeface="Yu Gothic UI" panose="020B0500000000000000" pitchFamily="34" charset="-128"/>
              </a:rPr>
              <a:t>5</a:t>
            </a:r>
            <a:r>
              <a:rPr kumimoji="1" lang="ja-JP" altLang="en-US">
                <a:latin typeface="Yu Gothic UI" panose="020B0500000000000000" pitchFamily="34" charset="-128"/>
                <a:ea typeface="Yu Gothic UI" panose="020B0500000000000000" pitchFamily="34" charset="-128"/>
              </a:rPr>
              <a:t>回</a:t>
            </a:r>
          </a:p>
        </p:txBody>
      </p:sp>
      <p:sp>
        <p:nvSpPr>
          <p:cNvPr id="10" name="テキスト ボックス 9">
            <a:extLst>
              <a:ext uri="{FF2B5EF4-FFF2-40B4-BE49-F238E27FC236}">
                <a16:creationId xmlns:a16="http://schemas.microsoft.com/office/drawing/2014/main" id="{403EFE6F-FEEA-8031-409E-5564717340F2}"/>
              </a:ext>
            </a:extLst>
          </p:cNvPr>
          <p:cNvSpPr txBox="1"/>
          <p:nvPr/>
        </p:nvSpPr>
        <p:spPr>
          <a:xfrm>
            <a:off x="7998440" y="2191636"/>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dirty="0">
                <a:latin typeface="Yu Gothic UI" panose="020B0500000000000000" pitchFamily="34" charset="-128"/>
                <a:ea typeface="Yu Gothic UI" panose="020B0500000000000000" pitchFamily="34" charset="-128"/>
              </a:rPr>
              <a:t>6</a:t>
            </a:r>
            <a:r>
              <a:rPr kumimoji="1" lang="ja-JP" altLang="en-US">
                <a:latin typeface="Yu Gothic UI" panose="020B0500000000000000" pitchFamily="34" charset="-128"/>
                <a:ea typeface="Yu Gothic UI" panose="020B0500000000000000" pitchFamily="34" charset="-128"/>
              </a:rPr>
              <a:t>回</a:t>
            </a:r>
          </a:p>
        </p:txBody>
      </p:sp>
      <p:sp>
        <p:nvSpPr>
          <p:cNvPr id="11" name="角丸四角形 10">
            <a:extLst>
              <a:ext uri="{FF2B5EF4-FFF2-40B4-BE49-F238E27FC236}">
                <a16:creationId xmlns:a16="http://schemas.microsoft.com/office/drawing/2014/main" id="{0D4EC10F-8385-6960-95FC-DD4AE22BC11D}"/>
              </a:ext>
            </a:extLst>
          </p:cNvPr>
          <p:cNvSpPr/>
          <p:nvPr/>
        </p:nvSpPr>
        <p:spPr>
          <a:xfrm>
            <a:off x="6371304" y="2099855"/>
            <a:ext cx="4621161" cy="3881845"/>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a:extLst>
              <a:ext uri="{FF2B5EF4-FFF2-40B4-BE49-F238E27FC236}">
                <a16:creationId xmlns:a16="http://schemas.microsoft.com/office/drawing/2014/main" id="{EBEB9F9B-A99C-60E1-E5CC-D34BD95EAAAB}"/>
              </a:ext>
            </a:extLst>
          </p:cNvPr>
          <p:cNvSpPr/>
          <p:nvPr/>
        </p:nvSpPr>
        <p:spPr>
          <a:xfrm>
            <a:off x="1358437" y="269081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8909785-E20C-E957-38C6-DB20E4720616}"/>
              </a:ext>
            </a:extLst>
          </p:cNvPr>
          <p:cNvSpPr txBox="1"/>
          <p:nvPr/>
        </p:nvSpPr>
        <p:spPr>
          <a:xfrm>
            <a:off x="1358437" y="3048552"/>
            <a:ext cx="1312607" cy="461665"/>
          </a:xfrm>
          <a:prstGeom prst="rect">
            <a:avLst/>
          </a:prstGeom>
          <a:noFill/>
        </p:spPr>
        <p:txBody>
          <a:bodyPr wrap="square" rtlCol="0">
            <a:spAutoFit/>
          </a:bodyPr>
          <a:lstStyle/>
          <a:p>
            <a:r>
              <a:rPr kumimoji="1" lang="en-US" altLang="ja-JP" sz="1200" dirty="0">
                <a:latin typeface="Yu Gothic UI" panose="020B0500000000000000" pitchFamily="34" charset="-128"/>
                <a:ea typeface="Yu Gothic UI" panose="020B0500000000000000" pitchFamily="34" charset="-128"/>
              </a:rPr>
              <a:t>1. </a:t>
            </a:r>
            <a:r>
              <a:rPr kumimoji="1" lang="ja-JP" altLang="en-US" sz="1200">
                <a:latin typeface="Yu Gothic UI" panose="020B0500000000000000" pitchFamily="34" charset="-128"/>
                <a:ea typeface="Yu Gothic UI" panose="020B0500000000000000" pitchFamily="34" charset="-128"/>
              </a:rPr>
              <a:t>リソースグループの作成</a:t>
            </a:r>
          </a:p>
        </p:txBody>
      </p:sp>
      <p:pic>
        <p:nvPicPr>
          <p:cNvPr id="15" name="グラフィックス 14">
            <a:extLst>
              <a:ext uri="{FF2B5EF4-FFF2-40B4-BE49-F238E27FC236}">
                <a16:creationId xmlns:a16="http://schemas.microsoft.com/office/drawing/2014/main" id="{26EA2F01-8AF5-8019-D096-396F9DEAF3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0226" y="2727570"/>
            <a:ext cx="289027" cy="289027"/>
          </a:xfrm>
          <a:prstGeom prst="rect">
            <a:avLst/>
          </a:prstGeom>
        </p:spPr>
      </p:pic>
      <p:sp>
        <p:nvSpPr>
          <p:cNvPr id="16" name="角丸四角形 15">
            <a:extLst>
              <a:ext uri="{FF2B5EF4-FFF2-40B4-BE49-F238E27FC236}">
                <a16:creationId xmlns:a16="http://schemas.microsoft.com/office/drawing/2014/main" id="{B1E75ECD-6B21-B762-15DD-AEAD0A97A8F6}"/>
              </a:ext>
            </a:extLst>
          </p:cNvPr>
          <p:cNvSpPr/>
          <p:nvPr/>
        </p:nvSpPr>
        <p:spPr>
          <a:xfrm>
            <a:off x="2866589" y="269081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D89B960B-7C0D-3F42-B037-B4E793281DD7}"/>
              </a:ext>
            </a:extLst>
          </p:cNvPr>
          <p:cNvSpPr txBox="1"/>
          <p:nvPr/>
        </p:nvSpPr>
        <p:spPr>
          <a:xfrm>
            <a:off x="2866589" y="3042277"/>
            <a:ext cx="1312607" cy="461665"/>
          </a:xfrm>
          <a:prstGeom prst="rect">
            <a:avLst/>
          </a:prstGeom>
          <a:noFill/>
        </p:spPr>
        <p:txBody>
          <a:bodyPr wrap="square" rtlCol="0">
            <a:spAutoFit/>
          </a:bodyPr>
          <a:lstStyle/>
          <a:p>
            <a:r>
              <a:rPr kumimoji="1" lang="en-US" altLang="ja-JP" sz="1200" dirty="0">
                <a:latin typeface="Yu Gothic UI" panose="020B0500000000000000" pitchFamily="34" charset="-128"/>
                <a:ea typeface="Yu Gothic UI" panose="020B0500000000000000" pitchFamily="34" charset="-128"/>
              </a:rPr>
              <a:t>2. </a:t>
            </a:r>
            <a:r>
              <a:rPr kumimoji="1" lang="en-US" altLang="ja-JP" sz="1200" dirty="0" err="1">
                <a:latin typeface="Yu Gothic UI" panose="020B0500000000000000" pitchFamily="34" charset="-128"/>
                <a:ea typeface="Yu Gothic UI" panose="020B0500000000000000" pitchFamily="34" charset="-128"/>
              </a:rPr>
              <a:t>VNet</a:t>
            </a:r>
            <a:r>
              <a:rPr kumimoji="1" lang="ja-JP" altLang="en-US" sz="1200">
                <a:latin typeface="Yu Gothic UI" panose="020B0500000000000000" pitchFamily="34" charset="-128"/>
                <a:ea typeface="Yu Gothic UI" panose="020B0500000000000000" pitchFamily="34" charset="-128"/>
              </a:rPr>
              <a:t>、サブネットの作成</a:t>
            </a:r>
          </a:p>
        </p:txBody>
      </p:sp>
      <p:pic>
        <p:nvPicPr>
          <p:cNvPr id="22" name="グラフィックス 21">
            <a:extLst>
              <a:ext uri="{FF2B5EF4-FFF2-40B4-BE49-F238E27FC236}">
                <a16:creationId xmlns:a16="http://schemas.microsoft.com/office/drawing/2014/main" id="{077208E6-9E82-34F0-86D4-4251F5480E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98777" y="2723242"/>
            <a:ext cx="319035" cy="319035"/>
          </a:xfrm>
          <a:prstGeom prst="rect">
            <a:avLst/>
          </a:prstGeom>
        </p:spPr>
      </p:pic>
      <p:pic>
        <p:nvPicPr>
          <p:cNvPr id="24" name="グラフィックス 23">
            <a:extLst>
              <a:ext uri="{FF2B5EF4-FFF2-40B4-BE49-F238E27FC236}">
                <a16:creationId xmlns:a16="http://schemas.microsoft.com/office/drawing/2014/main" id="{6ACFCE45-049C-AF43-74D0-8BD900DDF8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76714" y="2725637"/>
            <a:ext cx="319035" cy="319035"/>
          </a:xfrm>
          <a:prstGeom prst="rect">
            <a:avLst/>
          </a:prstGeom>
        </p:spPr>
      </p:pic>
      <p:sp>
        <p:nvSpPr>
          <p:cNvPr id="25" name="角丸四角形 24">
            <a:extLst>
              <a:ext uri="{FF2B5EF4-FFF2-40B4-BE49-F238E27FC236}">
                <a16:creationId xmlns:a16="http://schemas.microsoft.com/office/drawing/2014/main" id="{8DDB82C4-8951-DAD2-8D89-9978D88D66DB}"/>
              </a:ext>
            </a:extLst>
          </p:cNvPr>
          <p:cNvSpPr/>
          <p:nvPr/>
        </p:nvSpPr>
        <p:spPr>
          <a:xfrm>
            <a:off x="4374741" y="269081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23A59D72-89C1-3DB7-29F4-7C70FC07D825}"/>
              </a:ext>
            </a:extLst>
          </p:cNvPr>
          <p:cNvSpPr txBox="1"/>
          <p:nvPr/>
        </p:nvSpPr>
        <p:spPr>
          <a:xfrm>
            <a:off x="4374741" y="3048552"/>
            <a:ext cx="1312607" cy="276999"/>
          </a:xfrm>
          <a:prstGeom prst="rect">
            <a:avLst/>
          </a:prstGeom>
          <a:noFill/>
        </p:spPr>
        <p:txBody>
          <a:bodyPr wrap="square" rtlCol="0">
            <a:spAutoFit/>
          </a:bodyPr>
          <a:lstStyle/>
          <a:p>
            <a:r>
              <a:rPr kumimoji="1" lang="en-US" altLang="ja-JP" sz="1200" dirty="0">
                <a:latin typeface="Yu Gothic UI" panose="020B0500000000000000" pitchFamily="34" charset="-128"/>
                <a:ea typeface="Yu Gothic UI" panose="020B0500000000000000" pitchFamily="34" charset="-128"/>
              </a:rPr>
              <a:t>3. ACR </a:t>
            </a:r>
            <a:r>
              <a:rPr kumimoji="1" lang="ja-JP" altLang="en-US" sz="1200">
                <a:latin typeface="Yu Gothic UI" panose="020B0500000000000000" pitchFamily="34" charset="-128"/>
                <a:ea typeface="Yu Gothic UI" panose="020B0500000000000000" pitchFamily="34" charset="-128"/>
              </a:rPr>
              <a:t>の作成</a:t>
            </a:r>
          </a:p>
        </p:txBody>
      </p:sp>
      <p:pic>
        <p:nvPicPr>
          <p:cNvPr id="29" name="グラフィックス 28">
            <a:extLst>
              <a:ext uri="{FF2B5EF4-FFF2-40B4-BE49-F238E27FC236}">
                <a16:creationId xmlns:a16="http://schemas.microsoft.com/office/drawing/2014/main" id="{617A57F1-03F9-A7BF-9AE2-DCB98C6C2FE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92544" y="2744259"/>
            <a:ext cx="277000" cy="277000"/>
          </a:xfrm>
          <a:prstGeom prst="rect">
            <a:avLst/>
          </a:prstGeom>
        </p:spPr>
      </p:pic>
      <p:sp>
        <p:nvSpPr>
          <p:cNvPr id="30" name="角丸四角形 29">
            <a:extLst>
              <a:ext uri="{FF2B5EF4-FFF2-40B4-BE49-F238E27FC236}">
                <a16:creationId xmlns:a16="http://schemas.microsoft.com/office/drawing/2014/main" id="{7C5C2982-1528-2915-BF30-FABAC7DA79C3}"/>
              </a:ext>
            </a:extLst>
          </p:cNvPr>
          <p:cNvSpPr/>
          <p:nvPr/>
        </p:nvSpPr>
        <p:spPr>
          <a:xfrm>
            <a:off x="1358437" y="3904700"/>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CBEBE3C6-7AF6-166E-3197-D665DF8DF49D}"/>
              </a:ext>
            </a:extLst>
          </p:cNvPr>
          <p:cNvSpPr txBox="1"/>
          <p:nvPr/>
        </p:nvSpPr>
        <p:spPr>
          <a:xfrm>
            <a:off x="1358437" y="4262440"/>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4. AP </a:t>
            </a:r>
            <a:r>
              <a:rPr kumimoji="1" lang="ja-JP" altLang="en-US" sz="1100">
                <a:latin typeface="Yu Gothic UI" panose="020B0500000000000000" pitchFamily="34" charset="-128"/>
                <a:ea typeface="Yu Gothic UI" panose="020B0500000000000000" pitchFamily="34" charset="-128"/>
              </a:rPr>
              <a:t>層、</a:t>
            </a:r>
            <a:r>
              <a:rPr kumimoji="1" lang="en-US" altLang="ja-JP" sz="1100" dirty="0">
                <a:latin typeface="Yu Gothic UI" panose="020B0500000000000000" pitchFamily="34" charset="-128"/>
                <a:ea typeface="Yu Gothic UI" panose="020B0500000000000000" pitchFamily="34" charset="-128"/>
              </a:rPr>
              <a:t>Web </a:t>
            </a:r>
            <a:r>
              <a:rPr kumimoji="1" lang="ja-JP" altLang="en-US" sz="1100">
                <a:latin typeface="Yu Gothic UI" panose="020B0500000000000000" pitchFamily="34" charset="-128"/>
                <a:ea typeface="Yu Gothic UI" panose="020B0500000000000000" pitchFamily="34" charset="-128"/>
              </a:rPr>
              <a:t>層用の</a:t>
            </a:r>
            <a:r>
              <a:rPr kumimoji="1" lang="en-US" altLang="ja-JP" sz="1100" dirty="0">
                <a:latin typeface="Yu Gothic UI" panose="020B0500000000000000" pitchFamily="34" charset="-128"/>
                <a:ea typeface="Yu Gothic UI" panose="020B0500000000000000" pitchFamily="34" charset="-128"/>
              </a:rPr>
              <a:t> ACA </a:t>
            </a:r>
            <a:r>
              <a:rPr kumimoji="1" lang="ja-JP" altLang="en-US" sz="1100">
                <a:latin typeface="Yu Gothic UI" panose="020B0500000000000000" pitchFamily="34" charset="-128"/>
                <a:ea typeface="Yu Gothic UI" panose="020B0500000000000000" pitchFamily="34" charset="-128"/>
              </a:rPr>
              <a:t>の作成</a:t>
            </a:r>
          </a:p>
        </p:txBody>
      </p:sp>
      <p:pic>
        <p:nvPicPr>
          <p:cNvPr id="33" name="グラフィックス 32">
            <a:extLst>
              <a:ext uri="{FF2B5EF4-FFF2-40B4-BE49-F238E27FC236}">
                <a16:creationId xmlns:a16="http://schemas.microsoft.com/office/drawing/2014/main" id="{C897EDF0-46B9-487C-8B29-3CC1567FEC6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81054" y="3936284"/>
            <a:ext cx="354154" cy="354154"/>
          </a:xfrm>
          <a:prstGeom prst="rect">
            <a:avLst/>
          </a:prstGeom>
        </p:spPr>
      </p:pic>
      <p:pic>
        <p:nvPicPr>
          <p:cNvPr id="34" name="グラフィックス 33">
            <a:extLst>
              <a:ext uri="{FF2B5EF4-FFF2-40B4-BE49-F238E27FC236}">
                <a16:creationId xmlns:a16="http://schemas.microsoft.com/office/drawing/2014/main" id="{B511DD72-02F7-3EF3-A580-0232607F6DB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94110" y="3936284"/>
            <a:ext cx="354154" cy="354154"/>
          </a:xfrm>
          <a:prstGeom prst="rect">
            <a:avLst/>
          </a:prstGeom>
        </p:spPr>
      </p:pic>
      <p:sp>
        <p:nvSpPr>
          <p:cNvPr id="35" name="角丸四角形 34">
            <a:extLst>
              <a:ext uri="{FF2B5EF4-FFF2-40B4-BE49-F238E27FC236}">
                <a16:creationId xmlns:a16="http://schemas.microsoft.com/office/drawing/2014/main" id="{569CB4CD-4FC7-F208-317F-7806DC013C30}"/>
              </a:ext>
            </a:extLst>
          </p:cNvPr>
          <p:cNvSpPr/>
          <p:nvPr/>
        </p:nvSpPr>
        <p:spPr>
          <a:xfrm>
            <a:off x="2860834" y="3905660"/>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77B27F48-B59B-9A22-1D09-117FFB57D0E5}"/>
              </a:ext>
            </a:extLst>
          </p:cNvPr>
          <p:cNvSpPr txBox="1"/>
          <p:nvPr/>
        </p:nvSpPr>
        <p:spPr>
          <a:xfrm>
            <a:off x="2860834" y="4263400"/>
            <a:ext cx="1312607" cy="369332"/>
          </a:xfrm>
          <a:prstGeom prst="rect">
            <a:avLst/>
          </a:prstGeom>
          <a:noFill/>
        </p:spPr>
        <p:txBody>
          <a:bodyPr wrap="square" rtlCol="0">
            <a:spAutoFit/>
          </a:bodyPr>
          <a:lstStyle/>
          <a:p>
            <a:r>
              <a:rPr kumimoji="1" lang="en-US" altLang="ja-JP" sz="900" dirty="0">
                <a:latin typeface="Yu Gothic UI" panose="020B0500000000000000" pitchFamily="34" charset="-128"/>
                <a:ea typeface="Yu Gothic UI" panose="020B0500000000000000" pitchFamily="34" charset="-128"/>
              </a:rPr>
              <a:t>5. PostgreSQL Flexible Server </a:t>
            </a:r>
            <a:r>
              <a:rPr kumimoji="1" lang="ja-JP" altLang="en-US" sz="900">
                <a:latin typeface="Yu Gothic UI" panose="020B0500000000000000" pitchFamily="34" charset="-128"/>
                <a:ea typeface="Yu Gothic UI" panose="020B0500000000000000" pitchFamily="34" charset="-128"/>
              </a:rPr>
              <a:t>の作成</a:t>
            </a:r>
          </a:p>
        </p:txBody>
      </p:sp>
      <p:pic>
        <p:nvPicPr>
          <p:cNvPr id="44" name="グラフィックス 43">
            <a:extLst>
              <a:ext uri="{FF2B5EF4-FFF2-40B4-BE49-F238E27FC236}">
                <a16:creationId xmlns:a16="http://schemas.microsoft.com/office/drawing/2014/main" id="{2B836D85-A711-47A1-2EEB-250F48A03C7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348979" y="3943890"/>
            <a:ext cx="326184" cy="326184"/>
          </a:xfrm>
          <a:prstGeom prst="rect">
            <a:avLst/>
          </a:prstGeom>
        </p:spPr>
      </p:pic>
      <p:sp>
        <p:nvSpPr>
          <p:cNvPr id="45" name="角丸四角形 44">
            <a:extLst>
              <a:ext uri="{FF2B5EF4-FFF2-40B4-BE49-F238E27FC236}">
                <a16:creationId xmlns:a16="http://schemas.microsoft.com/office/drawing/2014/main" id="{FE0C838F-8D36-B962-5169-14C13C175921}"/>
              </a:ext>
            </a:extLst>
          </p:cNvPr>
          <p:cNvSpPr/>
          <p:nvPr/>
        </p:nvSpPr>
        <p:spPr>
          <a:xfrm>
            <a:off x="4374741" y="3905660"/>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37FE46FD-1691-E457-73F6-3A118E250A87}"/>
              </a:ext>
            </a:extLst>
          </p:cNvPr>
          <p:cNvSpPr txBox="1"/>
          <p:nvPr/>
        </p:nvSpPr>
        <p:spPr>
          <a:xfrm>
            <a:off x="4374741" y="4263400"/>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6. AP </a:t>
            </a:r>
            <a:r>
              <a:rPr kumimoji="1" lang="ja-JP" altLang="en-US" sz="1100">
                <a:latin typeface="Yu Gothic UI" panose="020B0500000000000000" pitchFamily="34" charset="-128"/>
                <a:ea typeface="Yu Gothic UI" panose="020B0500000000000000" pitchFamily="34" charset="-128"/>
              </a:rPr>
              <a:t>コンテナ用</a:t>
            </a:r>
            <a:r>
              <a:rPr kumimoji="1" lang="en-US" altLang="ja-JP" sz="1100" dirty="0">
                <a:latin typeface="Yu Gothic UI" panose="020B0500000000000000" pitchFamily="34" charset="-128"/>
                <a:ea typeface="Yu Gothic UI" panose="020B0500000000000000" pitchFamily="34" charset="-128"/>
              </a:rPr>
              <a:t> </a:t>
            </a:r>
            <a:r>
              <a:rPr kumimoji="1" lang="ja-JP" altLang="en-US" sz="1100">
                <a:latin typeface="Yu Gothic UI" panose="020B0500000000000000" pitchFamily="34" charset="-128"/>
                <a:ea typeface="Yu Gothic UI" panose="020B0500000000000000" pitchFamily="34" charset="-128"/>
              </a:rPr>
              <a:t>マネージド</a:t>
            </a:r>
            <a:r>
              <a:rPr kumimoji="1" lang="en-US" altLang="ja-JP" sz="1100" dirty="0">
                <a:latin typeface="Yu Gothic UI" panose="020B0500000000000000" pitchFamily="34" charset="-128"/>
                <a:ea typeface="Yu Gothic UI" panose="020B0500000000000000" pitchFamily="34" charset="-128"/>
              </a:rPr>
              <a:t> ID </a:t>
            </a:r>
            <a:r>
              <a:rPr kumimoji="1" lang="ja-JP" altLang="en-US" sz="1100">
                <a:latin typeface="Yu Gothic UI" panose="020B0500000000000000" pitchFamily="34" charset="-128"/>
                <a:ea typeface="Yu Gothic UI" panose="020B0500000000000000" pitchFamily="34" charset="-128"/>
              </a:rPr>
              <a:t>の作成</a:t>
            </a:r>
          </a:p>
        </p:txBody>
      </p:sp>
      <p:sp>
        <p:nvSpPr>
          <p:cNvPr id="50" name="角丸四角形 49">
            <a:extLst>
              <a:ext uri="{FF2B5EF4-FFF2-40B4-BE49-F238E27FC236}">
                <a16:creationId xmlns:a16="http://schemas.microsoft.com/office/drawing/2014/main" id="{EDF436F0-38CE-043F-2F4D-837D113D0556}"/>
              </a:ext>
            </a:extLst>
          </p:cNvPr>
          <p:cNvSpPr/>
          <p:nvPr/>
        </p:nvSpPr>
        <p:spPr>
          <a:xfrm>
            <a:off x="1358437" y="5019483"/>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93C594E7-4EF9-A19D-5CFC-B0E40E0E01CA}"/>
              </a:ext>
            </a:extLst>
          </p:cNvPr>
          <p:cNvSpPr txBox="1"/>
          <p:nvPr/>
        </p:nvSpPr>
        <p:spPr>
          <a:xfrm>
            <a:off x="1358437" y="5377223"/>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7. DB </a:t>
            </a:r>
            <a:r>
              <a:rPr kumimoji="1" lang="ja-JP" altLang="en-US" sz="1100">
                <a:latin typeface="Yu Gothic UI" panose="020B0500000000000000" pitchFamily="34" charset="-128"/>
                <a:ea typeface="Yu Gothic UI" panose="020B0500000000000000" pitchFamily="34" charset="-128"/>
              </a:rPr>
              <a:t>のデータベース、パーミッション設定</a:t>
            </a:r>
          </a:p>
        </p:txBody>
      </p:sp>
      <p:pic>
        <p:nvPicPr>
          <p:cNvPr id="53" name="グラフィックス 52">
            <a:extLst>
              <a:ext uri="{FF2B5EF4-FFF2-40B4-BE49-F238E27FC236}">
                <a16:creationId xmlns:a16="http://schemas.microsoft.com/office/drawing/2014/main" id="{53C4D145-D60F-FF04-7216-46BDE446D38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38501" y="5051039"/>
            <a:ext cx="326184" cy="326184"/>
          </a:xfrm>
          <a:prstGeom prst="rect">
            <a:avLst/>
          </a:prstGeom>
        </p:spPr>
      </p:pic>
      <p:sp>
        <p:nvSpPr>
          <p:cNvPr id="54" name="角丸四角形 53">
            <a:extLst>
              <a:ext uri="{FF2B5EF4-FFF2-40B4-BE49-F238E27FC236}">
                <a16:creationId xmlns:a16="http://schemas.microsoft.com/office/drawing/2014/main" id="{6D04E402-0635-186D-7ACE-32167E545088}"/>
              </a:ext>
            </a:extLst>
          </p:cNvPr>
          <p:cNvSpPr/>
          <p:nvPr/>
        </p:nvSpPr>
        <p:spPr>
          <a:xfrm>
            <a:off x="2860834" y="5019483"/>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AF3EB426-00D9-FCC3-C555-C7A58616ED3F}"/>
              </a:ext>
            </a:extLst>
          </p:cNvPr>
          <p:cNvSpPr txBox="1"/>
          <p:nvPr/>
        </p:nvSpPr>
        <p:spPr>
          <a:xfrm>
            <a:off x="2860834" y="5377223"/>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8. Web </a:t>
            </a:r>
            <a:r>
              <a:rPr kumimoji="1" lang="ja-JP" altLang="en-US" sz="1100">
                <a:latin typeface="Yu Gothic UI" panose="020B0500000000000000" pitchFamily="34" charset="-128"/>
                <a:ea typeface="Yu Gothic UI" panose="020B0500000000000000" pitchFamily="34" charset="-128"/>
              </a:rPr>
              <a:t>層用</a:t>
            </a:r>
            <a:r>
              <a:rPr kumimoji="1" lang="en-US" altLang="ja-JP" sz="1100" dirty="0">
                <a:latin typeface="Yu Gothic UI" panose="020B0500000000000000" pitchFamily="34" charset="-128"/>
                <a:ea typeface="Yu Gothic UI" panose="020B0500000000000000" pitchFamily="34" charset="-128"/>
              </a:rPr>
              <a:t> Entra ID </a:t>
            </a:r>
            <a:r>
              <a:rPr kumimoji="1" lang="ja-JP" altLang="en-US" sz="1100">
                <a:latin typeface="Yu Gothic UI" panose="020B0500000000000000" pitchFamily="34" charset="-128"/>
                <a:ea typeface="Yu Gothic UI" panose="020B0500000000000000" pitchFamily="34" charset="-128"/>
              </a:rPr>
              <a:t>アプリ登録</a:t>
            </a:r>
          </a:p>
        </p:txBody>
      </p:sp>
      <p:pic>
        <p:nvPicPr>
          <p:cNvPr id="58" name="グラフィックス 57">
            <a:extLst>
              <a:ext uri="{FF2B5EF4-FFF2-40B4-BE49-F238E27FC236}">
                <a16:creationId xmlns:a16="http://schemas.microsoft.com/office/drawing/2014/main" id="{A534885D-4576-AB52-6579-7D99CF51392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17309" y="5051039"/>
            <a:ext cx="326184" cy="326184"/>
          </a:xfrm>
          <a:prstGeom prst="rect">
            <a:avLst/>
          </a:prstGeom>
        </p:spPr>
      </p:pic>
      <p:pic>
        <p:nvPicPr>
          <p:cNvPr id="60" name="グラフィックス 59">
            <a:extLst>
              <a:ext uri="{FF2B5EF4-FFF2-40B4-BE49-F238E27FC236}">
                <a16:creationId xmlns:a16="http://schemas.microsoft.com/office/drawing/2014/main" id="{4E936804-A0E0-25EF-2F82-597453DB89C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852117" y="3936284"/>
            <a:ext cx="357854" cy="357854"/>
          </a:xfrm>
          <a:prstGeom prst="rect">
            <a:avLst/>
          </a:prstGeom>
        </p:spPr>
      </p:pic>
      <p:sp>
        <p:nvSpPr>
          <p:cNvPr id="61" name="角丸四角形 60">
            <a:extLst>
              <a:ext uri="{FF2B5EF4-FFF2-40B4-BE49-F238E27FC236}">
                <a16:creationId xmlns:a16="http://schemas.microsoft.com/office/drawing/2014/main" id="{E38E5673-3F2A-3371-AF2E-40CCD09C360D}"/>
              </a:ext>
            </a:extLst>
          </p:cNvPr>
          <p:cNvSpPr/>
          <p:nvPr/>
        </p:nvSpPr>
        <p:spPr>
          <a:xfrm>
            <a:off x="4374741" y="5023735"/>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604A68B0-FF51-E93C-320C-350B9D7C7C16}"/>
              </a:ext>
            </a:extLst>
          </p:cNvPr>
          <p:cNvSpPr txBox="1"/>
          <p:nvPr/>
        </p:nvSpPr>
        <p:spPr>
          <a:xfrm>
            <a:off x="4374741" y="5381475"/>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9. </a:t>
            </a:r>
            <a:r>
              <a:rPr kumimoji="1" lang="ja-JP" altLang="en-US" sz="1100">
                <a:latin typeface="Yu Gothic UI" panose="020B0500000000000000" pitchFamily="34" charset="-128"/>
                <a:ea typeface="Yu Gothic UI" panose="020B0500000000000000" pitchFamily="34" charset="-128"/>
              </a:rPr>
              <a:t>第</a:t>
            </a:r>
            <a:r>
              <a:rPr kumimoji="1" lang="en-US" altLang="ja-JP" sz="1100" dirty="0">
                <a:latin typeface="Yu Gothic UI" panose="020B0500000000000000" pitchFamily="34" charset="-128"/>
                <a:ea typeface="Yu Gothic UI" panose="020B0500000000000000" pitchFamily="34" charset="-128"/>
              </a:rPr>
              <a:t>6</a:t>
            </a:r>
            <a:r>
              <a:rPr kumimoji="1" lang="ja-JP" altLang="en-US" sz="1100">
                <a:latin typeface="Yu Gothic UI" panose="020B0500000000000000" pitchFamily="34" charset="-128"/>
                <a:ea typeface="Yu Gothic UI" panose="020B0500000000000000" pitchFamily="34" charset="-128"/>
              </a:rPr>
              <a:t>回用パラメータ収集</a:t>
            </a:r>
          </a:p>
        </p:txBody>
      </p:sp>
      <p:sp>
        <p:nvSpPr>
          <p:cNvPr id="63" name="角丸四角形 62">
            <a:extLst>
              <a:ext uri="{FF2B5EF4-FFF2-40B4-BE49-F238E27FC236}">
                <a16:creationId xmlns:a16="http://schemas.microsoft.com/office/drawing/2014/main" id="{D5D0EB30-0E30-D772-740E-A5B8E94352E9}"/>
              </a:ext>
            </a:extLst>
          </p:cNvPr>
          <p:cNvSpPr/>
          <p:nvPr/>
        </p:nvSpPr>
        <p:spPr>
          <a:xfrm>
            <a:off x="6530821" y="269081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テキスト ボックス 63">
            <a:extLst>
              <a:ext uri="{FF2B5EF4-FFF2-40B4-BE49-F238E27FC236}">
                <a16:creationId xmlns:a16="http://schemas.microsoft.com/office/drawing/2014/main" id="{B221F768-2FE2-C46A-E0E0-4E42B274993D}"/>
              </a:ext>
            </a:extLst>
          </p:cNvPr>
          <p:cNvSpPr txBox="1"/>
          <p:nvPr/>
        </p:nvSpPr>
        <p:spPr>
          <a:xfrm>
            <a:off x="6530821" y="3048552"/>
            <a:ext cx="1312607" cy="461665"/>
          </a:xfrm>
          <a:prstGeom prst="rect">
            <a:avLst/>
          </a:prstGeom>
          <a:noFill/>
        </p:spPr>
        <p:txBody>
          <a:bodyPr wrap="square" rtlCol="0">
            <a:spAutoFit/>
          </a:bodyPr>
          <a:lstStyle/>
          <a:p>
            <a:r>
              <a:rPr kumimoji="1" lang="en-US" altLang="ja-JP" sz="1200" dirty="0">
                <a:latin typeface="Yu Gothic UI" panose="020B0500000000000000" pitchFamily="34" charset="-128"/>
                <a:ea typeface="Yu Gothic UI" panose="020B0500000000000000" pitchFamily="34" charset="-128"/>
              </a:rPr>
              <a:t>1. GitHub </a:t>
            </a:r>
            <a:r>
              <a:rPr kumimoji="1" lang="ja-JP" altLang="en-US" sz="1200">
                <a:latin typeface="Yu Gothic UI" panose="020B0500000000000000" pitchFamily="34" charset="-128"/>
                <a:ea typeface="Yu Gothic UI" panose="020B0500000000000000" pitchFamily="34" charset="-128"/>
              </a:rPr>
              <a:t>リポジトリ作成</a:t>
            </a:r>
          </a:p>
        </p:txBody>
      </p:sp>
      <p:pic>
        <p:nvPicPr>
          <p:cNvPr id="66" name="図 65">
            <a:extLst>
              <a:ext uri="{FF2B5EF4-FFF2-40B4-BE49-F238E27FC236}">
                <a16:creationId xmlns:a16="http://schemas.microsoft.com/office/drawing/2014/main" id="{EAF751F0-1047-956A-2FFC-7A719C9838C9}"/>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7045739" y="2763372"/>
            <a:ext cx="282770" cy="276999"/>
          </a:xfrm>
          <a:prstGeom prst="rect">
            <a:avLst/>
          </a:prstGeom>
        </p:spPr>
      </p:pic>
      <p:sp>
        <p:nvSpPr>
          <p:cNvPr id="67" name="角丸四角形 66">
            <a:extLst>
              <a:ext uri="{FF2B5EF4-FFF2-40B4-BE49-F238E27FC236}">
                <a16:creationId xmlns:a16="http://schemas.microsoft.com/office/drawing/2014/main" id="{DA6D9991-B71C-B4A2-1D47-D29F4ACC7584}"/>
              </a:ext>
            </a:extLst>
          </p:cNvPr>
          <p:cNvSpPr/>
          <p:nvPr/>
        </p:nvSpPr>
        <p:spPr>
          <a:xfrm>
            <a:off x="8052720" y="269314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4F1D9A84-B506-8BB4-7BE4-9B3114A6688C}"/>
              </a:ext>
            </a:extLst>
          </p:cNvPr>
          <p:cNvSpPr txBox="1"/>
          <p:nvPr/>
        </p:nvSpPr>
        <p:spPr>
          <a:xfrm>
            <a:off x="8052720" y="3050882"/>
            <a:ext cx="1312607" cy="461665"/>
          </a:xfrm>
          <a:prstGeom prst="rect">
            <a:avLst/>
          </a:prstGeom>
          <a:noFill/>
        </p:spPr>
        <p:txBody>
          <a:bodyPr wrap="square" rtlCol="0">
            <a:spAutoFit/>
          </a:bodyPr>
          <a:lstStyle/>
          <a:p>
            <a:r>
              <a:rPr kumimoji="1" lang="en-US" altLang="ja-JP" sz="1200" dirty="0">
                <a:latin typeface="Yu Gothic UI" panose="020B0500000000000000" pitchFamily="34" charset="-128"/>
                <a:ea typeface="Yu Gothic UI" panose="020B0500000000000000" pitchFamily="34" charset="-128"/>
              </a:rPr>
              <a:t>2. Service Principal </a:t>
            </a:r>
            <a:r>
              <a:rPr kumimoji="1" lang="ja-JP" altLang="en-US" sz="1200">
                <a:latin typeface="Yu Gothic UI" panose="020B0500000000000000" pitchFamily="34" charset="-128"/>
                <a:ea typeface="Yu Gothic UI" panose="020B0500000000000000" pitchFamily="34" charset="-128"/>
              </a:rPr>
              <a:t>の作成</a:t>
            </a:r>
          </a:p>
        </p:txBody>
      </p:sp>
      <p:pic>
        <p:nvPicPr>
          <p:cNvPr id="69" name="グラフィックス 68">
            <a:extLst>
              <a:ext uri="{FF2B5EF4-FFF2-40B4-BE49-F238E27FC236}">
                <a16:creationId xmlns:a16="http://schemas.microsoft.com/office/drawing/2014/main" id="{530A9E81-B652-3589-8693-15CD983C135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545931" y="2744259"/>
            <a:ext cx="326184" cy="326184"/>
          </a:xfrm>
          <a:prstGeom prst="rect">
            <a:avLst/>
          </a:prstGeom>
        </p:spPr>
      </p:pic>
      <p:sp>
        <p:nvSpPr>
          <p:cNvPr id="70" name="角丸四角形 69">
            <a:extLst>
              <a:ext uri="{FF2B5EF4-FFF2-40B4-BE49-F238E27FC236}">
                <a16:creationId xmlns:a16="http://schemas.microsoft.com/office/drawing/2014/main" id="{636EE162-3542-8CA4-C9DD-B15C60D5DF20}"/>
              </a:ext>
            </a:extLst>
          </p:cNvPr>
          <p:cNvSpPr/>
          <p:nvPr/>
        </p:nvSpPr>
        <p:spPr>
          <a:xfrm>
            <a:off x="9579636" y="2690812"/>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テキスト ボックス 70">
            <a:extLst>
              <a:ext uri="{FF2B5EF4-FFF2-40B4-BE49-F238E27FC236}">
                <a16:creationId xmlns:a16="http://schemas.microsoft.com/office/drawing/2014/main" id="{3C4A87C7-5C42-BDF7-25BA-1611DD73F437}"/>
              </a:ext>
            </a:extLst>
          </p:cNvPr>
          <p:cNvSpPr txBox="1"/>
          <p:nvPr/>
        </p:nvSpPr>
        <p:spPr>
          <a:xfrm>
            <a:off x="9579636" y="3048552"/>
            <a:ext cx="1312607" cy="553998"/>
          </a:xfrm>
          <a:prstGeom prst="rect">
            <a:avLst/>
          </a:prstGeom>
          <a:noFill/>
        </p:spPr>
        <p:txBody>
          <a:bodyPr wrap="square" rtlCol="0">
            <a:spAutoFit/>
          </a:bodyPr>
          <a:lstStyle/>
          <a:p>
            <a:r>
              <a:rPr kumimoji="1" lang="en-US" altLang="ja-JP" sz="1000" dirty="0">
                <a:latin typeface="Yu Gothic UI" panose="020B0500000000000000" pitchFamily="34" charset="-128"/>
                <a:ea typeface="Yu Gothic UI" panose="020B0500000000000000" pitchFamily="34" charset="-128"/>
              </a:rPr>
              <a:t>3. GitHub Actions </a:t>
            </a:r>
            <a:r>
              <a:rPr kumimoji="1" lang="ja-JP" altLang="en-US" sz="1000">
                <a:latin typeface="Yu Gothic UI" panose="020B0500000000000000" pitchFamily="34" charset="-128"/>
                <a:ea typeface="Yu Gothic UI" panose="020B0500000000000000" pitchFamily="34" charset="-128"/>
              </a:rPr>
              <a:t>変数、シークレット設定</a:t>
            </a:r>
          </a:p>
        </p:txBody>
      </p:sp>
      <p:pic>
        <p:nvPicPr>
          <p:cNvPr id="73" name="グラフィックス 72" descr="github-actions.svg">
            <a:extLst>
              <a:ext uri="{FF2B5EF4-FFF2-40B4-BE49-F238E27FC236}">
                <a16:creationId xmlns:a16="http://schemas.microsoft.com/office/drawing/2014/main" id="{35BACF20-D070-E007-75DD-A10BFD1E6B6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041830" y="2744259"/>
            <a:ext cx="304293" cy="304293"/>
          </a:xfrm>
          <a:prstGeom prst="rect">
            <a:avLst/>
          </a:prstGeom>
        </p:spPr>
      </p:pic>
      <p:sp>
        <p:nvSpPr>
          <p:cNvPr id="74" name="角丸四角形 73">
            <a:extLst>
              <a:ext uri="{FF2B5EF4-FFF2-40B4-BE49-F238E27FC236}">
                <a16:creationId xmlns:a16="http://schemas.microsoft.com/office/drawing/2014/main" id="{22D71E23-CA26-5F09-44EE-A133C8FA42A7}"/>
              </a:ext>
            </a:extLst>
          </p:cNvPr>
          <p:cNvSpPr/>
          <p:nvPr/>
        </p:nvSpPr>
        <p:spPr>
          <a:xfrm>
            <a:off x="6530821" y="3904700"/>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4F812C1A-D52A-9090-E82A-AD8D07A945DF}"/>
              </a:ext>
            </a:extLst>
          </p:cNvPr>
          <p:cNvSpPr txBox="1"/>
          <p:nvPr/>
        </p:nvSpPr>
        <p:spPr>
          <a:xfrm>
            <a:off x="6530821" y="4262440"/>
            <a:ext cx="1312607" cy="553998"/>
          </a:xfrm>
          <a:prstGeom prst="rect">
            <a:avLst/>
          </a:prstGeom>
          <a:noFill/>
        </p:spPr>
        <p:txBody>
          <a:bodyPr wrap="square" rtlCol="0">
            <a:spAutoFit/>
          </a:bodyPr>
          <a:lstStyle/>
          <a:p>
            <a:r>
              <a:rPr kumimoji="1" lang="en-US" altLang="ja-JP" sz="1000" dirty="0">
                <a:latin typeface="Yu Gothic UI" panose="020B0500000000000000" pitchFamily="34" charset="-128"/>
                <a:ea typeface="Yu Gothic UI" panose="020B0500000000000000" pitchFamily="34" charset="-128"/>
              </a:rPr>
              <a:t>4. GitHub Actions </a:t>
            </a:r>
            <a:r>
              <a:rPr kumimoji="1" lang="ja-JP" altLang="en-US" sz="1000">
                <a:latin typeface="Yu Gothic UI" panose="020B0500000000000000" pitchFamily="34" charset="-128"/>
                <a:ea typeface="Yu Gothic UI" panose="020B0500000000000000" pitchFamily="34" charset="-128"/>
              </a:rPr>
              <a:t>ワークフローファイル設定、実行</a:t>
            </a:r>
          </a:p>
        </p:txBody>
      </p:sp>
      <p:pic>
        <p:nvPicPr>
          <p:cNvPr id="76" name="グラフィックス 75" descr="github-actions.svg">
            <a:extLst>
              <a:ext uri="{FF2B5EF4-FFF2-40B4-BE49-F238E27FC236}">
                <a16:creationId xmlns:a16="http://schemas.microsoft.com/office/drawing/2014/main" id="{0B722725-D7B9-9234-0959-00F411F3E79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93015" y="3958147"/>
            <a:ext cx="304293" cy="304293"/>
          </a:xfrm>
          <a:prstGeom prst="rect">
            <a:avLst/>
          </a:prstGeom>
        </p:spPr>
      </p:pic>
      <p:sp>
        <p:nvSpPr>
          <p:cNvPr id="77" name="角丸四角形 76">
            <a:extLst>
              <a:ext uri="{FF2B5EF4-FFF2-40B4-BE49-F238E27FC236}">
                <a16:creationId xmlns:a16="http://schemas.microsoft.com/office/drawing/2014/main" id="{8D55C524-EEFD-0218-EDC2-0CEDFF5DECA2}"/>
              </a:ext>
            </a:extLst>
          </p:cNvPr>
          <p:cNvSpPr/>
          <p:nvPr/>
        </p:nvSpPr>
        <p:spPr>
          <a:xfrm>
            <a:off x="8052720" y="3912074"/>
            <a:ext cx="1312607" cy="861192"/>
          </a:xfrm>
          <a:prstGeom prst="roundRect">
            <a:avLst>
              <a:gd name="adj" fmla="val 5697"/>
            </a:avLst>
          </a:prstGeom>
          <a:no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ボックス 77">
            <a:extLst>
              <a:ext uri="{FF2B5EF4-FFF2-40B4-BE49-F238E27FC236}">
                <a16:creationId xmlns:a16="http://schemas.microsoft.com/office/drawing/2014/main" id="{E58BF02C-A7C6-BEAF-5A1D-87D7E16802D8}"/>
              </a:ext>
            </a:extLst>
          </p:cNvPr>
          <p:cNvSpPr txBox="1"/>
          <p:nvPr/>
        </p:nvSpPr>
        <p:spPr>
          <a:xfrm>
            <a:off x="8052720" y="4269814"/>
            <a:ext cx="1312607" cy="430887"/>
          </a:xfrm>
          <a:prstGeom prst="rect">
            <a:avLst/>
          </a:prstGeom>
          <a:noFill/>
        </p:spPr>
        <p:txBody>
          <a:bodyPr wrap="square" rtlCol="0">
            <a:spAutoFit/>
          </a:bodyPr>
          <a:lstStyle/>
          <a:p>
            <a:r>
              <a:rPr kumimoji="1" lang="en-US" altLang="ja-JP" sz="1100" dirty="0">
                <a:latin typeface="Yu Gothic UI" panose="020B0500000000000000" pitchFamily="34" charset="-128"/>
                <a:ea typeface="Yu Gothic UI" panose="020B0500000000000000" pitchFamily="34" charset="-128"/>
              </a:rPr>
              <a:t>5. </a:t>
            </a:r>
            <a:r>
              <a:rPr kumimoji="1" lang="ja-JP" altLang="en-US" sz="1100">
                <a:latin typeface="Yu Gothic UI" panose="020B0500000000000000" pitchFamily="34" charset="-128"/>
                <a:ea typeface="Yu Gothic UI" panose="020B0500000000000000" pitchFamily="34" charset="-128"/>
              </a:rPr>
              <a:t>ブラウザからアクセスし、動作確認</a:t>
            </a:r>
          </a:p>
        </p:txBody>
      </p:sp>
    </p:spTree>
    <p:extLst>
      <p:ext uri="{BB962C8B-B14F-4D97-AF65-F5344CB8AC3E}">
        <p14:creationId xmlns:p14="http://schemas.microsoft.com/office/powerpoint/2010/main" val="3756741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6A120C77-B455-4DD2-8E0C-FEA72F2707F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Azure Portal にサインイン</a:t>
            </a:r>
          </a:p>
        </p:txBody>
      </p:sp>
      <p:sp>
        <p:nvSpPr>
          <p:cNvPr id="2" name="正方形/長方形 1">
            <a:extLst>
              <a:ext uri="{FF2B5EF4-FFF2-40B4-BE49-F238E27FC236}">
                <a16:creationId xmlns:a16="http://schemas.microsoft.com/office/drawing/2014/main" id="{4C4F68BF-7BEC-4B37-A51A-CA12435F08D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4D632244-D870-4C99-A92E-326316824DF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EF52A8E-B7A6-438C-8121-1AFC1054B2EB}"/>
              </a:ext>
            </a:extLst>
          </p:cNvPr>
          <p:cNvSpPr>
            <a:spLocks noGrp="1"/>
          </p:cNvSpPr>
          <p:nvPr/>
        </p:nvSpPr>
        <p:spPr>
          <a:xfrm>
            <a:off x="685800" y="1390650"/>
            <a:ext cx="42100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a:solidFill>
                  <a:srgbClr val="344054"/>
                </a:solidFill>
                <a:latin typeface="Yu Gothic UI"/>
                <a:ea typeface="Yu Gothic UI"/>
                <a:cs typeface="Yu Gothic UI"/>
              </a:rPr>
              <a:t>講師が案内したアカウントで Azure Portal に入り、対象サブスクリプションが見えることを確認します。</a:t>
            </a:r>
          </a:p>
        </p:txBody>
      </p:sp>
      <p:sp>
        <p:nvSpPr>
          <p:cNvPr id="16" name="正方形/長方形 15">
            <a:extLst>
              <a:ext uri="{FF2B5EF4-FFF2-40B4-BE49-F238E27FC236}">
                <a16:creationId xmlns:a16="http://schemas.microsoft.com/office/drawing/2014/main" id="{A90E9E51-C810-2BA8-EF8F-65CE675B1F33}"/>
              </a:ext>
            </a:extLst>
          </p:cNvPr>
          <p:cNvSpPr>
            <a:spLocks noGrp="1"/>
          </p:cNvSpPr>
          <p:nvPr/>
        </p:nvSpPr>
        <p:spPr>
          <a:xfrm>
            <a:off x="800100" y="4133850"/>
            <a:ext cx="4095750" cy="1428750"/>
          </a:xfrm>
          <a:prstGeom prst="rect">
            <a:avLst/>
          </a:prstGeom>
          <a:solidFill>
            <a:srgbClr val="FFFFFF"/>
          </a:solidFill>
          <a:ln w="9525">
            <a:solidFill>
              <a:srgbClr val="D0D5DD"/>
            </a:solidFill>
            <a:prstDash val="solid"/>
          </a:ln>
        </p:spPr>
        <p:txBody>
          <a:bodyPr/>
          <a:lstStyle/>
          <a:p>
            <a:endParaRPr lang="ja-JP" altLang="en-US" sz="2400"/>
          </a:p>
        </p:txBody>
      </p:sp>
      <p:sp>
        <p:nvSpPr>
          <p:cNvPr id="17" name="正方形/長方形 16">
            <a:extLst>
              <a:ext uri="{FF2B5EF4-FFF2-40B4-BE49-F238E27FC236}">
                <a16:creationId xmlns:a16="http://schemas.microsoft.com/office/drawing/2014/main" id="{EE26DE5C-7353-7CF6-D2FD-5F4243BD84BA}"/>
              </a:ext>
            </a:extLst>
          </p:cNvPr>
          <p:cNvSpPr>
            <a:spLocks noGrp="1"/>
          </p:cNvSpPr>
          <p:nvPr/>
        </p:nvSpPr>
        <p:spPr>
          <a:xfrm>
            <a:off x="800100" y="4133850"/>
            <a:ext cx="76200" cy="1428750"/>
          </a:xfrm>
          <a:prstGeom prst="rect">
            <a:avLst/>
          </a:prstGeom>
          <a:solidFill>
            <a:srgbClr val="70AD47"/>
          </a:solidFill>
          <a:ln w="0">
            <a:solidFill>
              <a:srgbClr val="70AD47"/>
            </a:solidFill>
            <a:prstDash val="solid"/>
          </a:ln>
        </p:spPr>
        <p:txBody>
          <a:bodyPr/>
          <a:lstStyle/>
          <a:p>
            <a:endParaRPr lang="ja-JP" altLang="en-US" sz="2400"/>
          </a:p>
        </p:txBody>
      </p:sp>
      <p:sp>
        <p:nvSpPr>
          <p:cNvPr id="18" name="正方形/長方形 17">
            <a:extLst>
              <a:ext uri="{FF2B5EF4-FFF2-40B4-BE49-F238E27FC236}">
                <a16:creationId xmlns:a16="http://schemas.microsoft.com/office/drawing/2014/main" id="{72B66407-F103-4A80-D8A8-49A7FC394946}"/>
              </a:ext>
            </a:extLst>
          </p:cNvPr>
          <p:cNvSpPr>
            <a:spLocks noGrp="1"/>
          </p:cNvSpPr>
          <p:nvPr/>
        </p:nvSpPr>
        <p:spPr>
          <a:xfrm>
            <a:off x="1009650" y="4286250"/>
            <a:ext cx="3695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70AD47"/>
                </a:solidFill>
                <a:latin typeface="Yu Gothic UI"/>
                <a:ea typeface="Yu Gothic UI"/>
                <a:cs typeface="Yu Gothic UI"/>
              </a:defRPr>
            </a:pPr>
            <a:r>
              <a:rPr sz="900" b="1" dirty="0" err="1">
                <a:solidFill>
                  <a:srgbClr val="70AD47"/>
                </a:solidFill>
                <a:latin typeface="Yu Gothic UI"/>
                <a:ea typeface="Yu Gothic UI"/>
                <a:cs typeface="Yu Gothic UI"/>
              </a:rPr>
              <a:t>確認</a:t>
            </a:r>
            <a:r>
              <a:rPr lang="ja-JP" altLang="en-US" sz="900" b="1">
                <a:solidFill>
                  <a:srgbClr val="70AD47"/>
                </a:solidFill>
                <a:latin typeface="Yu Gothic UI"/>
                <a:ea typeface="Yu Gothic UI"/>
                <a:cs typeface="Yu Gothic UI"/>
              </a:rPr>
              <a:t>項目</a:t>
            </a:r>
            <a:endParaRPr sz="900" b="1" dirty="0">
              <a:solidFill>
                <a:srgbClr val="70AD47"/>
              </a:solidFill>
              <a:latin typeface="Yu Gothic UI"/>
              <a:ea typeface="Yu Gothic UI"/>
              <a:cs typeface="Yu Gothic UI"/>
            </a:endParaRPr>
          </a:p>
        </p:txBody>
      </p:sp>
      <p:sp>
        <p:nvSpPr>
          <p:cNvPr id="19" name="正方形/長方形 18">
            <a:extLst>
              <a:ext uri="{FF2B5EF4-FFF2-40B4-BE49-F238E27FC236}">
                <a16:creationId xmlns:a16="http://schemas.microsoft.com/office/drawing/2014/main" id="{FB446E83-9B09-81EB-1455-4F5D95CDD6A1}"/>
              </a:ext>
            </a:extLst>
          </p:cNvPr>
          <p:cNvSpPr>
            <a:spLocks noGrp="1"/>
          </p:cNvSpPr>
          <p:nvPr/>
        </p:nvSpPr>
        <p:spPr>
          <a:xfrm>
            <a:off x="1009650" y="4533900"/>
            <a:ext cx="36957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38" b="1">
                <a:solidFill>
                  <a:srgbClr val="1F2937"/>
                </a:solidFill>
                <a:latin typeface="Meiryo UI"/>
                <a:ea typeface="Meiryo UI"/>
                <a:cs typeface="Meiryo UI"/>
              </a:defRPr>
            </a:pPr>
            <a:r>
              <a:rPr sz="1600" b="1">
                <a:solidFill>
                  <a:srgbClr val="1F2937"/>
                </a:solidFill>
                <a:latin typeface="Meiryo UI"/>
                <a:ea typeface="Meiryo UI"/>
                <a:cs typeface="Meiryo UI"/>
              </a:rPr>
              <a:t>作業するサブスクリプション</a:t>
            </a:r>
          </a:p>
        </p:txBody>
      </p:sp>
      <p:sp>
        <p:nvSpPr>
          <p:cNvPr id="20" name="正方形/長方形 19">
            <a:extLst>
              <a:ext uri="{FF2B5EF4-FFF2-40B4-BE49-F238E27FC236}">
                <a16:creationId xmlns:a16="http://schemas.microsoft.com/office/drawing/2014/main" id="{70BF39B3-C1C1-C874-93E2-CBED7091D4A7}"/>
              </a:ext>
            </a:extLst>
          </p:cNvPr>
          <p:cNvSpPr>
            <a:spLocks noGrp="1"/>
          </p:cNvSpPr>
          <p:nvPr/>
        </p:nvSpPr>
        <p:spPr>
          <a:xfrm>
            <a:off x="1009650" y="4933950"/>
            <a:ext cx="36957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70" b="0">
                <a:solidFill>
                  <a:srgbClr val="344054"/>
                </a:solidFill>
                <a:latin typeface="Yu Gothic UI"/>
                <a:ea typeface="Yu Gothic UI"/>
                <a:cs typeface="Yu Gothic UI"/>
              </a:defRPr>
            </a:pPr>
            <a:r>
              <a:rPr sz="1000" b="0">
                <a:solidFill>
                  <a:srgbClr val="344054"/>
                </a:solidFill>
                <a:latin typeface="Yu Gothic UI"/>
                <a:ea typeface="Yu Gothic UI"/>
                <a:cs typeface="Yu Gothic UI"/>
              </a:rPr>
              <a:t>個人の別アカウントで入っていないか、対象サブスクリプションが表示されているかを先に確認します。</a:t>
            </a:r>
          </a:p>
        </p:txBody>
      </p:sp>
      <p:sp>
        <p:nvSpPr>
          <p:cNvPr id="21" name="正方形/長方形 20">
            <a:extLst>
              <a:ext uri="{FF2B5EF4-FFF2-40B4-BE49-F238E27FC236}">
                <a16:creationId xmlns:a16="http://schemas.microsoft.com/office/drawing/2014/main" id="{E7F21E16-84B7-3C5B-C7E6-B04BE66E400F}"/>
              </a:ext>
            </a:extLst>
          </p:cNvPr>
          <p:cNvSpPr>
            <a:spLocks noGrp="1"/>
          </p:cNvSpPr>
          <p:nvPr/>
        </p:nvSpPr>
        <p:spPr>
          <a:xfrm>
            <a:off x="5648634" y="1684850"/>
            <a:ext cx="5981700" cy="3886200"/>
          </a:xfrm>
          <a:prstGeom prst="rect">
            <a:avLst/>
          </a:prstGeom>
          <a:solidFill>
            <a:srgbClr val="FFFFFF"/>
          </a:solidFill>
          <a:ln w="9525">
            <a:solidFill>
              <a:srgbClr val="D0D5DD"/>
            </a:solidFill>
            <a:prstDash val="solid"/>
          </a:ln>
        </p:spPr>
        <p:txBody>
          <a:bodyPr/>
          <a:lstStyle/>
          <a:p>
            <a:endParaRPr lang="ja-JP" altLang="en-US"/>
          </a:p>
        </p:txBody>
      </p:sp>
      <p:pic>
        <p:nvPicPr>
          <p:cNvPr id="22" name="図 21">
            <a:extLst>
              <a:ext uri="{FF2B5EF4-FFF2-40B4-BE49-F238E27FC236}">
                <a16:creationId xmlns:a16="http://schemas.microsoft.com/office/drawing/2014/main" id="{23EBCE7E-F9CF-7FF3-AD48-6F4CE5FD972E}"/>
              </a:ext>
            </a:extLst>
          </p:cNvPr>
          <p:cNvPicPr>
            <a:picLocks noChangeAspect="1"/>
          </p:cNvPicPr>
          <p:nvPr/>
        </p:nvPicPr>
        <p:blipFill>
          <a:blip r:embed="rId3" cstate="screen">
            <a:extLst>
              <a:ext uri="{28A0092B-C50C-407E-A947-70E740481C1C}">
                <a14:useLocalDpi xmlns:a14="http://schemas.microsoft.com/office/drawing/2010/main"/>
              </a:ext>
            </a:extLst>
          </a:blip>
          <a:stretch/>
        </p:blipFill>
        <p:spPr>
          <a:xfrm>
            <a:off x="5781984" y="1887256"/>
            <a:ext cx="5715000" cy="3214688"/>
          </a:xfrm>
          <a:prstGeom prst="rect">
            <a:avLst/>
          </a:prstGeom>
        </p:spPr>
      </p:pic>
      <p:sp>
        <p:nvSpPr>
          <p:cNvPr id="23" name="正方形/長方形 22">
            <a:extLst>
              <a:ext uri="{FF2B5EF4-FFF2-40B4-BE49-F238E27FC236}">
                <a16:creationId xmlns:a16="http://schemas.microsoft.com/office/drawing/2014/main" id="{23C6D920-8D1C-7C41-0109-77C41406CA66}"/>
              </a:ext>
            </a:extLst>
          </p:cNvPr>
          <p:cNvSpPr>
            <a:spLocks noGrp="1"/>
          </p:cNvSpPr>
          <p:nvPr/>
        </p:nvSpPr>
        <p:spPr>
          <a:xfrm>
            <a:off x="5839134" y="522815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Azure Portal で対象サブスクリプションを確認する</a:t>
            </a:r>
          </a:p>
        </p:txBody>
      </p:sp>
      <p:sp>
        <p:nvSpPr>
          <p:cNvPr id="24" name="テキスト ボックス 23">
            <a:extLst>
              <a:ext uri="{FF2B5EF4-FFF2-40B4-BE49-F238E27FC236}">
                <a16:creationId xmlns:a16="http://schemas.microsoft.com/office/drawing/2014/main" id="{9C9FE21C-70F3-EF91-645B-338C50DB013B}"/>
              </a:ext>
            </a:extLst>
          </p:cNvPr>
          <p:cNvSpPr txBox="1"/>
          <p:nvPr/>
        </p:nvSpPr>
        <p:spPr>
          <a:xfrm>
            <a:off x="561666" y="2095500"/>
            <a:ext cx="5632655" cy="646331"/>
          </a:xfrm>
          <a:prstGeom prst="rect">
            <a:avLst/>
          </a:prstGeom>
          <a:noFill/>
        </p:spPr>
        <p:txBody>
          <a:bodyPr wrap="square" rtlCol="0">
            <a:spAutoFit/>
          </a:bodyPr>
          <a:lstStyle/>
          <a:p>
            <a:r>
              <a:rPr kumimoji="1" lang="ja-JP" altLang="en-US">
                <a:latin typeface="Yu Gothic UI" panose="020B0500000000000000" pitchFamily="34" charset="-128"/>
                <a:ea typeface="Yu Gothic UI" panose="020B0500000000000000" pitchFamily="34" charset="-128"/>
              </a:rPr>
              <a:t>アクセス先</a:t>
            </a:r>
            <a:r>
              <a:rPr kumimoji="1" lang="en-US" altLang="ja-JP" dirty="0">
                <a:latin typeface="Yu Gothic UI" panose="020B0500000000000000" pitchFamily="34" charset="-128"/>
                <a:ea typeface="Yu Gothic UI" panose="020B0500000000000000" pitchFamily="34" charset="-128"/>
              </a:rPr>
              <a:t>: </a:t>
            </a:r>
            <a:r>
              <a:rPr kumimoji="1" lang="en-US" altLang="ja-JP" dirty="0">
                <a:latin typeface="Yu Gothic UI" panose="020B0500000000000000" pitchFamily="34" charset="-128"/>
                <a:ea typeface="Yu Gothic UI" panose="020B0500000000000000" pitchFamily="34" charset="-128"/>
                <a:hlinkClick r:id="rId4"/>
              </a:rPr>
              <a:t>Azure Portal</a:t>
            </a:r>
            <a:r>
              <a:rPr kumimoji="1" lang="en-US" altLang="ja-JP" dirty="0">
                <a:latin typeface="Yu Gothic UI" panose="020B0500000000000000" pitchFamily="34" charset="-128"/>
                <a:ea typeface="Yu Gothic UI" panose="020B0500000000000000" pitchFamily="34" charset="-128"/>
              </a:rPr>
              <a:t> (</a:t>
            </a:r>
            <a:r>
              <a:rPr kumimoji="1" lang="en-US" altLang="ja-JP" dirty="0">
                <a:latin typeface="Yu Gothic UI" panose="020B0500000000000000" pitchFamily="34" charset="-128"/>
                <a:ea typeface="Yu Gothic UI" panose="020B0500000000000000" pitchFamily="34" charset="-128"/>
                <a:hlinkClick r:id="rId4"/>
              </a:rPr>
              <a:t>https://portal.azure.com</a:t>
            </a:r>
            <a:r>
              <a:rPr kumimoji="1" lang="en-US" altLang="ja-JP" dirty="0">
                <a:latin typeface="Yu Gothic UI" panose="020B0500000000000000" pitchFamily="34" charset="-128"/>
                <a:ea typeface="Yu Gothic UI" panose="020B0500000000000000" pitchFamily="34" charset="-128"/>
              </a:rPr>
              <a:t>)</a:t>
            </a:r>
          </a:p>
          <a:p>
            <a:r>
              <a:rPr kumimoji="1" lang="ja-JP" altLang="en-US">
                <a:latin typeface="Yu Gothic UI" panose="020B0500000000000000" pitchFamily="34" charset="-128"/>
                <a:ea typeface="Yu Gothic UI" panose="020B0500000000000000" pitchFamily="34" charset="-128"/>
              </a:rPr>
              <a:t>ログイン</a:t>
            </a:r>
            <a:r>
              <a:rPr kumimoji="1" lang="en-US" altLang="ja-JP" dirty="0">
                <a:latin typeface="Yu Gothic UI" panose="020B0500000000000000" pitchFamily="34" charset="-128"/>
                <a:ea typeface="Yu Gothic UI" panose="020B0500000000000000" pitchFamily="34" charset="-128"/>
              </a:rPr>
              <a:t> ID/</a:t>
            </a:r>
            <a:r>
              <a:rPr kumimoji="1" lang="ja-JP" altLang="en-US">
                <a:latin typeface="Yu Gothic UI" panose="020B0500000000000000" pitchFamily="34" charset="-128"/>
                <a:ea typeface="Yu Gothic UI" panose="020B0500000000000000" pitchFamily="34" charset="-128"/>
              </a:rPr>
              <a:t>パスワードは講師の案内を参照</a:t>
            </a:r>
          </a:p>
        </p:txBody>
      </p:sp>
    </p:spTree>
    <p:extLst>
      <p:ext uri="{BB962C8B-B14F-4D97-AF65-F5344CB8AC3E}">
        <p14:creationId xmlns:p14="http://schemas.microsoft.com/office/powerpoint/2010/main" val="1685417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653194F8-0DD0-4B7A-B922-C005CB1C8208}"/>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リソースグループを作成する</a:t>
            </a:r>
          </a:p>
        </p:txBody>
      </p:sp>
      <p:sp>
        <p:nvSpPr>
          <p:cNvPr id="2" name="正方形/長方形 1">
            <a:extLst>
              <a:ext uri="{FF2B5EF4-FFF2-40B4-BE49-F238E27FC236}">
                <a16:creationId xmlns:a16="http://schemas.microsoft.com/office/drawing/2014/main" id="{F87B6B67-ABBB-4798-AC69-92B461DBCB1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B5487F74-9960-4118-8311-06D27235C52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D9AB093-A099-48EB-A117-0B416510E66A}"/>
              </a:ext>
            </a:extLst>
          </p:cNvPr>
          <p:cNvSpPr>
            <a:spLocks noGrp="1"/>
          </p:cNvSpPr>
          <p:nvPr/>
        </p:nvSpPr>
        <p:spPr>
          <a:xfrm>
            <a:off x="685800" y="1390650"/>
            <a:ext cx="11280058"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本回で作る VM、ネットワーク、ディスクをまとめる入れ物として、受講者ごとのリソースグループを作成します。</a:t>
            </a:r>
          </a:p>
        </p:txBody>
      </p:sp>
      <p:sp>
        <p:nvSpPr>
          <p:cNvPr id="7" name="正方形/長方形 6">
            <a:extLst>
              <a:ext uri="{FF2B5EF4-FFF2-40B4-BE49-F238E27FC236}">
                <a16:creationId xmlns:a16="http://schemas.microsoft.com/office/drawing/2014/main" id="{336A7796-7127-43CD-A8F3-16724DAE9F11}"/>
              </a:ext>
            </a:extLst>
          </p:cNvPr>
          <p:cNvSpPr>
            <a:spLocks noGrp="1"/>
          </p:cNvSpPr>
          <p:nvPr/>
        </p:nvSpPr>
        <p:spPr>
          <a:xfrm>
            <a:off x="550606" y="2157412"/>
            <a:ext cx="10936544" cy="3886200"/>
          </a:xfrm>
          <a:prstGeom prst="rect">
            <a:avLst/>
          </a:prstGeom>
          <a:solidFill>
            <a:srgbClr val="FFFFFF"/>
          </a:solidFill>
          <a:ln w="9525">
            <a:solidFill>
              <a:srgbClr val="D0D5DD"/>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B46FF994-9442-459F-8D38-013EBD5D91AA}"/>
              </a:ext>
            </a:extLst>
          </p:cNvPr>
          <p:cNvSpPr>
            <a:spLocks noGrp="1"/>
          </p:cNvSpPr>
          <p:nvPr/>
        </p:nvSpPr>
        <p:spPr>
          <a:xfrm>
            <a:off x="5695950" y="5700712"/>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リソースグループを作成する</a:t>
            </a:r>
          </a:p>
        </p:txBody>
      </p:sp>
      <p:pic>
        <p:nvPicPr>
          <p:cNvPr id="14" name="図 13">
            <a:extLst>
              <a:ext uri="{FF2B5EF4-FFF2-40B4-BE49-F238E27FC236}">
                <a16:creationId xmlns:a16="http://schemas.microsoft.com/office/drawing/2014/main" id="{78EC4C13-54FA-2821-25FC-D67E17C3464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5800" y="2286000"/>
            <a:ext cx="5010150" cy="3131344"/>
          </a:xfrm>
          <a:prstGeom prst="rect">
            <a:avLst/>
          </a:prstGeom>
        </p:spPr>
      </p:pic>
      <p:sp>
        <p:nvSpPr>
          <p:cNvPr id="15" name="正方形/長方形 14">
            <a:extLst>
              <a:ext uri="{FF2B5EF4-FFF2-40B4-BE49-F238E27FC236}">
                <a16:creationId xmlns:a16="http://schemas.microsoft.com/office/drawing/2014/main" id="{6C0C607D-8624-9410-5E53-E9C770575369}"/>
              </a:ext>
            </a:extLst>
          </p:cNvPr>
          <p:cNvSpPr/>
          <p:nvPr/>
        </p:nvSpPr>
        <p:spPr>
          <a:xfrm>
            <a:off x="2212258" y="2247131"/>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3F098F2C-B283-D848-DF80-B7B897FF1895}"/>
              </a:ext>
            </a:extLst>
          </p:cNvPr>
          <p:cNvSpPr/>
          <p:nvPr/>
        </p:nvSpPr>
        <p:spPr>
          <a:xfrm>
            <a:off x="2212258" y="2684513"/>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E68BC299-C6BA-9535-E820-55746D1EA8E1}"/>
              </a:ext>
            </a:extLst>
          </p:cNvPr>
          <p:cNvSpPr/>
          <p:nvPr/>
        </p:nvSpPr>
        <p:spPr>
          <a:xfrm>
            <a:off x="3018503" y="1666875"/>
            <a:ext cx="2025507" cy="434616"/>
          </a:xfrm>
          <a:prstGeom prst="wedgeRectCallout">
            <a:avLst>
              <a:gd name="adj1" fmla="val -26173"/>
              <a:gd name="adj2" fmla="val 6702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検索バーで「リソースグループ」を選択</a:t>
            </a:r>
          </a:p>
        </p:txBody>
      </p:sp>
      <p:sp>
        <p:nvSpPr>
          <p:cNvPr id="18" name="四角形吹き出し 17">
            <a:extLst>
              <a:ext uri="{FF2B5EF4-FFF2-40B4-BE49-F238E27FC236}">
                <a16:creationId xmlns:a16="http://schemas.microsoft.com/office/drawing/2014/main" id="{B7399C39-9470-13DA-33D0-5A6FDC8F66F1}"/>
              </a:ext>
            </a:extLst>
          </p:cNvPr>
          <p:cNvSpPr/>
          <p:nvPr/>
        </p:nvSpPr>
        <p:spPr>
          <a:xfrm>
            <a:off x="3387212" y="3136645"/>
            <a:ext cx="2025507" cy="434616"/>
          </a:xfrm>
          <a:prstGeom prst="wedgeRectCallout">
            <a:avLst>
              <a:gd name="adj1" fmla="val -52386"/>
              <a:gd name="adj2" fmla="val -935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「リソースグループ」を選択</a:t>
            </a:r>
          </a:p>
        </p:txBody>
      </p:sp>
      <p:pic>
        <p:nvPicPr>
          <p:cNvPr id="19" name="図 18">
            <a:extLst>
              <a:ext uri="{FF2B5EF4-FFF2-40B4-BE49-F238E27FC236}">
                <a16:creationId xmlns:a16="http://schemas.microsoft.com/office/drawing/2014/main" id="{EBBD5602-15AE-7B0C-4D8E-486753A7896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176196" y="2285924"/>
            <a:ext cx="5010152" cy="3131345"/>
          </a:xfrm>
          <a:prstGeom prst="rect">
            <a:avLst/>
          </a:prstGeom>
        </p:spPr>
      </p:pic>
      <p:sp>
        <p:nvSpPr>
          <p:cNvPr id="20" name="正方形/長方形 19">
            <a:extLst>
              <a:ext uri="{FF2B5EF4-FFF2-40B4-BE49-F238E27FC236}">
                <a16:creationId xmlns:a16="http://schemas.microsoft.com/office/drawing/2014/main" id="{9F991474-E19A-9EB6-4F88-E081B1A7D4DC}"/>
              </a:ext>
            </a:extLst>
          </p:cNvPr>
          <p:cNvSpPr/>
          <p:nvPr/>
        </p:nvSpPr>
        <p:spPr>
          <a:xfrm>
            <a:off x="7143135" y="2684514"/>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CFE5FFAF-B200-C84A-7F85-F03DD374B521}"/>
              </a:ext>
            </a:extLst>
          </p:cNvPr>
          <p:cNvSpPr/>
          <p:nvPr/>
        </p:nvSpPr>
        <p:spPr>
          <a:xfrm>
            <a:off x="6858000" y="1823348"/>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4116125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B3897-5282-67A2-1C66-66B593DDEF89}"/>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237A2E39-868E-099A-E8DC-083B9E562845}"/>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リソースグループを作成する</a:t>
            </a:r>
          </a:p>
        </p:txBody>
      </p:sp>
      <p:sp>
        <p:nvSpPr>
          <p:cNvPr id="2" name="正方形/長方形 1">
            <a:extLst>
              <a:ext uri="{FF2B5EF4-FFF2-40B4-BE49-F238E27FC236}">
                <a16:creationId xmlns:a16="http://schemas.microsoft.com/office/drawing/2014/main" id="{32E4FF9D-6AFD-BE56-8B7E-3C45754AB35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29D2DF52-320A-06DD-E0BA-4A8D0E3A191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D18DD0F-B123-1D80-9F73-570DD1E8BD97}"/>
              </a:ext>
            </a:extLst>
          </p:cNvPr>
          <p:cNvSpPr>
            <a:spLocks noGrp="1"/>
          </p:cNvSpPr>
          <p:nvPr/>
        </p:nvSpPr>
        <p:spPr>
          <a:xfrm>
            <a:off x="685800" y="1390650"/>
            <a:ext cx="108013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10" b="0">
                <a:solidFill>
                  <a:srgbClr val="344054"/>
                </a:solidFill>
                <a:latin typeface="Yu Gothic UI"/>
                <a:ea typeface="Yu Gothic UI"/>
                <a:cs typeface="Yu Gothic UI"/>
              </a:defRPr>
            </a:pPr>
            <a:r>
              <a:rPr sz="1110" b="0" dirty="0" err="1">
                <a:solidFill>
                  <a:srgbClr val="344054"/>
                </a:solidFill>
                <a:latin typeface="Yu Gothic UI"/>
                <a:ea typeface="Yu Gothic UI"/>
                <a:cs typeface="Yu Gothic UI"/>
              </a:rPr>
              <a:t>本回で作る</a:t>
            </a:r>
            <a:r>
              <a:rPr sz="1110" b="0" dirty="0">
                <a:solidFill>
                  <a:srgbClr val="344054"/>
                </a:solidFill>
                <a:latin typeface="Yu Gothic UI"/>
                <a:ea typeface="Yu Gothic UI"/>
                <a:cs typeface="Yu Gothic UI"/>
              </a:rPr>
              <a:t> </a:t>
            </a:r>
            <a:r>
              <a:rPr lang="en-US" sz="1110" dirty="0">
                <a:solidFill>
                  <a:srgbClr val="344054"/>
                </a:solidFill>
                <a:latin typeface="Yu Gothic UI"/>
                <a:ea typeface="Yu Gothic UI"/>
                <a:cs typeface="Yu Gothic UI"/>
              </a:rPr>
              <a:t>ACI </a:t>
            </a:r>
            <a:r>
              <a:rPr lang="en-US" sz="1110" dirty="0" err="1">
                <a:solidFill>
                  <a:srgbClr val="344054"/>
                </a:solidFill>
                <a:latin typeface="Yu Gothic UI"/>
                <a:ea typeface="Yu Gothic UI"/>
                <a:cs typeface="Yu Gothic UI"/>
              </a:rPr>
              <a:t>の論理的な</a:t>
            </a:r>
            <a:r>
              <a:rPr sz="1110" b="0" dirty="0" err="1">
                <a:solidFill>
                  <a:srgbClr val="344054"/>
                </a:solidFill>
                <a:latin typeface="Yu Gothic UI"/>
                <a:ea typeface="Yu Gothic UI"/>
                <a:cs typeface="Yu Gothic UI"/>
              </a:rPr>
              <a:t>入れ物として、受講者ごとのリソースグループを作成します</a:t>
            </a:r>
            <a:r>
              <a:rPr sz="1110" b="0" dirty="0">
                <a:solidFill>
                  <a:srgbClr val="344054"/>
                </a:solidFill>
                <a:latin typeface="Yu Gothic UI"/>
                <a:ea typeface="Yu Gothic UI"/>
                <a:cs typeface="Yu Gothic UI"/>
              </a:rPr>
              <a:t>。</a:t>
            </a:r>
          </a:p>
        </p:txBody>
      </p:sp>
      <p:sp>
        <p:nvSpPr>
          <p:cNvPr id="7" name="正方形/長方形 6">
            <a:extLst>
              <a:ext uri="{FF2B5EF4-FFF2-40B4-BE49-F238E27FC236}">
                <a16:creationId xmlns:a16="http://schemas.microsoft.com/office/drawing/2014/main" id="{EC9E3CC3-F5EF-85B0-5709-6CC213545C87}"/>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8" name="図 7">
            <a:extLst>
              <a:ext uri="{FF2B5EF4-FFF2-40B4-BE49-F238E27FC236}">
                <a16:creationId xmlns:a16="http://schemas.microsoft.com/office/drawing/2014/main" id="{C0182728-E8F1-CB8E-0FD4-CE4B7D51EC06}"/>
              </a:ext>
            </a:extLst>
          </p:cNvPr>
          <p:cNvPicPr>
            <a:picLocks noChangeAspect="1"/>
          </p:cNvPicPr>
          <p:nvPr/>
        </p:nvPicPr>
        <p:blipFill>
          <a:blip r:embed="rId3" cstate="screen">
            <a:extLst>
              <a:ext uri="{28A0092B-C50C-407E-A947-70E740481C1C}">
                <a14:useLocalDpi xmlns:a14="http://schemas.microsoft.com/office/drawing/2010/main"/>
              </a:ext>
            </a:extLst>
          </a:blip>
          <a:stretch/>
        </p:blipFill>
        <p:spPr>
          <a:xfrm>
            <a:off x="644256" y="2300288"/>
            <a:ext cx="5364480" cy="3352800"/>
          </a:xfrm>
          <a:prstGeom prst="rect">
            <a:avLst/>
          </a:prstGeom>
        </p:spPr>
      </p:pic>
      <p:sp>
        <p:nvSpPr>
          <p:cNvPr id="9" name="正方形/長方形 8">
            <a:extLst>
              <a:ext uri="{FF2B5EF4-FFF2-40B4-BE49-F238E27FC236}">
                <a16:creationId xmlns:a16="http://schemas.microsoft.com/office/drawing/2014/main" id="{BEC201F1-D844-20C7-A4FB-C1DC9F3839DB}"/>
              </a:ext>
            </a:extLst>
          </p:cNvPr>
          <p:cNvSpPr>
            <a:spLocks noGrp="1"/>
          </p:cNvSpPr>
          <p:nvPr/>
        </p:nvSpPr>
        <p:spPr>
          <a:xfrm>
            <a:off x="644256" y="5715000"/>
            <a:ext cx="536448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リソースグループを作成する</a:t>
            </a:r>
          </a:p>
        </p:txBody>
      </p:sp>
      <p:sp>
        <p:nvSpPr>
          <p:cNvPr id="6" name="正方形/長方形 5">
            <a:extLst>
              <a:ext uri="{FF2B5EF4-FFF2-40B4-BE49-F238E27FC236}">
                <a16:creationId xmlns:a16="http://schemas.microsoft.com/office/drawing/2014/main" id="{DB60F723-233B-21F3-A81A-B886C16DFB74}"/>
              </a:ext>
            </a:extLst>
          </p:cNvPr>
          <p:cNvSpPr/>
          <p:nvPr/>
        </p:nvSpPr>
        <p:spPr>
          <a:xfrm>
            <a:off x="1613225" y="3269380"/>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20C9F0FD-0DB8-1712-E446-57A2E56A65FE}"/>
              </a:ext>
            </a:extLst>
          </p:cNvPr>
          <p:cNvSpPr/>
          <p:nvPr/>
        </p:nvSpPr>
        <p:spPr>
          <a:xfrm>
            <a:off x="2109262" y="2510300"/>
            <a:ext cx="3545513" cy="434616"/>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13" name="正方形/長方形 12">
            <a:extLst>
              <a:ext uri="{FF2B5EF4-FFF2-40B4-BE49-F238E27FC236}">
                <a16:creationId xmlns:a16="http://schemas.microsoft.com/office/drawing/2014/main" id="{4F755CE0-B07E-8A75-D71C-A008EAC1C4E2}"/>
              </a:ext>
            </a:extLst>
          </p:cNvPr>
          <p:cNvSpPr/>
          <p:nvPr/>
        </p:nvSpPr>
        <p:spPr>
          <a:xfrm>
            <a:off x="1613532" y="3441444"/>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40C932BD-9473-510A-8967-AE006FBB262E}"/>
              </a:ext>
            </a:extLst>
          </p:cNvPr>
          <p:cNvSpPr/>
          <p:nvPr/>
        </p:nvSpPr>
        <p:spPr>
          <a:xfrm>
            <a:off x="3540839" y="3428827"/>
            <a:ext cx="2113936" cy="686299"/>
          </a:xfrm>
          <a:prstGeom prst="wedgeRectCallout">
            <a:avLst>
              <a:gd name="adj1" fmla="val -55293"/>
              <a:gd name="adj2" fmla="val -3772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講師から指示された参加者ごとのリソースグループ名を入力</a:t>
            </a:r>
          </a:p>
        </p:txBody>
      </p:sp>
      <p:sp>
        <p:nvSpPr>
          <p:cNvPr id="19" name="正方形/長方形 18">
            <a:extLst>
              <a:ext uri="{FF2B5EF4-FFF2-40B4-BE49-F238E27FC236}">
                <a16:creationId xmlns:a16="http://schemas.microsoft.com/office/drawing/2014/main" id="{DCA2FC75-0F8E-E743-7D1E-E9D78A549775}"/>
              </a:ext>
            </a:extLst>
          </p:cNvPr>
          <p:cNvSpPr/>
          <p:nvPr/>
        </p:nvSpPr>
        <p:spPr>
          <a:xfrm>
            <a:off x="1623057" y="3600987"/>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EC462792-2CA8-B1D3-2270-B0E412387F4E}"/>
              </a:ext>
            </a:extLst>
          </p:cNvPr>
          <p:cNvSpPr/>
          <p:nvPr/>
        </p:nvSpPr>
        <p:spPr>
          <a:xfrm>
            <a:off x="2387086" y="4252373"/>
            <a:ext cx="3267690" cy="434616"/>
          </a:xfrm>
          <a:prstGeom prst="wedgeRectCallout">
            <a:avLst>
              <a:gd name="adj1" fmla="val -42393"/>
              <a:gd name="adj2" fmla="val -1411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21" name="正方形/長方形 20">
            <a:extLst>
              <a:ext uri="{FF2B5EF4-FFF2-40B4-BE49-F238E27FC236}">
                <a16:creationId xmlns:a16="http://schemas.microsoft.com/office/drawing/2014/main" id="{BB58DDE8-A084-2BA2-1E48-C1C4A93B6732}"/>
              </a:ext>
            </a:extLst>
          </p:cNvPr>
          <p:cNvSpPr/>
          <p:nvPr/>
        </p:nvSpPr>
        <p:spPr>
          <a:xfrm>
            <a:off x="1303509" y="5444228"/>
            <a:ext cx="664906" cy="22606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吹き出し 21">
            <a:extLst>
              <a:ext uri="{FF2B5EF4-FFF2-40B4-BE49-F238E27FC236}">
                <a16:creationId xmlns:a16="http://schemas.microsoft.com/office/drawing/2014/main" id="{EEBE620E-C496-DED0-B009-BED2A3F12C53}"/>
              </a:ext>
            </a:extLst>
          </p:cNvPr>
          <p:cNvSpPr/>
          <p:nvPr/>
        </p:nvSpPr>
        <p:spPr>
          <a:xfrm>
            <a:off x="2279975" y="4994056"/>
            <a:ext cx="2371910" cy="434616"/>
          </a:xfrm>
          <a:prstGeom prst="wedgeRectCallout">
            <a:avLst>
              <a:gd name="adj1" fmla="val -55566"/>
              <a:gd name="adj2" fmla="val 8738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作成確認画面に遷移する</a:t>
            </a:r>
          </a:p>
        </p:txBody>
      </p:sp>
      <p:pic>
        <p:nvPicPr>
          <p:cNvPr id="24" name="図 23">
            <a:extLst>
              <a:ext uri="{FF2B5EF4-FFF2-40B4-BE49-F238E27FC236}">
                <a16:creationId xmlns:a16="http://schemas.microsoft.com/office/drawing/2014/main" id="{6DC81E44-5989-9039-52C6-F4CF1EA3833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131154" y="2293684"/>
            <a:ext cx="5375046" cy="3359404"/>
          </a:xfrm>
          <a:prstGeom prst="rect">
            <a:avLst/>
          </a:prstGeom>
        </p:spPr>
      </p:pic>
      <p:sp>
        <p:nvSpPr>
          <p:cNvPr id="25" name="正方形/長方形 24">
            <a:extLst>
              <a:ext uri="{FF2B5EF4-FFF2-40B4-BE49-F238E27FC236}">
                <a16:creationId xmlns:a16="http://schemas.microsoft.com/office/drawing/2014/main" id="{0A22697D-FB04-F654-AB1B-2D9DE1B1A0F3}"/>
              </a:ext>
            </a:extLst>
          </p:cNvPr>
          <p:cNvSpPr/>
          <p:nvPr/>
        </p:nvSpPr>
        <p:spPr>
          <a:xfrm>
            <a:off x="6758083" y="5444228"/>
            <a:ext cx="664906" cy="22606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吹き出し 25">
            <a:extLst>
              <a:ext uri="{FF2B5EF4-FFF2-40B4-BE49-F238E27FC236}">
                <a16:creationId xmlns:a16="http://schemas.microsoft.com/office/drawing/2014/main" id="{8B5C666F-CB21-9AC8-EC30-038EDF3D0D27}"/>
              </a:ext>
            </a:extLst>
          </p:cNvPr>
          <p:cNvSpPr/>
          <p:nvPr/>
        </p:nvSpPr>
        <p:spPr>
          <a:xfrm>
            <a:off x="7734549" y="4994056"/>
            <a:ext cx="1338165" cy="434616"/>
          </a:xfrm>
          <a:prstGeom prst="wedgeRectCallout">
            <a:avLst>
              <a:gd name="adj1" fmla="val -55566"/>
              <a:gd name="adj2" fmla="val 8738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作成をクリック</a:t>
            </a:r>
          </a:p>
        </p:txBody>
      </p:sp>
    </p:spTree>
    <p:extLst>
      <p:ext uri="{BB962C8B-B14F-4D97-AF65-F5344CB8AC3E}">
        <p14:creationId xmlns:p14="http://schemas.microsoft.com/office/powerpoint/2010/main" val="989975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455C78B1-14B7-4C5A-93CF-5F19EF7374D1}"/>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リソースグループ作成を確認する</a:t>
            </a:r>
          </a:p>
        </p:txBody>
      </p:sp>
      <p:sp>
        <p:nvSpPr>
          <p:cNvPr id="2" name="正方形/長方形 1">
            <a:extLst>
              <a:ext uri="{FF2B5EF4-FFF2-40B4-BE49-F238E27FC236}">
                <a16:creationId xmlns:a16="http://schemas.microsoft.com/office/drawing/2014/main" id="{F9EE1852-F29B-4E05-913D-6372838D7E3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339017AB-97B6-4634-B9DA-894B433CAB1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8425234-AC25-4894-AB2C-ED66DDE65E38}"/>
              </a:ext>
            </a:extLst>
          </p:cNvPr>
          <p:cNvSpPr>
            <a:spLocks noGrp="1"/>
          </p:cNvSpPr>
          <p:nvPr/>
        </p:nvSpPr>
        <p:spPr>
          <a:xfrm>
            <a:off x="685800" y="1390650"/>
            <a:ext cx="976589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10" b="0">
                <a:solidFill>
                  <a:srgbClr val="344054"/>
                </a:solidFill>
                <a:latin typeface="Yu Gothic UI"/>
                <a:ea typeface="Yu Gothic UI"/>
                <a:cs typeface="Yu Gothic UI"/>
              </a:defRPr>
            </a:pPr>
            <a:r>
              <a:rPr sz="1110" b="0" dirty="0" err="1">
                <a:solidFill>
                  <a:srgbClr val="344054"/>
                </a:solidFill>
                <a:latin typeface="Yu Gothic UI"/>
                <a:ea typeface="Yu Gothic UI"/>
                <a:cs typeface="Yu Gothic UI"/>
              </a:rPr>
              <a:t>作成したリソースグループの</a:t>
            </a:r>
            <a:r>
              <a:rPr sz="1110" b="0" dirty="0">
                <a:solidFill>
                  <a:srgbClr val="344054"/>
                </a:solidFill>
                <a:latin typeface="Yu Gothic UI"/>
                <a:ea typeface="Yu Gothic UI"/>
                <a:cs typeface="Yu Gothic UI"/>
              </a:rPr>
              <a:t> Overview </a:t>
            </a:r>
            <a:r>
              <a:rPr sz="1110" b="0" dirty="0" err="1">
                <a:solidFill>
                  <a:srgbClr val="344054"/>
                </a:solidFill>
                <a:latin typeface="Yu Gothic UI"/>
                <a:ea typeface="Yu Gothic UI"/>
                <a:cs typeface="Yu Gothic UI"/>
              </a:rPr>
              <a:t>を開き、場所と名前が講師指定の値になっていることを確認します</a:t>
            </a:r>
            <a:r>
              <a:rPr sz="1110" b="0" dirty="0">
                <a:solidFill>
                  <a:srgbClr val="344054"/>
                </a:solidFill>
                <a:latin typeface="Yu Gothic UI"/>
                <a:ea typeface="Yu Gothic UI"/>
                <a:cs typeface="Yu Gothic UI"/>
              </a:rPr>
              <a:t>。</a:t>
            </a:r>
          </a:p>
        </p:txBody>
      </p:sp>
      <p:sp>
        <p:nvSpPr>
          <p:cNvPr id="6" name="正方形/長方形 5">
            <a:extLst>
              <a:ext uri="{FF2B5EF4-FFF2-40B4-BE49-F238E27FC236}">
                <a16:creationId xmlns:a16="http://schemas.microsoft.com/office/drawing/2014/main" id="{28740068-FAC4-4BD6-B0CC-354B50AC84FF}"/>
              </a:ext>
            </a:extLst>
          </p:cNvPr>
          <p:cNvSpPr>
            <a:spLocks noGrp="1"/>
          </p:cNvSpPr>
          <p:nvPr/>
        </p:nvSpPr>
        <p:spPr>
          <a:xfrm>
            <a:off x="781050" y="2781300"/>
            <a:ext cx="4095750" cy="1428750"/>
          </a:xfrm>
          <a:prstGeom prst="rect">
            <a:avLst/>
          </a:prstGeom>
          <a:solidFill>
            <a:srgbClr val="FFFFFF"/>
          </a:solidFill>
          <a:ln w="9525">
            <a:solidFill>
              <a:srgbClr val="D0D5DD"/>
            </a:solidFill>
            <a:prstDash val="solid"/>
          </a:ln>
        </p:spPr>
        <p:txBody>
          <a:bodyPr/>
          <a:lstStyle/>
          <a:p>
            <a:endParaRPr lang="ja-JP" altLang="en-US" sz="2400"/>
          </a:p>
        </p:txBody>
      </p:sp>
      <p:sp>
        <p:nvSpPr>
          <p:cNvPr id="7" name="正方形/長方形 6">
            <a:extLst>
              <a:ext uri="{FF2B5EF4-FFF2-40B4-BE49-F238E27FC236}">
                <a16:creationId xmlns:a16="http://schemas.microsoft.com/office/drawing/2014/main" id="{468543DF-0EF0-4D9F-A816-86D60A4B7AF8}"/>
              </a:ext>
            </a:extLst>
          </p:cNvPr>
          <p:cNvSpPr>
            <a:spLocks noGrp="1"/>
          </p:cNvSpPr>
          <p:nvPr/>
        </p:nvSpPr>
        <p:spPr>
          <a:xfrm>
            <a:off x="781050" y="2781300"/>
            <a:ext cx="76200" cy="1428750"/>
          </a:xfrm>
          <a:prstGeom prst="rect">
            <a:avLst/>
          </a:prstGeom>
          <a:solidFill>
            <a:srgbClr val="4472C4"/>
          </a:solidFill>
          <a:ln w="0">
            <a:solidFill>
              <a:srgbClr val="4472C4"/>
            </a:solidFill>
            <a:prstDash val="solid"/>
          </a:ln>
        </p:spPr>
        <p:txBody>
          <a:bodyPr/>
          <a:lstStyle/>
          <a:p>
            <a:endParaRPr lang="ja-JP" altLang="en-US" sz="2400"/>
          </a:p>
        </p:txBody>
      </p:sp>
      <p:sp>
        <p:nvSpPr>
          <p:cNvPr id="8" name="正方形/長方形 7">
            <a:extLst>
              <a:ext uri="{FF2B5EF4-FFF2-40B4-BE49-F238E27FC236}">
                <a16:creationId xmlns:a16="http://schemas.microsoft.com/office/drawing/2014/main" id="{4028EE55-779F-4024-A944-81A359D9A209}"/>
              </a:ext>
            </a:extLst>
          </p:cNvPr>
          <p:cNvSpPr>
            <a:spLocks noGrp="1"/>
          </p:cNvSpPr>
          <p:nvPr/>
        </p:nvSpPr>
        <p:spPr>
          <a:xfrm>
            <a:off x="990600" y="2933700"/>
            <a:ext cx="3695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4472C4"/>
                </a:solidFill>
                <a:latin typeface="Yu Gothic UI"/>
                <a:ea typeface="Yu Gothic UI"/>
                <a:cs typeface="Yu Gothic UI"/>
              </a:defRPr>
            </a:pPr>
            <a:r>
              <a:rPr sz="900" b="1">
                <a:solidFill>
                  <a:srgbClr val="4472C4"/>
                </a:solidFill>
                <a:latin typeface="Yu Gothic UI"/>
                <a:ea typeface="Yu Gothic UI"/>
                <a:cs typeface="Yu Gothic UI"/>
              </a:rPr>
              <a:t>完了条件</a:t>
            </a:r>
          </a:p>
        </p:txBody>
      </p:sp>
      <p:sp>
        <p:nvSpPr>
          <p:cNvPr id="9" name="正方形/長方形 8">
            <a:extLst>
              <a:ext uri="{FF2B5EF4-FFF2-40B4-BE49-F238E27FC236}">
                <a16:creationId xmlns:a16="http://schemas.microsoft.com/office/drawing/2014/main" id="{FC8C0686-FD62-4170-8800-E6CDE3BFF8A7}"/>
              </a:ext>
            </a:extLst>
          </p:cNvPr>
          <p:cNvSpPr>
            <a:spLocks noGrp="1"/>
          </p:cNvSpPr>
          <p:nvPr/>
        </p:nvSpPr>
        <p:spPr>
          <a:xfrm>
            <a:off x="990600" y="3181350"/>
            <a:ext cx="36957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38" b="1">
                <a:solidFill>
                  <a:srgbClr val="1F2937"/>
                </a:solidFill>
                <a:latin typeface="Meiryo UI"/>
                <a:ea typeface="Meiryo UI"/>
                <a:cs typeface="Meiryo UI"/>
              </a:defRPr>
            </a:pPr>
            <a:r>
              <a:rPr sz="1600" b="1">
                <a:solidFill>
                  <a:srgbClr val="1F2937"/>
                </a:solidFill>
                <a:latin typeface="Meiryo UI"/>
                <a:ea typeface="Meiryo UI"/>
                <a:cs typeface="Meiryo UI"/>
              </a:rPr>
              <a:t>空の入れ物ができている</a:t>
            </a:r>
          </a:p>
        </p:txBody>
      </p:sp>
      <p:sp>
        <p:nvSpPr>
          <p:cNvPr id="10" name="正方形/長方形 9">
            <a:extLst>
              <a:ext uri="{FF2B5EF4-FFF2-40B4-BE49-F238E27FC236}">
                <a16:creationId xmlns:a16="http://schemas.microsoft.com/office/drawing/2014/main" id="{A98D067A-B3AF-4A45-BBE4-69362764DA0E}"/>
              </a:ext>
            </a:extLst>
          </p:cNvPr>
          <p:cNvSpPr>
            <a:spLocks noGrp="1"/>
          </p:cNvSpPr>
          <p:nvPr/>
        </p:nvSpPr>
        <p:spPr>
          <a:xfrm>
            <a:off x="990600" y="3581400"/>
            <a:ext cx="36957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70" b="0">
                <a:solidFill>
                  <a:srgbClr val="344054"/>
                </a:solidFill>
                <a:latin typeface="Yu Gothic UI"/>
                <a:ea typeface="Yu Gothic UI"/>
                <a:cs typeface="Yu Gothic UI"/>
              </a:defRPr>
            </a:pPr>
            <a:r>
              <a:rPr sz="1000" b="0">
                <a:solidFill>
                  <a:srgbClr val="344054"/>
                </a:solidFill>
                <a:latin typeface="Yu Gothic UI"/>
                <a:ea typeface="Yu Gothic UI"/>
                <a:cs typeface="Yu Gothic UI"/>
              </a:rPr>
              <a:t>この時点ではまだ VM はありません。ここから VM と関連リソースを追加していきます。</a:t>
            </a:r>
          </a:p>
        </p:txBody>
      </p:sp>
      <p:sp>
        <p:nvSpPr>
          <p:cNvPr id="11" name="正方形/長方形 10">
            <a:extLst>
              <a:ext uri="{FF2B5EF4-FFF2-40B4-BE49-F238E27FC236}">
                <a16:creationId xmlns:a16="http://schemas.microsoft.com/office/drawing/2014/main" id="{892A2AB6-A213-4A4F-AAAE-DD58912F2A2C}"/>
              </a:ext>
            </a:extLst>
          </p:cNvPr>
          <p:cNvSpPr>
            <a:spLocks noGrp="1"/>
          </p:cNvSpPr>
          <p:nvPr/>
        </p:nvSpPr>
        <p:spPr>
          <a:xfrm>
            <a:off x="5334000" y="1676400"/>
            <a:ext cx="5981700" cy="3886200"/>
          </a:xfrm>
          <a:prstGeom prst="rect">
            <a:avLst/>
          </a:prstGeom>
          <a:solidFill>
            <a:srgbClr val="FFFFFF"/>
          </a:solidFill>
          <a:ln w="9525">
            <a:solidFill>
              <a:srgbClr val="D0D5DD"/>
            </a:solidFill>
            <a:prstDash val="solid"/>
          </a:ln>
        </p:spPr>
        <p:txBody>
          <a:bodyPr/>
          <a:lstStyle/>
          <a:p>
            <a:endParaRPr lang="ja-JP" altLang="en-US"/>
          </a:p>
        </p:txBody>
      </p:sp>
      <p:pic>
        <p:nvPicPr>
          <p:cNvPr id="12" name="図 11"/>
          <p:cNvPicPr>
            <a:picLocks noChangeAspect="1"/>
          </p:cNvPicPr>
          <p:nvPr/>
        </p:nvPicPr>
        <p:blipFill>
          <a:blip r:embed="rId3" cstate="screen">
            <a:extLst>
              <a:ext uri="{28A0092B-C50C-407E-A947-70E740481C1C}">
                <a14:useLocalDpi xmlns:a14="http://schemas.microsoft.com/office/drawing/2010/main"/>
              </a:ext>
            </a:extLst>
          </a:blip>
          <a:stretch/>
        </p:blipFill>
        <p:spPr>
          <a:xfrm>
            <a:off x="5467350" y="1878806"/>
            <a:ext cx="5715000" cy="3214688"/>
          </a:xfrm>
          <a:prstGeom prst="rect">
            <a:avLst/>
          </a:prstGeom>
        </p:spPr>
      </p:pic>
      <p:sp>
        <p:nvSpPr>
          <p:cNvPr id="13" name="正方形/長方形 12">
            <a:extLst>
              <a:ext uri="{FF2B5EF4-FFF2-40B4-BE49-F238E27FC236}">
                <a16:creationId xmlns:a16="http://schemas.microsoft.com/office/drawing/2014/main" id="{78207808-1EB1-4AEB-88B0-41E89B9E7319}"/>
              </a:ext>
            </a:extLst>
          </p:cNvPr>
          <p:cNvSpPr>
            <a:spLocks noGrp="1"/>
          </p:cNvSpPr>
          <p:nvPr/>
        </p:nvSpPr>
        <p:spPr>
          <a:xfrm>
            <a:off x="5524500" y="521970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作成したリソースグループを確認する</a:t>
            </a:r>
          </a:p>
        </p:txBody>
      </p:sp>
      <p:sp>
        <p:nvSpPr>
          <p:cNvPr id="14" name="正方形/長方形 13">
            <a:extLst>
              <a:ext uri="{FF2B5EF4-FFF2-40B4-BE49-F238E27FC236}">
                <a16:creationId xmlns:a16="http://schemas.microsoft.com/office/drawing/2014/main" id="{2BC95170-FC60-4906-A136-B5C5DB654332}"/>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46</a:t>
            </a:r>
          </a:p>
        </p:txBody>
      </p:sp>
      <p:sp>
        <p:nvSpPr>
          <p:cNvPr id="16" name="正方形/長方形 15">
            <a:extLst>
              <a:ext uri="{FF2B5EF4-FFF2-40B4-BE49-F238E27FC236}">
                <a16:creationId xmlns:a16="http://schemas.microsoft.com/office/drawing/2014/main" id="{0216DE1E-143C-5964-29F1-78388C2B5099}"/>
              </a:ext>
            </a:extLst>
          </p:cNvPr>
          <p:cNvSpPr/>
          <p:nvPr/>
        </p:nvSpPr>
        <p:spPr>
          <a:xfrm>
            <a:off x="6636282" y="2861187"/>
            <a:ext cx="610092" cy="1677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D0C99BE1-226C-F43E-5D93-9B1FF78DA374}"/>
              </a:ext>
            </a:extLst>
          </p:cNvPr>
          <p:cNvSpPr/>
          <p:nvPr/>
        </p:nvSpPr>
        <p:spPr>
          <a:xfrm>
            <a:off x="7144364" y="3340817"/>
            <a:ext cx="2113936" cy="1425147"/>
          </a:xfrm>
          <a:prstGeom prst="wedgeRectCallout">
            <a:avLst>
              <a:gd name="adj1" fmla="val -57731"/>
              <a:gd name="adj2" fmla="val -7009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指定された名所のリソースグループが作成されていることを確認する。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リソースグループ名は今後も使うのでメモする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8" name="正方形/長方形 17">
            <a:extLst>
              <a:ext uri="{FF2B5EF4-FFF2-40B4-BE49-F238E27FC236}">
                <a16:creationId xmlns:a16="http://schemas.microsoft.com/office/drawing/2014/main" id="{5C3B10DD-E679-AB47-FAE6-BE6478C281FC}"/>
              </a:ext>
            </a:extLst>
          </p:cNvPr>
          <p:cNvSpPr/>
          <p:nvPr/>
        </p:nvSpPr>
        <p:spPr>
          <a:xfrm>
            <a:off x="9640037" y="2861187"/>
            <a:ext cx="610092" cy="1677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8BA2064-77B2-7722-982E-9B68CF3FD6CB}"/>
              </a:ext>
            </a:extLst>
          </p:cNvPr>
          <p:cNvSpPr/>
          <p:nvPr/>
        </p:nvSpPr>
        <p:spPr>
          <a:xfrm>
            <a:off x="7144364" y="2357361"/>
            <a:ext cx="475636" cy="1677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DF4A41CA-B8DA-77A2-0486-1424B77BDF8B}"/>
              </a:ext>
            </a:extLst>
          </p:cNvPr>
          <p:cNvSpPr/>
          <p:nvPr/>
        </p:nvSpPr>
        <p:spPr>
          <a:xfrm>
            <a:off x="7831147" y="1605674"/>
            <a:ext cx="2113936" cy="686299"/>
          </a:xfrm>
          <a:prstGeom prst="wedgeRectCallout">
            <a:avLst>
              <a:gd name="adj1" fmla="val -59479"/>
              <a:gd name="adj2" fmla="val 4680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作成してすぐにはリストに反映されないので何度かリフレッシュする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949765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0FDD4-CB68-FA34-8D52-907F4D1B68F4}"/>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EBAB8F6F-AC61-75EB-74C5-B098E3E25127}"/>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lang="en-US" sz="2100" b="1" dirty="0" err="1">
                <a:solidFill>
                  <a:srgbClr val="1F2937"/>
                </a:solidFill>
                <a:latin typeface="Meiryo UI"/>
                <a:ea typeface="Meiryo UI"/>
                <a:cs typeface="Meiryo UI"/>
              </a:rPr>
              <a:t>VNet</a:t>
            </a:r>
            <a:r>
              <a:rPr lang="en-US" sz="2100" b="1" dirty="0">
                <a:solidFill>
                  <a:srgbClr val="1F2937"/>
                </a:solidFill>
                <a:latin typeface="Meiryo UI"/>
                <a:ea typeface="Meiryo UI"/>
                <a:cs typeface="Meiryo UI"/>
              </a:rPr>
              <a:t> </a:t>
            </a:r>
            <a:r>
              <a:rPr lang="en-US" sz="2100" b="1" dirty="0" err="1">
                <a:solidFill>
                  <a:srgbClr val="1F2937"/>
                </a:solidFill>
                <a:latin typeface="Meiryo UI"/>
                <a:ea typeface="Meiryo UI"/>
                <a:cs typeface="Meiryo UI"/>
              </a:rPr>
              <a:t>を作成する</a:t>
            </a:r>
            <a:endParaRPr sz="2100"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221CEAFE-DFD7-BDF1-2663-E14194C290E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31F166E3-EFE6-D61B-E05C-CDA5A223BD3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C376E25-39D2-458E-0B64-AA92FC99FF37}"/>
              </a:ext>
            </a:extLst>
          </p:cNvPr>
          <p:cNvSpPr>
            <a:spLocks noGrp="1"/>
          </p:cNvSpPr>
          <p:nvPr/>
        </p:nvSpPr>
        <p:spPr>
          <a:xfrm>
            <a:off x="685800" y="1390650"/>
            <a:ext cx="976589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Container Apps </a:t>
            </a:r>
            <a:r>
              <a:rPr lang="ja-JP" altLang="en-US" sz="1200">
                <a:solidFill>
                  <a:srgbClr val="64748B"/>
                </a:solidFill>
                <a:latin typeface="Yu Gothic"/>
                <a:ea typeface="Yu Gothic"/>
                <a:cs typeface="Yu Gothic"/>
              </a:rPr>
              <a:t>と </a:t>
            </a:r>
            <a:r>
              <a:rPr lang="en" altLang="ja-JP" sz="1200" dirty="0">
                <a:solidFill>
                  <a:srgbClr val="64748B"/>
                </a:solidFill>
                <a:latin typeface="Yu Gothic"/>
                <a:ea typeface="Yu Gothic"/>
                <a:cs typeface="Yu Gothic"/>
              </a:rPr>
              <a:t>PostgreSQL </a:t>
            </a:r>
            <a:r>
              <a:rPr lang="ja-JP" altLang="en-US" sz="1200">
                <a:solidFill>
                  <a:srgbClr val="64748B"/>
                </a:solidFill>
                <a:latin typeface="Yu Gothic"/>
                <a:ea typeface="Yu Gothic"/>
                <a:cs typeface="Yu Gothic"/>
              </a:rPr>
              <a:t>の接続を考える土台として、受講者ごとの </a:t>
            </a:r>
            <a:r>
              <a:rPr lang="en" altLang="ja-JP" sz="1200" dirty="0" err="1">
                <a:solidFill>
                  <a:srgbClr val="64748B"/>
                </a:solidFill>
                <a:latin typeface="Yu Gothic"/>
                <a:ea typeface="Yu Gothic"/>
                <a:cs typeface="Yu Gothic"/>
              </a:rPr>
              <a:t>VNet</a:t>
            </a:r>
            <a:r>
              <a:rPr lang="en" altLang="ja-JP" sz="1200" dirty="0">
                <a:solidFill>
                  <a:srgbClr val="64748B"/>
                </a:solidFill>
                <a:latin typeface="Yu Gothic"/>
                <a:ea typeface="Yu Gothic"/>
                <a:cs typeface="Yu Gothic"/>
              </a:rPr>
              <a:t> </a:t>
            </a:r>
            <a:r>
              <a:rPr lang="ja-JP" altLang="en-US" sz="1200">
                <a:solidFill>
                  <a:srgbClr val="64748B"/>
                </a:solidFill>
                <a:latin typeface="Yu Gothic"/>
                <a:ea typeface="Yu Gothic"/>
                <a:cs typeface="Yu Gothic"/>
              </a:rPr>
              <a:t>を作成します。</a:t>
            </a:r>
          </a:p>
        </p:txBody>
      </p:sp>
      <p:sp>
        <p:nvSpPr>
          <p:cNvPr id="14" name="正方形/長方形 13">
            <a:extLst>
              <a:ext uri="{FF2B5EF4-FFF2-40B4-BE49-F238E27FC236}">
                <a16:creationId xmlns:a16="http://schemas.microsoft.com/office/drawing/2014/main" id="{7FD013B4-B2F1-1F1D-B536-C6272666EBE8}"/>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46</a:t>
            </a:r>
          </a:p>
        </p:txBody>
      </p:sp>
      <p:sp>
        <p:nvSpPr>
          <p:cNvPr id="3" name="正方形/長方形 2">
            <a:extLst>
              <a:ext uri="{FF2B5EF4-FFF2-40B4-BE49-F238E27FC236}">
                <a16:creationId xmlns:a16="http://schemas.microsoft.com/office/drawing/2014/main" id="{D50BA74D-54EB-CE7D-D1F0-0095EF191428}"/>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21" name="図 20">
            <a:extLst>
              <a:ext uri="{FF2B5EF4-FFF2-40B4-BE49-F238E27FC236}">
                <a16:creationId xmlns:a16="http://schemas.microsoft.com/office/drawing/2014/main" id="{ADDD1BD6-F210-A099-D84A-4E7999146F2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6245" y="2347912"/>
            <a:ext cx="5125065" cy="3203166"/>
          </a:xfrm>
          <a:prstGeom prst="rect">
            <a:avLst/>
          </a:prstGeom>
        </p:spPr>
      </p:pic>
      <p:pic>
        <p:nvPicPr>
          <p:cNvPr id="22" name="図 21">
            <a:extLst>
              <a:ext uri="{FF2B5EF4-FFF2-40B4-BE49-F238E27FC236}">
                <a16:creationId xmlns:a16="http://schemas.microsoft.com/office/drawing/2014/main" id="{6D19B0D9-1F84-C503-0DE8-F6F6099F4DF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60692" y="2347913"/>
            <a:ext cx="5125063" cy="3203164"/>
          </a:xfrm>
          <a:prstGeom prst="rect">
            <a:avLst/>
          </a:prstGeom>
        </p:spPr>
      </p:pic>
      <p:sp>
        <p:nvSpPr>
          <p:cNvPr id="6" name="正方形/長方形 5">
            <a:extLst>
              <a:ext uri="{FF2B5EF4-FFF2-40B4-BE49-F238E27FC236}">
                <a16:creationId xmlns:a16="http://schemas.microsoft.com/office/drawing/2014/main" id="{695FCD3F-1488-B0D3-BC6C-7A7AD0557B38}"/>
              </a:ext>
            </a:extLst>
          </p:cNvPr>
          <p:cNvSpPr/>
          <p:nvPr/>
        </p:nvSpPr>
        <p:spPr>
          <a:xfrm>
            <a:off x="2406221" y="2286000"/>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C89C1F4-38CF-1E1D-51B2-3F400AB27ACC}"/>
              </a:ext>
            </a:extLst>
          </p:cNvPr>
          <p:cNvSpPr/>
          <p:nvPr/>
        </p:nvSpPr>
        <p:spPr>
          <a:xfrm>
            <a:off x="2406221" y="2769357"/>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161F0D3F-3F5E-C5D3-5EDE-B8FCB4C72EDF}"/>
              </a:ext>
            </a:extLst>
          </p:cNvPr>
          <p:cNvSpPr/>
          <p:nvPr/>
        </p:nvSpPr>
        <p:spPr>
          <a:xfrm>
            <a:off x="3212466" y="1705744"/>
            <a:ext cx="2025507" cy="434616"/>
          </a:xfrm>
          <a:prstGeom prst="wedgeRectCallout">
            <a:avLst>
              <a:gd name="adj1" fmla="val -26173"/>
              <a:gd name="adj2" fmla="val 6702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検索バーで「仮想ネットワーク」を選択</a:t>
            </a:r>
          </a:p>
        </p:txBody>
      </p:sp>
      <p:sp>
        <p:nvSpPr>
          <p:cNvPr id="9" name="四角形吹き出し 8">
            <a:extLst>
              <a:ext uri="{FF2B5EF4-FFF2-40B4-BE49-F238E27FC236}">
                <a16:creationId xmlns:a16="http://schemas.microsoft.com/office/drawing/2014/main" id="{010FCE22-DC84-6614-CDF3-1AE4BB788E86}"/>
              </a:ext>
            </a:extLst>
          </p:cNvPr>
          <p:cNvSpPr/>
          <p:nvPr/>
        </p:nvSpPr>
        <p:spPr>
          <a:xfrm>
            <a:off x="3581175" y="3175514"/>
            <a:ext cx="2025507" cy="434616"/>
          </a:xfrm>
          <a:prstGeom prst="wedgeRectCallout">
            <a:avLst>
              <a:gd name="adj1" fmla="val -52386"/>
              <a:gd name="adj2" fmla="val -935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「仮想ネットワーク」を選択</a:t>
            </a:r>
          </a:p>
        </p:txBody>
      </p:sp>
      <p:sp>
        <p:nvSpPr>
          <p:cNvPr id="10" name="正方形/長方形 9">
            <a:extLst>
              <a:ext uri="{FF2B5EF4-FFF2-40B4-BE49-F238E27FC236}">
                <a16:creationId xmlns:a16="http://schemas.microsoft.com/office/drawing/2014/main" id="{97CAAB5E-3C0A-A3F4-D36F-7A0268E65185}"/>
              </a:ext>
            </a:extLst>
          </p:cNvPr>
          <p:cNvSpPr/>
          <p:nvPr/>
        </p:nvSpPr>
        <p:spPr>
          <a:xfrm>
            <a:off x="7239164" y="2763170"/>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a:extLst>
              <a:ext uri="{FF2B5EF4-FFF2-40B4-BE49-F238E27FC236}">
                <a16:creationId xmlns:a16="http://schemas.microsoft.com/office/drawing/2014/main" id="{6787A77E-24FD-DAE3-FE3A-C7F8FA24CDD2}"/>
              </a:ext>
            </a:extLst>
          </p:cNvPr>
          <p:cNvSpPr/>
          <p:nvPr/>
        </p:nvSpPr>
        <p:spPr>
          <a:xfrm>
            <a:off x="6954029" y="1902004"/>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729290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C4F33-7D09-EB58-C431-3AE4DFDC043E}"/>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1463988C-167A-BDE1-2AE3-78308E0485F5}"/>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lang="en-US" sz="2100" b="1" dirty="0" err="1">
                <a:solidFill>
                  <a:srgbClr val="1F2937"/>
                </a:solidFill>
                <a:latin typeface="Meiryo UI"/>
                <a:ea typeface="Meiryo UI"/>
                <a:cs typeface="Meiryo UI"/>
              </a:rPr>
              <a:t>VNet</a:t>
            </a:r>
            <a:r>
              <a:rPr lang="en-US" sz="2100" b="1" dirty="0">
                <a:solidFill>
                  <a:srgbClr val="1F2937"/>
                </a:solidFill>
                <a:latin typeface="Meiryo UI"/>
                <a:ea typeface="Meiryo UI"/>
                <a:cs typeface="Meiryo UI"/>
              </a:rPr>
              <a:t> </a:t>
            </a:r>
            <a:r>
              <a:rPr lang="en-US" sz="2100" b="1" dirty="0" err="1">
                <a:solidFill>
                  <a:srgbClr val="1F2937"/>
                </a:solidFill>
                <a:latin typeface="Meiryo UI"/>
                <a:ea typeface="Meiryo UI"/>
                <a:cs typeface="Meiryo UI"/>
              </a:rPr>
              <a:t>を作成する</a:t>
            </a:r>
            <a:endParaRPr sz="2100"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FD11DBFF-2189-C259-127D-3535C711D76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227442E5-10EE-86C5-20FB-2137172D168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94EB038-3E95-1179-0CE7-33A64FA4F932}"/>
              </a:ext>
            </a:extLst>
          </p:cNvPr>
          <p:cNvSpPr>
            <a:spLocks noGrp="1"/>
          </p:cNvSpPr>
          <p:nvPr/>
        </p:nvSpPr>
        <p:spPr>
          <a:xfrm>
            <a:off x="685800" y="1390650"/>
            <a:ext cx="976589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Container Apps </a:t>
            </a:r>
            <a:r>
              <a:rPr lang="ja-JP" altLang="en-US" sz="1200">
                <a:solidFill>
                  <a:srgbClr val="64748B"/>
                </a:solidFill>
                <a:latin typeface="Yu Gothic"/>
                <a:ea typeface="Yu Gothic"/>
                <a:cs typeface="Yu Gothic"/>
              </a:rPr>
              <a:t>と </a:t>
            </a:r>
            <a:r>
              <a:rPr lang="en" altLang="ja-JP" sz="1200" dirty="0">
                <a:solidFill>
                  <a:srgbClr val="64748B"/>
                </a:solidFill>
                <a:latin typeface="Yu Gothic"/>
                <a:ea typeface="Yu Gothic"/>
                <a:cs typeface="Yu Gothic"/>
              </a:rPr>
              <a:t>PostgreSQL </a:t>
            </a:r>
            <a:r>
              <a:rPr lang="ja-JP" altLang="en-US" sz="1200">
                <a:solidFill>
                  <a:srgbClr val="64748B"/>
                </a:solidFill>
                <a:latin typeface="Yu Gothic"/>
                <a:ea typeface="Yu Gothic"/>
                <a:cs typeface="Yu Gothic"/>
              </a:rPr>
              <a:t>の接続を考える土台として、受講者ごとの </a:t>
            </a:r>
            <a:r>
              <a:rPr lang="en" altLang="ja-JP" sz="1200" dirty="0" err="1">
                <a:solidFill>
                  <a:srgbClr val="64748B"/>
                </a:solidFill>
                <a:latin typeface="Yu Gothic"/>
                <a:ea typeface="Yu Gothic"/>
                <a:cs typeface="Yu Gothic"/>
              </a:rPr>
              <a:t>VNet</a:t>
            </a:r>
            <a:r>
              <a:rPr lang="en" altLang="ja-JP" sz="1200" dirty="0">
                <a:solidFill>
                  <a:srgbClr val="64748B"/>
                </a:solidFill>
                <a:latin typeface="Yu Gothic"/>
                <a:ea typeface="Yu Gothic"/>
                <a:cs typeface="Yu Gothic"/>
              </a:rPr>
              <a:t> </a:t>
            </a:r>
            <a:r>
              <a:rPr lang="ja-JP" altLang="en-US" sz="1200">
                <a:solidFill>
                  <a:srgbClr val="64748B"/>
                </a:solidFill>
                <a:latin typeface="Yu Gothic"/>
                <a:ea typeface="Yu Gothic"/>
                <a:cs typeface="Yu Gothic"/>
              </a:rPr>
              <a:t>を作成します。</a:t>
            </a:r>
          </a:p>
        </p:txBody>
      </p:sp>
      <p:sp>
        <p:nvSpPr>
          <p:cNvPr id="14" name="正方形/長方形 13">
            <a:extLst>
              <a:ext uri="{FF2B5EF4-FFF2-40B4-BE49-F238E27FC236}">
                <a16:creationId xmlns:a16="http://schemas.microsoft.com/office/drawing/2014/main" id="{B81FF50E-DE19-9D3A-585A-0E592407576B}"/>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46</a:t>
            </a:r>
          </a:p>
        </p:txBody>
      </p:sp>
      <p:sp>
        <p:nvSpPr>
          <p:cNvPr id="3" name="正方形/長方形 2">
            <a:extLst>
              <a:ext uri="{FF2B5EF4-FFF2-40B4-BE49-F238E27FC236}">
                <a16:creationId xmlns:a16="http://schemas.microsoft.com/office/drawing/2014/main" id="{31B96BD8-DCE8-36FD-2736-0DD20D09659B}"/>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6" name="図 5">
            <a:extLst>
              <a:ext uri="{FF2B5EF4-FFF2-40B4-BE49-F238E27FC236}">
                <a16:creationId xmlns:a16="http://schemas.microsoft.com/office/drawing/2014/main" id="{07EED542-246A-6134-E18D-FEF84379D21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17243" y="2440550"/>
            <a:ext cx="5147680" cy="3217300"/>
          </a:xfrm>
          <a:prstGeom prst="rect">
            <a:avLst/>
          </a:prstGeom>
        </p:spPr>
      </p:pic>
      <p:sp>
        <p:nvSpPr>
          <p:cNvPr id="7" name="正方形/長方形 6">
            <a:extLst>
              <a:ext uri="{FF2B5EF4-FFF2-40B4-BE49-F238E27FC236}">
                <a16:creationId xmlns:a16="http://schemas.microsoft.com/office/drawing/2014/main" id="{514F395D-4530-4B32-8505-F90F4BA8F652}"/>
              </a:ext>
            </a:extLst>
          </p:cNvPr>
          <p:cNvSpPr/>
          <p:nvPr/>
        </p:nvSpPr>
        <p:spPr>
          <a:xfrm>
            <a:off x="3943470" y="5467350"/>
            <a:ext cx="36183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16601885-EC4E-E6F1-9A6E-4FC36243A27D}"/>
              </a:ext>
            </a:extLst>
          </p:cNvPr>
          <p:cNvSpPr/>
          <p:nvPr/>
        </p:nvSpPr>
        <p:spPr>
          <a:xfrm>
            <a:off x="4305300" y="5723680"/>
            <a:ext cx="4091448" cy="734270"/>
          </a:xfrm>
          <a:prstGeom prst="wedgeRectCallout">
            <a:avLst>
              <a:gd name="adj1" fmla="val -54163"/>
              <a:gd name="adj2" fmla="val -641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次へでセキュリティの画面に遷移し、そこはデフォルト値のままにして、さらに次へでアドレス空間のページに遷移する</a:t>
            </a:r>
          </a:p>
        </p:txBody>
      </p:sp>
      <p:sp>
        <p:nvSpPr>
          <p:cNvPr id="9" name="正方形/長方形 8">
            <a:extLst>
              <a:ext uri="{FF2B5EF4-FFF2-40B4-BE49-F238E27FC236}">
                <a16:creationId xmlns:a16="http://schemas.microsoft.com/office/drawing/2014/main" id="{CDD47F40-EFEE-8B03-1530-F5FC7FBDF728}"/>
              </a:ext>
            </a:extLst>
          </p:cNvPr>
          <p:cNvSpPr/>
          <p:nvPr/>
        </p:nvSpPr>
        <p:spPr>
          <a:xfrm>
            <a:off x="4428380" y="3971771"/>
            <a:ext cx="1824638" cy="1753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E28B6D18-CF76-005C-A6EA-6B18D7AAC461}"/>
              </a:ext>
            </a:extLst>
          </p:cNvPr>
          <p:cNvSpPr/>
          <p:nvPr/>
        </p:nvSpPr>
        <p:spPr>
          <a:xfrm>
            <a:off x="4924110" y="3215983"/>
            <a:ext cx="3545513" cy="434616"/>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11" name="正方形/長方形 10">
            <a:extLst>
              <a:ext uri="{FF2B5EF4-FFF2-40B4-BE49-F238E27FC236}">
                <a16:creationId xmlns:a16="http://schemas.microsoft.com/office/drawing/2014/main" id="{6FDD91F3-618C-2A81-2082-B6A1F8E08508}"/>
              </a:ext>
            </a:extLst>
          </p:cNvPr>
          <p:cNvSpPr/>
          <p:nvPr/>
        </p:nvSpPr>
        <p:spPr>
          <a:xfrm>
            <a:off x="4428380" y="4147127"/>
            <a:ext cx="1824638" cy="1753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1E4F4D4F-4DC6-4DE5-BA7F-D99616A34843}"/>
              </a:ext>
            </a:extLst>
          </p:cNvPr>
          <p:cNvSpPr/>
          <p:nvPr/>
        </p:nvSpPr>
        <p:spPr>
          <a:xfrm>
            <a:off x="6550987" y="3757362"/>
            <a:ext cx="2113936" cy="686299"/>
          </a:xfrm>
          <a:prstGeom prst="wedgeRectCallout">
            <a:avLst>
              <a:gd name="adj1" fmla="val -61410"/>
              <a:gd name="adj2" fmla="val 188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講師から指示された参加者ごとのリソースグループ名を選択</a:t>
            </a:r>
          </a:p>
        </p:txBody>
      </p:sp>
      <p:sp>
        <p:nvSpPr>
          <p:cNvPr id="13" name="正方形/長方形 12">
            <a:extLst>
              <a:ext uri="{FF2B5EF4-FFF2-40B4-BE49-F238E27FC236}">
                <a16:creationId xmlns:a16="http://schemas.microsoft.com/office/drawing/2014/main" id="{5D6087F7-E78B-D29E-CAD4-4E2FCE260816}"/>
              </a:ext>
            </a:extLst>
          </p:cNvPr>
          <p:cNvSpPr/>
          <p:nvPr/>
        </p:nvSpPr>
        <p:spPr>
          <a:xfrm>
            <a:off x="4428380" y="4606591"/>
            <a:ext cx="1824638" cy="1753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914582C2-F288-E953-DF67-B1DD9613F816}"/>
              </a:ext>
            </a:extLst>
          </p:cNvPr>
          <p:cNvSpPr/>
          <p:nvPr/>
        </p:nvSpPr>
        <p:spPr>
          <a:xfrm>
            <a:off x="4428380" y="4781947"/>
            <a:ext cx="1824638" cy="1753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86C143E8-58FA-178C-6773-13B905F15B92}"/>
              </a:ext>
            </a:extLst>
          </p:cNvPr>
          <p:cNvSpPr/>
          <p:nvPr/>
        </p:nvSpPr>
        <p:spPr>
          <a:xfrm>
            <a:off x="1403307" y="3851565"/>
            <a:ext cx="2113936" cy="806506"/>
          </a:xfrm>
          <a:prstGeom prst="wedgeRectCallout">
            <a:avLst>
              <a:gd name="adj1" fmla="val 88456"/>
              <a:gd name="adj2" fmla="val 4572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名を入力。今後も使うのでメモする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例</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 altLang="ja-JP" sz="14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 altLang="ja-JP" sz="14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 altLang="ja-JP" sz="14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400" dirty="0">
                <a:solidFill>
                  <a:schemeClr val="tx1">
                    <a:lumMod val="75000"/>
                    <a:lumOff val="25000"/>
                  </a:schemeClr>
                </a:solidFill>
                <a:latin typeface="Yu Gothic UI" panose="020B0500000000000000" pitchFamily="34" charset="-128"/>
                <a:ea typeface="Yu Gothic UI" panose="020B0500000000000000" pitchFamily="34" charset="-128"/>
              </a:rPr>
              <a:t>-dev)</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1" name="四角形吹き出し 20">
            <a:extLst>
              <a:ext uri="{FF2B5EF4-FFF2-40B4-BE49-F238E27FC236}">
                <a16:creationId xmlns:a16="http://schemas.microsoft.com/office/drawing/2014/main" id="{CE05463F-68CA-B1F7-18ED-459A79A583C3}"/>
              </a:ext>
            </a:extLst>
          </p:cNvPr>
          <p:cNvSpPr/>
          <p:nvPr/>
        </p:nvSpPr>
        <p:spPr>
          <a:xfrm>
            <a:off x="6419272" y="4869625"/>
            <a:ext cx="3267690" cy="434616"/>
          </a:xfrm>
          <a:prstGeom prst="wedgeRectCallout">
            <a:avLst>
              <a:gd name="adj1" fmla="val -53134"/>
              <a:gd name="adj2" fmla="val -6034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Tree>
    <p:extLst>
      <p:ext uri="{BB962C8B-B14F-4D97-AF65-F5344CB8AC3E}">
        <p14:creationId xmlns:p14="http://schemas.microsoft.com/office/powerpoint/2010/main" val="243478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96DE6-709C-DD8E-AEF4-7733DD378A05}"/>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31B89275-849C-3C5C-8B6D-526E7894F02A}"/>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UI" panose="020B0500000000000000" pitchFamily="34" charset="-128"/>
                <a:ea typeface="Yu Gothic UI" panose="020B0500000000000000" pitchFamily="34" charset="-128"/>
                <a:cs typeface="Yu Gothic"/>
              </a:rPr>
              <a:t>サブネットを作成する</a:t>
            </a:r>
            <a:endParaRPr lang="ja-JP" altLang="en-US" sz="2000" b="1" dirty="0">
              <a:solidFill>
                <a:srgbClr val="1F2937"/>
              </a:solidFill>
              <a:latin typeface="Yu Gothic UI" panose="020B0500000000000000" pitchFamily="34" charset="-128"/>
              <a:ea typeface="Yu Gothic UI" panose="020B0500000000000000" pitchFamily="34" charset="-128"/>
              <a:cs typeface="Yu Gothic"/>
            </a:endParaRPr>
          </a:p>
        </p:txBody>
      </p:sp>
      <p:sp>
        <p:nvSpPr>
          <p:cNvPr id="2" name="正方形/長方形 1">
            <a:extLst>
              <a:ext uri="{FF2B5EF4-FFF2-40B4-BE49-F238E27FC236}">
                <a16:creationId xmlns:a16="http://schemas.microsoft.com/office/drawing/2014/main" id="{A328BAAA-3480-FC7E-128D-9266D9C6F86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1D6D54F8-1D9B-69FE-6C6B-D56E8E01685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FB998CF-6655-1F8E-BAA1-31C3C4B1C84E}"/>
              </a:ext>
            </a:extLst>
          </p:cNvPr>
          <p:cNvSpPr>
            <a:spLocks noGrp="1"/>
          </p:cNvSpPr>
          <p:nvPr/>
        </p:nvSpPr>
        <p:spPr>
          <a:xfrm>
            <a:off x="685800" y="1390650"/>
            <a:ext cx="976589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Container Apps</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Private Endpoint</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PostgreSQL </a:t>
            </a:r>
            <a:r>
              <a:rPr lang="ja-JP" altLang="en-US" sz="1200">
                <a:solidFill>
                  <a:srgbClr val="64748B"/>
                </a:solidFill>
                <a:latin typeface="Yu Gothic"/>
                <a:ea typeface="Yu Gothic"/>
                <a:cs typeface="Yu Gothic"/>
              </a:rPr>
              <a:t>の用途を分けて、後続手順で参照するサブネット名をそろえます。</a:t>
            </a:r>
            <a:endParaRPr lang="ja-JP" altLang="en-US" sz="1200" dirty="0">
              <a:solidFill>
                <a:srgbClr val="64748B"/>
              </a:solidFill>
              <a:latin typeface="Yu Gothic"/>
              <a:ea typeface="Yu Gothic"/>
              <a:cs typeface="Yu Gothic"/>
            </a:endParaRPr>
          </a:p>
        </p:txBody>
      </p:sp>
      <p:sp>
        <p:nvSpPr>
          <p:cNvPr id="14" name="正方形/長方形 13">
            <a:extLst>
              <a:ext uri="{FF2B5EF4-FFF2-40B4-BE49-F238E27FC236}">
                <a16:creationId xmlns:a16="http://schemas.microsoft.com/office/drawing/2014/main" id="{016E5E6C-3259-B7EE-FD8E-423E0FA929CB}"/>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46</a:t>
            </a:r>
          </a:p>
        </p:txBody>
      </p:sp>
      <p:sp>
        <p:nvSpPr>
          <p:cNvPr id="3" name="正方形/長方形 2">
            <a:extLst>
              <a:ext uri="{FF2B5EF4-FFF2-40B4-BE49-F238E27FC236}">
                <a16:creationId xmlns:a16="http://schemas.microsoft.com/office/drawing/2014/main" id="{4864C32B-2E68-A133-902F-249E9B1CF4DF}"/>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7" name="図 6">
            <a:extLst>
              <a:ext uri="{FF2B5EF4-FFF2-40B4-BE49-F238E27FC236}">
                <a16:creationId xmlns:a16="http://schemas.microsoft.com/office/drawing/2014/main" id="{2E9ABF55-E175-11F2-3B29-22AEEF946D8A}"/>
              </a:ext>
            </a:extLst>
          </p:cNvPr>
          <p:cNvPicPr>
            <a:picLocks noChangeAspect="1"/>
          </p:cNvPicPr>
          <p:nvPr/>
        </p:nvPicPr>
        <p:blipFill>
          <a:blip r:embed="rId3" cstate="screen">
            <a:extLst>
              <a:ext uri="{28A0092B-C50C-407E-A947-70E740481C1C}">
                <a14:useLocalDpi xmlns:a14="http://schemas.microsoft.com/office/drawing/2010/main"/>
              </a:ext>
            </a:extLst>
          </a:blip>
          <a:stretch/>
        </p:blipFill>
        <p:spPr>
          <a:xfrm>
            <a:off x="685800" y="2409316"/>
            <a:ext cx="6000750" cy="3375422"/>
          </a:xfrm>
          <a:prstGeom prst="rect">
            <a:avLst/>
          </a:prstGeom>
        </p:spPr>
      </p:pic>
      <p:sp>
        <p:nvSpPr>
          <p:cNvPr id="8" name="正方形/長方形 7">
            <a:extLst>
              <a:ext uri="{FF2B5EF4-FFF2-40B4-BE49-F238E27FC236}">
                <a16:creationId xmlns:a16="http://schemas.microsoft.com/office/drawing/2014/main" id="{3840E01F-71CE-681C-8E7D-5BC72577FF23}"/>
              </a:ext>
            </a:extLst>
          </p:cNvPr>
          <p:cNvSpPr/>
          <p:nvPr/>
        </p:nvSpPr>
        <p:spPr>
          <a:xfrm>
            <a:off x="1538562" y="5571405"/>
            <a:ext cx="559704" cy="1603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吹き出し 8">
            <a:extLst>
              <a:ext uri="{FF2B5EF4-FFF2-40B4-BE49-F238E27FC236}">
                <a16:creationId xmlns:a16="http://schemas.microsoft.com/office/drawing/2014/main" id="{8EBCED12-701A-B8BE-D7F7-98F6E2EA511D}"/>
              </a:ext>
            </a:extLst>
          </p:cNvPr>
          <p:cNvSpPr/>
          <p:nvPr/>
        </p:nvSpPr>
        <p:spPr>
          <a:xfrm>
            <a:off x="2195359" y="5887304"/>
            <a:ext cx="4091448" cy="734270"/>
          </a:xfrm>
          <a:prstGeom prst="wedgeRectCallout">
            <a:avLst>
              <a:gd name="adj1" fmla="val -54163"/>
              <a:gd name="adj2" fmla="val -641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すべてのサブネットを作成したら、確認</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作成の画面で内容を確認し、作成を実行</a:t>
            </a:r>
          </a:p>
        </p:txBody>
      </p:sp>
      <p:sp>
        <p:nvSpPr>
          <p:cNvPr id="10" name="正方形/長方形 9">
            <a:extLst>
              <a:ext uri="{FF2B5EF4-FFF2-40B4-BE49-F238E27FC236}">
                <a16:creationId xmlns:a16="http://schemas.microsoft.com/office/drawing/2014/main" id="{8E4893C4-80E3-15E2-4E0C-400CCC1315D2}"/>
              </a:ext>
            </a:extLst>
          </p:cNvPr>
          <p:cNvSpPr/>
          <p:nvPr/>
        </p:nvSpPr>
        <p:spPr>
          <a:xfrm>
            <a:off x="7020232" y="2409316"/>
            <a:ext cx="4306529" cy="33754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作成するサブネット　</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目的はすべて</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Default)</a:t>
            </a:r>
          </a:p>
          <a:p>
            <a:pPr marL="342900" indent="-342900">
              <a:buFont typeface="+mj-lt"/>
              <a:buAutoNum type="arabicPeriod"/>
            </a:pP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Container Apps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サブネット</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800100" lvl="1" indent="-342900">
              <a:buFont typeface="Arial" panose="020B0604020202020204" pitchFamily="34" charset="0"/>
              <a:buChar char="•"/>
            </a:pP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Name: </a:t>
            </a:r>
            <a:r>
              <a:rPr kumimoji="1" lang="en"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snet</a:t>
            </a: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-container-apps</a:t>
            </a:r>
          </a:p>
          <a:p>
            <a:pPr marL="800100" lvl="1" indent="-342900">
              <a:buFont typeface="Arial" panose="020B0604020202020204" pitchFamily="34" charset="0"/>
              <a:buChar char="•"/>
            </a:pP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Subnet address range: 10.0.1.0/24 (256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アドレス</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p>
          <a:p>
            <a:pPr marL="800100" lvl="1" indent="-342900">
              <a:buFont typeface="Arial" panose="020B0604020202020204" pitchFamily="34" charset="0"/>
              <a:buChar char="•"/>
            </a:pP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Subnet Delegation: </a:t>
            </a:r>
            <a:r>
              <a:rPr kumimoji="1" lang="en"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Microsoft.App</a:t>
            </a: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/environments</a:t>
            </a:r>
          </a:p>
          <a:p>
            <a:pPr marL="800100" lvl="1" indent="-342900">
              <a:buFont typeface="Arial" panose="020B0604020202020204" pitchFamily="34" charset="0"/>
              <a:buChar char="•"/>
            </a:pP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Other settings: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デフォルトのままにします</a:t>
            </a:r>
          </a:p>
          <a:p>
            <a:pPr marL="342900" indent="-342900">
              <a:buFont typeface="+mj-lt"/>
              <a:buAutoNum type="arabicPeriod"/>
            </a:pP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プライベートエンドポイントサブネット</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800100" lvl="1" indent="-342900">
              <a:buFont typeface="Arial" panose="020B0604020202020204" pitchFamily="34" charset="0"/>
              <a:buChar char="•"/>
            </a:pP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Name: </a:t>
            </a:r>
            <a:r>
              <a:rPr kumimoji="1" lang="en"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snet</a:t>
            </a: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-private-endpoints</a:t>
            </a:r>
          </a:p>
          <a:p>
            <a:pPr marL="800100" lvl="1" indent="-342900">
              <a:buFont typeface="Arial" panose="020B0604020202020204" pitchFamily="34" charset="0"/>
              <a:buChar char="•"/>
            </a:pP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Subnet address range: 10.0.</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2</a:t>
            </a: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.0/24 (256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アドレス</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p>
          <a:p>
            <a:pPr marL="800100" lvl="1" indent="-342900">
              <a:buFont typeface="Arial" panose="020B0604020202020204" pitchFamily="34" charset="0"/>
              <a:buChar char="•"/>
            </a:pP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Other settings: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デフォルトのままにします</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342900" indent="-342900">
              <a:buFont typeface="+mj-lt"/>
              <a:buAutoNum type="arabicPeriod"/>
            </a:pPr>
            <a:r>
              <a:rPr lang="ja-JP" altLang="ja-JP" sz="1200">
                <a:solidFill>
                  <a:schemeClr val="tx1">
                    <a:lumMod val="75000"/>
                    <a:lumOff val="25000"/>
                  </a:schemeClr>
                </a:solidFill>
                <a:latin typeface="Yu Gothic UI" panose="020B0500000000000000" pitchFamily="34" charset="-128"/>
                <a:ea typeface="Yu Gothic UI" panose="020B0500000000000000" pitchFamily="34" charset="-128"/>
              </a:rPr>
              <a:t>PostgreSQL サブネット</a:t>
            </a:r>
            <a:endParaRPr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800100" lvl="1" indent="-342900">
              <a:buFont typeface="Arial" panose="020B0604020202020204" pitchFamily="34" charset="0"/>
              <a:buChar char="•"/>
            </a:pPr>
            <a:r>
              <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Name: </a:t>
            </a:r>
            <a:r>
              <a:rPr lang="en"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snet-postgresql</a:t>
            </a:r>
            <a:endPar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800100" lvl="1" indent="-342900">
              <a:buFont typeface="Arial" panose="020B0604020202020204" pitchFamily="34" charset="0"/>
              <a:buChar char="•"/>
            </a:pPr>
            <a:r>
              <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Subnet address range: 10.0.3.0/24 (256 </a:t>
            </a:r>
            <a:r>
              <a:rPr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アドレス</a:t>
            </a:r>
            <a:r>
              <a:rPr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p>
          <a:p>
            <a:pPr marL="800100" lvl="1" indent="-342900">
              <a:buFont typeface="Arial" panose="020B0604020202020204" pitchFamily="34" charset="0"/>
              <a:buChar char="•"/>
            </a:pPr>
            <a:r>
              <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Subnet Delegation: </a:t>
            </a:r>
            <a:r>
              <a:rPr lang="en"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Microsoft.DBforPostgreSQL</a:t>
            </a:r>
            <a:r>
              <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r>
              <a:rPr lang="en"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flexibleServers</a:t>
            </a:r>
            <a:endPar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800100" lvl="1" indent="-342900">
              <a:buFont typeface="Arial" panose="020B0604020202020204" pitchFamily="34" charset="0"/>
              <a:buChar char="•"/>
            </a:pPr>
            <a:r>
              <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Other settings: </a:t>
            </a:r>
            <a:r>
              <a:rPr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デフォルトのままにします</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1" name="正方形/長方形 10">
            <a:extLst>
              <a:ext uri="{FF2B5EF4-FFF2-40B4-BE49-F238E27FC236}">
                <a16:creationId xmlns:a16="http://schemas.microsoft.com/office/drawing/2014/main" id="{477BB20C-15D5-DB10-153F-ADB0826B68D4}"/>
              </a:ext>
            </a:extLst>
          </p:cNvPr>
          <p:cNvSpPr/>
          <p:nvPr/>
        </p:nvSpPr>
        <p:spPr>
          <a:xfrm>
            <a:off x="7020232" y="1740310"/>
            <a:ext cx="4306529" cy="5112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a:solidFill>
                  <a:srgbClr val="FF0000"/>
                </a:solidFill>
                <a:latin typeface="Yu Gothic UI" panose="020B0500000000000000" pitchFamily="34" charset="-128"/>
                <a:ea typeface="Yu Gothic UI" panose="020B0500000000000000" pitchFamily="34" charset="-128"/>
              </a:rPr>
              <a:t>特に設定が複雑な箇所なので注意すること</a:t>
            </a:r>
          </a:p>
        </p:txBody>
      </p:sp>
      <p:sp>
        <p:nvSpPr>
          <p:cNvPr id="12" name="正方形/長方形 11">
            <a:extLst>
              <a:ext uri="{FF2B5EF4-FFF2-40B4-BE49-F238E27FC236}">
                <a16:creationId xmlns:a16="http://schemas.microsoft.com/office/drawing/2014/main" id="{CDAF6A4B-1DE8-FDAE-8F79-12FCC9E0361A}"/>
              </a:ext>
            </a:extLst>
          </p:cNvPr>
          <p:cNvSpPr/>
          <p:nvPr/>
        </p:nvSpPr>
        <p:spPr>
          <a:xfrm>
            <a:off x="2495550" y="4704302"/>
            <a:ext cx="4191000" cy="30913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6FAC7A86-6D74-F1CC-89EC-841BD6E33540}"/>
              </a:ext>
            </a:extLst>
          </p:cNvPr>
          <p:cNvSpPr/>
          <p:nvPr/>
        </p:nvSpPr>
        <p:spPr>
          <a:xfrm>
            <a:off x="776562" y="3716329"/>
            <a:ext cx="559704" cy="1603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76B74195-AFA7-01CA-E88B-7AD94430C401}"/>
              </a:ext>
            </a:extLst>
          </p:cNvPr>
          <p:cNvSpPr/>
          <p:nvPr/>
        </p:nvSpPr>
        <p:spPr>
          <a:xfrm>
            <a:off x="716219" y="1705402"/>
            <a:ext cx="4091448" cy="734270"/>
          </a:xfrm>
          <a:prstGeom prst="wedgeRectCallout">
            <a:avLst>
              <a:gd name="adj1" fmla="val -39521"/>
              <a:gd name="adj2" fmla="val 1791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サブネットの追加から各サブネットの設定を入力し、追加していく。</a:t>
            </a:r>
          </a:p>
        </p:txBody>
      </p:sp>
      <p:sp>
        <p:nvSpPr>
          <p:cNvPr id="17" name="正方形/長方形 16">
            <a:extLst>
              <a:ext uri="{FF2B5EF4-FFF2-40B4-BE49-F238E27FC236}">
                <a16:creationId xmlns:a16="http://schemas.microsoft.com/office/drawing/2014/main" id="{7A924104-FE7A-1F2A-6878-FC5CE5FF9EBE}"/>
              </a:ext>
            </a:extLst>
          </p:cNvPr>
          <p:cNvSpPr/>
          <p:nvPr/>
        </p:nvSpPr>
        <p:spPr>
          <a:xfrm>
            <a:off x="2511440" y="5518364"/>
            <a:ext cx="347374" cy="1603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吹き出し 18">
            <a:extLst>
              <a:ext uri="{FF2B5EF4-FFF2-40B4-BE49-F238E27FC236}">
                <a16:creationId xmlns:a16="http://schemas.microsoft.com/office/drawing/2014/main" id="{047177EC-D1BE-21B7-53CA-8ACAA4523DD0}"/>
              </a:ext>
            </a:extLst>
          </p:cNvPr>
          <p:cNvSpPr/>
          <p:nvPr/>
        </p:nvSpPr>
        <p:spPr>
          <a:xfrm>
            <a:off x="3192496" y="5323339"/>
            <a:ext cx="1347973" cy="309133"/>
          </a:xfrm>
          <a:prstGeom prst="wedgeRectCallout">
            <a:avLst>
              <a:gd name="adj1" fmla="val -67418"/>
              <a:gd name="adj2" fmla="val 3781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サブネットの追加</a:t>
            </a:r>
          </a:p>
        </p:txBody>
      </p:sp>
      <p:sp>
        <p:nvSpPr>
          <p:cNvPr id="20" name="四角形吹き出し 19">
            <a:extLst>
              <a:ext uri="{FF2B5EF4-FFF2-40B4-BE49-F238E27FC236}">
                <a16:creationId xmlns:a16="http://schemas.microsoft.com/office/drawing/2014/main" id="{ACABE43E-1DA1-5094-CD92-B391146AF93A}"/>
              </a:ext>
            </a:extLst>
          </p:cNvPr>
          <p:cNvSpPr/>
          <p:nvPr/>
        </p:nvSpPr>
        <p:spPr>
          <a:xfrm>
            <a:off x="3243077" y="3876718"/>
            <a:ext cx="3178744" cy="640145"/>
          </a:xfrm>
          <a:prstGeom prst="wedgeRectCallout">
            <a:avLst>
              <a:gd name="adj1" fmla="val -55677"/>
              <a:gd name="adj2" fmla="val 5481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Container Apps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用サブネットと</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PostgreSQL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用サブネットはサブネットの委任を選択する</a:t>
            </a:r>
          </a:p>
        </p:txBody>
      </p:sp>
      <p:sp>
        <p:nvSpPr>
          <p:cNvPr id="6" name="正方形/長方形 5">
            <a:extLst>
              <a:ext uri="{FF2B5EF4-FFF2-40B4-BE49-F238E27FC236}">
                <a16:creationId xmlns:a16="http://schemas.microsoft.com/office/drawing/2014/main" id="{A564F8F3-6480-CEBA-48CB-76A789FF0199}"/>
              </a:ext>
            </a:extLst>
          </p:cNvPr>
          <p:cNvSpPr/>
          <p:nvPr/>
        </p:nvSpPr>
        <p:spPr>
          <a:xfrm>
            <a:off x="716218" y="4293820"/>
            <a:ext cx="1565163" cy="1603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5B7CA880-EAFE-FCB7-EFF8-D5D3797630FE}"/>
              </a:ext>
            </a:extLst>
          </p:cNvPr>
          <p:cNvSpPr/>
          <p:nvPr/>
        </p:nvSpPr>
        <p:spPr>
          <a:xfrm>
            <a:off x="74412" y="4743635"/>
            <a:ext cx="1222775" cy="734270"/>
          </a:xfrm>
          <a:prstGeom prst="wedgeRectCallout">
            <a:avLst>
              <a:gd name="adj1" fmla="val 32239"/>
              <a:gd name="adj2" fmla="val -774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5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05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050">
                <a:solidFill>
                  <a:schemeClr val="tx1">
                    <a:lumMod val="75000"/>
                    <a:lumOff val="25000"/>
                  </a:schemeClr>
                </a:solidFill>
                <a:latin typeface="Yu Gothic UI" panose="020B0500000000000000" pitchFamily="34" charset="-128"/>
                <a:ea typeface="Yu Gothic UI" panose="020B0500000000000000" pitchFamily="34" charset="-128"/>
              </a:rPr>
              <a:t>のアドレス空間はデフォルトの</a:t>
            </a:r>
            <a:r>
              <a:rPr kumimoji="1" lang="en-US" altLang="ja-JP" sz="1050" dirty="0">
                <a:solidFill>
                  <a:schemeClr val="tx1">
                    <a:lumMod val="75000"/>
                    <a:lumOff val="25000"/>
                  </a:schemeClr>
                </a:solidFill>
                <a:latin typeface="Yu Gothic UI" panose="020B0500000000000000" pitchFamily="34" charset="-128"/>
                <a:ea typeface="Yu Gothic UI" panose="020B0500000000000000" pitchFamily="34" charset="-128"/>
              </a:rPr>
              <a:t> 10.0.0.0/16 </a:t>
            </a:r>
            <a:r>
              <a:rPr kumimoji="1" lang="ja-JP" altLang="en-US" sz="1050">
                <a:solidFill>
                  <a:schemeClr val="tx1">
                    <a:lumMod val="75000"/>
                    <a:lumOff val="25000"/>
                  </a:schemeClr>
                </a:solidFill>
                <a:latin typeface="Yu Gothic UI" panose="020B0500000000000000" pitchFamily="34" charset="-128"/>
                <a:ea typeface="Yu Gothic UI" panose="020B0500000000000000" pitchFamily="34" charset="-128"/>
              </a:rPr>
              <a:t>のままにする</a:t>
            </a:r>
          </a:p>
        </p:txBody>
      </p:sp>
    </p:spTree>
    <p:extLst>
      <p:ext uri="{BB962C8B-B14F-4D97-AF65-F5344CB8AC3E}">
        <p14:creationId xmlns:p14="http://schemas.microsoft.com/office/powerpoint/2010/main" val="1605914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3726A-7B57-E4B3-E426-13FD5974115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EC456FB-23F6-8B41-6CB7-89835403A53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ACR </a:t>
            </a:r>
            <a:r>
              <a:rPr lang="ja-JP" altLang="en-US" sz="2025" b="1">
                <a:solidFill>
                  <a:srgbClr val="1F2937"/>
                </a:solidFill>
                <a:latin typeface="Meiryo UI"/>
                <a:ea typeface="Meiryo UI"/>
                <a:cs typeface="Meiryo UI"/>
              </a:rPr>
              <a:t>を作成する</a:t>
            </a:r>
          </a:p>
        </p:txBody>
      </p:sp>
      <p:sp>
        <p:nvSpPr>
          <p:cNvPr id="2" name="正方形/長方形 1">
            <a:extLst>
              <a:ext uri="{FF2B5EF4-FFF2-40B4-BE49-F238E27FC236}">
                <a16:creationId xmlns:a16="http://schemas.microsoft.com/office/drawing/2014/main" id="{86EDB195-D619-A39F-A595-97547C2FB37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E50529AF-51C7-0FBE-B223-B083DF815CA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5868230-D20A-D280-945E-C3B9339DA7CB}"/>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回で </a:t>
            </a:r>
            <a:r>
              <a:rPr lang="en" altLang="ja-JP" sz="1200" dirty="0">
                <a:solidFill>
                  <a:srgbClr val="64748B"/>
                </a:solidFill>
                <a:latin typeface="Yu Gothic"/>
                <a:ea typeface="Yu Gothic"/>
                <a:cs typeface="Yu Gothic"/>
              </a:rPr>
              <a:t>Web/API </a:t>
            </a:r>
            <a:r>
              <a:rPr lang="ja-JP" altLang="en-US" sz="1200">
                <a:solidFill>
                  <a:srgbClr val="64748B"/>
                </a:solidFill>
                <a:latin typeface="Yu Gothic"/>
                <a:ea typeface="Yu Gothic"/>
                <a:cs typeface="Yu Gothic"/>
              </a:rPr>
              <a:t>のコンテナイメージを </a:t>
            </a:r>
            <a:r>
              <a:rPr lang="en" altLang="ja-JP" sz="1200" dirty="0">
                <a:solidFill>
                  <a:srgbClr val="64748B"/>
                </a:solidFill>
                <a:latin typeface="Yu Gothic"/>
                <a:ea typeface="Yu Gothic"/>
                <a:cs typeface="Yu Gothic"/>
              </a:rPr>
              <a:t>push </a:t>
            </a:r>
            <a:r>
              <a:rPr lang="ja-JP" altLang="en-US" sz="1200">
                <a:solidFill>
                  <a:srgbClr val="64748B"/>
                </a:solidFill>
                <a:latin typeface="Yu Gothic"/>
                <a:ea typeface="Yu Gothic"/>
                <a:cs typeface="Yu Gothic"/>
              </a:rPr>
              <a:t>するため、受講者ごとの </a:t>
            </a:r>
            <a:r>
              <a:rPr lang="en" altLang="ja-JP" sz="1200" dirty="0">
                <a:solidFill>
                  <a:srgbClr val="64748B"/>
                </a:solidFill>
                <a:latin typeface="Yu Gothic"/>
                <a:ea typeface="Yu Gothic"/>
                <a:cs typeface="Yu Gothic"/>
              </a:rPr>
              <a:t>Azure Container Registry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EEFF3EE3-4AF7-441F-BFA2-72E5772F4D19}"/>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A813BC7C-8A95-042A-079A-3A5540BB059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7083" y="2347912"/>
            <a:ext cx="5144728" cy="3215455"/>
          </a:xfrm>
          <a:prstGeom prst="rect">
            <a:avLst/>
          </a:prstGeom>
        </p:spPr>
      </p:pic>
      <p:pic>
        <p:nvPicPr>
          <p:cNvPr id="7" name="図 6">
            <a:extLst>
              <a:ext uri="{FF2B5EF4-FFF2-40B4-BE49-F238E27FC236}">
                <a16:creationId xmlns:a16="http://schemas.microsoft.com/office/drawing/2014/main" id="{6130EE41-A3D7-26A5-E3BB-D4862883412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60691" y="2347912"/>
            <a:ext cx="5144728" cy="3215455"/>
          </a:xfrm>
          <a:prstGeom prst="rect">
            <a:avLst/>
          </a:prstGeom>
        </p:spPr>
      </p:pic>
      <p:sp>
        <p:nvSpPr>
          <p:cNvPr id="8" name="正方形/長方形 7">
            <a:extLst>
              <a:ext uri="{FF2B5EF4-FFF2-40B4-BE49-F238E27FC236}">
                <a16:creationId xmlns:a16="http://schemas.microsoft.com/office/drawing/2014/main" id="{F940035B-A820-346B-AE35-EA74E5DE589A}"/>
              </a:ext>
            </a:extLst>
          </p:cNvPr>
          <p:cNvSpPr/>
          <p:nvPr/>
        </p:nvSpPr>
        <p:spPr>
          <a:xfrm>
            <a:off x="2384714" y="2347912"/>
            <a:ext cx="1540741" cy="12858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B1491109-952D-DA5E-1C68-2A4F4444D7A5}"/>
              </a:ext>
            </a:extLst>
          </p:cNvPr>
          <p:cNvSpPr/>
          <p:nvPr/>
        </p:nvSpPr>
        <p:spPr>
          <a:xfrm>
            <a:off x="2957327" y="1786367"/>
            <a:ext cx="2621437" cy="309133"/>
          </a:xfrm>
          <a:prstGeom prst="wedgeRectCallout">
            <a:avLst>
              <a:gd name="adj1" fmla="val -57963"/>
              <a:gd name="adj2" fmla="val 10653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Container registries</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」で検索</a:t>
            </a:r>
          </a:p>
        </p:txBody>
      </p:sp>
      <p:sp>
        <p:nvSpPr>
          <p:cNvPr id="11" name="正方形/長方形 10">
            <a:extLst>
              <a:ext uri="{FF2B5EF4-FFF2-40B4-BE49-F238E27FC236}">
                <a16:creationId xmlns:a16="http://schemas.microsoft.com/office/drawing/2014/main" id="{4D333D8A-8CBB-44D5-BFAD-97C814C58EFD}"/>
              </a:ext>
            </a:extLst>
          </p:cNvPr>
          <p:cNvSpPr/>
          <p:nvPr/>
        </p:nvSpPr>
        <p:spPr>
          <a:xfrm>
            <a:off x="2384713" y="2783680"/>
            <a:ext cx="1540741" cy="1928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6DD9E797-9ADD-FFE1-B88F-06F292E859D8}"/>
              </a:ext>
            </a:extLst>
          </p:cNvPr>
          <p:cNvSpPr/>
          <p:nvPr/>
        </p:nvSpPr>
        <p:spPr>
          <a:xfrm>
            <a:off x="2957327" y="3175234"/>
            <a:ext cx="2621437" cy="309133"/>
          </a:xfrm>
          <a:prstGeom prst="wedgeRectCallout">
            <a:avLst>
              <a:gd name="adj1" fmla="val -49859"/>
              <a:gd name="adj2" fmla="val -10560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Container registries</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13" name="正方形/長方形 12">
            <a:extLst>
              <a:ext uri="{FF2B5EF4-FFF2-40B4-BE49-F238E27FC236}">
                <a16:creationId xmlns:a16="http://schemas.microsoft.com/office/drawing/2014/main" id="{636757B2-DF43-D13D-8B21-FB7019DAFB16}"/>
              </a:ext>
            </a:extLst>
          </p:cNvPr>
          <p:cNvSpPr/>
          <p:nvPr/>
        </p:nvSpPr>
        <p:spPr>
          <a:xfrm>
            <a:off x="6216445" y="2766166"/>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59A14EC4-127D-0223-FC5E-3EC8482198F9}"/>
              </a:ext>
            </a:extLst>
          </p:cNvPr>
          <p:cNvSpPr/>
          <p:nvPr/>
        </p:nvSpPr>
        <p:spPr>
          <a:xfrm>
            <a:off x="5931310" y="1905000"/>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2960978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825EB-A475-9D85-A6D8-32A78B39B36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765218B-F582-166F-2AFC-DC350A6B04A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ACR </a:t>
            </a:r>
            <a:r>
              <a:rPr lang="ja-JP" altLang="en-US" sz="2025" b="1">
                <a:solidFill>
                  <a:srgbClr val="1F2937"/>
                </a:solidFill>
                <a:latin typeface="Meiryo UI"/>
                <a:ea typeface="Meiryo UI"/>
                <a:cs typeface="Meiryo UI"/>
              </a:rPr>
              <a:t>を作成する</a:t>
            </a:r>
          </a:p>
        </p:txBody>
      </p:sp>
      <p:sp>
        <p:nvSpPr>
          <p:cNvPr id="2" name="正方形/長方形 1">
            <a:extLst>
              <a:ext uri="{FF2B5EF4-FFF2-40B4-BE49-F238E27FC236}">
                <a16:creationId xmlns:a16="http://schemas.microsoft.com/office/drawing/2014/main" id="{B4D16210-8646-B3E5-4B3B-EAD758B58A2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412192BF-B619-BC86-DFEA-BE906496F69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9AD8582-89FE-C2AF-A5E4-8E9BAA36118F}"/>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回で </a:t>
            </a:r>
            <a:r>
              <a:rPr lang="en" altLang="ja-JP" sz="1200" dirty="0">
                <a:solidFill>
                  <a:srgbClr val="64748B"/>
                </a:solidFill>
                <a:latin typeface="Yu Gothic"/>
                <a:ea typeface="Yu Gothic"/>
                <a:cs typeface="Yu Gothic"/>
              </a:rPr>
              <a:t>Web/API </a:t>
            </a:r>
            <a:r>
              <a:rPr lang="ja-JP" altLang="en-US" sz="1200">
                <a:solidFill>
                  <a:srgbClr val="64748B"/>
                </a:solidFill>
                <a:latin typeface="Yu Gothic"/>
                <a:ea typeface="Yu Gothic"/>
                <a:cs typeface="Yu Gothic"/>
              </a:rPr>
              <a:t>のコンテナイメージを </a:t>
            </a:r>
            <a:r>
              <a:rPr lang="en" altLang="ja-JP" sz="1200" dirty="0">
                <a:solidFill>
                  <a:srgbClr val="64748B"/>
                </a:solidFill>
                <a:latin typeface="Yu Gothic"/>
                <a:ea typeface="Yu Gothic"/>
                <a:cs typeface="Yu Gothic"/>
              </a:rPr>
              <a:t>push </a:t>
            </a:r>
            <a:r>
              <a:rPr lang="ja-JP" altLang="en-US" sz="1200">
                <a:solidFill>
                  <a:srgbClr val="64748B"/>
                </a:solidFill>
                <a:latin typeface="Yu Gothic"/>
                <a:ea typeface="Yu Gothic"/>
                <a:cs typeface="Yu Gothic"/>
              </a:rPr>
              <a:t>するため、受講者ごとの </a:t>
            </a:r>
            <a:r>
              <a:rPr lang="en" altLang="ja-JP" sz="1200" dirty="0">
                <a:solidFill>
                  <a:srgbClr val="64748B"/>
                </a:solidFill>
                <a:latin typeface="Yu Gothic"/>
                <a:ea typeface="Yu Gothic"/>
                <a:cs typeface="Yu Gothic"/>
              </a:rPr>
              <a:t>Azure Container Registry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605DB44D-84DB-8199-465A-CFA80F08447A}"/>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8" name="図 7">
            <a:extLst>
              <a:ext uri="{FF2B5EF4-FFF2-40B4-BE49-F238E27FC236}">
                <a16:creationId xmlns:a16="http://schemas.microsoft.com/office/drawing/2014/main" id="{E2113DD3-D224-E0F3-AC38-90FB83749ED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5800" y="2347912"/>
            <a:ext cx="5203722" cy="3252326"/>
          </a:xfrm>
          <a:prstGeom prst="rect">
            <a:avLst/>
          </a:prstGeom>
        </p:spPr>
      </p:pic>
      <p:pic>
        <p:nvPicPr>
          <p:cNvPr id="10" name="図 9">
            <a:extLst>
              <a:ext uri="{FF2B5EF4-FFF2-40B4-BE49-F238E27FC236}">
                <a16:creationId xmlns:a16="http://schemas.microsoft.com/office/drawing/2014/main" id="{CA7D92E0-F8FB-F2A3-613A-7C0E1201415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02480" y="2348373"/>
            <a:ext cx="5051323" cy="3157077"/>
          </a:xfrm>
          <a:prstGeom prst="rect">
            <a:avLst/>
          </a:prstGeom>
        </p:spPr>
      </p:pic>
      <p:sp>
        <p:nvSpPr>
          <p:cNvPr id="11" name="正方形/長方形 10">
            <a:extLst>
              <a:ext uri="{FF2B5EF4-FFF2-40B4-BE49-F238E27FC236}">
                <a16:creationId xmlns:a16="http://schemas.microsoft.com/office/drawing/2014/main" id="{0102F029-5FA9-F81E-984F-67DA16C5D05D}"/>
              </a:ext>
            </a:extLst>
          </p:cNvPr>
          <p:cNvSpPr/>
          <p:nvPr/>
        </p:nvSpPr>
        <p:spPr>
          <a:xfrm>
            <a:off x="6416039" y="5284339"/>
            <a:ext cx="559704" cy="1603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670EF8E0-1EAD-B6C3-B7BF-EB62092306C0}"/>
              </a:ext>
            </a:extLst>
          </p:cNvPr>
          <p:cNvSpPr/>
          <p:nvPr/>
        </p:nvSpPr>
        <p:spPr>
          <a:xfrm>
            <a:off x="5051922" y="5747555"/>
            <a:ext cx="1856492" cy="780011"/>
          </a:xfrm>
          <a:prstGeom prst="wedgeRectCallout">
            <a:avLst>
              <a:gd name="adj1" fmla="val 27019"/>
              <a:gd name="adj2" fmla="val -7251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確認</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作成の画面で内容を確認し、作成を実行</a:t>
            </a:r>
          </a:p>
        </p:txBody>
      </p:sp>
      <p:sp>
        <p:nvSpPr>
          <p:cNvPr id="3" name="正方形/長方形 2">
            <a:extLst>
              <a:ext uri="{FF2B5EF4-FFF2-40B4-BE49-F238E27FC236}">
                <a16:creationId xmlns:a16="http://schemas.microsoft.com/office/drawing/2014/main" id="{FD7B60D1-1857-F323-BBC4-A1068C70D257}"/>
              </a:ext>
            </a:extLst>
          </p:cNvPr>
          <p:cNvSpPr/>
          <p:nvPr/>
        </p:nvSpPr>
        <p:spPr>
          <a:xfrm>
            <a:off x="1631698" y="3429000"/>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4F5B17F6-CF0D-6E8B-E5E9-58BE6EE63A59}"/>
              </a:ext>
            </a:extLst>
          </p:cNvPr>
          <p:cNvSpPr/>
          <p:nvPr/>
        </p:nvSpPr>
        <p:spPr>
          <a:xfrm>
            <a:off x="2127735" y="2669920"/>
            <a:ext cx="3545513" cy="434616"/>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13" name="正方形/長方形 12">
            <a:extLst>
              <a:ext uri="{FF2B5EF4-FFF2-40B4-BE49-F238E27FC236}">
                <a16:creationId xmlns:a16="http://schemas.microsoft.com/office/drawing/2014/main" id="{D863C6D4-C1C7-382D-24C6-F90843ABA834}"/>
              </a:ext>
            </a:extLst>
          </p:cNvPr>
          <p:cNvSpPr/>
          <p:nvPr/>
        </p:nvSpPr>
        <p:spPr>
          <a:xfrm>
            <a:off x="1632005" y="3601064"/>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306423FB-62D6-209F-8F2C-85B71138E2E5}"/>
              </a:ext>
            </a:extLst>
          </p:cNvPr>
          <p:cNvSpPr/>
          <p:nvPr/>
        </p:nvSpPr>
        <p:spPr>
          <a:xfrm>
            <a:off x="3598838" y="3163279"/>
            <a:ext cx="2113936" cy="686299"/>
          </a:xfrm>
          <a:prstGeom prst="wedgeRectCallout">
            <a:avLst>
              <a:gd name="adj1" fmla="val -56167"/>
              <a:gd name="adj2" fmla="val 2822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講師から指示された参加者ごとのリソースグループ名を選択</a:t>
            </a:r>
          </a:p>
        </p:txBody>
      </p:sp>
      <p:sp>
        <p:nvSpPr>
          <p:cNvPr id="15" name="正方形/長方形 14">
            <a:extLst>
              <a:ext uri="{FF2B5EF4-FFF2-40B4-BE49-F238E27FC236}">
                <a16:creationId xmlns:a16="http://schemas.microsoft.com/office/drawing/2014/main" id="{62F7EEF7-8AB4-4AB9-7F34-D7D392E23067}"/>
              </a:ext>
            </a:extLst>
          </p:cNvPr>
          <p:cNvSpPr/>
          <p:nvPr/>
        </p:nvSpPr>
        <p:spPr>
          <a:xfrm>
            <a:off x="1631698" y="4185624"/>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E6BFE3C3-6B5A-F262-B0D0-22F937CC8A30}"/>
              </a:ext>
            </a:extLst>
          </p:cNvPr>
          <p:cNvSpPr/>
          <p:nvPr/>
        </p:nvSpPr>
        <p:spPr>
          <a:xfrm>
            <a:off x="3797093" y="4591087"/>
            <a:ext cx="1487539" cy="434616"/>
          </a:xfrm>
          <a:prstGeom prst="wedgeRectCallout">
            <a:avLst>
              <a:gd name="adj1" fmla="val -73439"/>
              <a:gd name="adj2" fmla="val -1049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17" name="正方形/長方形 16">
            <a:extLst>
              <a:ext uri="{FF2B5EF4-FFF2-40B4-BE49-F238E27FC236}">
                <a16:creationId xmlns:a16="http://schemas.microsoft.com/office/drawing/2014/main" id="{FDDCA879-0418-3027-F1F4-7D8CD2D9AC9C}"/>
              </a:ext>
            </a:extLst>
          </p:cNvPr>
          <p:cNvSpPr/>
          <p:nvPr/>
        </p:nvSpPr>
        <p:spPr>
          <a:xfrm>
            <a:off x="1631698" y="3930905"/>
            <a:ext cx="1790700" cy="14948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1595CCD8-35F1-F838-4648-BCDA0CC04414}"/>
              </a:ext>
            </a:extLst>
          </p:cNvPr>
          <p:cNvSpPr/>
          <p:nvPr/>
        </p:nvSpPr>
        <p:spPr>
          <a:xfrm>
            <a:off x="3598838" y="3904175"/>
            <a:ext cx="2113936" cy="496412"/>
          </a:xfrm>
          <a:prstGeom prst="wedgeRectCallout">
            <a:avLst>
              <a:gd name="adj1" fmla="val -56167"/>
              <a:gd name="adj2" fmla="val -242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ACR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名を入力</a:t>
            </a:r>
          </a:p>
        </p:txBody>
      </p:sp>
      <p:sp>
        <p:nvSpPr>
          <p:cNvPr id="19" name="正方形/長方形 18">
            <a:extLst>
              <a:ext uri="{FF2B5EF4-FFF2-40B4-BE49-F238E27FC236}">
                <a16:creationId xmlns:a16="http://schemas.microsoft.com/office/drawing/2014/main" id="{EE6EBF0B-374D-EC4B-A396-354A4D227A14}"/>
              </a:ext>
            </a:extLst>
          </p:cNvPr>
          <p:cNvSpPr/>
          <p:nvPr/>
        </p:nvSpPr>
        <p:spPr>
          <a:xfrm>
            <a:off x="1631698" y="4707523"/>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EDBBD0C8-D658-78D8-6ED4-300FD5984AB6}"/>
              </a:ext>
            </a:extLst>
          </p:cNvPr>
          <p:cNvSpPr/>
          <p:nvPr/>
        </p:nvSpPr>
        <p:spPr>
          <a:xfrm>
            <a:off x="3675011" y="5248444"/>
            <a:ext cx="1487539" cy="434616"/>
          </a:xfrm>
          <a:prstGeom prst="wedgeRectCallout">
            <a:avLst>
              <a:gd name="adj1" fmla="val -67230"/>
              <a:gd name="adj2" fmla="val -1134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Plan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は</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Premium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21" name="テキスト ボックス 20">
            <a:extLst>
              <a:ext uri="{FF2B5EF4-FFF2-40B4-BE49-F238E27FC236}">
                <a16:creationId xmlns:a16="http://schemas.microsoft.com/office/drawing/2014/main" id="{6F02CA54-7242-55DD-8AD1-7442EE0DBD45}"/>
              </a:ext>
            </a:extLst>
          </p:cNvPr>
          <p:cNvSpPr txBox="1"/>
          <p:nvPr/>
        </p:nvSpPr>
        <p:spPr>
          <a:xfrm>
            <a:off x="1154545" y="5788134"/>
            <a:ext cx="3906982" cy="221599"/>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ほかはデフォルト値を利用</a:t>
            </a:r>
          </a:p>
        </p:txBody>
      </p:sp>
      <p:sp>
        <p:nvSpPr>
          <p:cNvPr id="22" name="正方形/長方形 21">
            <a:extLst>
              <a:ext uri="{FF2B5EF4-FFF2-40B4-BE49-F238E27FC236}">
                <a16:creationId xmlns:a16="http://schemas.microsoft.com/office/drawing/2014/main" id="{70421ED3-AE8A-3518-37CB-96B783CD81BB}"/>
              </a:ext>
            </a:extLst>
          </p:cNvPr>
          <p:cNvSpPr/>
          <p:nvPr/>
        </p:nvSpPr>
        <p:spPr>
          <a:xfrm>
            <a:off x="6555479" y="2850976"/>
            <a:ext cx="353321" cy="1603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吹き出し 22">
            <a:extLst>
              <a:ext uri="{FF2B5EF4-FFF2-40B4-BE49-F238E27FC236}">
                <a16:creationId xmlns:a16="http://schemas.microsoft.com/office/drawing/2014/main" id="{ECB742E5-CE1E-9570-28FE-75B3A85122B4}"/>
              </a:ext>
            </a:extLst>
          </p:cNvPr>
          <p:cNvSpPr/>
          <p:nvPr/>
        </p:nvSpPr>
        <p:spPr>
          <a:xfrm>
            <a:off x="4285657" y="1667710"/>
            <a:ext cx="1738776" cy="562103"/>
          </a:xfrm>
          <a:prstGeom prst="wedgeRectCallout">
            <a:avLst>
              <a:gd name="adj1" fmla="val 68653"/>
              <a:gd name="adj2" fmla="val 15474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「ネットワーク」をクリックし、ネットワーク設定の画面に遷移</a:t>
            </a:r>
          </a:p>
        </p:txBody>
      </p:sp>
      <p:sp>
        <p:nvSpPr>
          <p:cNvPr id="24" name="正方形/長方形 23">
            <a:extLst>
              <a:ext uri="{FF2B5EF4-FFF2-40B4-BE49-F238E27FC236}">
                <a16:creationId xmlns:a16="http://schemas.microsoft.com/office/drawing/2014/main" id="{9E7ACA14-0273-2B74-A29C-14ED91A2DF44}"/>
              </a:ext>
            </a:extLst>
          </p:cNvPr>
          <p:cNvSpPr/>
          <p:nvPr/>
        </p:nvSpPr>
        <p:spPr>
          <a:xfrm>
            <a:off x="7248206" y="3362036"/>
            <a:ext cx="796667" cy="11997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吹き出し 24">
            <a:extLst>
              <a:ext uri="{FF2B5EF4-FFF2-40B4-BE49-F238E27FC236}">
                <a16:creationId xmlns:a16="http://schemas.microsoft.com/office/drawing/2014/main" id="{5DBBC683-A27B-B5AD-8557-8BC83EA3E1A2}"/>
              </a:ext>
            </a:extLst>
          </p:cNvPr>
          <p:cNvSpPr/>
          <p:nvPr/>
        </p:nvSpPr>
        <p:spPr>
          <a:xfrm>
            <a:off x="6167569" y="1675132"/>
            <a:ext cx="1738776" cy="562103"/>
          </a:xfrm>
          <a:prstGeom prst="wedgeRectCallout">
            <a:avLst>
              <a:gd name="adj1" fmla="val 30407"/>
              <a:gd name="adj2" fmla="val 2253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プライベートアクセスを選択</a:t>
            </a:r>
          </a:p>
        </p:txBody>
      </p:sp>
      <p:sp>
        <p:nvSpPr>
          <p:cNvPr id="26" name="正方形/長方形 25">
            <a:extLst>
              <a:ext uri="{FF2B5EF4-FFF2-40B4-BE49-F238E27FC236}">
                <a16:creationId xmlns:a16="http://schemas.microsoft.com/office/drawing/2014/main" id="{91595467-560B-E5BB-3ABB-1BECE9E89E5A}"/>
              </a:ext>
            </a:extLst>
          </p:cNvPr>
          <p:cNvSpPr/>
          <p:nvPr/>
        </p:nvSpPr>
        <p:spPr>
          <a:xfrm>
            <a:off x="6302480" y="3541079"/>
            <a:ext cx="1012720" cy="9842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吹き出し 26">
            <a:extLst>
              <a:ext uri="{FF2B5EF4-FFF2-40B4-BE49-F238E27FC236}">
                <a16:creationId xmlns:a16="http://schemas.microsoft.com/office/drawing/2014/main" id="{8A375D09-1F71-16F3-E9B1-B6956A36E10A}"/>
              </a:ext>
            </a:extLst>
          </p:cNvPr>
          <p:cNvSpPr/>
          <p:nvPr/>
        </p:nvSpPr>
        <p:spPr>
          <a:xfrm>
            <a:off x="8020708" y="1675131"/>
            <a:ext cx="1738776" cy="562103"/>
          </a:xfrm>
          <a:prstGeom prst="wedgeRectCallout">
            <a:avLst>
              <a:gd name="adj1" fmla="val -97082"/>
              <a:gd name="adj2" fmla="val 28126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プライベートエンドポイント接続を作成の</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をクリック</a:t>
            </a:r>
          </a:p>
        </p:txBody>
      </p:sp>
      <p:sp>
        <p:nvSpPr>
          <p:cNvPr id="28" name="正方形/長方形 27">
            <a:extLst>
              <a:ext uri="{FF2B5EF4-FFF2-40B4-BE49-F238E27FC236}">
                <a16:creationId xmlns:a16="http://schemas.microsoft.com/office/drawing/2014/main" id="{8B99396F-6AA7-F44E-634D-E9B040EA65F0}"/>
              </a:ext>
            </a:extLst>
          </p:cNvPr>
          <p:cNvSpPr/>
          <p:nvPr/>
        </p:nvSpPr>
        <p:spPr>
          <a:xfrm>
            <a:off x="9253123" y="3180208"/>
            <a:ext cx="2100679" cy="1750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吹き出し 28">
            <a:extLst>
              <a:ext uri="{FF2B5EF4-FFF2-40B4-BE49-F238E27FC236}">
                <a16:creationId xmlns:a16="http://schemas.microsoft.com/office/drawing/2014/main" id="{804D5AA9-98CF-9B79-EC22-67C342FACFF2}"/>
              </a:ext>
            </a:extLst>
          </p:cNvPr>
          <p:cNvSpPr/>
          <p:nvPr/>
        </p:nvSpPr>
        <p:spPr>
          <a:xfrm>
            <a:off x="9881787" y="1810211"/>
            <a:ext cx="1738776" cy="419602"/>
          </a:xfrm>
          <a:prstGeom prst="wedgeRectCallout">
            <a:avLst>
              <a:gd name="adj1" fmla="val -56711"/>
              <a:gd name="adj2" fmla="val 24750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名前は「</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pe-</a:t>
            </a:r>
            <a:r>
              <a:rPr kumimoji="1" lang="en-US"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acr</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0" name="正方形/長方形 29">
            <a:extLst>
              <a:ext uri="{FF2B5EF4-FFF2-40B4-BE49-F238E27FC236}">
                <a16:creationId xmlns:a16="http://schemas.microsoft.com/office/drawing/2014/main" id="{01F481D2-A590-919C-9178-81CAE7C7B142}"/>
              </a:ext>
            </a:extLst>
          </p:cNvPr>
          <p:cNvSpPr/>
          <p:nvPr/>
        </p:nvSpPr>
        <p:spPr>
          <a:xfrm>
            <a:off x="9253123" y="3724392"/>
            <a:ext cx="2100679" cy="35599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四角形吹き出し 30">
            <a:extLst>
              <a:ext uri="{FF2B5EF4-FFF2-40B4-BE49-F238E27FC236}">
                <a16:creationId xmlns:a16="http://schemas.microsoft.com/office/drawing/2014/main" id="{E55502E8-3F14-7133-EC90-41D23873DE75}"/>
              </a:ext>
            </a:extLst>
          </p:cNvPr>
          <p:cNvSpPr/>
          <p:nvPr/>
        </p:nvSpPr>
        <p:spPr>
          <a:xfrm>
            <a:off x="6039026" y="3882071"/>
            <a:ext cx="1738776" cy="815609"/>
          </a:xfrm>
          <a:prstGeom prst="wedgeRectCallout">
            <a:avLst>
              <a:gd name="adj1" fmla="val 119116"/>
              <a:gd name="adj2" fmla="val -4305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は先ほど作成した</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を選択。サブネットはプライベートエンドポイント用のサブネットを選択</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2" name="正方形/長方形 31">
            <a:extLst>
              <a:ext uri="{FF2B5EF4-FFF2-40B4-BE49-F238E27FC236}">
                <a16:creationId xmlns:a16="http://schemas.microsoft.com/office/drawing/2014/main" id="{A7EE2C16-3FCF-4D04-694E-64E94E44DE4A}"/>
              </a:ext>
            </a:extLst>
          </p:cNvPr>
          <p:cNvSpPr/>
          <p:nvPr/>
        </p:nvSpPr>
        <p:spPr>
          <a:xfrm>
            <a:off x="8359407" y="5284338"/>
            <a:ext cx="350484" cy="18141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四角形吹き出し 32">
            <a:extLst>
              <a:ext uri="{FF2B5EF4-FFF2-40B4-BE49-F238E27FC236}">
                <a16:creationId xmlns:a16="http://schemas.microsoft.com/office/drawing/2014/main" id="{204BBC6F-C3EB-6476-0BC9-409A3363FF3B}"/>
              </a:ext>
            </a:extLst>
          </p:cNvPr>
          <p:cNvSpPr/>
          <p:nvPr/>
        </p:nvSpPr>
        <p:spPr>
          <a:xfrm>
            <a:off x="8828141" y="5683060"/>
            <a:ext cx="1738776" cy="815609"/>
          </a:xfrm>
          <a:prstGeom prst="wedgeRectCallout">
            <a:avLst>
              <a:gd name="adj1" fmla="val -54587"/>
              <a:gd name="adj2" fmla="val -7136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OK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でプライベートエンドポイントの設定を完了</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460732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F7D43-B602-DA97-4A27-5DA5B9626DA4}"/>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B80A000-F084-2730-D82E-EC62A32E532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ACR</a:t>
            </a:r>
            <a:r>
              <a:rPr lang="en-US" altLang="ja-JP" sz="2025" b="1" dirty="0">
                <a:solidFill>
                  <a:srgbClr val="1F2937"/>
                </a:solidFill>
                <a:latin typeface="Meiryo UI"/>
                <a:ea typeface="Meiryo UI"/>
                <a:cs typeface="Meiryo UI"/>
              </a:rPr>
              <a:t> </a:t>
            </a:r>
            <a:r>
              <a:rPr lang="ja-JP" altLang="en-US" sz="2025" b="1">
                <a:solidFill>
                  <a:srgbClr val="1F2937"/>
                </a:solidFill>
                <a:latin typeface="Meiryo UI"/>
                <a:ea typeface="Meiryo UI"/>
                <a:cs typeface="Meiryo UI"/>
              </a:rPr>
              <a:t>のファイアウォール設定</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534A3E9B-71DF-F2B5-C52E-DF483B0AB44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EDCF5C55-058E-83A5-2A8D-E04F362F4BC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68ABCECD-C718-97D0-C1AF-B1D4566CF9BC}"/>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リソースグループの画面から、作成した</a:t>
            </a:r>
            <a:r>
              <a:rPr lang="en-US" altLang="ja-JP" sz="1200" dirty="0">
                <a:solidFill>
                  <a:srgbClr val="64748B"/>
                </a:solidFill>
                <a:latin typeface="Yu Gothic"/>
                <a:ea typeface="Yu Gothic"/>
                <a:cs typeface="Yu Gothic"/>
              </a:rPr>
              <a:t> ACR </a:t>
            </a:r>
            <a:r>
              <a:rPr lang="ja-JP" altLang="en-US" sz="1200">
                <a:solidFill>
                  <a:srgbClr val="64748B"/>
                </a:solidFill>
                <a:latin typeface="Yu Gothic"/>
                <a:ea typeface="Yu Gothic"/>
                <a:cs typeface="Yu Gothic"/>
              </a:rPr>
              <a:t>の画面に遷移し、ネットワークの設定画面を開く</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492D01DF-28EC-FA91-AFFC-DE18B6A42E14}"/>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790BC0B3-C9C4-4ABF-EC76-FB8CBDFB6A6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84335" y="2347912"/>
            <a:ext cx="5052060" cy="3157538"/>
          </a:xfrm>
          <a:prstGeom prst="rect">
            <a:avLst/>
          </a:prstGeom>
        </p:spPr>
      </p:pic>
      <p:pic>
        <p:nvPicPr>
          <p:cNvPr id="7" name="図 6">
            <a:extLst>
              <a:ext uri="{FF2B5EF4-FFF2-40B4-BE49-F238E27FC236}">
                <a16:creationId xmlns:a16="http://schemas.microsoft.com/office/drawing/2014/main" id="{8F8E5791-9963-32F8-DF49-40EF9CA8DF1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55604" y="2347912"/>
            <a:ext cx="5052061" cy="3157538"/>
          </a:xfrm>
          <a:prstGeom prst="rect">
            <a:avLst/>
          </a:prstGeom>
        </p:spPr>
      </p:pic>
      <p:sp>
        <p:nvSpPr>
          <p:cNvPr id="8" name="正方形/長方形 7">
            <a:extLst>
              <a:ext uri="{FF2B5EF4-FFF2-40B4-BE49-F238E27FC236}">
                <a16:creationId xmlns:a16="http://schemas.microsoft.com/office/drawing/2014/main" id="{FA41891D-DFC2-FEC4-1A0F-85D9D17B4E8A}"/>
              </a:ext>
            </a:extLst>
          </p:cNvPr>
          <p:cNvSpPr/>
          <p:nvPr/>
        </p:nvSpPr>
        <p:spPr>
          <a:xfrm>
            <a:off x="1816425" y="4289169"/>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6C693C85-4530-5E3E-8298-E941A9C3B35C}"/>
              </a:ext>
            </a:extLst>
          </p:cNvPr>
          <p:cNvSpPr/>
          <p:nvPr/>
        </p:nvSpPr>
        <p:spPr>
          <a:xfrm>
            <a:off x="2127735" y="2669920"/>
            <a:ext cx="3545513" cy="434616"/>
          </a:xfrm>
          <a:prstGeom prst="wedgeRectCallout">
            <a:avLst>
              <a:gd name="adj1" fmla="val -34440"/>
              <a:gd name="adj2" fmla="val 30751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ACR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の作成が完了したらリソースグループの画面から作成した</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ACR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11" name="正方形/長方形 10">
            <a:extLst>
              <a:ext uri="{FF2B5EF4-FFF2-40B4-BE49-F238E27FC236}">
                <a16:creationId xmlns:a16="http://schemas.microsoft.com/office/drawing/2014/main" id="{19B52377-6BD1-C2BF-249F-4B81B9A960AF}"/>
              </a:ext>
            </a:extLst>
          </p:cNvPr>
          <p:cNvSpPr/>
          <p:nvPr/>
        </p:nvSpPr>
        <p:spPr>
          <a:xfrm>
            <a:off x="6424518" y="4289168"/>
            <a:ext cx="798318" cy="1467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64F831B8-ACC2-95DA-A634-E3ED3C5BE841}"/>
              </a:ext>
            </a:extLst>
          </p:cNvPr>
          <p:cNvSpPr/>
          <p:nvPr/>
        </p:nvSpPr>
        <p:spPr>
          <a:xfrm>
            <a:off x="7535626" y="3665896"/>
            <a:ext cx="3545513" cy="434616"/>
          </a:xfrm>
          <a:prstGeom prst="wedgeRectCallout">
            <a:avLst>
              <a:gd name="adj1" fmla="val -53718"/>
              <a:gd name="adj2" fmla="val 10349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ACR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のネットワーク設定の画面に遷移する</a:t>
            </a:r>
          </a:p>
        </p:txBody>
      </p:sp>
    </p:spTree>
    <p:extLst>
      <p:ext uri="{BB962C8B-B14F-4D97-AF65-F5344CB8AC3E}">
        <p14:creationId xmlns:p14="http://schemas.microsoft.com/office/powerpoint/2010/main" val="7117274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2DFF7-E729-EB70-306B-63A5AE7B0B6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65F1ABC-F820-B423-62E5-6BD2D8405EB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ACR </a:t>
            </a:r>
            <a:r>
              <a:rPr lang="ja-JP" altLang="en-US" sz="2025" b="1">
                <a:solidFill>
                  <a:srgbClr val="1F2937"/>
                </a:solidFill>
                <a:latin typeface="Meiryo UI"/>
                <a:ea typeface="Meiryo UI"/>
                <a:cs typeface="Meiryo UI"/>
              </a:rPr>
              <a:t>のファイアウォール設定</a:t>
            </a:r>
            <a:endParaRPr lang="ja-JP" altLang="en-US"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9BF8F81C-9D4F-D2A2-1B4D-2A0F8389007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7AFB364D-46A6-D091-41A4-DC725EB3B2B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63285F27-F5A8-C207-DE79-7E04B331E71D}"/>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en-US" altLang="ja-JP" sz="1200" dirty="0">
                <a:solidFill>
                  <a:srgbClr val="64748B"/>
                </a:solidFill>
                <a:latin typeface="Yu Gothic"/>
                <a:ea typeface="Yu Gothic"/>
                <a:cs typeface="Yu Gothic"/>
              </a:rPr>
              <a:t>ACR </a:t>
            </a:r>
            <a:r>
              <a:rPr lang="ja-JP" altLang="en-US" sz="1200">
                <a:solidFill>
                  <a:srgbClr val="64748B"/>
                </a:solidFill>
                <a:latin typeface="Yu Gothic"/>
                <a:ea typeface="Yu Gothic"/>
                <a:cs typeface="Yu Gothic"/>
              </a:rPr>
              <a:t>のネットワークの設定で、</a:t>
            </a:r>
            <a:r>
              <a:rPr lang="en-US" altLang="ja-JP" sz="1200" dirty="0">
                <a:solidFill>
                  <a:srgbClr val="64748B"/>
                </a:solidFill>
                <a:latin typeface="Yu Gothic"/>
                <a:ea typeface="Yu Gothic"/>
                <a:cs typeface="Yu Gothic"/>
              </a:rPr>
              <a:t>ACR </a:t>
            </a:r>
            <a:r>
              <a:rPr lang="ja-JP" altLang="en-US" sz="1200">
                <a:solidFill>
                  <a:srgbClr val="64748B"/>
                </a:solidFill>
                <a:latin typeface="Yu Gothic"/>
                <a:ea typeface="Yu Gothic"/>
                <a:cs typeface="Yu Gothic"/>
              </a:rPr>
              <a:t>が</a:t>
            </a:r>
            <a:r>
              <a:rPr lang="en-US" altLang="ja-JP" sz="1200" dirty="0">
                <a:solidFill>
                  <a:srgbClr val="64748B"/>
                </a:solidFill>
                <a:latin typeface="Yu Gothic"/>
                <a:ea typeface="Yu Gothic"/>
                <a:cs typeface="Yu Gothic"/>
              </a:rPr>
              <a:t> Docker file </a:t>
            </a:r>
            <a:r>
              <a:rPr lang="ja-JP" altLang="en-US" sz="1200">
                <a:solidFill>
                  <a:srgbClr val="64748B"/>
                </a:solidFill>
                <a:latin typeface="Yu Gothic"/>
                <a:ea typeface="Yu Gothic"/>
                <a:cs typeface="Yu Gothic"/>
              </a:rPr>
              <a:t>からコンテナイメージを作成できるように、</a:t>
            </a:r>
            <a:r>
              <a:rPr lang="en-US" altLang="ja-JP" sz="1200" dirty="0">
                <a:solidFill>
                  <a:srgbClr val="64748B"/>
                </a:solidFill>
                <a:latin typeface="Yu Gothic"/>
                <a:ea typeface="Yu Gothic"/>
                <a:cs typeface="Yu Gothic"/>
              </a:rPr>
              <a:t>ACR </a:t>
            </a:r>
            <a:r>
              <a:rPr lang="ja-JP" altLang="en-US" sz="1200">
                <a:solidFill>
                  <a:srgbClr val="64748B"/>
                </a:solidFill>
                <a:latin typeface="Yu Gothic"/>
                <a:ea typeface="Yu Gothic"/>
                <a:cs typeface="Yu Gothic"/>
              </a:rPr>
              <a:t>自身の</a:t>
            </a:r>
            <a:r>
              <a:rPr lang="en-US" altLang="ja-JP" sz="1200" dirty="0">
                <a:solidFill>
                  <a:srgbClr val="64748B"/>
                </a:solidFill>
                <a:latin typeface="Yu Gothic"/>
                <a:ea typeface="Yu Gothic"/>
                <a:cs typeface="Yu Gothic"/>
              </a:rPr>
              <a:t> IP </a:t>
            </a:r>
            <a:r>
              <a:rPr lang="ja-JP" altLang="en-US" sz="1200">
                <a:solidFill>
                  <a:srgbClr val="64748B"/>
                </a:solidFill>
                <a:latin typeface="Yu Gothic"/>
                <a:ea typeface="Yu Gothic"/>
                <a:cs typeface="Yu Gothic"/>
              </a:rPr>
              <a:t>アドレスが送信元の場合のパブリックアクセスを許可します。</a:t>
            </a:r>
            <a:endParaRPr lang="en-US" altLang="ja-JP"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29BF42EE-03AB-3F5B-9F3C-8FB3FB8D88B2}"/>
              </a:ext>
            </a:extLst>
          </p:cNvPr>
          <p:cNvSpPr>
            <a:spLocks noGrp="1"/>
          </p:cNvSpPr>
          <p:nvPr/>
        </p:nvSpPr>
        <p:spPr>
          <a:xfrm>
            <a:off x="550606" y="2157412"/>
            <a:ext cx="11080955" cy="4614860"/>
          </a:xfrm>
          <a:prstGeom prst="rect">
            <a:avLst/>
          </a:prstGeom>
          <a:solidFill>
            <a:srgbClr val="FFFFFF"/>
          </a:solidFill>
          <a:ln w="9525">
            <a:solidFill>
              <a:srgbClr val="D0D5DD"/>
            </a:solidFill>
            <a:prstDash val="solid"/>
          </a:ln>
        </p:spPr>
        <p:txBody>
          <a:bodyPr/>
          <a:lstStyle/>
          <a:p>
            <a:endParaRPr lang="ja-JP" altLang="en-US" sz="1600">
              <a:latin typeface="Yu Gothic UI" panose="020B0500000000000000" pitchFamily="34" charset="-128"/>
              <a:ea typeface="Yu Gothic UI" panose="020B0500000000000000" pitchFamily="34" charset="-128"/>
            </a:endParaRPr>
          </a:p>
        </p:txBody>
      </p:sp>
      <p:sp>
        <p:nvSpPr>
          <p:cNvPr id="3" name="テキスト ボックス 2">
            <a:extLst>
              <a:ext uri="{FF2B5EF4-FFF2-40B4-BE49-F238E27FC236}">
                <a16:creationId xmlns:a16="http://schemas.microsoft.com/office/drawing/2014/main" id="{B34A79B8-7B2D-3E33-A1A2-F0E892D5A39D}"/>
              </a:ext>
            </a:extLst>
          </p:cNvPr>
          <p:cNvSpPr txBox="1"/>
          <p:nvPr/>
        </p:nvSpPr>
        <p:spPr>
          <a:xfrm>
            <a:off x="685800" y="2286000"/>
            <a:ext cx="8242641" cy="443198"/>
          </a:xfrm>
          <a:prstGeom prst="rect">
            <a:avLst/>
          </a:prstGeom>
          <a:noFill/>
        </p:spPr>
        <p:txBody>
          <a:bodyPr wrap="none" lIns="0" tIns="0" rIns="0" bIns="0" rtlCol="0" anchor="ctr">
            <a:spAutoFit/>
          </a:bodyPr>
          <a:lstStyle/>
          <a:p>
            <a:pPr marL="342900" indent="-342900" defTabSz="931757" rtl="0" fontAlgn="base">
              <a:lnSpc>
                <a:spcPct val="90000"/>
              </a:lnSpc>
              <a:spcBef>
                <a:spcPct val="0"/>
              </a:spcBef>
              <a:spcAft>
                <a:spcPct val="0"/>
              </a:spcAft>
              <a:buFont typeface="+mj-lt"/>
              <a:buAutoNum type="arabicPeriod"/>
            </a:pPr>
            <a:r>
              <a:rPr lang="ja-JP" altLang="ja-JP" sz="1600" u="sng">
                <a:latin typeface="Yu Gothic UI" panose="020B0500000000000000" pitchFamily="34" charset="-128"/>
                <a:ea typeface="Yu Gothic UI" panose="020B0500000000000000" pitchFamily="34" charset="-128"/>
                <a:hlinkClick r:id="rId3"/>
              </a:rPr>
              <a:t>Azure IP Ranges and Service Tags - Public Cloud</a:t>
            </a:r>
            <a:r>
              <a:rPr lang="en-US" altLang="ja-JP" sz="1600" dirty="0">
                <a:latin typeface="Yu Gothic UI" panose="020B0500000000000000" pitchFamily="34" charset="-128"/>
                <a:ea typeface="Yu Gothic UI" panose="020B0500000000000000" pitchFamily="34" charset="-128"/>
              </a:rPr>
              <a:t> </a:t>
            </a:r>
            <a:r>
              <a:rPr lang="ja-JP" altLang="en-US" sz="1600">
                <a:latin typeface="Yu Gothic UI" panose="020B0500000000000000" pitchFamily="34" charset="-128"/>
                <a:ea typeface="Yu Gothic UI" panose="020B0500000000000000" pitchFamily="34" charset="-128"/>
              </a:rPr>
              <a:t>から</a:t>
            </a:r>
            <a:r>
              <a:rPr lang="en-US" altLang="ja-JP" sz="1600" dirty="0">
                <a:latin typeface="Yu Gothic UI" panose="020B0500000000000000" pitchFamily="34" charset="-128"/>
                <a:ea typeface="Yu Gothic UI" panose="020B0500000000000000" pitchFamily="34" charset="-128"/>
              </a:rPr>
              <a:t> Azure </a:t>
            </a:r>
            <a:r>
              <a:rPr lang="ja-JP" altLang="en-US" sz="1600">
                <a:latin typeface="Yu Gothic UI" panose="020B0500000000000000" pitchFamily="34" charset="-128"/>
                <a:ea typeface="Yu Gothic UI" panose="020B0500000000000000" pitchFamily="34" charset="-128"/>
              </a:rPr>
              <a:t>の</a:t>
            </a:r>
            <a:r>
              <a:rPr lang="en-US" altLang="ja-JP" sz="1600" dirty="0">
                <a:latin typeface="Yu Gothic UI" panose="020B0500000000000000" pitchFamily="34" charset="-128"/>
                <a:ea typeface="Yu Gothic UI" panose="020B0500000000000000" pitchFamily="34" charset="-128"/>
              </a:rPr>
              <a:t> IP </a:t>
            </a:r>
            <a:r>
              <a:rPr lang="ja-JP" altLang="en-US" sz="1600">
                <a:latin typeface="Yu Gothic UI" panose="020B0500000000000000" pitchFamily="34" charset="-128"/>
                <a:ea typeface="Yu Gothic UI" panose="020B0500000000000000" pitchFamily="34" charset="-128"/>
              </a:rPr>
              <a:t>アドレスリストをダウンロード</a:t>
            </a:r>
            <a:endParaRPr lang="en-US" altLang="ja-JP" sz="1600" dirty="0">
              <a:latin typeface="Yu Gothic UI" panose="020B0500000000000000" pitchFamily="34" charset="-128"/>
              <a:ea typeface="Yu Gothic UI" panose="020B0500000000000000" pitchFamily="34" charset="-128"/>
            </a:endParaRPr>
          </a:p>
          <a:p>
            <a:pPr marL="342900" indent="-342900" defTabSz="931757" rtl="0" fontAlgn="base">
              <a:lnSpc>
                <a:spcPct val="90000"/>
              </a:lnSpc>
              <a:spcBef>
                <a:spcPct val="0"/>
              </a:spcBef>
              <a:spcAft>
                <a:spcPct val="0"/>
              </a:spcAft>
              <a:buFont typeface="+mj-lt"/>
              <a:buAutoNum type="arabicPeriod"/>
            </a:pPr>
            <a:r>
              <a:rPr kumimoji="0" lang="en-US" altLang="ja-JP" sz="1600" b="0" i="0" strike="noStrike" kern="1200" cap="none" spc="0" normalizeH="0" baseline="0" noProof="0" dirty="0" err="1">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VSCode</a:t>
            </a:r>
            <a:r>
              <a:rPr kumimoji="0" lang="en-US" altLang="ja-JP" sz="1600" b="0" i="0"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などのエディタで</a:t>
            </a: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 </a:t>
            </a:r>
            <a:r>
              <a:rPr lang="ja-JP" altLang="ja-JP" sz="1600">
                <a:latin typeface="Yu Gothic UI" panose="020B0500000000000000" pitchFamily="34" charset="-128"/>
                <a:ea typeface="Yu Gothic UI" panose="020B0500000000000000" pitchFamily="34" charset="-128"/>
              </a:rPr>
              <a:t>AzureContainerRegistry.JapanEast</a:t>
            </a:r>
            <a:r>
              <a:rPr lang="en-US" altLang="ja-JP" sz="1600" dirty="0">
                <a:latin typeface="Yu Gothic UI" panose="020B0500000000000000" pitchFamily="34" charset="-128"/>
                <a:ea typeface="Yu Gothic UI" panose="020B0500000000000000" pitchFamily="34" charset="-128"/>
              </a:rPr>
              <a:t> </a:t>
            </a:r>
            <a:r>
              <a:rPr lang="ja-JP" altLang="en-US" sz="1600">
                <a:latin typeface="Yu Gothic UI" panose="020B0500000000000000" pitchFamily="34" charset="-128"/>
                <a:ea typeface="Yu Gothic UI" panose="020B0500000000000000" pitchFamily="34" charset="-128"/>
              </a:rPr>
              <a:t>のアドレスの配列を検索</a:t>
            </a:r>
            <a:endParaRPr kumimoji="0" lang="ja-JP" altLang="en-US" sz="1600" b="0" i="0"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7" name="図 6" descr="AzureContainerRegistry.JapanEast の IP 範囲">
            <a:extLst>
              <a:ext uri="{FF2B5EF4-FFF2-40B4-BE49-F238E27FC236}">
                <a16:creationId xmlns:a16="http://schemas.microsoft.com/office/drawing/2014/main" id="{D05C583B-34D7-30C2-CF1B-758945C4A64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99166" y="2842067"/>
            <a:ext cx="3306134" cy="3817335"/>
          </a:xfrm>
          <a:prstGeom prst="rect">
            <a:avLst/>
          </a:prstGeom>
        </p:spPr>
      </p:pic>
      <p:pic>
        <p:nvPicPr>
          <p:cNvPr id="8" name="図 7">
            <a:extLst>
              <a:ext uri="{FF2B5EF4-FFF2-40B4-BE49-F238E27FC236}">
                <a16:creationId xmlns:a16="http://schemas.microsoft.com/office/drawing/2014/main" id="{CE822BF7-6A99-0DCB-10C7-7096CD1ABD1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162550" y="3068362"/>
            <a:ext cx="5383592" cy="3364745"/>
          </a:xfrm>
          <a:prstGeom prst="rect">
            <a:avLst/>
          </a:prstGeom>
        </p:spPr>
      </p:pic>
      <p:sp>
        <p:nvSpPr>
          <p:cNvPr id="10" name="正方形/長方形 9">
            <a:extLst>
              <a:ext uri="{FF2B5EF4-FFF2-40B4-BE49-F238E27FC236}">
                <a16:creationId xmlns:a16="http://schemas.microsoft.com/office/drawing/2014/main" id="{50DAC822-62BB-AA56-D00A-4B1EEBCFF5F5}"/>
              </a:ext>
            </a:extLst>
          </p:cNvPr>
          <p:cNvSpPr/>
          <p:nvPr/>
        </p:nvSpPr>
        <p:spPr>
          <a:xfrm>
            <a:off x="7161799" y="4088524"/>
            <a:ext cx="610092" cy="908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a:extLst>
              <a:ext uri="{FF2B5EF4-FFF2-40B4-BE49-F238E27FC236}">
                <a16:creationId xmlns:a16="http://schemas.microsoft.com/office/drawing/2014/main" id="{AE43F47E-80C6-3898-66DC-33385075AF0D}"/>
              </a:ext>
            </a:extLst>
          </p:cNvPr>
          <p:cNvSpPr/>
          <p:nvPr/>
        </p:nvSpPr>
        <p:spPr>
          <a:xfrm>
            <a:off x="8174378" y="3114461"/>
            <a:ext cx="2113936" cy="686299"/>
          </a:xfrm>
          <a:prstGeom prst="wedgeRectCallout">
            <a:avLst>
              <a:gd name="adj1" fmla="val -65942"/>
              <a:gd name="adj2" fmla="val 8193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選択したネットワークを許可</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2" name="正方形/長方形 11">
            <a:extLst>
              <a:ext uri="{FF2B5EF4-FFF2-40B4-BE49-F238E27FC236}">
                <a16:creationId xmlns:a16="http://schemas.microsoft.com/office/drawing/2014/main" id="{73CB6FDB-F081-2513-DF65-B30EADC5CCA9}"/>
              </a:ext>
            </a:extLst>
          </p:cNvPr>
          <p:cNvSpPr/>
          <p:nvPr/>
        </p:nvSpPr>
        <p:spPr>
          <a:xfrm>
            <a:off x="6252654" y="3790245"/>
            <a:ext cx="274270" cy="11960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吹き出し 12">
            <a:extLst>
              <a:ext uri="{FF2B5EF4-FFF2-40B4-BE49-F238E27FC236}">
                <a16:creationId xmlns:a16="http://schemas.microsoft.com/office/drawing/2014/main" id="{F38DF840-4B6B-78D0-61B9-111769F704CB}"/>
              </a:ext>
            </a:extLst>
          </p:cNvPr>
          <p:cNvSpPr/>
          <p:nvPr/>
        </p:nvSpPr>
        <p:spPr>
          <a:xfrm>
            <a:off x="6688785" y="2815950"/>
            <a:ext cx="1227765" cy="686299"/>
          </a:xfrm>
          <a:prstGeom prst="wedgeRectCallout">
            <a:avLst>
              <a:gd name="adj1" fmla="val -65942"/>
              <a:gd name="adj2" fmla="val 8193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全てに入力したら保存</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4" name="正方形/長方形 13">
            <a:extLst>
              <a:ext uri="{FF2B5EF4-FFF2-40B4-BE49-F238E27FC236}">
                <a16:creationId xmlns:a16="http://schemas.microsoft.com/office/drawing/2014/main" id="{B14D4FF0-4286-677D-9C36-B5405CD7D9C0}"/>
              </a:ext>
            </a:extLst>
          </p:cNvPr>
          <p:cNvSpPr/>
          <p:nvPr/>
        </p:nvSpPr>
        <p:spPr>
          <a:xfrm>
            <a:off x="1885457" y="4179385"/>
            <a:ext cx="1624997" cy="248001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3771CAFD-06DA-A091-88DE-A7FC0C26AFBF}"/>
              </a:ext>
            </a:extLst>
          </p:cNvPr>
          <p:cNvSpPr/>
          <p:nvPr/>
        </p:nvSpPr>
        <p:spPr>
          <a:xfrm>
            <a:off x="6229349" y="4864041"/>
            <a:ext cx="1401161" cy="159391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矢印コネクタ 16">
            <a:extLst>
              <a:ext uri="{FF2B5EF4-FFF2-40B4-BE49-F238E27FC236}">
                <a16:creationId xmlns:a16="http://schemas.microsoft.com/office/drawing/2014/main" id="{CBA78F54-F6EA-EBF7-1DC6-A796DA7E96F7}"/>
              </a:ext>
            </a:extLst>
          </p:cNvPr>
          <p:cNvCxnSpPr/>
          <p:nvPr/>
        </p:nvCxnSpPr>
        <p:spPr>
          <a:xfrm>
            <a:off x="3647090" y="5612524"/>
            <a:ext cx="2322786"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四角形吹き出し 17">
            <a:extLst>
              <a:ext uri="{FF2B5EF4-FFF2-40B4-BE49-F238E27FC236}">
                <a16:creationId xmlns:a16="http://schemas.microsoft.com/office/drawing/2014/main" id="{DE11D0E0-44A6-7D89-253F-BB7A9803B6E4}"/>
              </a:ext>
            </a:extLst>
          </p:cNvPr>
          <p:cNvSpPr/>
          <p:nvPr/>
        </p:nvSpPr>
        <p:spPr>
          <a:xfrm>
            <a:off x="3791042" y="4470750"/>
            <a:ext cx="2178834" cy="686299"/>
          </a:xfrm>
          <a:prstGeom prst="wedgeRectCallout">
            <a:avLst>
              <a:gd name="adj1" fmla="val -27161"/>
              <a:gd name="adj2" fmla="val 895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ja-JP" sz="1400">
                <a:solidFill>
                  <a:schemeClr val="tx1">
                    <a:lumMod val="75000"/>
                    <a:lumOff val="25000"/>
                  </a:schemeClr>
                </a:solidFill>
                <a:latin typeface="Yu Gothic UI" panose="020B0500000000000000" pitchFamily="34" charset="-128"/>
                <a:ea typeface="Yu Gothic UI" panose="020B0500000000000000" pitchFamily="34" charset="-128"/>
              </a:rPr>
              <a:t>AzureContainerRegistry.JapanEast</a:t>
            </a:r>
            <a:r>
              <a:rPr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のアドレスを転記</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003813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5EB55-6694-7F77-DD00-1C6AE5AA374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C648ED8-E5A6-AC17-1F67-26D0E2CA189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en" altLang="ja-JP" sz="2000" b="1" dirty="0">
                <a:solidFill>
                  <a:srgbClr val="1F2937"/>
                </a:solidFill>
                <a:latin typeface="Yu Gothic"/>
                <a:ea typeface="Yu Gothic"/>
                <a:cs typeface="Yu Gothic"/>
              </a:rPr>
              <a:t>ACR </a:t>
            </a:r>
            <a:r>
              <a:rPr lang="ja-JP" altLang="en-US" sz="2000" b="1">
                <a:solidFill>
                  <a:srgbClr val="1F2937"/>
                </a:solidFill>
                <a:latin typeface="Yu Gothic"/>
                <a:ea typeface="Yu Gothic"/>
                <a:cs typeface="Yu Gothic"/>
              </a:rPr>
              <a:t>の </a:t>
            </a:r>
            <a:r>
              <a:rPr lang="en" altLang="ja-JP" sz="2000" b="1" dirty="0">
                <a:solidFill>
                  <a:srgbClr val="1F2937"/>
                </a:solidFill>
                <a:latin typeface="Yu Gothic"/>
                <a:ea typeface="Yu Gothic"/>
                <a:cs typeface="Yu Gothic"/>
              </a:rPr>
              <a:t>Overview </a:t>
            </a:r>
            <a:r>
              <a:rPr lang="ja-JP" altLang="en-US" sz="2000" b="1">
                <a:solidFill>
                  <a:srgbClr val="1F2937"/>
                </a:solidFill>
                <a:latin typeface="Yu Gothic"/>
                <a:ea typeface="Yu Gothic"/>
                <a:cs typeface="Yu Gothic"/>
              </a:rPr>
              <a:t>を確認する</a:t>
            </a:r>
          </a:p>
        </p:txBody>
      </p:sp>
      <p:sp>
        <p:nvSpPr>
          <p:cNvPr id="2" name="正方形/長方形 1">
            <a:extLst>
              <a:ext uri="{FF2B5EF4-FFF2-40B4-BE49-F238E27FC236}">
                <a16:creationId xmlns:a16="http://schemas.microsoft.com/office/drawing/2014/main" id="{DBA4FC9E-583B-E57F-2E06-AE9128ABC21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767B5875-CC8F-1EB5-9838-E79E5BB67B5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C9E7E5F-DC2E-D0D2-2731-B6BA99594F4A}"/>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回の </a:t>
            </a:r>
            <a:r>
              <a:rPr lang="en" altLang="ja-JP" sz="1200" dirty="0">
                <a:solidFill>
                  <a:srgbClr val="64748B"/>
                </a:solidFill>
                <a:latin typeface="Yu Gothic"/>
                <a:ea typeface="Yu Gothic"/>
                <a:cs typeface="Yu Gothic"/>
              </a:rPr>
              <a:t>GitHub Actions </a:t>
            </a:r>
            <a:r>
              <a:rPr lang="ja-JP" altLang="en-US" sz="1200">
                <a:solidFill>
                  <a:srgbClr val="64748B"/>
                </a:solidFill>
                <a:latin typeface="Yu Gothic"/>
                <a:ea typeface="Yu Gothic"/>
                <a:cs typeface="Yu Gothic"/>
              </a:rPr>
              <a:t>設定では </a:t>
            </a:r>
            <a:r>
              <a:rPr lang="en" altLang="ja-JP" sz="1200" dirty="0">
                <a:solidFill>
                  <a:srgbClr val="64748B"/>
                </a:solidFill>
                <a:latin typeface="Yu Gothic"/>
                <a:ea typeface="Yu Gothic"/>
                <a:cs typeface="Yu Gothic"/>
              </a:rPr>
              <a:t>ACR </a:t>
            </a:r>
            <a:r>
              <a:rPr lang="ja-JP" altLang="en-US" sz="1200">
                <a:solidFill>
                  <a:srgbClr val="64748B"/>
                </a:solidFill>
                <a:latin typeface="Yu Gothic"/>
                <a:ea typeface="Yu Gothic"/>
                <a:cs typeface="Yu Gothic"/>
              </a:rPr>
              <a:t>名と </a:t>
            </a:r>
            <a:r>
              <a:rPr lang="en" altLang="ja-JP" sz="1200" dirty="0">
                <a:solidFill>
                  <a:srgbClr val="64748B"/>
                </a:solidFill>
                <a:latin typeface="Yu Gothic"/>
                <a:ea typeface="Yu Gothic"/>
                <a:cs typeface="Yu Gothic"/>
              </a:rPr>
              <a:t>login server </a:t>
            </a:r>
            <a:r>
              <a:rPr lang="ja-JP" altLang="en-US" sz="1200">
                <a:solidFill>
                  <a:srgbClr val="64748B"/>
                </a:solidFill>
                <a:latin typeface="Yu Gothic"/>
                <a:ea typeface="Yu Gothic"/>
                <a:cs typeface="Yu Gothic"/>
              </a:rPr>
              <a:t>を参照します。画面で確認し、接続情報一覧に記録します。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6F47BE2D-A403-ADEE-0C6D-9BB8C5E8593E}"/>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7223250D-244C-7F1A-9122-4A039DAF651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121891" y="2264064"/>
            <a:ext cx="5948217" cy="3717636"/>
          </a:xfrm>
          <a:prstGeom prst="rect">
            <a:avLst/>
          </a:prstGeom>
        </p:spPr>
      </p:pic>
      <p:sp>
        <p:nvSpPr>
          <p:cNvPr id="7" name="正方形/長方形 6">
            <a:extLst>
              <a:ext uri="{FF2B5EF4-FFF2-40B4-BE49-F238E27FC236}">
                <a16:creationId xmlns:a16="http://schemas.microsoft.com/office/drawing/2014/main" id="{355F6B6B-08E9-78CA-23BA-CCD4C54C07E2}"/>
              </a:ext>
            </a:extLst>
          </p:cNvPr>
          <p:cNvSpPr/>
          <p:nvPr/>
        </p:nvSpPr>
        <p:spPr>
          <a:xfrm>
            <a:off x="3315854" y="2557098"/>
            <a:ext cx="989445" cy="14915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8162370F-7321-5DCA-B63B-F54279CB8563}"/>
              </a:ext>
            </a:extLst>
          </p:cNvPr>
          <p:cNvSpPr/>
          <p:nvPr/>
        </p:nvSpPr>
        <p:spPr>
          <a:xfrm>
            <a:off x="4048898" y="1749604"/>
            <a:ext cx="1659175" cy="434616"/>
          </a:xfrm>
          <a:prstGeom prst="wedgeRectCallout">
            <a:avLst>
              <a:gd name="adj1" fmla="val -42516"/>
              <a:gd name="adj2" fmla="val 13537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ACR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名をメモしておく</a:t>
            </a:r>
          </a:p>
        </p:txBody>
      </p:sp>
      <p:sp>
        <p:nvSpPr>
          <p:cNvPr id="11" name="正方形/長方形 10">
            <a:extLst>
              <a:ext uri="{FF2B5EF4-FFF2-40B4-BE49-F238E27FC236}">
                <a16:creationId xmlns:a16="http://schemas.microsoft.com/office/drawing/2014/main" id="{6C54953F-D63E-8EA4-47F6-5B65350350A1}"/>
              </a:ext>
            </a:extLst>
          </p:cNvPr>
          <p:cNvSpPr/>
          <p:nvPr/>
        </p:nvSpPr>
        <p:spPr>
          <a:xfrm>
            <a:off x="4878485" y="3446283"/>
            <a:ext cx="1217515" cy="10971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D5FF7621-EDA6-4F32-6BDB-40F4C21B18F2}"/>
              </a:ext>
            </a:extLst>
          </p:cNvPr>
          <p:cNvSpPr/>
          <p:nvPr/>
        </p:nvSpPr>
        <p:spPr>
          <a:xfrm>
            <a:off x="5217409" y="2488947"/>
            <a:ext cx="1659175" cy="434616"/>
          </a:xfrm>
          <a:prstGeom prst="wedgeRectCallout">
            <a:avLst>
              <a:gd name="adj1" fmla="val -42516"/>
              <a:gd name="adj2" fmla="val 13537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サブスクリプション</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をメモしておく</a:t>
            </a:r>
          </a:p>
        </p:txBody>
      </p:sp>
    </p:spTree>
    <p:extLst>
      <p:ext uri="{BB962C8B-B14F-4D97-AF65-F5344CB8AC3E}">
        <p14:creationId xmlns:p14="http://schemas.microsoft.com/office/powerpoint/2010/main" val="3868902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15384-50F6-0858-C0F8-AC40EC8D1F9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52020E4-0CE3-5CB7-5DCD-66F43D86C2F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1F5FA20-24E2-0EA0-94E5-526FC3191B8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D896428F-69C5-BC5B-7D3F-4C06E0A7D67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DFDCAAE-EFF9-A51C-2E02-DA82F0EB5ECC}"/>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まず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側のプレースホルダー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を作成し、この操作の中で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も用意します。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AA4DEE00-8AAC-4670-A7CE-2F48A2B8AD85}"/>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11" name="図 10">
            <a:extLst>
              <a:ext uri="{FF2B5EF4-FFF2-40B4-BE49-F238E27FC236}">
                <a16:creationId xmlns:a16="http://schemas.microsoft.com/office/drawing/2014/main" id="{D4257D26-1325-645B-CB49-2E03618D24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3630" y="2413143"/>
            <a:ext cx="5191531" cy="3244707"/>
          </a:xfrm>
          <a:prstGeom prst="rect">
            <a:avLst/>
          </a:prstGeom>
        </p:spPr>
      </p:pic>
      <p:pic>
        <p:nvPicPr>
          <p:cNvPr id="12" name="図 11">
            <a:extLst>
              <a:ext uri="{FF2B5EF4-FFF2-40B4-BE49-F238E27FC236}">
                <a16:creationId xmlns:a16="http://schemas.microsoft.com/office/drawing/2014/main" id="{5118E16C-F079-17E5-2A63-8E93A2D79F6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06838" y="2413142"/>
            <a:ext cx="5191532" cy="3244708"/>
          </a:xfrm>
          <a:prstGeom prst="rect">
            <a:avLst/>
          </a:prstGeom>
        </p:spPr>
      </p:pic>
      <p:sp>
        <p:nvSpPr>
          <p:cNvPr id="3" name="正方形/長方形 2">
            <a:extLst>
              <a:ext uri="{FF2B5EF4-FFF2-40B4-BE49-F238E27FC236}">
                <a16:creationId xmlns:a16="http://schemas.microsoft.com/office/drawing/2014/main" id="{54C210C6-0DF4-DAB7-88BC-015DB9956A4E}"/>
              </a:ext>
            </a:extLst>
          </p:cNvPr>
          <p:cNvSpPr/>
          <p:nvPr/>
        </p:nvSpPr>
        <p:spPr>
          <a:xfrm>
            <a:off x="2384714" y="2413142"/>
            <a:ext cx="1540741" cy="12858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B0E69E82-62FA-FE35-6F4B-0FE4EDB347E5}"/>
              </a:ext>
            </a:extLst>
          </p:cNvPr>
          <p:cNvSpPr/>
          <p:nvPr/>
        </p:nvSpPr>
        <p:spPr>
          <a:xfrm>
            <a:off x="2957327" y="1851597"/>
            <a:ext cx="2621437" cy="309133"/>
          </a:xfrm>
          <a:prstGeom prst="wedgeRectCallout">
            <a:avLst>
              <a:gd name="adj1" fmla="val -57963"/>
              <a:gd name="adj2" fmla="val 10653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「コンテナーアプリ」で検索</a:t>
            </a:r>
          </a:p>
        </p:txBody>
      </p:sp>
      <p:sp>
        <p:nvSpPr>
          <p:cNvPr id="8" name="正方形/長方形 7">
            <a:extLst>
              <a:ext uri="{FF2B5EF4-FFF2-40B4-BE49-F238E27FC236}">
                <a16:creationId xmlns:a16="http://schemas.microsoft.com/office/drawing/2014/main" id="{41D3C14F-06C6-F206-911F-4B1C50C81B0B}"/>
              </a:ext>
            </a:extLst>
          </p:cNvPr>
          <p:cNvSpPr/>
          <p:nvPr/>
        </p:nvSpPr>
        <p:spPr>
          <a:xfrm>
            <a:off x="2384713" y="2848910"/>
            <a:ext cx="1540741" cy="1928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C57C3D68-070F-63EE-8968-A5AD4C556774}"/>
              </a:ext>
            </a:extLst>
          </p:cNvPr>
          <p:cNvSpPr/>
          <p:nvPr/>
        </p:nvSpPr>
        <p:spPr>
          <a:xfrm>
            <a:off x="2957327" y="3240464"/>
            <a:ext cx="2621437" cy="309133"/>
          </a:xfrm>
          <a:prstGeom prst="wedgeRectCallout">
            <a:avLst>
              <a:gd name="adj1" fmla="val -49859"/>
              <a:gd name="adj2" fmla="val -10560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「コンテナーアプリ」を選択</a:t>
            </a:r>
          </a:p>
        </p:txBody>
      </p:sp>
      <p:sp>
        <p:nvSpPr>
          <p:cNvPr id="13" name="正方形/長方形 12">
            <a:extLst>
              <a:ext uri="{FF2B5EF4-FFF2-40B4-BE49-F238E27FC236}">
                <a16:creationId xmlns:a16="http://schemas.microsoft.com/office/drawing/2014/main" id="{7E236039-5008-0756-42EA-3F8BDD223053}"/>
              </a:ext>
            </a:extLst>
          </p:cNvPr>
          <p:cNvSpPr/>
          <p:nvPr/>
        </p:nvSpPr>
        <p:spPr>
          <a:xfrm>
            <a:off x="6216445" y="2831396"/>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CCCF67E5-E089-390C-6729-97E845BB9843}"/>
              </a:ext>
            </a:extLst>
          </p:cNvPr>
          <p:cNvSpPr/>
          <p:nvPr/>
        </p:nvSpPr>
        <p:spPr>
          <a:xfrm>
            <a:off x="5931310" y="1970230"/>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3449648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B323D-B09A-E1E6-BF77-657C956C549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1AFE3FA-B387-E4B0-374E-6911EFD558F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400" b="1" dirty="0">
                <a:solidFill>
                  <a:srgbClr val="1F2937"/>
                </a:solidFill>
                <a:latin typeface="Yu Gothic"/>
                <a:ea typeface="Yu Gothic"/>
                <a:cs typeface="Yu Gothic"/>
              </a:rPr>
              <a:t>API Container App </a:t>
            </a:r>
            <a:r>
              <a:rPr lang="ja-JP" altLang="en-US" sz="2400" b="1">
                <a:solidFill>
                  <a:srgbClr val="1F2937"/>
                </a:solidFill>
                <a:latin typeface="Yu Gothic"/>
                <a:ea typeface="Yu Gothic"/>
                <a:cs typeface="Yu Gothic"/>
              </a:rPr>
              <a:t>と </a:t>
            </a:r>
            <a:r>
              <a:rPr lang="en" altLang="ja-JP" sz="2400" b="1" dirty="0">
                <a:solidFill>
                  <a:srgbClr val="1F2937"/>
                </a:solidFill>
                <a:latin typeface="Yu Gothic"/>
                <a:ea typeface="Yu Gothic"/>
                <a:cs typeface="Yu Gothic"/>
              </a:rPr>
              <a:t>Environment </a:t>
            </a:r>
            <a:r>
              <a:rPr lang="ja-JP" altLang="en-US" sz="2400" b="1">
                <a:solidFill>
                  <a:srgbClr val="1F2937"/>
                </a:solidFill>
                <a:latin typeface="Yu Gothic"/>
                <a:ea typeface="Yu Gothic"/>
                <a:cs typeface="Yu Gothic"/>
              </a:rPr>
              <a:t>を作成する</a:t>
            </a:r>
            <a:endParaRPr lang="ja-JP" altLang="en-US" sz="24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C9564440-9BE7-A4E3-6510-94A082CEC4E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203D3EBE-AE94-DED4-BCFA-103BBABF94C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3DF5D17-30DF-110C-5CF0-64282BE36DFA}"/>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まず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側のプレースホルダー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を作成し、この操作の中で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も用意します。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A12160A2-4E52-6EC4-DF01-8857B67D5014}"/>
              </a:ext>
            </a:extLst>
          </p:cNvPr>
          <p:cNvSpPr>
            <a:spLocks noGrp="1"/>
          </p:cNvSpPr>
          <p:nvPr/>
        </p:nvSpPr>
        <p:spPr>
          <a:xfrm>
            <a:off x="550606" y="1754909"/>
            <a:ext cx="11080955" cy="4703041"/>
          </a:xfrm>
          <a:prstGeom prst="rect">
            <a:avLst/>
          </a:prstGeom>
          <a:solidFill>
            <a:srgbClr val="FFFFFF"/>
          </a:solidFill>
          <a:ln w="9525">
            <a:solidFill>
              <a:srgbClr val="D0D5DD"/>
            </a:solidFill>
            <a:prstDash val="solid"/>
          </a:ln>
        </p:spPr>
        <p:txBody>
          <a:bodyPr/>
          <a:lstStyle/>
          <a:p>
            <a:endParaRPr lang="ja-JP" altLang="en-US"/>
          </a:p>
        </p:txBody>
      </p:sp>
      <p:pic>
        <p:nvPicPr>
          <p:cNvPr id="12" name="図 11">
            <a:extLst>
              <a:ext uri="{FF2B5EF4-FFF2-40B4-BE49-F238E27FC236}">
                <a16:creationId xmlns:a16="http://schemas.microsoft.com/office/drawing/2014/main" id="{7C488CDE-25DA-B078-9F6C-35C2FCF00CF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04470" y="1905000"/>
            <a:ext cx="3301640" cy="4402187"/>
          </a:xfrm>
          <a:prstGeom prst="rect">
            <a:avLst/>
          </a:prstGeom>
        </p:spPr>
      </p:pic>
      <p:pic>
        <p:nvPicPr>
          <p:cNvPr id="13" name="図 12">
            <a:extLst>
              <a:ext uri="{FF2B5EF4-FFF2-40B4-BE49-F238E27FC236}">
                <a16:creationId xmlns:a16="http://schemas.microsoft.com/office/drawing/2014/main" id="{AC84B365-84BF-E8D0-6008-EB9D28F3BAA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85892" y="1905000"/>
            <a:ext cx="3301638" cy="4402184"/>
          </a:xfrm>
          <a:prstGeom prst="rect">
            <a:avLst/>
          </a:prstGeom>
        </p:spPr>
      </p:pic>
      <p:sp>
        <p:nvSpPr>
          <p:cNvPr id="3" name="正方形/長方形 2">
            <a:extLst>
              <a:ext uri="{FF2B5EF4-FFF2-40B4-BE49-F238E27FC236}">
                <a16:creationId xmlns:a16="http://schemas.microsoft.com/office/drawing/2014/main" id="{2990FBC0-89D2-C494-CC02-7D1D56FC2FAB}"/>
              </a:ext>
            </a:extLst>
          </p:cNvPr>
          <p:cNvSpPr/>
          <p:nvPr/>
        </p:nvSpPr>
        <p:spPr>
          <a:xfrm>
            <a:off x="2371846" y="2677630"/>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0C892E48-FB5E-E428-B9EE-C998342BA273}"/>
              </a:ext>
            </a:extLst>
          </p:cNvPr>
          <p:cNvSpPr/>
          <p:nvPr/>
        </p:nvSpPr>
        <p:spPr>
          <a:xfrm>
            <a:off x="2867883" y="1918550"/>
            <a:ext cx="3545513" cy="434616"/>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8" name="正方形/長方形 7">
            <a:extLst>
              <a:ext uri="{FF2B5EF4-FFF2-40B4-BE49-F238E27FC236}">
                <a16:creationId xmlns:a16="http://schemas.microsoft.com/office/drawing/2014/main" id="{64B8E841-7B7D-A2E6-D9FA-E977130DFC25}"/>
              </a:ext>
            </a:extLst>
          </p:cNvPr>
          <p:cNvSpPr/>
          <p:nvPr/>
        </p:nvSpPr>
        <p:spPr>
          <a:xfrm>
            <a:off x="2372153" y="2849694"/>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D6AA6611-12DD-5667-7BC1-88BF3DD4185E}"/>
              </a:ext>
            </a:extLst>
          </p:cNvPr>
          <p:cNvSpPr/>
          <p:nvPr/>
        </p:nvSpPr>
        <p:spPr>
          <a:xfrm>
            <a:off x="4338986" y="2411909"/>
            <a:ext cx="2113936" cy="686299"/>
          </a:xfrm>
          <a:prstGeom prst="wedgeRectCallout">
            <a:avLst>
              <a:gd name="adj1" fmla="val -70586"/>
              <a:gd name="adj2" fmla="val 1880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講師から指示された参加者ごとのリソースグループ名を選択</a:t>
            </a:r>
          </a:p>
        </p:txBody>
      </p:sp>
      <p:sp>
        <p:nvSpPr>
          <p:cNvPr id="11" name="正方形/長方形 10">
            <a:extLst>
              <a:ext uri="{FF2B5EF4-FFF2-40B4-BE49-F238E27FC236}">
                <a16:creationId xmlns:a16="http://schemas.microsoft.com/office/drawing/2014/main" id="{20C92203-03B4-F1E2-C989-EC5ADC1EAC81}"/>
              </a:ext>
            </a:extLst>
          </p:cNvPr>
          <p:cNvSpPr/>
          <p:nvPr/>
        </p:nvSpPr>
        <p:spPr>
          <a:xfrm>
            <a:off x="2371846" y="2984041"/>
            <a:ext cx="1461245" cy="1521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8EBB0566-BDAF-86D5-2C99-C98E6AFA37EB}"/>
              </a:ext>
            </a:extLst>
          </p:cNvPr>
          <p:cNvSpPr/>
          <p:nvPr/>
        </p:nvSpPr>
        <p:spPr>
          <a:xfrm>
            <a:off x="4241977" y="4412371"/>
            <a:ext cx="1487539" cy="434616"/>
          </a:xfrm>
          <a:prstGeom prst="wedgeRectCallout">
            <a:avLst>
              <a:gd name="adj1" fmla="val -73439"/>
              <a:gd name="adj2" fmla="val -1049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15" name="正方形/長方形 14">
            <a:extLst>
              <a:ext uri="{FF2B5EF4-FFF2-40B4-BE49-F238E27FC236}">
                <a16:creationId xmlns:a16="http://schemas.microsoft.com/office/drawing/2014/main" id="{211A5599-2E2E-ED3D-DC30-524F34B505AC}"/>
              </a:ext>
            </a:extLst>
          </p:cNvPr>
          <p:cNvSpPr/>
          <p:nvPr/>
        </p:nvSpPr>
        <p:spPr>
          <a:xfrm>
            <a:off x="2399332" y="4029337"/>
            <a:ext cx="1461245" cy="1521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AD2917FD-70AD-A80E-2BD5-6941EE40C1D6}"/>
              </a:ext>
            </a:extLst>
          </p:cNvPr>
          <p:cNvSpPr/>
          <p:nvPr/>
        </p:nvSpPr>
        <p:spPr>
          <a:xfrm>
            <a:off x="4333734" y="3325177"/>
            <a:ext cx="2079662" cy="434616"/>
          </a:xfrm>
          <a:prstGeom prst="wedgeRectCallout">
            <a:avLst>
              <a:gd name="adj1" fmla="val -73439"/>
              <a:gd name="adj2" fmla="val -1049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app-</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api</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17" name="正方形/長方形 16">
            <a:extLst>
              <a:ext uri="{FF2B5EF4-FFF2-40B4-BE49-F238E27FC236}">
                <a16:creationId xmlns:a16="http://schemas.microsoft.com/office/drawing/2014/main" id="{6EE65FFD-B0FE-22A9-61E0-B0A81F03E34E}"/>
              </a:ext>
            </a:extLst>
          </p:cNvPr>
          <p:cNvSpPr/>
          <p:nvPr/>
        </p:nvSpPr>
        <p:spPr>
          <a:xfrm>
            <a:off x="2399332" y="4208040"/>
            <a:ext cx="468552" cy="12352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吹き出し 18">
            <a:extLst>
              <a:ext uri="{FF2B5EF4-FFF2-40B4-BE49-F238E27FC236}">
                <a16:creationId xmlns:a16="http://schemas.microsoft.com/office/drawing/2014/main" id="{D925B88A-6A3D-0C8D-E61F-6F8223951A42}"/>
              </a:ext>
            </a:extLst>
          </p:cNvPr>
          <p:cNvSpPr/>
          <p:nvPr/>
        </p:nvSpPr>
        <p:spPr>
          <a:xfrm>
            <a:off x="1501334" y="4667452"/>
            <a:ext cx="1487539" cy="434616"/>
          </a:xfrm>
          <a:prstGeom prst="wedgeRectCallout">
            <a:avLst>
              <a:gd name="adj1" fmla="val 20319"/>
              <a:gd name="adj2" fmla="val -1134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新しい環境の作成をクリック</a:t>
            </a:r>
          </a:p>
        </p:txBody>
      </p:sp>
      <p:sp>
        <p:nvSpPr>
          <p:cNvPr id="20" name="正方形/長方形 19">
            <a:extLst>
              <a:ext uri="{FF2B5EF4-FFF2-40B4-BE49-F238E27FC236}">
                <a16:creationId xmlns:a16="http://schemas.microsoft.com/office/drawing/2014/main" id="{85820C87-688F-9552-5B08-E024D0E7827C}"/>
              </a:ext>
            </a:extLst>
          </p:cNvPr>
          <p:cNvSpPr/>
          <p:nvPr/>
        </p:nvSpPr>
        <p:spPr>
          <a:xfrm>
            <a:off x="7864360" y="2883155"/>
            <a:ext cx="1325821" cy="10088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ACBA7DEA-5162-A64A-4A84-D67B1BD96E0E}"/>
              </a:ext>
            </a:extLst>
          </p:cNvPr>
          <p:cNvSpPr/>
          <p:nvPr/>
        </p:nvSpPr>
        <p:spPr>
          <a:xfrm>
            <a:off x="9281656" y="2383126"/>
            <a:ext cx="2079662" cy="434616"/>
          </a:xfrm>
          <a:prstGeom prst="wedgeRectCallout">
            <a:avLst>
              <a:gd name="adj1" fmla="val -63668"/>
              <a:gd name="adj2" fmla="val 4166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cae</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-dev</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22" name="正方形/長方形 21">
            <a:extLst>
              <a:ext uri="{FF2B5EF4-FFF2-40B4-BE49-F238E27FC236}">
                <a16:creationId xmlns:a16="http://schemas.microsoft.com/office/drawing/2014/main" id="{E5572DBD-A727-B5C1-B2B0-984B93D7E897}"/>
              </a:ext>
            </a:extLst>
          </p:cNvPr>
          <p:cNvSpPr/>
          <p:nvPr/>
        </p:nvSpPr>
        <p:spPr>
          <a:xfrm>
            <a:off x="7744958" y="2307359"/>
            <a:ext cx="299916" cy="10088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吹き出し 22">
            <a:extLst>
              <a:ext uri="{FF2B5EF4-FFF2-40B4-BE49-F238E27FC236}">
                <a16:creationId xmlns:a16="http://schemas.microsoft.com/office/drawing/2014/main" id="{07FD06A6-858E-D4EC-2255-EF738C5979DB}"/>
              </a:ext>
            </a:extLst>
          </p:cNvPr>
          <p:cNvSpPr/>
          <p:nvPr/>
        </p:nvSpPr>
        <p:spPr>
          <a:xfrm>
            <a:off x="8407868" y="1801452"/>
            <a:ext cx="2509514" cy="434616"/>
          </a:xfrm>
          <a:prstGeom prst="wedgeRectCallout">
            <a:avLst>
              <a:gd name="adj1" fmla="val -63300"/>
              <a:gd name="adj2" fmla="val 501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名前を入力したら監視の画面に遷移</a:t>
            </a:r>
          </a:p>
        </p:txBody>
      </p:sp>
    </p:spTree>
    <p:extLst>
      <p:ext uri="{BB962C8B-B14F-4D97-AF65-F5344CB8AC3E}">
        <p14:creationId xmlns:p14="http://schemas.microsoft.com/office/powerpoint/2010/main" val="31047622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18CCB-4188-7E45-2485-7E32DE830BA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3F7FE0A-6269-ADCC-2067-96571049B91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0A2FA8D-BA24-9787-5DF6-B7A8F3906B1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6170BBDD-7246-0768-FEEC-7D30F2B4F09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DF9BD48D-A1BA-7E5E-074C-8905C2151145}"/>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まず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側のプレースホルダー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を作成し、この操作の中で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も用意します。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0F1AE3BF-3E79-2424-F96D-41C462FBECB1}"/>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13" name="図 12">
            <a:extLst>
              <a:ext uri="{FF2B5EF4-FFF2-40B4-BE49-F238E27FC236}">
                <a16:creationId xmlns:a16="http://schemas.microsoft.com/office/drawing/2014/main" id="{A913EB39-6F00-E38D-B226-E891E582D0E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66801" y="2495552"/>
            <a:ext cx="4758806" cy="2974254"/>
          </a:xfrm>
          <a:prstGeom prst="rect">
            <a:avLst/>
          </a:prstGeom>
        </p:spPr>
      </p:pic>
      <p:pic>
        <p:nvPicPr>
          <p:cNvPr id="14" name="図 13">
            <a:extLst>
              <a:ext uri="{FF2B5EF4-FFF2-40B4-BE49-F238E27FC236}">
                <a16:creationId xmlns:a16="http://schemas.microsoft.com/office/drawing/2014/main" id="{A3FB1049-41D1-F265-D99D-E2B35D98B05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41802" y="2495553"/>
            <a:ext cx="4758807" cy="2974254"/>
          </a:xfrm>
          <a:prstGeom prst="rect">
            <a:avLst/>
          </a:prstGeom>
        </p:spPr>
      </p:pic>
      <p:sp>
        <p:nvSpPr>
          <p:cNvPr id="3" name="正方形/長方形 2">
            <a:extLst>
              <a:ext uri="{FF2B5EF4-FFF2-40B4-BE49-F238E27FC236}">
                <a16:creationId xmlns:a16="http://schemas.microsoft.com/office/drawing/2014/main" id="{798F6453-F971-C788-B1B2-E0BD49EB7222}"/>
              </a:ext>
            </a:extLst>
          </p:cNvPr>
          <p:cNvSpPr/>
          <p:nvPr/>
        </p:nvSpPr>
        <p:spPr>
          <a:xfrm>
            <a:off x="2038777" y="2976562"/>
            <a:ext cx="399624" cy="1905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782B7E7A-E5D9-5B14-EB50-F434406F8184}"/>
              </a:ext>
            </a:extLst>
          </p:cNvPr>
          <p:cNvSpPr/>
          <p:nvPr/>
        </p:nvSpPr>
        <p:spPr>
          <a:xfrm>
            <a:off x="2846472" y="2637196"/>
            <a:ext cx="2079662" cy="434616"/>
          </a:xfrm>
          <a:prstGeom prst="wedgeRectCallout">
            <a:avLst>
              <a:gd name="adj1" fmla="val -63668"/>
              <a:gd name="adj2" fmla="val 4166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ネットワークの画面に遷移</a:t>
            </a:r>
          </a:p>
        </p:txBody>
      </p:sp>
      <p:sp>
        <p:nvSpPr>
          <p:cNvPr id="8" name="テキスト ボックス 7">
            <a:extLst>
              <a:ext uri="{FF2B5EF4-FFF2-40B4-BE49-F238E27FC236}">
                <a16:creationId xmlns:a16="http://schemas.microsoft.com/office/drawing/2014/main" id="{F50D163A-C30B-F006-847D-7F140F564059}"/>
              </a:ext>
            </a:extLst>
          </p:cNvPr>
          <p:cNvSpPr txBox="1"/>
          <p:nvPr/>
        </p:nvSpPr>
        <p:spPr>
          <a:xfrm>
            <a:off x="1154545" y="5788134"/>
            <a:ext cx="3906982" cy="221599"/>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監視</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はデフォルト値を利用</a:t>
            </a:r>
          </a:p>
        </p:txBody>
      </p:sp>
      <p:sp>
        <p:nvSpPr>
          <p:cNvPr id="10" name="正方形/長方形 9">
            <a:extLst>
              <a:ext uri="{FF2B5EF4-FFF2-40B4-BE49-F238E27FC236}">
                <a16:creationId xmlns:a16="http://schemas.microsoft.com/office/drawing/2014/main" id="{40D85F9B-962B-79F8-5AB8-2C06E04E0F7E}"/>
              </a:ext>
            </a:extLst>
          </p:cNvPr>
          <p:cNvSpPr/>
          <p:nvPr/>
        </p:nvSpPr>
        <p:spPr>
          <a:xfrm>
            <a:off x="7229832" y="3429000"/>
            <a:ext cx="1212203" cy="173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a:extLst>
              <a:ext uri="{FF2B5EF4-FFF2-40B4-BE49-F238E27FC236}">
                <a16:creationId xmlns:a16="http://schemas.microsoft.com/office/drawing/2014/main" id="{D68D81B1-6E54-BBFD-C0B3-88FFA98EDF33}"/>
              </a:ext>
            </a:extLst>
          </p:cNvPr>
          <p:cNvSpPr/>
          <p:nvPr/>
        </p:nvSpPr>
        <p:spPr>
          <a:xfrm>
            <a:off x="8777544" y="2994384"/>
            <a:ext cx="2079662" cy="434616"/>
          </a:xfrm>
          <a:prstGeom prst="wedgeRectCallout">
            <a:avLst>
              <a:gd name="adj1" fmla="val -63668"/>
              <a:gd name="adj2" fmla="val 4166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パブリックアクセスは有効</a:t>
            </a:r>
          </a:p>
        </p:txBody>
      </p:sp>
      <p:sp>
        <p:nvSpPr>
          <p:cNvPr id="12" name="正方形/長方形 11">
            <a:extLst>
              <a:ext uri="{FF2B5EF4-FFF2-40B4-BE49-F238E27FC236}">
                <a16:creationId xmlns:a16="http://schemas.microsoft.com/office/drawing/2014/main" id="{1D4F5C88-1BA5-D903-B7A0-F48A148E17D8}"/>
              </a:ext>
            </a:extLst>
          </p:cNvPr>
          <p:cNvSpPr/>
          <p:nvPr/>
        </p:nvSpPr>
        <p:spPr>
          <a:xfrm>
            <a:off x="7382232" y="3964276"/>
            <a:ext cx="376313" cy="173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D72BB63B-D825-4E97-FBEB-F1DD7596B780}"/>
              </a:ext>
            </a:extLst>
          </p:cNvPr>
          <p:cNvSpPr/>
          <p:nvPr/>
        </p:nvSpPr>
        <p:spPr>
          <a:xfrm>
            <a:off x="8144852" y="3681411"/>
            <a:ext cx="2712353" cy="1112261"/>
          </a:xfrm>
          <a:prstGeom prst="wedgeRectCallout">
            <a:avLst>
              <a:gd name="adj1" fmla="val -61965"/>
              <a:gd name="adj2" fmla="val -1729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自分の仮想ネットワークを使用するは「はい」。その後、</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、サブネット、仮想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の選択肢が現れる。</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は先程作成したもの、サブネットは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ACA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用のものを選択、仮想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は外部を選択。</a:t>
            </a:r>
          </a:p>
        </p:txBody>
      </p:sp>
      <p:sp>
        <p:nvSpPr>
          <p:cNvPr id="16" name="テキスト ボックス 15">
            <a:extLst>
              <a:ext uri="{FF2B5EF4-FFF2-40B4-BE49-F238E27FC236}">
                <a16:creationId xmlns:a16="http://schemas.microsoft.com/office/drawing/2014/main" id="{9D609978-A17C-7BDA-9C8A-381E38533E09}"/>
              </a:ext>
            </a:extLst>
          </p:cNvPr>
          <p:cNvSpPr txBox="1"/>
          <p:nvPr/>
        </p:nvSpPr>
        <p:spPr>
          <a:xfrm>
            <a:off x="6824053" y="4935283"/>
            <a:ext cx="3906982" cy="221599"/>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ほかはデフォルト値を利用</a:t>
            </a:r>
          </a:p>
        </p:txBody>
      </p:sp>
      <p:sp>
        <p:nvSpPr>
          <p:cNvPr id="17" name="正方形/長方形 16">
            <a:extLst>
              <a:ext uri="{FF2B5EF4-FFF2-40B4-BE49-F238E27FC236}">
                <a16:creationId xmlns:a16="http://schemas.microsoft.com/office/drawing/2014/main" id="{95D9E3B9-EFC5-8479-9F08-D9180D7E5F4B}"/>
              </a:ext>
            </a:extLst>
          </p:cNvPr>
          <p:cNvSpPr/>
          <p:nvPr/>
        </p:nvSpPr>
        <p:spPr>
          <a:xfrm>
            <a:off x="6341802" y="5296624"/>
            <a:ext cx="376313" cy="173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06C5C265-9789-017B-A7B4-1E80F48A6E7D}"/>
              </a:ext>
            </a:extLst>
          </p:cNvPr>
          <p:cNvSpPr/>
          <p:nvPr/>
        </p:nvSpPr>
        <p:spPr>
          <a:xfrm>
            <a:off x="7229833" y="5395625"/>
            <a:ext cx="1092132" cy="326594"/>
          </a:xfrm>
          <a:prstGeom prst="wedgeRectCallout">
            <a:avLst>
              <a:gd name="adj1" fmla="val -88216"/>
              <a:gd name="adj2" fmla="val -3357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作成をクリック</a:t>
            </a:r>
          </a:p>
        </p:txBody>
      </p:sp>
    </p:spTree>
    <p:extLst>
      <p:ext uri="{BB962C8B-B14F-4D97-AF65-F5344CB8AC3E}">
        <p14:creationId xmlns:p14="http://schemas.microsoft.com/office/powerpoint/2010/main" val="3348869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45B99-9CA9-9837-924C-BD3EFBE6F56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C519655-C6A5-4745-C7C1-3CD9D6D7720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1AB2B00D-7B34-268B-BAF8-9D25127430A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162ED4ED-E1E4-1356-9010-DEDC3178B6A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C238A85-3D65-17F9-EA6A-11019DEAAC7D}"/>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まず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側のプレースホルダー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を作成し、この操作の中で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も用意します。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5FC345B5-EF29-0435-42E0-30C6091DCA80}"/>
              </a:ext>
            </a:extLst>
          </p:cNvPr>
          <p:cNvSpPr>
            <a:spLocks noGrp="1"/>
          </p:cNvSpPr>
          <p:nvPr/>
        </p:nvSpPr>
        <p:spPr>
          <a:xfrm>
            <a:off x="550606" y="1676402"/>
            <a:ext cx="11080955" cy="4914026"/>
          </a:xfrm>
          <a:prstGeom prst="rect">
            <a:avLst/>
          </a:prstGeom>
          <a:solidFill>
            <a:srgbClr val="FFFFFF"/>
          </a:solidFill>
          <a:ln w="9525">
            <a:solidFill>
              <a:srgbClr val="D0D5DD"/>
            </a:solidFill>
            <a:prstDash val="solid"/>
          </a:ln>
        </p:spPr>
        <p:txBody>
          <a:bodyPr/>
          <a:lstStyle/>
          <a:p>
            <a:endParaRPr lang="ja-JP" altLang="en-US"/>
          </a:p>
        </p:txBody>
      </p:sp>
      <p:pic>
        <p:nvPicPr>
          <p:cNvPr id="16" name="図 15">
            <a:extLst>
              <a:ext uri="{FF2B5EF4-FFF2-40B4-BE49-F238E27FC236}">
                <a16:creationId xmlns:a16="http://schemas.microsoft.com/office/drawing/2014/main" id="{3587B43D-6C38-9CD9-6549-AEECA7CE6A6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94273" y="1887897"/>
            <a:ext cx="3368277" cy="4491036"/>
          </a:xfrm>
          <a:prstGeom prst="rect">
            <a:avLst/>
          </a:prstGeom>
        </p:spPr>
      </p:pic>
      <p:sp>
        <p:nvSpPr>
          <p:cNvPr id="17" name="正方形/長方形 16">
            <a:extLst>
              <a:ext uri="{FF2B5EF4-FFF2-40B4-BE49-F238E27FC236}">
                <a16:creationId xmlns:a16="http://schemas.microsoft.com/office/drawing/2014/main" id="{BA1E2A97-A563-739B-E222-A15F8BF27DE2}"/>
              </a:ext>
            </a:extLst>
          </p:cNvPr>
          <p:cNvSpPr/>
          <p:nvPr/>
        </p:nvSpPr>
        <p:spPr>
          <a:xfrm>
            <a:off x="1976582" y="2228853"/>
            <a:ext cx="249382" cy="1381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a:extLst>
              <a:ext uri="{FF2B5EF4-FFF2-40B4-BE49-F238E27FC236}">
                <a16:creationId xmlns:a16="http://schemas.microsoft.com/office/drawing/2014/main" id="{22FB839F-070B-3047-3955-7AB2E89CD0D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781636" y="1905000"/>
            <a:ext cx="3368277" cy="4491036"/>
          </a:xfrm>
          <a:prstGeom prst="rect">
            <a:avLst/>
          </a:prstGeom>
        </p:spPr>
      </p:pic>
      <p:sp>
        <p:nvSpPr>
          <p:cNvPr id="3" name="正方形/長方形 2">
            <a:extLst>
              <a:ext uri="{FF2B5EF4-FFF2-40B4-BE49-F238E27FC236}">
                <a16:creationId xmlns:a16="http://schemas.microsoft.com/office/drawing/2014/main" id="{D6F7E1C5-8C8B-1AD7-E668-084CBB2FDD15}"/>
              </a:ext>
            </a:extLst>
          </p:cNvPr>
          <p:cNvSpPr/>
          <p:nvPr/>
        </p:nvSpPr>
        <p:spPr>
          <a:xfrm>
            <a:off x="6215218" y="2244584"/>
            <a:ext cx="191000" cy="20994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E5A37F2C-3D4B-C1B0-E6C9-EA8108602A9B}"/>
              </a:ext>
            </a:extLst>
          </p:cNvPr>
          <p:cNvSpPr/>
          <p:nvPr/>
        </p:nvSpPr>
        <p:spPr>
          <a:xfrm>
            <a:off x="2613349" y="2004582"/>
            <a:ext cx="1092132" cy="326594"/>
          </a:xfrm>
          <a:prstGeom prst="wedgeRectCallout">
            <a:avLst>
              <a:gd name="adj1" fmla="val -77222"/>
              <a:gd name="adj2" fmla="val 5127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コンテナの画面に遷移</a:t>
            </a:r>
          </a:p>
        </p:txBody>
      </p:sp>
      <p:sp>
        <p:nvSpPr>
          <p:cNvPr id="8" name="正方形/長方形 7">
            <a:extLst>
              <a:ext uri="{FF2B5EF4-FFF2-40B4-BE49-F238E27FC236}">
                <a16:creationId xmlns:a16="http://schemas.microsoft.com/office/drawing/2014/main" id="{092788BF-E4CC-711C-560C-B1E6C91E440C}"/>
              </a:ext>
            </a:extLst>
          </p:cNvPr>
          <p:cNvSpPr/>
          <p:nvPr/>
        </p:nvSpPr>
        <p:spPr>
          <a:xfrm>
            <a:off x="6519047" y="2703155"/>
            <a:ext cx="1414082" cy="15874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5F70202B-73DA-F1B5-7292-32E53E38D795}"/>
              </a:ext>
            </a:extLst>
          </p:cNvPr>
          <p:cNvSpPr/>
          <p:nvPr/>
        </p:nvSpPr>
        <p:spPr>
          <a:xfrm>
            <a:off x="8297423" y="2454526"/>
            <a:ext cx="2323487" cy="326594"/>
          </a:xfrm>
          <a:prstGeom prst="wedgeRectCallout">
            <a:avLst>
              <a:gd name="adj1" fmla="val -57346"/>
              <a:gd name="adj2" fmla="val 541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app-</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api</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11" name="正方形/長方形 10">
            <a:extLst>
              <a:ext uri="{FF2B5EF4-FFF2-40B4-BE49-F238E27FC236}">
                <a16:creationId xmlns:a16="http://schemas.microsoft.com/office/drawing/2014/main" id="{C476DE8A-87AD-33EB-3A48-CDCE93227F3B}"/>
              </a:ext>
            </a:extLst>
          </p:cNvPr>
          <p:cNvSpPr/>
          <p:nvPr/>
        </p:nvSpPr>
        <p:spPr>
          <a:xfrm>
            <a:off x="6519047" y="2990671"/>
            <a:ext cx="1414082" cy="8272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B21EC8C6-08D4-010D-FF0F-93B1AF51A4F8}"/>
              </a:ext>
            </a:extLst>
          </p:cNvPr>
          <p:cNvSpPr/>
          <p:nvPr/>
        </p:nvSpPr>
        <p:spPr>
          <a:xfrm>
            <a:off x="8297422" y="2910100"/>
            <a:ext cx="3127959" cy="2002275"/>
          </a:xfrm>
          <a:prstGeom prst="wedgeRectCallout">
            <a:avLst>
              <a:gd name="adj1" fmla="val -62513"/>
              <a:gd name="adj2" fmla="val -3876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イメージのソースは「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Docker Hub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またはその他のレジストリ」を選択</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その後、表示される項目は下記の通り</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イメージの種類</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パブリック</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レジストリログインサーバ</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mcr.microsoft.com</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イメージとタグ</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k8se/</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quickstart:latest</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ほかはデフォルト値</a:t>
            </a:r>
          </a:p>
        </p:txBody>
      </p:sp>
      <p:sp>
        <p:nvSpPr>
          <p:cNvPr id="14" name="四角形吹き出し 13">
            <a:extLst>
              <a:ext uri="{FF2B5EF4-FFF2-40B4-BE49-F238E27FC236}">
                <a16:creationId xmlns:a16="http://schemas.microsoft.com/office/drawing/2014/main" id="{606F6413-2CBF-F8B4-03FA-989DD4545012}"/>
              </a:ext>
            </a:extLst>
          </p:cNvPr>
          <p:cNvSpPr/>
          <p:nvPr/>
        </p:nvSpPr>
        <p:spPr>
          <a:xfrm>
            <a:off x="6613024" y="1900450"/>
            <a:ext cx="2323487" cy="326594"/>
          </a:xfrm>
          <a:prstGeom prst="wedgeRectCallout">
            <a:avLst>
              <a:gd name="adj1" fmla="val -57346"/>
              <a:gd name="adj2" fmla="val 541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下記を入力したら</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Ingress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の画面に遷移</a:t>
            </a:r>
          </a:p>
        </p:txBody>
      </p:sp>
    </p:spTree>
    <p:extLst>
      <p:ext uri="{BB962C8B-B14F-4D97-AF65-F5344CB8AC3E}">
        <p14:creationId xmlns:p14="http://schemas.microsoft.com/office/powerpoint/2010/main" val="1196311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5F1F2-6910-1BD0-0DD3-1BBAFA5C27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3F20DB8-591D-92B2-798A-C9EBC30DDB0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F2F28004-3AD7-E9E7-EFF6-8FA9CA94AF6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3AC42199-034E-8A09-1A4F-D78BC6107A1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D9F258DB-2D44-E41A-419F-6D443321A902}"/>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の </a:t>
            </a:r>
            <a:r>
              <a:rPr lang="en" altLang="ja-JP" sz="1200" dirty="0">
                <a:solidFill>
                  <a:srgbClr val="64748B"/>
                </a:solidFill>
                <a:latin typeface="Yu Gothic"/>
                <a:ea typeface="Yu Gothic"/>
                <a:cs typeface="Yu Gothic"/>
              </a:rPr>
              <a:t>Application URL </a:t>
            </a:r>
            <a:r>
              <a:rPr lang="ja-JP" altLang="en-US" sz="1200">
                <a:solidFill>
                  <a:srgbClr val="64748B"/>
                </a:solidFill>
                <a:latin typeface="Yu Gothic"/>
                <a:ea typeface="Yu Gothic"/>
                <a:cs typeface="Yu Gothic"/>
              </a:rPr>
              <a:t>は、第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回で </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から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を呼び出す設定に使います。</a:t>
            </a:r>
            <a:r>
              <a:rPr lang="en" altLang="ja-JP" sz="1200" dirty="0">
                <a:solidFill>
                  <a:srgbClr val="64748B"/>
                </a:solidFill>
                <a:latin typeface="Yu Gothic"/>
                <a:ea typeface="Yu Gothic"/>
                <a:cs typeface="Yu Gothic"/>
              </a:rPr>
              <a:t>Web URL </a:t>
            </a:r>
            <a:r>
              <a:rPr lang="ja-JP" altLang="en-US" sz="1200">
                <a:solidFill>
                  <a:srgbClr val="64748B"/>
                </a:solidFill>
                <a:latin typeface="Yu Gothic"/>
                <a:ea typeface="Yu Gothic"/>
                <a:cs typeface="Yu Gothic"/>
              </a:rPr>
              <a:t>と取り違えないようにします。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5FA7AC02-BF9E-36F9-5EFF-99D5C8B6D607}"/>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8" name="図 7">
            <a:extLst>
              <a:ext uri="{FF2B5EF4-FFF2-40B4-BE49-F238E27FC236}">
                <a16:creationId xmlns:a16="http://schemas.microsoft.com/office/drawing/2014/main" id="{E8FC135A-A1A7-27A0-D866-2AA899B1C0A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300538" y="2495838"/>
            <a:ext cx="4979785" cy="3112366"/>
          </a:xfrm>
          <a:prstGeom prst="rect">
            <a:avLst/>
          </a:prstGeom>
        </p:spPr>
      </p:pic>
      <p:pic>
        <p:nvPicPr>
          <p:cNvPr id="10" name="図 9">
            <a:extLst>
              <a:ext uri="{FF2B5EF4-FFF2-40B4-BE49-F238E27FC236}">
                <a16:creationId xmlns:a16="http://schemas.microsoft.com/office/drawing/2014/main" id="{D3A1A1E3-5675-07A4-E899-12818A5BEEC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1677" y="2495839"/>
            <a:ext cx="4979786" cy="3112366"/>
          </a:xfrm>
          <a:prstGeom prst="rect">
            <a:avLst/>
          </a:prstGeom>
        </p:spPr>
      </p:pic>
      <p:sp>
        <p:nvSpPr>
          <p:cNvPr id="12" name="正方形/長方形 11">
            <a:extLst>
              <a:ext uri="{FF2B5EF4-FFF2-40B4-BE49-F238E27FC236}">
                <a16:creationId xmlns:a16="http://schemas.microsoft.com/office/drawing/2014/main" id="{9A621549-B63A-4E62-2132-FBD74568377D}"/>
              </a:ext>
            </a:extLst>
          </p:cNvPr>
          <p:cNvSpPr/>
          <p:nvPr/>
        </p:nvSpPr>
        <p:spPr>
          <a:xfrm>
            <a:off x="9790545" y="3167062"/>
            <a:ext cx="1274619" cy="1857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69BC632F-6C09-ED1C-2246-BD70C8BF111B}"/>
              </a:ext>
            </a:extLst>
          </p:cNvPr>
          <p:cNvSpPr/>
          <p:nvPr/>
        </p:nvSpPr>
        <p:spPr>
          <a:xfrm>
            <a:off x="1789600" y="3318454"/>
            <a:ext cx="186982" cy="1105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ECA15C7E-8A8A-2260-5BCA-34A0BB0035B6}"/>
              </a:ext>
            </a:extLst>
          </p:cNvPr>
          <p:cNvSpPr/>
          <p:nvPr/>
        </p:nvSpPr>
        <p:spPr>
          <a:xfrm>
            <a:off x="2610770" y="3003765"/>
            <a:ext cx="1268503" cy="326594"/>
          </a:xfrm>
          <a:prstGeom prst="wedgeRectCallout">
            <a:avLst>
              <a:gd name="adj1" fmla="val -91186"/>
              <a:gd name="adj2" fmla="val 5692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Ingress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を有効化</a:t>
            </a:r>
          </a:p>
        </p:txBody>
      </p:sp>
      <p:sp>
        <p:nvSpPr>
          <p:cNvPr id="11" name="正方形/長方形 10">
            <a:extLst>
              <a:ext uri="{FF2B5EF4-FFF2-40B4-BE49-F238E27FC236}">
                <a16:creationId xmlns:a16="http://schemas.microsoft.com/office/drawing/2014/main" id="{0E0BF708-D1D5-CE01-A706-96F58B3EE8CD}"/>
              </a:ext>
            </a:extLst>
          </p:cNvPr>
          <p:cNvSpPr/>
          <p:nvPr/>
        </p:nvSpPr>
        <p:spPr>
          <a:xfrm>
            <a:off x="1789600" y="4445289"/>
            <a:ext cx="1775636" cy="1105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吹き出し 12">
            <a:extLst>
              <a:ext uri="{FF2B5EF4-FFF2-40B4-BE49-F238E27FC236}">
                <a16:creationId xmlns:a16="http://schemas.microsoft.com/office/drawing/2014/main" id="{F94BF752-4FF0-4DFA-FB09-7F73311F792D}"/>
              </a:ext>
            </a:extLst>
          </p:cNvPr>
          <p:cNvSpPr/>
          <p:nvPr/>
        </p:nvSpPr>
        <p:spPr>
          <a:xfrm>
            <a:off x="4193246" y="4173968"/>
            <a:ext cx="1431699" cy="326594"/>
          </a:xfrm>
          <a:prstGeom prst="wedgeRectCallout">
            <a:avLst>
              <a:gd name="adj1" fmla="val -91186"/>
              <a:gd name="adj2" fmla="val 5692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ターゲットポートは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80</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4" name="テキスト ボックス 13">
            <a:extLst>
              <a:ext uri="{FF2B5EF4-FFF2-40B4-BE49-F238E27FC236}">
                <a16:creationId xmlns:a16="http://schemas.microsoft.com/office/drawing/2014/main" id="{51D76A33-97E0-7B68-5C4B-5165C8455759}"/>
              </a:ext>
            </a:extLst>
          </p:cNvPr>
          <p:cNvSpPr txBox="1"/>
          <p:nvPr/>
        </p:nvSpPr>
        <p:spPr>
          <a:xfrm>
            <a:off x="1611745" y="5783951"/>
            <a:ext cx="3906982" cy="221599"/>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ほかはデフォルト値を利用</a:t>
            </a:r>
          </a:p>
        </p:txBody>
      </p:sp>
      <p:sp>
        <p:nvSpPr>
          <p:cNvPr id="15" name="正方形/長方形 14">
            <a:extLst>
              <a:ext uri="{FF2B5EF4-FFF2-40B4-BE49-F238E27FC236}">
                <a16:creationId xmlns:a16="http://schemas.microsoft.com/office/drawing/2014/main" id="{6C113D2A-C7D4-404F-D4E4-B8A43682F22B}"/>
              </a:ext>
            </a:extLst>
          </p:cNvPr>
          <p:cNvSpPr/>
          <p:nvPr/>
        </p:nvSpPr>
        <p:spPr>
          <a:xfrm>
            <a:off x="901782" y="5394904"/>
            <a:ext cx="585273" cy="2133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8AF4C7FC-938A-37B7-13F0-05C0AC47B79D}"/>
              </a:ext>
            </a:extLst>
          </p:cNvPr>
          <p:cNvSpPr/>
          <p:nvPr/>
        </p:nvSpPr>
        <p:spPr>
          <a:xfrm>
            <a:off x="1993873" y="4985870"/>
            <a:ext cx="1885400" cy="326594"/>
          </a:xfrm>
          <a:prstGeom prst="wedgeRectCallout">
            <a:avLst>
              <a:gd name="adj1" fmla="val -83348"/>
              <a:gd name="adj2" fmla="val 5975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確認と作成の画面に遷移し、リソースを作成する</a:t>
            </a:r>
          </a:p>
        </p:txBody>
      </p:sp>
      <p:sp>
        <p:nvSpPr>
          <p:cNvPr id="18" name="四角形吹き出し 17">
            <a:extLst>
              <a:ext uri="{FF2B5EF4-FFF2-40B4-BE49-F238E27FC236}">
                <a16:creationId xmlns:a16="http://schemas.microsoft.com/office/drawing/2014/main" id="{B88ABAF7-7551-9131-1E78-8F0E7FA5D0EA}"/>
              </a:ext>
            </a:extLst>
          </p:cNvPr>
          <p:cNvSpPr/>
          <p:nvPr/>
        </p:nvSpPr>
        <p:spPr>
          <a:xfrm>
            <a:off x="8097262" y="2304686"/>
            <a:ext cx="2579974" cy="543287"/>
          </a:xfrm>
          <a:prstGeom prst="wedgeRectCallout">
            <a:avLst>
              <a:gd name="adj1" fmla="val 30497"/>
              <a:gd name="adj2" fmla="val 10034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リソースの作成が完了したら、リソースグループから作成した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API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用コンテナアプリの画面に遷移し、アプリケーション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URL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をメモする</a:t>
            </a:r>
          </a:p>
        </p:txBody>
      </p:sp>
    </p:spTree>
    <p:extLst>
      <p:ext uri="{BB962C8B-B14F-4D97-AF65-F5344CB8AC3E}">
        <p14:creationId xmlns:p14="http://schemas.microsoft.com/office/powerpoint/2010/main" val="568791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FB4A8-25BE-BF2D-FD30-60068583B99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9E9410A-6926-9D65-8FBE-33F0CEB36EC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400" b="1" dirty="0">
                <a:solidFill>
                  <a:srgbClr val="1F2937"/>
                </a:solidFill>
                <a:latin typeface="Yu Gothic"/>
                <a:ea typeface="Yu Gothic"/>
                <a:cs typeface="Yu Gothic"/>
              </a:rPr>
              <a:t>Web Container App </a:t>
            </a:r>
            <a:r>
              <a:rPr lang="ja-JP" altLang="en-US" sz="2400" b="1">
                <a:solidFill>
                  <a:srgbClr val="1F2937"/>
                </a:solidFill>
                <a:latin typeface="Yu Gothic"/>
                <a:ea typeface="Yu Gothic"/>
                <a:cs typeface="Yu Gothic"/>
              </a:rPr>
              <a:t>を作成する</a:t>
            </a:r>
            <a:endParaRPr lang="ja-JP" altLang="en-US" sz="24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0DF21889-3000-AC06-078D-C6850807000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638CF1E8-7A9F-8BB1-D6CC-870BCB41138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A0CA475-4046-A6E7-7FEC-63F1DB882796}"/>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同じ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に、</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側のプレースホルダー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098CE755-02EE-423A-8752-C1B3C14638A8}"/>
              </a:ext>
            </a:extLst>
          </p:cNvPr>
          <p:cNvSpPr>
            <a:spLocks noGrp="1"/>
          </p:cNvSpPr>
          <p:nvPr/>
        </p:nvSpPr>
        <p:spPr>
          <a:xfrm>
            <a:off x="550606" y="1754909"/>
            <a:ext cx="11080955" cy="4703041"/>
          </a:xfrm>
          <a:prstGeom prst="rect">
            <a:avLst/>
          </a:prstGeom>
          <a:solidFill>
            <a:srgbClr val="FFFFFF"/>
          </a:solidFill>
          <a:ln w="9525">
            <a:solidFill>
              <a:srgbClr val="D0D5DD"/>
            </a:solidFill>
            <a:prstDash val="solid"/>
          </a:ln>
        </p:spPr>
        <p:txBody>
          <a:bodyPr/>
          <a:lstStyle/>
          <a:p>
            <a:endParaRPr lang="ja-JP" altLang="en-US"/>
          </a:p>
        </p:txBody>
      </p:sp>
      <p:pic>
        <p:nvPicPr>
          <p:cNvPr id="12" name="図 11">
            <a:extLst>
              <a:ext uri="{FF2B5EF4-FFF2-40B4-BE49-F238E27FC236}">
                <a16:creationId xmlns:a16="http://schemas.microsoft.com/office/drawing/2014/main" id="{1D262EF7-1A66-C52B-9E1D-7125D953F9C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04470" y="1905000"/>
            <a:ext cx="3301640" cy="4402187"/>
          </a:xfrm>
          <a:prstGeom prst="rect">
            <a:avLst/>
          </a:prstGeom>
        </p:spPr>
      </p:pic>
      <p:pic>
        <p:nvPicPr>
          <p:cNvPr id="7" name="図 6">
            <a:extLst>
              <a:ext uri="{FF2B5EF4-FFF2-40B4-BE49-F238E27FC236}">
                <a16:creationId xmlns:a16="http://schemas.microsoft.com/office/drawing/2014/main" id="{283A01F8-23E1-7944-6BFD-83400E56F80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641617" y="1893341"/>
            <a:ext cx="3368277" cy="4491036"/>
          </a:xfrm>
          <a:prstGeom prst="rect">
            <a:avLst/>
          </a:prstGeom>
        </p:spPr>
      </p:pic>
      <p:sp>
        <p:nvSpPr>
          <p:cNvPr id="8" name="正方形/長方形 7">
            <a:extLst>
              <a:ext uri="{FF2B5EF4-FFF2-40B4-BE49-F238E27FC236}">
                <a16:creationId xmlns:a16="http://schemas.microsoft.com/office/drawing/2014/main" id="{D34C0EAC-42B3-D60E-0F92-B30EDE4830CF}"/>
              </a:ext>
            </a:extLst>
          </p:cNvPr>
          <p:cNvSpPr/>
          <p:nvPr/>
        </p:nvSpPr>
        <p:spPr>
          <a:xfrm>
            <a:off x="2371846" y="2677630"/>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7AC00416-104D-ED56-DFC5-BCC91DDFEFEC}"/>
              </a:ext>
            </a:extLst>
          </p:cNvPr>
          <p:cNvSpPr/>
          <p:nvPr/>
        </p:nvSpPr>
        <p:spPr>
          <a:xfrm>
            <a:off x="2930280" y="1670341"/>
            <a:ext cx="1729902" cy="608317"/>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11" name="正方形/長方形 10">
            <a:extLst>
              <a:ext uri="{FF2B5EF4-FFF2-40B4-BE49-F238E27FC236}">
                <a16:creationId xmlns:a16="http://schemas.microsoft.com/office/drawing/2014/main" id="{AA5F46E3-75F8-36A3-8697-BB07502F01C8}"/>
              </a:ext>
            </a:extLst>
          </p:cNvPr>
          <p:cNvSpPr/>
          <p:nvPr/>
        </p:nvSpPr>
        <p:spPr>
          <a:xfrm>
            <a:off x="2372153" y="2849694"/>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吹き出し 12">
            <a:extLst>
              <a:ext uri="{FF2B5EF4-FFF2-40B4-BE49-F238E27FC236}">
                <a16:creationId xmlns:a16="http://schemas.microsoft.com/office/drawing/2014/main" id="{D243E6E4-EE6E-0547-528F-BF08E35FA66B}"/>
              </a:ext>
            </a:extLst>
          </p:cNvPr>
          <p:cNvSpPr/>
          <p:nvPr/>
        </p:nvSpPr>
        <p:spPr>
          <a:xfrm>
            <a:off x="4278915" y="2399497"/>
            <a:ext cx="1031417" cy="704160"/>
          </a:xfrm>
          <a:prstGeom prst="wedgeRectCallout">
            <a:avLst>
              <a:gd name="adj1" fmla="val -89392"/>
              <a:gd name="adj2" fmla="val 2273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講師から指示された参加者ごとのリソースグループ名を選択</a:t>
            </a:r>
          </a:p>
        </p:txBody>
      </p:sp>
      <p:sp>
        <p:nvSpPr>
          <p:cNvPr id="14" name="正方形/長方形 13">
            <a:extLst>
              <a:ext uri="{FF2B5EF4-FFF2-40B4-BE49-F238E27FC236}">
                <a16:creationId xmlns:a16="http://schemas.microsoft.com/office/drawing/2014/main" id="{FBAE46EA-10CD-00DC-6C4D-8D2CCFB2E576}"/>
              </a:ext>
            </a:extLst>
          </p:cNvPr>
          <p:cNvSpPr/>
          <p:nvPr/>
        </p:nvSpPr>
        <p:spPr>
          <a:xfrm>
            <a:off x="2371846" y="2984041"/>
            <a:ext cx="1461245" cy="1521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F3FF4889-FC46-5DCE-EC48-37E5A31C4098}"/>
              </a:ext>
            </a:extLst>
          </p:cNvPr>
          <p:cNvSpPr/>
          <p:nvPr/>
        </p:nvSpPr>
        <p:spPr>
          <a:xfrm>
            <a:off x="4241978" y="4412370"/>
            <a:ext cx="1014694" cy="527831"/>
          </a:xfrm>
          <a:prstGeom prst="wedgeRectCallout">
            <a:avLst>
              <a:gd name="adj1" fmla="val -82542"/>
              <a:gd name="adj2" fmla="val -10322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16" name="正方形/長方形 15">
            <a:extLst>
              <a:ext uri="{FF2B5EF4-FFF2-40B4-BE49-F238E27FC236}">
                <a16:creationId xmlns:a16="http://schemas.microsoft.com/office/drawing/2014/main" id="{7012F055-59C7-93F9-76BB-4133C2F40421}"/>
              </a:ext>
            </a:extLst>
          </p:cNvPr>
          <p:cNvSpPr/>
          <p:nvPr/>
        </p:nvSpPr>
        <p:spPr>
          <a:xfrm>
            <a:off x="2399332" y="4029337"/>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29F0799F-9ECA-29EF-DE5B-6F65DF62B194}"/>
              </a:ext>
            </a:extLst>
          </p:cNvPr>
          <p:cNvSpPr/>
          <p:nvPr/>
        </p:nvSpPr>
        <p:spPr>
          <a:xfrm>
            <a:off x="4128543" y="3477315"/>
            <a:ext cx="1014694" cy="704160"/>
          </a:xfrm>
          <a:prstGeom prst="wedgeRectCallout">
            <a:avLst>
              <a:gd name="adj1" fmla="val -73439"/>
              <a:gd name="adj2" fmla="val -1049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000" dirty="0">
                <a:solidFill>
                  <a:schemeClr val="tx1">
                    <a:lumMod val="75000"/>
                    <a:lumOff val="25000"/>
                  </a:schemeClr>
                </a:solidFill>
                <a:latin typeface="Yu Gothic UI" panose="020B0500000000000000" pitchFamily="34" charset="-128"/>
                <a:ea typeface="Yu Gothic UI" panose="020B0500000000000000" pitchFamily="34" charset="-128"/>
              </a:rPr>
              <a:t>app-</a:t>
            </a:r>
            <a:r>
              <a:rPr kumimoji="1" lang="en" altLang="ja-JP" sz="10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000" dirty="0">
                <a:solidFill>
                  <a:schemeClr val="tx1">
                    <a:lumMod val="75000"/>
                    <a:lumOff val="25000"/>
                  </a:schemeClr>
                </a:solidFill>
                <a:latin typeface="Yu Gothic UI" panose="020B0500000000000000" pitchFamily="34" charset="-128"/>
                <a:ea typeface="Yu Gothic UI" panose="020B0500000000000000" pitchFamily="34" charset="-128"/>
              </a:rPr>
              <a:t>-web</a:t>
            </a:r>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18" name="正方形/長方形 17">
            <a:extLst>
              <a:ext uri="{FF2B5EF4-FFF2-40B4-BE49-F238E27FC236}">
                <a16:creationId xmlns:a16="http://schemas.microsoft.com/office/drawing/2014/main" id="{58574A74-BFEE-3E30-1C78-45B7A807E2BD}"/>
              </a:ext>
            </a:extLst>
          </p:cNvPr>
          <p:cNvSpPr/>
          <p:nvPr/>
        </p:nvSpPr>
        <p:spPr>
          <a:xfrm>
            <a:off x="2399331" y="4165731"/>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吹き出し 18">
            <a:extLst>
              <a:ext uri="{FF2B5EF4-FFF2-40B4-BE49-F238E27FC236}">
                <a16:creationId xmlns:a16="http://schemas.microsoft.com/office/drawing/2014/main" id="{CFD78628-C9F4-F51C-41BE-885D8E027FE9}"/>
              </a:ext>
            </a:extLst>
          </p:cNvPr>
          <p:cNvSpPr/>
          <p:nvPr/>
        </p:nvSpPr>
        <p:spPr>
          <a:xfrm>
            <a:off x="977468" y="4667451"/>
            <a:ext cx="2011405" cy="527831"/>
          </a:xfrm>
          <a:prstGeom prst="wedgeRectCallout">
            <a:avLst>
              <a:gd name="adj1" fmla="val 20319"/>
              <a:gd name="adj2" fmla="val -1134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先ほど作成したコンテナアプリの環境を指定する</a:t>
            </a:r>
          </a:p>
        </p:txBody>
      </p:sp>
      <p:sp>
        <p:nvSpPr>
          <p:cNvPr id="20" name="正方形/長方形 19">
            <a:extLst>
              <a:ext uri="{FF2B5EF4-FFF2-40B4-BE49-F238E27FC236}">
                <a16:creationId xmlns:a16="http://schemas.microsoft.com/office/drawing/2014/main" id="{61AE2A2A-2367-6143-4131-B6A70651D7F7}"/>
              </a:ext>
            </a:extLst>
          </p:cNvPr>
          <p:cNvSpPr/>
          <p:nvPr/>
        </p:nvSpPr>
        <p:spPr>
          <a:xfrm>
            <a:off x="387927" y="1754908"/>
            <a:ext cx="2011405" cy="58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用コンテナアプリも</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API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用と同様に作成画面に遷移する</a:t>
            </a:r>
          </a:p>
        </p:txBody>
      </p:sp>
      <p:sp>
        <p:nvSpPr>
          <p:cNvPr id="21" name="正方形/長方形 20">
            <a:extLst>
              <a:ext uri="{FF2B5EF4-FFF2-40B4-BE49-F238E27FC236}">
                <a16:creationId xmlns:a16="http://schemas.microsoft.com/office/drawing/2014/main" id="{37C1671B-4F08-9DE6-7CDA-B80924297B8B}"/>
              </a:ext>
            </a:extLst>
          </p:cNvPr>
          <p:cNvSpPr/>
          <p:nvPr/>
        </p:nvSpPr>
        <p:spPr>
          <a:xfrm>
            <a:off x="5788900" y="2245514"/>
            <a:ext cx="357722" cy="15473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吹き出し 21">
            <a:extLst>
              <a:ext uri="{FF2B5EF4-FFF2-40B4-BE49-F238E27FC236}">
                <a16:creationId xmlns:a16="http://schemas.microsoft.com/office/drawing/2014/main" id="{F765DB9F-C883-8C62-4978-E81C17BC12B6}"/>
              </a:ext>
            </a:extLst>
          </p:cNvPr>
          <p:cNvSpPr/>
          <p:nvPr/>
        </p:nvSpPr>
        <p:spPr>
          <a:xfrm>
            <a:off x="6072826" y="1684610"/>
            <a:ext cx="2091217" cy="304957"/>
          </a:xfrm>
          <a:prstGeom prst="wedgeRectCallout">
            <a:avLst>
              <a:gd name="adj1" fmla="val -44860"/>
              <a:gd name="adj2" fmla="val 10987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コンテナの画面に遷移する</a:t>
            </a:r>
          </a:p>
        </p:txBody>
      </p:sp>
      <p:sp>
        <p:nvSpPr>
          <p:cNvPr id="23" name="正方形/長方形 22">
            <a:extLst>
              <a:ext uri="{FF2B5EF4-FFF2-40B4-BE49-F238E27FC236}">
                <a16:creationId xmlns:a16="http://schemas.microsoft.com/office/drawing/2014/main" id="{CE50201D-D2ED-E50D-57F6-4A7CAACD5B80}"/>
              </a:ext>
            </a:extLst>
          </p:cNvPr>
          <p:cNvSpPr/>
          <p:nvPr/>
        </p:nvSpPr>
        <p:spPr>
          <a:xfrm>
            <a:off x="6393941" y="2694261"/>
            <a:ext cx="1414082" cy="15874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吹き出し 23">
            <a:extLst>
              <a:ext uri="{FF2B5EF4-FFF2-40B4-BE49-F238E27FC236}">
                <a16:creationId xmlns:a16="http://schemas.microsoft.com/office/drawing/2014/main" id="{A27DC703-49EF-0B60-D1BB-50986D6DF1A9}"/>
              </a:ext>
            </a:extLst>
          </p:cNvPr>
          <p:cNvSpPr/>
          <p:nvPr/>
        </p:nvSpPr>
        <p:spPr>
          <a:xfrm>
            <a:off x="8172317" y="2445632"/>
            <a:ext cx="2323487" cy="326594"/>
          </a:xfrm>
          <a:prstGeom prst="wedgeRectCallout">
            <a:avLst>
              <a:gd name="adj1" fmla="val -57346"/>
              <a:gd name="adj2" fmla="val 541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app-</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-web</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25" name="正方形/長方形 24">
            <a:extLst>
              <a:ext uri="{FF2B5EF4-FFF2-40B4-BE49-F238E27FC236}">
                <a16:creationId xmlns:a16="http://schemas.microsoft.com/office/drawing/2014/main" id="{A9A386CA-DE14-44BD-6EA4-0E45CD1BE095}"/>
              </a:ext>
            </a:extLst>
          </p:cNvPr>
          <p:cNvSpPr/>
          <p:nvPr/>
        </p:nvSpPr>
        <p:spPr>
          <a:xfrm>
            <a:off x="6393941" y="2981777"/>
            <a:ext cx="1414082" cy="8272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吹き出し 25">
            <a:extLst>
              <a:ext uri="{FF2B5EF4-FFF2-40B4-BE49-F238E27FC236}">
                <a16:creationId xmlns:a16="http://schemas.microsoft.com/office/drawing/2014/main" id="{DBDDF5BE-331B-C5A3-D151-67A5928D2A46}"/>
              </a:ext>
            </a:extLst>
          </p:cNvPr>
          <p:cNvSpPr/>
          <p:nvPr/>
        </p:nvSpPr>
        <p:spPr>
          <a:xfrm>
            <a:off x="8172316" y="2901206"/>
            <a:ext cx="3127959" cy="2002275"/>
          </a:xfrm>
          <a:prstGeom prst="wedgeRectCallout">
            <a:avLst>
              <a:gd name="adj1" fmla="val -62513"/>
              <a:gd name="adj2" fmla="val -3876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イメージのソースは「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Docker Hub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またはその他のレジストリ」を選択</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その後、表示される項目は下記の通り</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イメージの種類</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パブリック</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レジストリログインサーバ</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mcr.microsoft.com</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イメージとタグ</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k8se/</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quickstart:latest</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ほかはデフォルト値</a:t>
            </a:r>
          </a:p>
        </p:txBody>
      </p:sp>
      <p:sp>
        <p:nvSpPr>
          <p:cNvPr id="27" name="正方形/長方形 26">
            <a:extLst>
              <a:ext uri="{FF2B5EF4-FFF2-40B4-BE49-F238E27FC236}">
                <a16:creationId xmlns:a16="http://schemas.microsoft.com/office/drawing/2014/main" id="{19D6383B-574D-C69C-3726-EDDA1EC7C379}"/>
              </a:ext>
            </a:extLst>
          </p:cNvPr>
          <p:cNvSpPr/>
          <p:nvPr/>
        </p:nvSpPr>
        <p:spPr>
          <a:xfrm>
            <a:off x="6324668" y="5220321"/>
            <a:ext cx="1414082" cy="8272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吹き出し 27">
            <a:extLst>
              <a:ext uri="{FF2B5EF4-FFF2-40B4-BE49-F238E27FC236}">
                <a16:creationId xmlns:a16="http://schemas.microsoft.com/office/drawing/2014/main" id="{7C158826-4EC1-B80F-AF3A-C1942E6C5648}"/>
              </a:ext>
            </a:extLst>
          </p:cNvPr>
          <p:cNvSpPr/>
          <p:nvPr/>
        </p:nvSpPr>
        <p:spPr>
          <a:xfrm>
            <a:off x="8164043" y="5213571"/>
            <a:ext cx="2323487" cy="686116"/>
          </a:xfrm>
          <a:prstGeom prst="wedgeRectCallout">
            <a:avLst>
              <a:gd name="adj1" fmla="val -64501"/>
              <a:gd name="adj2" fmla="val -4190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CPU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とメモリは「</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0.25 CPU cores, 0.5 Gi memory</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a:t>
            </a:r>
          </a:p>
        </p:txBody>
      </p:sp>
    </p:spTree>
    <p:extLst>
      <p:ext uri="{BB962C8B-B14F-4D97-AF65-F5344CB8AC3E}">
        <p14:creationId xmlns:p14="http://schemas.microsoft.com/office/powerpoint/2010/main" val="16474742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74364-8AF3-8A0B-F338-8DA13BB94D3A}"/>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0AC1602E-296A-23F8-B85A-F41E9E6F1BED}"/>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6BF8560D-F108-47C2-D814-D6383C7C5BB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52303" y="2495839"/>
            <a:ext cx="5379258" cy="3362036"/>
          </a:xfrm>
          <a:prstGeom prst="rect">
            <a:avLst/>
          </a:prstGeom>
        </p:spPr>
      </p:pic>
      <p:sp>
        <p:nvSpPr>
          <p:cNvPr id="9" name="正方形/長方形 8">
            <a:extLst>
              <a:ext uri="{FF2B5EF4-FFF2-40B4-BE49-F238E27FC236}">
                <a16:creationId xmlns:a16="http://schemas.microsoft.com/office/drawing/2014/main" id="{63BDFEFC-57E4-5E52-3B7B-D43E1692951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Web Container App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26E0620-E381-CA3D-708F-2090DF9730E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E12EB40E-A7A5-7D9C-3C97-62A2B03A207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31CEC97-43CE-5200-DCCA-DEC78CACDAF3}"/>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同じ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に、</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側のプレースホルダー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を作成します。</a:t>
            </a:r>
            <a:endParaRPr lang="en-US" altLang="ja-JP" sz="1200" dirty="0">
              <a:solidFill>
                <a:srgbClr val="64748B"/>
              </a:solidFill>
              <a:latin typeface="Yu Gothic"/>
              <a:ea typeface="Yu Gothic"/>
              <a:cs typeface="Yu Gothic"/>
            </a:endParaRPr>
          </a:p>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Web URL </a:t>
            </a:r>
            <a:r>
              <a:rPr lang="ja-JP" altLang="en-US" sz="1200">
                <a:solidFill>
                  <a:srgbClr val="64748B"/>
                </a:solidFill>
                <a:latin typeface="Yu Gothic"/>
                <a:ea typeface="Yu Gothic"/>
                <a:cs typeface="Yu Gothic"/>
              </a:rPr>
              <a:t>は利用者がアクセスする入口であり、</a:t>
            </a:r>
            <a:r>
              <a:rPr lang="en" altLang="ja-JP" sz="1200" dirty="0">
                <a:solidFill>
                  <a:srgbClr val="64748B"/>
                </a:solidFill>
                <a:latin typeface="Yu Gothic"/>
                <a:ea typeface="Yu Gothic"/>
                <a:cs typeface="Yu Gothic"/>
              </a:rPr>
              <a:t>Entra ID </a:t>
            </a:r>
            <a:r>
              <a:rPr lang="ja-JP" altLang="en-US" sz="1200">
                <a:solidFill>
                  <a:srgbClr val="64748B"/>
                </a:solidFill>
                <a:latin typeface="Yu Gothic"/>
                <a:ea typeface="Yu Gothic"/>
                <a:cs typeface="Yu Gothic"/>
              </a:rPr>
              <a:t>アプリ登録の </a:t>
            </a:r>
            <a:r>
              <a:rPr lang="en" altLang="ja-JP" sz="1200" dirty="0">
                <a:solidFill>
                  <a:srgbClr val="64748B"/>
                </a:solidFill>
                <a:latin typeface="Yu Gothic"/>
                <a:ea typeface="Yu Gothic"/>
                <a:cs typeface="Yu Gothic"/>
              </a:rPr>
              <a:t>redirect URI </a:t>
            </a:r>
            <a:r>
              <a:rPr lang="ja-JP" altLang="en-US" sz="1200">
                <a:solidFill>
                  <a:srgbClr val="64748B"/>
                </a:solidFill>
                <a:latin typeface="Yu Gothic"/>
                <a:ea typeface="Yu Gothic"/>
                <a:cs typeface="Yu Gothic"/>
              </a:rPr>
              <a:t>と第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回の </a:t>
            </a:r>
            <a:r>
              <a:rPr lang="en" altLang="ja-JP" sz="1200" dirty="0">
                <a:solidFill>
                  <a:srgbClr val="64748B"/>
                </a:solidFill>
                <a:latin typeface="Yu Gothic"/>
                <a:ea typeface="Yu Gothic"/>
                <a:cs typeface="Yu Gothic"/>
              </a:rPr>
              <a:t>variables </a:t>
            </a:r>
            <a:r>
              <a:rPr lang="ja-JP" altLang="en-US" sz="1200">
                <a:solidFill>
                  <a:srgbClr val="64748B"/>
                </a:solidFill>
                <a:latin typeface="Yu Gothic"/>
                <a:ea typeface="Yu Gothic"/>
                <a:cs typeface="Yu Gothic"/>
              </a:rPr>
              <a:t>に使います。</a:t>
            </a:r>
          </a:p>
        </p:txBody>
      </p:sp>
      <p:pic>
        <p:nvPicPr>
          <p:cNvPr id="10" name="図 9">
            <a:extLst>
              <a:ext uri="{FF2B5EF4-FFF2-40B4-BE49-F238E27FC236}">
                <a16:creationId xmlns:a16="http://schemas.microsoft.com/office/drawing/2014/main" id="{13C62D42-1B8A-79B6-4FD8-135789B769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1677" y="2495839"/>
            <a:ext cx="4979786" cy="3112366"/>
          </a:xfrm>
          <a:prstGeom prst="rect">
            <a:avLst/>
          </a:prstGeom>
        </p:spPr>
      </p:pic>
      <p:sp>
        <p:nvSpPr>
          <p:cNvPr id="12" name="正方形/長方形 11">
            <a:extLst>
              <a:ext uri="{FF2B5EF4-FFF2-40B4-BE49-F238E27FC236}">
                <a16:creationId xmlns:a16="http://schemas.microsoft.com/office/drawing/2014/main" id="{A90AAED7-6B48-4FC8-AD8D-427260B36114}"/>
              </a:ext>
            </a:extLst>
          </p:cNvPr>
          <p:cNvSpPr/>
          <p:nvPr/>
        </p:nvSpPr>
        <p:spPr>
          <a:xfrm>
            <a:off x="10005704" y="3243261"/>
            <a:ext cx="1391969" cy="1857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3AF8B7FB-3220-5A7D-4920-CE6961E51E2A}"/>
              </a:ext>
            </a:extLst>
          </p:cNvPr>
          <p:cNvSpPr/>
          <p:nvPr/>
        </p:nvSpPr>
        <p:spPr>
          <a:xfrm>
            <a:off x="1392391" y="2976562"/>
            <a:ext cx="357722" cy="15473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034FA4D9-CCA6-9106-471B-971A55A72127}"/>
              </a:ext>
            </a:extLst>
          </p:cNvPr>
          <p:cNvSpPr/>
          <p:nvPr/>
        </p:nvSpPr>
        <p:spPr>
          <a:xfrm>
            <a:off x="1676317" y="2415658"/>
            <a:ext cx="2091217" cy="304957"/>
          </a:xfrm>
          <a:prstGeom prst="wedgeRectCallout">
            <a:avLst>
              <a:gd name="adj1" fmla="val -44860"/>
              <a:gd name="adj2" fmla="val 10987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Ingress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の画面に遷移する</a:t>
            </a:r>
          </a:p>
        </p:txBody>
      </p:sp>
      <p:sp>
        <p:nvSpPr>
          <p:cNvPr id="11" name="正方形/長方形 10">
            <a:extLst>
              <a:ext uri="{FF2B5EF4-FFF2-40B4-BE49-F238E27FC236}">
                <a16:creationId xmlns:a16="http://schemas.microsoft.com/office/drawing/2014/main" id="{7A639EC4-4604-030A-9DB1-D795EF2109EA}"/>
              </a:ext>
            </a:extLst>
          </p:cNvPr>
          <p:cNvSpPr/>
          <p:nvPr/>
        </p:nvSpPr>
        <p:spPr>
          <a:xfrm>
            <a:off x="1789600" y="3318454"/>
            <a:ext cx="186982" cy="1105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吹き出し 12">
            <a:extLst>
              <a:ext uri="{FF2B5EF4-FFF2-40B4-BE49-F238E27FC236}">
                <a16:creationId xmlns:a16="http://schemas.microsoft.com/office/drawing/2014/main" id="{288B0E81-D2A0-E58F-28C5-D9833A7FD50E}"/>
              </a:ext>
            </a:extLst>
          </p:cNvPr>
          <p:cNvSpPr/>
          <p:nvPr/>
        </p:nvSpPr>
        <p:spPr>
          <a:xfrm>
            <a:off x="2610770" y="3003765"/>
            <a:ext cx="1268503" cy="326594"/>
          </a:xfrm>
          <a:prstGeom prst="wedgeRectCallout">
            <a:avLst>
              <a:gd name="adj1" fmla="val -91186"/>
              <a:gd name="adj2" fmla="val 5692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Ingress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を有効化</a:t>
            </a:r>
          </a:p>
        </p:txBody>
      </p:sp>
      <p:sp>
        <p:nvSpPr>
          <p:cNvPr id="14" name="正方形/長方形 13">
            <a:extLst>
              <a:ext uri="{FF2B5EF4-FFF2-40B4-BE49-F238E27FC236}">
                <a16:creationId xmlns:a16="http://schemas.microsoft.com/office/drawing/2014/main" id="{3F24E607-DEBB-800D-E24A-B8A08B7629C5}"/>
              </a:ext>
            </a:extLst>
          </p:cNvPr>
          <p:cNvSpPr/>
          <p:nvPr/>
        </p:nvSpPr>
        <p:spPr>
          <a:xfrm>
            <a:off x="1789600" y="4445289"/>
            <a:ext cx="1775636" cy="1105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4192E065-2929-966E-38DD-B7DD44E7159E}"/>
              </a:ext>
            </a:extLst>
          </p:cNvPr>
          <p:cNvSpPr/>
          <p:nvPr/>
        </p:nvSpPr>
        <p:spPr>
          <a:xfrm>
            <a:off x="4193246" y="4173968"/>
            <a:ext cx="1431699" cy="326594"/>
          </a:xfrm>
          <a:prstGeom prst="wedgeRectCallout">
            <a:avLst>
              <a:gd name="adj1" fmla="val -91186"/>
              <a:gd name="adj2" fmla="val 5692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ターゲットポートは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80</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6" name="テキスト ボックス 15">
            <a:extLst>
              <a:ext uri="{FF2B5EF4-FFF2-40B4-BE49-F238E27FC236}">
                <a16:creationId xmlns:a16="http://schemas.microsoft.com/office/drawing/2014/main" id="{9539A79B-10BD-9960-28BF-163FF7D952B3}"/>
              </a:ext>
            </a:extLst>
          </p:cNvPr>
          <p:cNvSpPr txBox="1"/>
          <p:nvPr/>
        </p:nvSpPr>
        <p:spPr>
          <a:xfrm>
            <a:off x="1611745" y="5783951"/>
            <a:ext cx="3906982" cy="221599"/>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ほかはデフォルト値を利用</a:t>
            </a:r>
          </a:p>
        </p:txBody>
      </p:sp>
      <p:sp>
        <p:nvSpPr>
          <p:cNvPr id="17" name="正方形/長方形 16">
            <a:extLst>
              <a:ext uri="{FF2B5EF4-FFF2-40B4-BE49-F238E27FC236}">
                <a16:creationId xmlns:a16="http://schemas.microsoft.com/office/drawing/2014/main" id="{0AF2B350-4C7A-7F7D-AAFF-5D7A134B0807}"/>
              </a:ext>
            </a:extLst>
          </p:cNvPr>
          <p:cNvSpPr/>
          <p:nvPr/>
        </p:nvSpPr>
        <p:spPr>
          <a:xfrm>
            <a:off x="901782" y="5394904"/>
            <a:ext cx="585273" cy="2133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430C2BF2-632A-F256-2283-452855A04AFA}"/>
              </a:ext>
            </a:extLst>
          </p:cNvPr>
          <p:cNvSpPr/>
          <p:nvPr/>
        </p:nvSpPr>
        <p:spPr>
          <a:xfrm>
            <a:off x="1993873" y="4985870"/>
            <a:ext cx="1885400" cy="326594"/>
          </a:xfrm>
          <a:prstGeom prst="wedgeRectCallout">
            <a:avLst>
              <a:gd name="adj1" fmla="val -83348"/>
              <a:gd name="adj2" fmla="val 5975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確認と作成の画面に遷移し、リソースを作成する</a:t>
            </a:r>
          </a:p>
        </p:txBody>
      </p:sp>
      <p:sp>
        <p:nvSpPr>
          <p:cNvPr id="19" name="正方形/長方形 18">
            <a:extLst>
              <a:ext uri="{FF2B5EF4-FFF2-40B4-BE49-F238E27FC236}">
                <a16:creationId xmlns:a16="http://schemas.microsoft.com/office/drawing/2014/main" id="{64ADAE84-A2B4-7CF0-C9DC-35689D074FA5}"/>
              </a:ext>
            </a:extLst>
          </p:cNvPr>
          <p:cNvSpPr/>
          <p:nvPr/>
        </p:nvSpPr>
        <p:spPr>
          <a:xfrm>
            <a:off x="1789600" y="3712154"/>
            <a:ext cx="186982" cy="1105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53A850CD-925B-462D-696F-FFE5A79159E9}"/>
              </a:ext>
            </a:extLst>
          </p:cNvPr>
          <p:cNvSpPr/>
          <p:nvPr/>
        </p:nvSpPr>
        <p:spPr>
          <a:xfrm>
            <a:off x="2610769" y="3507940"/>
            <a:ext cx="2091217" cy="326594"/>
          </a:xfrm>
          <a:prstGeom prst="wedgeRectCallout">
            <a:avLst>
              <a:gd name="adj1" fmla="val -76169"/>
              <a:gd name="adj2" fmla="val 2299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どこからでもトラフィックを受け入れますを選択</a:t>
            </a:r>
          </a:p>
        </p:txBody>
      </p:sp>
      <p:sp>
        <p:nvSpPr>
          <p:cNvPr id="21" name="四角形吹き出し 20">
            <a:extLst>
              <a:ext uri="{FF2B5EF4-FFF2-40B4-BE49-F238E27FC236}">
                <a16:creationId xmlns:a16="http://schemas.microsoft.com/office/drawing/2014/main" id="{DA30E5AE-F6CC-B267-A6DF-7A44997E0A3C}"/>
              </a:ext>
            </a:extLst>
          </p:cNvPr>
          <p:cNvSpPr/>
          <p:nvPr/>
        </p:nvSpPr>
        <p:spPr>
          <a:xfrm>
            <a:off x="8097262" y="2304686"/>
            <a:ext cx="2579974" cy="543287"/>
          </a:xfrm>
          <a:prstGeom prst="wedgeRectCallout">
            <a:avLst>
              <a:gd name="adj1" fmla="val 30497"/>
              <a:gd name="adj2" fmla="val 10034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リソースの作成が完了したら、リソースグループから作成した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Web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用コンテナアプリの画面に遷移し、アプリケーション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URL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をメモする</a:t>
            </a:r>
          </a:p>
        </p:txBody>
      </p:sp>
    </p:spTree>
    <p:extLst>
      <p:ext uri="{BB962C8B-B14F-4D97-AF65-F5344CB8AC3E}">
        <p14:creationId xmlns:p14="http://schemas.microsoft.com/office/powerpoint/2010/main" val="41417153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FA099-7DE9-542B-824A-CF2F4DC16D5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DEA8CC9-D199-4514-F218-B38BFCB13D0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PostgreSQL Flexible Server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3F5EDEE7-B058-E777-29F4-981A588AD5E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E9B2BD1A-DC37-D713-261F-BD19608DB5D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85C28E3-D442-FB8D-5699-3BCF38DA7F03}"/>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データを保存する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層として、</a:t>
            </a:r>
            <a:r>
              <a:rPr lang="en" altLang="ja-JP" sz="1200" dirty="0">
                <a:solidFill>
                  <a:srgbClr val="64748B"/>
                </a:solidFill>
                <a:latin typeface="Yu Gothic"/>
                <a:ea typeface="Yu Gothic"/>
                <a:cs typeface="Yu Gothic"/>
              </a:rPr>
              <a:t>Azure Database for PostgreSQL Flexible Server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AC6BED11-35D1-93A5-70AC-39D4066255AB}"/>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576194BB-9AEE-777F-8CE0-9E6A00971B1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3654" y="2611293"/>
            <a:ext cx="4874492" cy="3046557"/>
          </a:xfrm>
          <a:prstGeom prst="rect">
            <a:avLst/>
          </a:prstGeom>
        </p:spPr>
      </p:pic>
      <p:pic>
        <p:nvPicPr>
          <p:cNvPr id="7" name="図 6">
            <a:extLst>
              <a:ext uri="{FF2B5EF4-FFF2-40B4-BE49-F238E27FC236}">
                <a16:creationId xmlns:a16="http://schemas.microsoft.com/office/drawing/2014/main" id="{AEECB5BE-EFB4-11DD-084A-CE302BDD2BD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92607" y="2611293"/>
            <a:ext cx="4874492" cy="3046558"/>
          </a:xfrm>
          <a:prstGeom prst="rect">
            <a:avLst/>
          </a:prstGeom>
        </p:spPr>
      </p:pic>
      <p:sp>
        <p:nvSpPr>
          <p:cNvPr id="8" name="正方形/長方形 7">
            <a:extLst>
              <a:ext uri="{FF2B5EF4-FFF2-40B4-BE49-F238E27FC236}">
                <a16:creationId xmlns:a16="http://schemas.microsoft.com/office/drawing/2014/main" id="{E75639A2-3502-8182-E855-C70D5972DEAB}"/>
              </a:ext>
            </a:extLst>
          </p:cNvPr>
          <p:cNvSpPr/>
          <p:nvPr/>
        </p:nvSpPr>
        <p:spPr>
          <a:xfrm>
            <a:off x="2503955" y="2604657"/>
            <a:ext cx="1540741" cy="12858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F7904662-CAD6-B330-CF4A-E669E7338EAB}"/>
              </a:ext>
            </a:extLst>
          </p:cNvPr>
          <p:cNvSpPr/>
          <p:nvPr/>
        </p:nvSpPr>
        <p:spPr>
          <a:xfrm>
            <a:off x="3076568" y="2043112"/>
            <a:ext cx="2621437" cy="309133"/>
          </a:xfrm>
          <a:prstGeom prst="wedgeRectCallout">
            <a:avLst>
              <a:gd name="adj1" fmla="val -57963"/>
              <a:gd name="adj2" fmla="val 10653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PostgreSQL flexible</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」で検索</a:t>
            </a:r>
          </a:p>
        </p:txBody>
      </p:sp>
      <p:sp>
        <p:nvSpPr>
          <p:cNvPr id="11" name="正方形/長方形 10">
            <a:extLst>
              <a:ext uri="{FF2B5EF4-FFF2-40B4-BE49-F238E27FC236}">
                <a16:creationId xmlns:a16="http://schemas.microsoft.com/office/drawing/2014/main" id="{11236ED8-4352-C271-5D9F-8121B802649D}"/>
              </a:ext>
            </a:extLst>
          </p:cNvPr>
          <p:cNvSpPr/>
          <p:nvPr/>
        </p:nvSpPr>
        <p:spPr>
          <a:xfrm>
            <a:off x="2503955" y="3139338"/>
            <a:ext cx="1540741" cy="1928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EB91D275-44BD-4F42-E154-AA387C83274A}"/>
              </a:ext>
            </a:extLst>
          </p:cNvPr>
          <p:cNvSpPr/>
          <p:nvPr/>
        </p:nvSpPr>
        <p:spPr>
          <a:xfrm>
            <a:off x="3076567" y="3583746"/>
            <a:ext cx="2621437" cy="691448"/>
          </a:xfrm>
          <a:prstGeom prst="wedgeRectCallout">
            <a:avLst>
              <a:gd name="adj1" fmla="val -45983"/>
              <a:gd name="adj2" fmla="val -7354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Azure Database for PostgreSQL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のフレキスブルサーバー」を選択</a:t>
            </a:r>
          </a:p>
        </p:txBody>
      </p:sp>
      <p:sp>
        <p:nvSpPr>
          <p:cNvPr id="13" name="正方形/長方形 12">
            <a:extLst>
              <a:ext uri="{FF2B5EF4-FFF2-40B4-BE49-F238E27FC236}">
                <a16:creationId xmlns:a16="http://schemas.microsoft.com/office/drawing/2014/main" id="{B03561F3-4CC0-917E-BD77-3C453815A2CA}"/>
              </a:ext>
            </a:extLst>
          </p:cNvPr>
          <p:cNvSpPr/>
          <p:nvPr/>
        </p:nvSpPr>
        <p:spPr>
          <a:xfrm>
            <a:off x="6335686" y="3022911"/>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A8079570-6B9C-4F1D-1ED1-D5E10E019D97}"/>
              </a:ext>
            </a:extLst>
          </p:cNvPr>
          <p:cNvSpPr/>
          <p:nvPr/>
        </p:nvSpPr>
        <p:spPr>
          <a:xfrm>
            <a:off x="6050551" y="2161745"/>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9781440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C1BD6-CD2C-F94D-DAE2-1F7ADE18FFD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40CFDCE-C71F-6F56-6BF2-34F3C1CD9D4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PostgreSQL Flexible Server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39175A6F-1DF6-DB52-CE31-4ADDCF3413C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6B3E44A9-FE17-B549-B23C-FFD0BBAC21F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2F48ADF-1967-9571-A611-9C0F29A240C1}"/>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データを保存する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層として、</a:t>
            </a:r>
            <a:r>
              <a:rPr lang="en" altLang="ja-JP" sz="1200" dirty="0">
                <a:solidFill>
                  <a:srgbClr val="64748B"/>
                </a:solidFill>
                <a:latin typeface="Yu Gothic"/>
                <a:ea typeface="Yu Gothic"/>
                <a:cs typeface="Yu Gothic"/>
              </a:rPr>
              <a:t>Azure Database for PostgreSQL Flexible Server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8" name="正方形/長方形 7">
            <a:extLst>
              <a:ext uri="{FF2B5EF4-FFF2-40B4-BE49-F238E27FC236}">
                <a16:creationId xmlns:a16="http://schemas.microsoft.com/office/drawing/2014/main" id="{D25DF84F-5CCA-2188-C644-F4DAC5EC8C9F}"/>
              </a:ext>
            </a:extLst>
          </p:cNvPr>
          <p:cNvSpPr>
            <a:spLocks noGrp="1"/>
          </p:cNvSpPr>
          <p:nvPr/>
        </p:nvSpPr>
        <p:spPr>
          <a:xfrm>
            <a:off x="550606" y="1754909"/>
            <a:ext cx="11080955" cy="4703041"/>
          </a:xfrm>
          <a:prstGeom prst="rect">
            <a:avLst/>
          </a:prstGeom>
          <a:solidFill>
            <a:srgbClr val="FFFFFF"/>
          </a:solidFill>
          <a:ln w="9525">
            <a:solidFill>
              <a:srgbClr val="D0D5DD"/>
            </a:solidFill>
            <a:prstDash val="solid"/>
          </a:ln>
        </p:spPr>
        <p:txBody>
          <a:bodyPr/>
          <a:lstStyle/>
          <a:p>
            <a:endParaRPr lang="ja-JP" altLang="en-US"/>
          </a:p>
        </p:txBody>
      </p:sp>
      <p:pic>
        <p:nvPicPr>
          <p:cNvPr id="10" name="図 9">
            <a:extLst>
              <a:ext uri="{FF2B5EF4-FFF2-40B4-BE49-F238E27FC236}">
                <a16:creationId xmlns:a16="http://schemas.microsoft.com/office/drawing/2014/main" id="{CADC2DB9-EAF7-B663-12C3-B319646C4F6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29510" y="1945409"/>
            <a:ext cx="3216852" cy="4289136"/>
          </a:xfrm>
          <a:prstGeom prst="rect">
            <a:avLst/>
          </a:prstGeom>
        </p:spPr>
      </p:pic>
      <p:pic>
        <p:nvPicPr>
          <p:cNvPr id="11" name="図 10">
            <a:extLst>
              <a:ext uri="{FF2B5EF4-FFF2-40B4-BE49-F238E27FC236}">
                <a16:creationId xmlns:a16="http://schemas.microsoft.com/office/drawing/2014/main" id="{ADB30B0C-3AC9-0A53-0BB9-0C67A0F9DAB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45641" y="1945410"/>
            <a:ext cx="3216852" cy="4289136"/>
          </a:xfrm>
          <a:prstGeom prst="rect">
            <a:avLst/>
          </a:prstGeom>
        </p:spPr>
      </p:pic>
      <p:sp>
        <p:nvSpPr>
          <p:cNvPr id="3" name="正方形/長方形 2">
            <a:extLst>
              <a:ext uri="{FF2B5EF4-FFF2-40B4-BE49-F238E27FC236}">
                <a16:creationId xmlns:a16="http://schemas.microsoft.com/office/drawing/2014/main" id="{9DF94139-CA8A-668E-6AFC-BEB276A42C58}"/>
              </a:ext>
            </a:extLst>
          </p:cNvPr>
          <p:cNvSpPr/>
          <p:nvPr/>
        </p:nvSpPr>
        <p:spPr>
          <a:xfrm>
            <a:off x="2428882" y="2952698"/>
            <a:ext cx="1256428" cy="13165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吹き出し 5">
            <a:extLst>
              <a:ext uri="{FF2B5EF4-FFF2-40B4-BE49-F238E27FC236}">
                <a16:creationId xmlns:a16="http://schemas.microsoft.com/office/drawing/2014/main" id="{01867C29-5197-4B23-D595-F9F3442DCB9F}"/>
              </a:ext>
            </a:extLst>
          </p:cNvPr>
          <p:cNvSpPr/>
          <p:nvPr/>
        </p:nvSpPr>
        <p:spPr>
          <a:xfrm>
            <a:off x="2987315" y="1945409"/>
            <a:ext cx="1729902" cy="608317"/>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7" name="正方形/長方形 6">
            <a:extLst>
              <a:ext uri="{FF2B5EF4-FFF2-40B4-BE49-F238E27FC236}">
                <a16:creationId xmlns:a16="http://schemas.microsoft.com/office/drawing/2014/main" id="{AE5AB1C2-D67C-F7C0-4301-510766AB2E00}"/>
              </a:ext>
            </a:extLst>
          </p:cNvPr>
          <p:cNvSpPr/>
          <p:nvPr/>
        </p:nvSpPr>
        <p:spPr>
          <a:xfrm>
            <a:off x="2429189" y="3094197"/>
            <a:ext cx="1256122"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F5F33780-D8E7-0174-F2B9-FF200C96BD42}"/>
              </a:ext>
            </a:extLst>
          </p:cNvPr>
          <p:cNvSpPr/>
          <p:nvPr/>
        </p:nvSpPr>
        <p:spPr>
          <a:xfrm>
            <a:off x="4335950" y="2674565"/>
            <a:ext cx="1309784" cy="527831"/>
          </a:xfrm>
          <a:prstGeom prst="wedgeRectCallout">
            <a:avLst>
              <a:gd name="adj1" fmla="val -93623"/>
              <a:gd name="adj2" fmla="val 384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講師から指示された参加者ごとのリソースグループ名を選択</a:t>
            </a:r>
          </a:p>
        </p:txBody>
      </p:sp>
      <p:sp>
        <p:nvSpPr>
          <p:cNvPr id="13" name="四角形吹き出し 12">
            <a:extLst>
              <a:ext uri="{FF2B5EF4-FFF2-40B4-BE49-F238E27FC236}">
                <a16:creationId xmlns:a16="http://schemas.microsoft.com/office/drawing/2014/main" id="{EDA84354-2399-13ED-BBB4-0F8D1A430754}"/>
              </a:ext>
            </a:extLst>
          </p:cNvPr>
          <p:cNvSpPr/>
          <p:nvPr/>
        </p:nvSpPr>
        <p:spPr>
          <a:xfrm>
            <a:off x="4335949" y="3360908"/>
            <a:ext cx="1309783" cy="527831"/>
          </a:xfrm>
          <a:prstGeom prst="wedgeRectCallout">
            <a:avLst>
              <a:gd name="adj1" fmla="val -93120"/>
              <a:gd name="adj2" fmla="val 1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14" name="正方形/長方形 13">
            <a:extLst>
              <a:ext uri="{FF2B5EF4-FFF2-40B4-BE49-F238E27FC236}">
                <a16:creationId xmlns:a16="http://schemas.microsoft.com/office/drawing/2014/main" id="{22A0FD5B-D38D-D5E1-DEDC-E446DD8910B0}"/>
              </a:ext>
            </a:extLst>
          </p:cNvPr>
          <p:cNvSpPr/>
          <p:nvPr/>
        </p:nvSpPr>
        <p:spPr>
          <a:xfrm>
            <a:off x="2428883" y="3606352"/>
            <a:ext cx="1256122" cy="7632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2AAAB42-D9DC-3093-CF93-4D37FD5FD7EB}"/>
              </a:ext>
            </a:extLst>
          </p:cNvPr>
          <p:cNvSpPr/>
          <p:nvPr/>
        </p:nvSpPr>
        <p:spPr>
          <a:xfrm>
            <a:off x="2428882" y="3486712"/>
            <a:ext cx="1256122" cy="7632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08BBB400-5FD5-BF1D-824F-369C7D272F8B}"/>
              </a:ext>
            </a:extLst>
          </p:cNvPr>
          <p:cNvSpPr/>
          <p:nvPr/>
        </p:nvSpPr>
        <p:spPr>
          <a:xfrm>
            <a:off x="529647" y="2820437"/>
            <a:ext cx="1507024" cy="527831"/>
          </a:xfrm>
          <a:prstGeom prst="wedgeRectCallout">
            <a:avLst>
              <a:gd name="adj1" fmla="val 74198"/>
              <a:gd name="adj2" fmla="val 7351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pg</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-dev</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17" name="正方形/長方形 16">
            <a:extLst>
              <a:ext uri="{FF2B5EF4-FFF2-40B4-BE49-F238E27FC236}">
                <a16:creationId xmlns:a16="http://schemas.microsoft.com/office/drawing/2014/main" id="{A7DF1BFE-DC7F-A473-09C9-57FBA8DAC7F9}"/>
              </a:ext>
            </a:extLst>
          </p:cNvPr>
          <p:cNvSpPr/>
          <p:nvPr/>
        </p:nvSpPr>
        <p:spPr>
          <a:xfrm>
            <a:off x="2438118" y="3702409"/>
            <a:ext cx="1256122" cy="7632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4FD4A606-D5BD-891C-20F0-312F348A62A2}"/>
              </a:ext>
            </a:extLst>
          </p:cNvPr>
          <p:cNvSpPr/>
          <p:nvPr/>
        </p:nvSpPr>
        <p:spPr>
          <a:xfrm>
            <a:off x="515538" y="3438494"/>
            <a:ext cx="1507024" cy="263916"/>
          </a:xfrm>
          <a:prstGeom prst="wedgeRectCallout">
            <a:avLst>
              <a:gd name="adj1" fmla="val 76036"/>
              <a:gd name="adj2" fmla="val 61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バージョンは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17</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9" name="正方形/長方形 18">
            <a:extLst>
              <a:ext uri="{FF2B5EF4-FFF2-40B4-BE49-F238E27FC236}">
                <a16:creationId xmlns:a16="http://schemas.microsoft.com/office/drawing/2014/main" id="{5FB57491-25BB-28C5-F6E2-2B53D81F4B31}"/>
              </a:ext>
            </a:extLst>
          </p:cNvPr>
          <p:cNvSpPr/>
          <p:nvPr/>
        </p:nvSpPr>
        <p:spPr>
          <a:xfrm>
            <a:off x="2421009" y="3823558"/>
            <a:ext cx="396082" cy="9454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51A3A816-51D0-57CB-E68F-559D013D4A0B}"/>
              </a:ext>
            </a:extLst>
          </p:cNvPr>
          <p:cNvSpPr/>
          <p:nvPr/>
        </p:nvSpPr>
        <p:spPr>
          <a:xfrm>
            <a:off x="517858" y="3805386"/>
            <a:ext cx="1507024" cy="402442"/>
          </a:xfrm>
          <a:prstGeom prst="wedgeRectCallout">
            <a:avLst>
              <a:gd name="adj1" fmla="val 72971"/>
              <a:gd name="adj2" fmla="val -2877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ワークロードの種類は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Dev/Test</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1" name="正方形/長方形 20">
            <a:extLst>
              <a:ext uri="{FF2B5EF4-FFF2-40B4-BE49-F238E27FC236}">
                <a16:creationId xmlns:a16="http://schemas.microsoft.com/office/drawing/2014/main" id="{2A6804A8-305A-F1B4-2139-6CCEC9256503}"/>
              </a:ext>
            </a:extLst>
          </p:cNvPr>
          <p:cNvSpPr/>
          <p:nvPr/>
        </p:nvSpPr>
        <p:spPr>
          <a:xfrm>
            <a:off x="7915280" y="5316029"/>
            <a:ext cx="1273231" cy="13496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吹き出し 21">
            <a:extLst>
              <a:ext uri="{FF2B5EF4-FFF2-40B4-BE49-F238E27FC236}">
                <a16:creationId xmlns:a16="http://schemas.microsoft.com/office/drawing/2014/main" id="{173F6B6D-CABD-509C-97F8-27F579A62C49}"/>
              </a:ext>
            </a:extLst>
          </p:cNvPr>
          <p:cNvSpPr/>
          <p:nvPr/>
        </p:nvSpPr>
        <p:spPr>
          <a:xfrm>
            <a:off x="5992700" y="4738998"/>
            <a:ext cx="1507024" cy="402442"/>
          </a:xfrm>
          <a:prstGeom prst="wedgeRectCallout">
            <a:avLst>
              <a:gd name="adj1" fmla="val 72358"/>
              <a:gd name="adj2" fmla="val 10663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認証方法は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Microsoft Entra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認証のみ</a:t>
            </a:r>
          </a:p>
        </p:txBody>
      </p:sp>
      <p:sp>
        <p:nvSpPr>
          <p:cNvPr id="23" name="正方形/長方形 22">
            <a:extLst>
              <a:ext uri="{FF2B5EF4-FFF2-40B4-BE49-F238E27FC236}">
                <a16:creationId xmlns:a16="http://schemas.microsoft.com/office/drawing/2014/main" id="{7C5AED50-9A75-52B5-C7FA-AB9C4EA17727}"/>
              </a:ext>
            </a:extLst>
          </p:cNvPr>
          <p:cNvSpPr/>
          <p:nvPr/>
        </p:nvSpPr>
        <p:spPr>
          <a:xfrm>
            <a:off x="7915280" y="5450993"/>
            <a:ext cx="1273231" cy="13496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吹き出し 23">
            <a:extLst>
              <a:ext uri="{FF2B5EF4-FFF2-40B4-BE49-F238E27FC236}">
                <a16:creationId xmlns:a16="http://schemas.microsoft.com/office/drawing/2014/main" id="{F8313281-F115-D26F-B91B-2F8C2D5C5194}"/>
              </a:ext>
            </a:extLst>
          </p:cNvPr>
          <p:cNvSpPr/>
          <p:nvPr/>
        </p:nvSpPr>
        <p:spPr>
          <a:xfrm>
            <a:off x="5992700" y="5208921"/>
            <a:ext cx="1507024" cy="601577"/>
          </a:xfrm>
          <a:prstGeom prst="wedgeRectCallout">
            <a:avLst>
              <a:gd name="adj1" fmla="val 72971"/>
              <a:gd name="adj2" fmla="val 428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管理者はこのハンズオンで利用している自身のアカウントを選択</a:t>
            </a:r>
          </a:p>
        </p:txBody>
      </p:sp>
      <p:sp>
        <p:nvSpPr>
          <p:cNvPr id="25" name="正方形/長方形 24">
            <a:extLst>
              <a:ext uri="{FF2B5EF4-FFF2-40B4-BE49-F238E27FC236}">
                <a16:creationId xmlns:a16="http://schemas.microsoft.com/office/drawing/2014/main" id="{747D6105-B35B-AA46-1599-B968315F9259}"/>
              </a:ext>
            </a:extLst>
          </p:cNvPr>
          <p:cNvSpPr/>
          <p:nvPr/>
        </p:nvSpPr>
        <p:spPr>
          <a:xfrm>
            <a:off x="7652346" y="6082647"/>
            <a:ext cx="641909" cy="13496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吹き出し 25">
            <a:extLst>
              <a:ext uri="{FF2B5EF4-FFF2-40B4-BE49-F238E27FC236}">
                <a16:creationId xmlns:a16="http://schemas.microsoft.com/office/drawing/2014/main" id="{4E2C7334-9B31-485C-4D21-C1AF505136A1}"/>
              </a:ext>
            </a:extLst>
          </p:cNvPr>
          <p:cNvSpPr/>
          <p:nvPr/>
        </p:nvSpPr>
        <p:spPr>
          <a:xfrm>
            <a:off x="9393830" y="5810498"/>
            <a:ext cx="1507024" cy="377036"/>
          </a:xfrm>
          <a:prstGeom prst="wedgeRectCallout">
            <a:avLst>
              <a:gd name="adj1" fmla="val -118863"/>
              <a:gd name="adj2" fmla="val 472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ネットワークを選択</a:t>
            </a:r>
          </a:p>
        </p:txBody>
      </p:sp>
    </p:spTree>
    <p:extLst>
      <p:ext uri="{BB962C8B-B14F-4D97-AF65-F5344CB8AC3E}">
        <p14:creationId xmlns:p14="http://schemas.microsoft.com/office/powerpoint/2010/main" val="1898380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A225F-BCFA-0CB5-74D9-6C0BE15CEA4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15710BE-AD2E-C717-B501-BDA7BE4D920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PostgreSQL Flexible Server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1E4FF78D-8FBA-3B78-EB59-A8C09C4ABF6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13E6CACB-ECBB-A990-54C1-0B6ABE41A62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69BAFF1-AA96-AA0A-9094-78F2229F07C5}"/>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Container Apps </a:t>
            </a:r>
            <a:r>
              <a:rPr lang="ja-JP" altLang="en-US" sz="1200">
                <a:solidFill>
                  <a:srgbClr val="64748B"/>
                </a:solidFill>
                <a:latin typeface="Yu Gothic"/>
                <a:ea typeface="Yu Gothic"/>
                <a:cs typeface="Yu Gothic"/>
              </a:rPr>
              <a:t>から </a:t>
            </a:r>
            <a:r>
              <a:rPr lang="en" altLang="ja-JP" sz="1200" dirty="0">
                <a:solidFill>
                  <a:srgbClr val="64748B"/>
                </a:solidFill>
                <a:latin typeface="Yu Gothic"/>
                <a:ea typeface="Yu Gothic"/>
                <a:cs typeface="Yu Gothic"/>
              </a:rPr>
              <a:t>PostgreSQL </a:t>
            </a:r>
            <a:r>
              <a:rPr lang="ja-JP" altLang="en-US" sz="1200">
                <a:solidFill>
                  <a:srgbClr val="64748B"/>
                </a:solidFill>
                <a:latin typeface="Yu Gothic"/>
                <a:ea typeface="Yu Gothic"/>
                <a:cs typeface="Yu Gothic"/>
              </a:rPr>
              <a:t>に接続できるよう、</a:t>
            </a:r>
            <a:r>
              <a:rPr lang="en" altLang="ja-JP" sz="1200" dirty="0">
                <a:solidFill>
                  <a:srgbClr val="64748B"/>
                </a:solidFill>
                <a:latin typeface="Yu Gothic"/>
                <a:ea typeface="Yu Gothic"/>
                <a:cs typeface="Yu Gothic"/>
              </a:rPr>
              <a:t>Private access</a:t>
            </a:r>
            <a:r>
              <a:rPr lang="ja-JP" altLang="en" sz="1200">
                <a:solidFill>
                  <a:srgbClr val="64748B"/>
                </a:solidFill>
                <a:latin typeface="Yu Gothic"/>
                <a:ea typeface="Yu Gothic"/>
                <a:cs typeface="Yu Gothic"/>
              </a:rPr>
              <a:t>、</a:t>
            </a:r>
            <a:r>
              <a:rPr lang="en" altLang="ja-JP" sz="1200" dirty="0" err="1">
                <a:solidFill>
                  <a:srgbClr val="64748B"/>
                </a:solidFill>
                <a:latin typeface="Yu Gothic"/>
                <a:ea typeface="Yu Gothic"/>
                <a:cs typeface="Yu Gothic"/>
              </a:rPr>
              <a:t>VNet</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Private DNS </a:t>
            </a:r>
            <a:r>
              <a:rPr lang="ja-JP" altLang="en-US" sz="1200">
                <a:solidFill>
                  <a:srgbClr val="64748B"/>
                </a:solidFill>
                <a:latin typeface="Yu Gothic"/>
                <a:ea typeface="Yu Gothic"/>
                <a:cs typeface="Yu Gothic"/>
              </a:rPr>
              <a:t>などの設定を手順に合わせます。</a:t>
            </a:r>
            <a:endParaRPr lang="ja-JP" altLang="en-US" sz="1200" dirty="0">
              <a:solidFill>
                <a:srgbClr val="64748B"/>
              </a:solidFill>
              <a:latin typeface="Yu Gothic"/>
              <a:ea typeface="Yu Gothic"/>
              <a:cs typeface="Yu Gothic"/>
            </a:endParaRPr>
          </a:p>
        </p:txBody>
      </p:sp>
      <p:sp>
        <p:nvSpPr>
          <p:cNvPr id="8" name="正方形/長方形 7">
            <a:extLst>
              <a:ext uri="{FF2B5EF4-FFF2-40B4-BE49-F238E27FC236}">
                <a16:creationId xmlns:a16="http://schemas.microsoft.com/office/drawing/2014/main" id="{FA4E7910-E9A8-2C4E-C453-679009A19098}"/>
              </a:ext>
            </a:extLst>
          </p:cNvPr>
          <p:cNvSpPr>
            <a:spLocks noGrp="1"/>
          </p:cNvSpPr>
          <p:nvPr/>
        </p:nvSpPr>
        <p:spPr>
          <a:xfrm>
            <a:off x="550606" y="1754909"/>
            <a:ext cx="11080955" cy="4703041"/>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C70C7BF0-E2A2-D8BE-85DF-F536755C33E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49569" y="1883497"/>
            <a:ext cx="3412981" cy="4550641"/>
          </a:xfrm>
          <a:prstGeom prst="rect">
            <a:avLst/>
          </a:prstGeom>
        </p:spPr>
      </p:pic>
      <p:pic>
        <p:nvPicPr>
          <p:cNvPr id="6" name="図 5">
            <a:extLst>
              <a:ext uri="{FF2B5EF4-FFF2-40B4-BE49-F238E27FC236}">
                <a16:creationId xmlns:a16="http://schemas.microsoft.com/office/drawing/2014/main" id="{507E3E44-7E5C-95F5-F09F-ED22426B0C3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26319" y="2482127"/>
            <a:ext cx="5197764" cy="3248603"/>
          </a:xfrm>
          <a:prstGeom prst="rect">
            <a:avLst/>
          </a:prstGeom>
        </p:spPr>
      </p:pic>
      <p:sp>
        <p:nvSpPr>
          <p:cNvPr id="7" name="正方形/長方形 6">
            <a:extLst>
              <a:ext uri="{FF2B5EF4-FFF2-40B4-BE49-F238E27FC236}">
                <a16:creationId xmlns:a16="http://schemas.microsoft.com/office/drawing/2014/main" id="{BFBB6C24-66D4-C749-6A13-10872C4DE208}"/>
              </a:ext>
            </a:extLst>
          </p:cNvPr>
          <p:cNvSpPr/>
          <p:nvPr/>
        </p:nvSpPr>
        <p:spPr>
          <a:xfrm>
            <a:off x="2503080" y="3076506"/>
            <a:ext cx="720411" cy="10819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3507FA25-EC22-8BEE-72C2-B80B96547B46}"/>
              </a:ext>
            </a:extLst>
          </p:cNvPr>
          <p:cNvSpPr/>
          <p:nvPr/>
        </p:nvSpPr>
        <p:spPr>
          <a:xfrm>
            <a:off x="3472873" y="1945410"/>
            <a:ext cx="2623127" cy="2053935"/>
          </a:xfrm>
          <a:prstGeom prst="wedgeRectCallout">
            <a:avLst>
              <a:gd name="adj1" fmla="val -58023"/>
              <a:gd name="adj2" fmla="val 301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プライベートアクセス</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統合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を選択。その後現れる、サブスクリプション、仮想ネットワーク、サブネットは以下の通り。</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サブスクリプション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講師指定のもの</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仮想ネットワーク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自身で作成した仮想ネットワーク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リソースグループで見分けること</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サブネット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PostgreSQL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用サブネット</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Private DNS Zone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との統合はデフォルト値を使用する</a:t>
            </a:r>
          </a:p>
        </p:txBody>
      </p:sp>
      <p:sp>
        <p:nvSpPr>
          <p:cNvPr id="11" name="正方形/長方形 10">
            <a:extLst>
              <a:ext uri="{FF2B5EF4-FFF2-40B4-BE49-F238E27FC236}">
                <a16:creationId xmlns:a16="http://schemas.microsoft.com/office/drawing/2014/main" id="{FFAF3D9F-E984-1269-84E7-3AC76842F7EE}"/>
              </a:ext>
            </a:extLst>
          </p:cNvPr>
          <p:cNvSpPr/>
          <p:nvPr/>
        </p:nvSpPr>
        <p:spPr>
          <a:xfrm>
            <a:off x="1749570" y="6253019"/>
            <a:ext cx="448686" cy="12785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45AAEBA5-7E0A-C61C-2050-1F71471F23D4}"/>
              </a:ext>
            </a:extLst>
          </p:cNvPr>
          <p:cNvSpPr/>
          <p:nvPr/>
        </p:nvSpPr>
        <p:spPr>
          <a:xfrm>
            <a:off x="3456059" y="5293591"/>
            <a:ext cx="2623127" cy="552450"/>
          </a:xfrm>
          <a:prstGeom prst="wedgeRectCallout">
            <a:avLst>
              <a:gd name="adj1" fmla="val -98868"/>
              <a:gd name="adj2" fmla="val 11742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確認及び作成に遷移し、設定値を確認。問題なければ作成する</a:t>
            </a:r>
          </a:p>
        </p:txBody>
      </p:sp>
      <p:sp>
        <p:nvSpPr>
          <p:cNvPr id="13" name="正方形/長方形 12">
            <a:extLst>
              <a:ext uri="{FF2B5EF4-FFF2-40B4-BE49-F238E27FC236}">
                <a16:creationId xmlns:a16="http://schemas.microsoft.com/office/drawing/2014/main" id="{A60104EE-BE96-B442-A850-71D6D362C915}"/>
              </a:ext>
            </a:extLst>
          </p:cNvPr>
          <p:cNvSpPr/>
          <p:nvPr/>
        </p:nvSpPr>
        <p:spPr>
          <a:xfrm>
            <a:off x="9839449" y="3592945"/>
            <a:ext cx="1391969" cy="11458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056C5C14-D280-5C30-CE9F-217357A60CB8}"/>
              </a:ext>
            </a:extLst>
          </p:cNvPr>
          <p:cNvSpPr/>
          <p:nvPr/>
        </p:nvSpPr>
        <p:spPr>
          <a:xfrm>
            <a:off x="8097262" y="2304686"/>
            <a:ext cx="2579974" cy="543287"/>
          </a:xfrm>
          <a:prstGeom prst="wedgeRectCallout">
            <a:avLst>
              <a:gd name="adj1" fmla="val 31571"/>
              <a:gd name="adj2" fmla="val 17005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リソースの作成が完了したら、リソースグループから作成した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PostgreSQL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の画面に遷移し、エンドポイントの値をメモする</a:t>
            </a:r>
          </a:p>
        </p:txBody>
      </p:sp>
    </p:spTree>
    <p:extLst>
      <p:ext uri="{BB962C8B-B14F-4D97-AF65-F5344CB8AC3E}">
        <p14:creationId xmlns:p14="http://schemas.microsoft.com/office/powerpoint/2010/main" val="37594375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EDBD2-148B-222E-55C7-0F82E9F198E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5FEA2FB-6F7D-787B-0335-BE402169E81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ユーザー割り当てマネージド</a:t>
            </a:r>
            <a:r>
              <a:rPr lang="en-US" altLang="ja-JP" sz="2000" b="1" dirty="0">
                <a:solidFill>
                  <a:srgbClr val="1F2937"/>
                </a:solidFill>
                <a:latin typeface="Yu Gothic"/>
                <a:ea typeface="Yu Gothic"/>
                <a:cs typeface="Yu Gothic"/>
              </a:rPr>
              <a:t> ID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6B90B83C-9F06-0087-0EAA-82DA1DAD352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37D4779A-96C7-3E6A-489B-A0EC5CC412C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E36574B-62A8-9FE8-53AE-DA090C02A4A0}"/>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への権限付与と第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回の設定に使うユーザー割り当てマネージド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78D926A7-E1C2-314F-74C0-300998FF6608}"/>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11" name="図 10">
            <a:extLst>
              <a:ext uri="{FF2B5EF4-FFF2-40B4-BE49-F238E27FC236}">
                <a16:creationId xmlns:a16="http://schemas.microsoft.com/office/drawing/2014/main" id="{2EB5AF17-AFDA-7FFC-1C3B-0B14A327978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5164" y="2459327"/>
            <a:ext cx="5117637" cy="3198523"/>
          </a:xfrm>
          <a:prstGeom prst="rect">
            <a:avLst/>
          </a:prstGeom>
        </p:spPr>
      </p:pic>
      <p:pic>
        <p:nvPicPr>
          <p:cNvPr id="12" name="図 11">
            <a:extLst>
              <a:ext uri="{FF2B5EF4-FFF2-40B4-BE49-F238E27FC236}">
                <a16:creationId xmlns:a16="http://schemas.microsoft.com/office/drawing/2014/main" id="{A6279250-7B96-DDE5-E61B-87189FF31B1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99200" y="2459327"/>
            <a:ext cx="5117637" cy="3198523"/>
          </a:xfrm>
          <a:prstGeom prst="rect">
            <a:avLst/>
          </a:prstGeom>
        </p:spPr>
      </p:pic>
      <p:sp>
        <p:nvSpPr>
          <p:cNvPr id="3" name="正方形/長方形 2">
            <a:extLst>
              <a:ext uri="{FF2B5EF4-FFF2-40B4-BE49-F238E27FC236}">
                <a16:creationId xmlns:a16="http://schemas.microsoft.com/office/drawing/2014/main" id="{FBF10213-5721-25CD-C11D-4839B070C140}"/>
              </a:ext>
            </a:extLst>
          </p:cNvPr>
          <p:cNvSpPr/>
          <p:nvPr/>
        </p:nvSpPr>
        <p:spPr>
          <a:xfrm>
            <a:off x="2443741" y="2466545"/>
            <a:ext cx="1540741" cy="12858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816F9719-B609-04B1-65BC-625A226B4B2F}"/>
              </a:ext>
            </a:extLst>
          </p:cNvPr>
          <p:cNvSpPr/>
          <p:nvPr/>
        </p:nvSpPr>
        <p:spPr>
          <a:xfrm>
            <a:off x="3016354" y="1905000"/>
            <a:ext cx="2621437" cy="309133"/>
          </a:xfrm>
          <a:prstGeom prst="wedgeRectCallout">
            <a:avLst>
              <a:gd name="adj1" fmla="val -57963"/>
              <a:gd name="adj2" fmla="val 10653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「マネージド</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ID</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」で検索</a:t>
            </a:r>
          </a:p>
        </p:txBody>
      </p:sp>
      <p:sp>
        <p:nvSpPr>
          <p:cNvPr id="8" name="正方形/長方形 7">
            <a:extLst>
              <a:ext uri="{FF2B5EF4-FFF2-40B4-BE49-F238E27FC236}">
                <a16:creationId xmlns:a16="http://schemas.microsoft.com/office/drawing/2014/main" id="{F2BC41B8-C26F-56ED-F244-0745B7771430}"/>
              </a:ext>
            </a:extLst>
          </p:cNvPr>
          <p:cNvSpPr/>
          <p:nvPr/>
        </p:nvSpPr>
        <p:spPr>
          <a:xfrm>
            <a:off x="2443740" y="2913949"/>
            <a:ext cx="1540741" cy="14592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1DC44540-C658-BEB4-0B2E-D4062B64E542}"/>
              </a:ext>
            </a:extLst>
          </p:cNvPr>
          <p:cNvSpPr/>
          <p:nvPr/>
        </p:nvSpPr>
        <p:spPr>
          <a:xfrm>
            <a:off x="2994581" y="3288902"/>
            <a:ext cx="2621437" cy="377793"/>
          </a:xfrm>
          <a:prstGeom prst="wedgeRectCallout">
            <a:avLst>
              <a:gd name="adj1" fmla="val -45983"/>
              <a:gd name="adj2" fmla="val -9799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「マネージド</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ID</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13" name="正方形/長方形 12">
            <a:extLst>
              <a:ext uri="{FF2B5EF4-FFF2-40B4-BE49-F238E27FC236}">
                <a16:creationId xmlns:a16="http://schemas.microsoft.com/office/drawing/2014/main" id="{E4777327-795C-8632-B860-4B23946ADDA2}"/>
              </a:ext>
            </a:extLst>
          </p:cNvPr>
          <p:cNvSpPr/>
          <p:nvPr/>
        </p:nvSpPr>
        <p:spPr>
          <a:xfrm>
            <a:off x="6275472" y="2884799"/>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D5AC2CAB-D3CC-CBBC-7F2A-B218491681F5}"/>
              </a:ext>
            </a:extLst>
          </p:cNvPr>
          <p:cNvSpPr/>
          <p:nvPr/>
        </p:nvSpPr>
        <p:spPr>
          <a:xfrm>
            <a:off x="5990337" y="2023633"/>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34544996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2A43E-9220-B044-C408-6110143E474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358EE993-02FD-EFE1-DCAC-A26A118E23A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ユーザー割り当てマネージド</a:t>
            </a:r>
            <a:r>
              <a:rPr lang="en-US" altLang="ja-JP" sz="2000" b="1" dirty="0">
                <a:solidFill>
                  <a:srgbClr val="1F2937"/>
                </a:solidFill>
                <a:latin typeface="Yu Gothic"/>
                <a:ea typeface="Yu Gothic"/>
                <a:cs typeface="Yu Gothic"/>
              </a:rPr>
              <a:t> ID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ED1422AF-1C2E-FF60-1911-32AA284BFC5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C3A6D8EE-F0DE-740A-11FB-C96EEFE24F4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2B4B8CE-0DE3-727E-AE46-33C60A228FA5}"/>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への権限付与と第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回の設定に使うユーザー割り当てマネージド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を作成します。</a:t>
            </a:r>
            <a:endParaRPr lang="en-US" altLang="ja-JP" sz="1200" dirty="0">
              <a:solidFill>
                <a:srgbClr val="64748B"/>
              </a:solidFill>
              <a:latin typeface="Yu Gothic"/>
              <a:ea typeface="Yu Gothic"/>
              <a:cs typeface="Yu Gothic"/>
            </a:endParaRPr>
          </a:p>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Client ID </a:t>
            </a:r>
            <a:r>
              <a:rPr lang="ja-JP" altLang="en-US" sz="1200">
                <a:solidFill>
                  <a:srgbClr val="64748B"/>
                </a:solidFill>
                <a:latin typeface="Yu Gothic"/>
                <a:ea typeface="Yu Gothic"/>
                <a:cs typeface="Yu Gothic"/>
              </a:rPr>
              <a:t>や </a:t>
            </a:r>
            <a:r>
              <a:rPr lang="en" altLang="ja-JP" sz="1200" dirty="0">
                <a:solidFill>
                  <a:srgbClr val="64748B"/>
                </a:solidFill>
                <a:latin typeface="Yu Gothic"/>
                <a:ea typeface="Yu Gothic"/>
                <a:cs typeface="Yu Gothic"/>
              </a:rPr>
              <a:t>Resource ID </a:t>
            </a:r>
            <a:r>
              <a:rPr lang="ja-JP" altLang="en-US" sz="1200">
                <a:solidFill>
                  <a:srgbClr val="64748B"/>
                </a:solidFill>
                <a:latin typeface="Yu Gothic"/>
                <a:ea typeface="Yu Gothic"/>
                <a:cs typeface="Yu Gothic"/>
              </a:rPr>
              <a:t>は第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回で </a:t>
            </a:r>
            <a:r>
              <a:rPr lang="en" altLang="ja-JP" sz="1200" dirty="0">
                <a:solidFill>
                  <a:srgbClr val="64748B"/>
                </a:solidFill>
                <a:latin typeface="Yu Gothic"/>
                <a:ea typeface="Yu Gothic"/>
                <a:cs typeface="Yu Gothic"/>
              </a:rPr>
              <a:t>variables </a:t>
            </a:r>
            <a:r>
              <a:rPr lang="ja-JP" altLang="en-US" sz="1200">
                <a:solidFill>
                  <a:srgbClr val="64748B"/>
                </a:solidFill>
                <a:latin typeface="Yu Gothic"/>
                <a:ea typeface="Yu Gothic"/>
                <a:cs typeface="Yu Gothic"/>
              </a:rPr>
              <a:t>に使います。公開資料ではマスクしつつ、手元メモには正しく記録します。</a:t>
            </a:r>
          </a:p>
        </p:txBody>
      </p:sp>
      <p:sp>
        <p:nvSpPr>
          <p:cNvPr id="6" name="正方形/長方形 5">
            <a:extLst>
              <a:ext uri="{FF2B5EF4-FFF2-40B4-BE49-F238E27FC236}">
                <a16:creationId xmlns:a16="http://schemas.microsoft.com/office/drawing/2014/main" id="{49F7E49B-69E4-4EDA-2B59-7DB5CACF2A6A}"/>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90EB4503-B18D-79B7-CCDF-E81FB4D0189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68934" y="2553854"/>
            <a:ext cx="4529512" cy="2830945"/>
          </a:xfrm>
          <a:prstGeom prst="rect">
            <a:avLst/>
          </a:prstGeom>
        </p:spPr>
      </p:pic>
      <p:pic>
        <p:nvPicPr>
          <p:cNvPr id="10" name="図 9">
            <a:extLst>
              <a:ext uri="{FF2B5EF4-FFF2-40B4-BE49-F238E27FC236}">
                <a16:creationId xmlns:a16="http://schemas.microsoft.com/office/drawing/2014/main" id="{749616D7-3274-75AB-5761-08278F97C08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593556" y="2553854"/>
            <a:ext cx="4529511" cy="2830945"/>
          </a:xfrm>
          <a:prstGeom prst="rect">
            <a:avLst/>
          </a:prstGeom>
        </p:spPr>
      </p:pic>
      <p:sp>
        <p:nvSpPr>
          <p:cNvPr id="7" name="正方形/長方形 6">
            <a:extLst>
              <a:ext uri="{FF2B5EF4-FFF2-40B4-BE49-F238E27FC236}">
                <a16:creationId xmlns:a16="http://schemas.microsoft.com/office/drawing/2014/main" id="{EC5BE427-51EE-576E-60A2-F2272C6F11AF}"/>
              </a:ext>
            </a:extLst>
          </p:cNvPr>
          <p:cNvSpPr/>
          <p:nvPr/>
        </p:nvSpPr>
        <p:spPr>
          <a:xfrm>
            <a:off x="1883936" y="3363172"/>
            <a:ext cx="1524281" cy="1466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668BA19D-12FB-939B-05D8-A0ABB0F6D062}"/>
              </a:ext>
            </a:extLst>
          </p:cNvPr>
          <p:cNvSpPr/>
          <p:nvPr/>
        </p:nvSpPr>
        <p:spPr>
          <a:xfrm>
            <a:off x="2442370" y="2355883"/>
            <a:ext cx="1729902" cy="608317"/>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11" name="正方形/長方形 10">
            <a:extLst>
              <a:ext uri="{FF2B5EF4-FFF2-40B4-BE49-F238E27FC236}">
                <a16:creationId xmlns:a16="http://schemas.microsoft.com/office/drawing/2014/main" id="{1FF1C890-D8F3-A436-09E3-195DCAF1DC45}"/>
              </a:ext>
            </a:extLst>
          </p:cNvPr>
          <p:cNvSpPr/>
          <p:nvPr/>
        </p:nvSpPr>
        <p:spPr>
          <a:xfrm>
            <a:off x="1884244" y="3504670"/>
            <a:ext cx="1523910" cy="15192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18EE1223-4D37-2C61-9576-6B2A073DB830}"/>
              </a:ext>
            </a:extLst>
          </p:cNvPr>
          <p:cNvSpPr/>
          <p:nvPr/>
        </p:nvSpPr>
        <p:spPr>
          <a:xfrm>
            <a:off x="4005131" y="3122528"/>
            <a:ext cx="1309784" cy="527831"/>
          </a:xfrm>
          <a:prstGeom prst="wedgeRectCallout">
            <a:avLst>
              <a:gd name="adj1" fmla="val -93623"/>
              <a:gd name="adj2" fmla="val 384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講師から指示された参加者ごとのリソースグループ名を選択</a:t>
            </a:r>
          </a:p>
        </p:txBody>
      </p:sp>
      <p:sp>
        <p:nvSpPr>
          <p:cNvPr id="13" name="四角形吹き出し 12">
            <a:extLst>
              <a:ext uri="{FF2B5EF4-FFF2-40B4-BE49-F238E27FC236}">
                <a16:creationId xmlns:a16="http://schemas.microsoft.com/office/drawing/2014/main" id="{25B079E4-DB5D-4086-8564-41AF80651FB9}"/>
              </a:ext>
            </a:extLst>
          </p:cNvPr>
          <p:cNvSpPr/>
          <p:nvPr/>
        </p:nvSpPr>
        <p:spPr>
          <a:xfrm>
            <a:off x="414041" y="4177782"/>
            <a:ext cx="1309783" cy="527831"/>
          </a:xfrm>
          <a:prstGeom prst="wedgeRectCallout">
            <a:avLst>
              <a:gd name="adj1" fmla="val 56378"/>
              <a:gd name="adj2" fmla="val -7347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14" name="正方形/長方形 13">
            <a:extLst>
              <a:ext uri="{FF2B5EF4-FFF2-40B4-BE49-F238E27FC236}">
                <a16:creationId xmlns:a16="http://schemas.microsoft.com/office/drawing/2014/main" id="{8059F01C-0330-8D4D-78B6-A60101795E9C}"/>
              </a:ext>
            </a:extLst>
          </p:cNvPr>
          <p:cNvSpPr/>
          <p:nvPr/>
        </p:nvSpPr>
        <p:spPr>
          <a:xfrm>
            <a:off x="1883563" y="3969325"/>
            <a:ext cx="1524281" cy="837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BE4A6648-F72F-8E32-10CA-DA3363560F1C}"/>
              </a:ext>
            </a:extLst>
          </p:cNvPr>
          <p:cNvSpPr/>
          <p:nvPr/>
        </p:nvSpPr>
        <p:spPr>
          <a:xfrm>
            <a:off x="1883563" y="3854133"/>
            <a:ext cx="1524281" cy="837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E38F2196-3013-9AD7-8CDA-69AB24DEF467}"/>
              </a:ext>
            </a:extLst>
          </p:cNvPr>
          <p:cNvSpPr/>
          <p:nvPr/>
        </p:nvSpPr>
        <p:spPr>
          <a:xfrm>
            <a:off x="3544409" y="3848331"/>
            <a:ext cx="1770506" cy="377932"/>
          </a:xfrm>
          <a:prstGeom prst="wedgeRectCallout">
            <a:avLst>
              <a:gd name="adj1" fmla="val -55540"/>
              <a:gd name="adj2" fmla="val -3675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名前は「</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uai-todomanagement-api</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a:t>
            </a:r>
          </a:p>
        </p:txBody>
      </p:sp>
      <p:sp>
        <p:nvSpPr>
          <p:cNvPr id="17" name="正方形/長方形 16">
            <a:extLst>
              <a:ext uri="{FF2B5EF4-FFF2-40B4-BE49-F238E27FC236}">
                <a16:creationId xmlns:a16="http://schemas.microsoft.com/office/drawing/2014/main" id="{CD2C1499-1FCF-EBF2-81D2-F21AA3566D4E}"/>
              </a:ext>
            </a:extLst>
          </p:cNvPr>
          <p:cNvSpPr/>
          <p:nvPr/>
        </p:nvSpPr>
        <p:spPr>
          <a:xfrm>
            <a:off x="1723824" y="5196267"/>
            <a:ext cx="446721" cy="14664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21558AE1-9A6D-3054-3293-9E3C2832CF07}"/>
              </a:ext>
            </a:extLst>
          </p:cNvPr>
          <p:cNvSpPr/>
          <p:nvPr/>
        </p:nvSpPr>
        <p:spPr>
          <a:xfrm>
            <a:off x="2448437" y="4897910"/>
            <a:ext cx="1770506" cy="377932"/>
          </a:xfrm>
          <a:prstGeom prst="wedgeRectCallout">
            <a:avLst>
              <a:gd name="adj1" fmla="val -62844"/>
              <a:gd name="adj2" fmla="val 5122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確認と作成から作成</a:t>
            </a:r>
          </a:p>
        </p:txBody>
      </p:sp>
      <p:sp>
        <p:nvSpPr>
          <p:cNvPr id="19" name="正方形/長方形 18">
            <a:extLst>
              <a:ext uri="{FF2B5EF4-FFF2-40B4-BE49-F238E27FC236}">
                <a16:creationId xmlns:a16="http://schemas.microsoft.com/office/drawing/2014/main" id="{FCDD57EF-A8C3-5E0F-D8AE-51D817994E93}"/>
              </a:ext>
            </a:extLst>
          </p:cNvPr>
          <p:cNvSpPr/>
          <p:nvPr/>
        </p:nvSpPr>
        <p:spPr>
          <a:xfrm>
            <a:off x="9797855" y="3305878"/>
            <a:ext cx="879381" cy="12312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A5B836F1-4E9B-48E3-5241-FB2260E7657A}"/>
              </a:ext>
            </a:extLst>
          </p:cNvPr>
          <p:cNvSpPr/>
          <p:nvPr/>
        </p:nvSpPr>
        <p:spPr>
          <a:xfrm>
            <a:off x="8097262" y="2304686"/>
            <a:ext cx="2579974" cy="543287"/>
          </a:xfrm>
          <a:prstGeom prst="wedgeRectCallout">
            <a:avLst>
              <a:gd name="adj1" fmla="val 31213"/>
              <a:gd name="adj2" fmla="val 1326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リソースの作成が完了したら、リソースグループから作成した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マネージド</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の画面に遷移し、クライアント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の値をメモする</a:t>
            </a:r>
          </a:p>
        </p:txBody>
      </p:sp>
    </p:spTree>
    <p:extLst>
      <p:ext uri="{BB962C8B-B14F-4D97-AF65-F5344CB8AC3E}">
        <p14:creationId xmlns:p14="http://schemas.microsoft.com/office/powerpoint/2010/main" val="32236807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A2628-7320-402A-CE81-9B8847E2D34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E0BA76D-61F0-6911-55B0-13365CE4024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ユーザー割り当てマネージド</a:t>
            </a:r>
            <a:r>
              <a:rPr lang="en-US" altLang="ja-JP" sz="2000" b="1" dirty="0">
                <a:solidFill>
                  <a:srgbClr val="1F2937"/>
                </a:solidFill>
                <a:latin typeface="Yu Gothic"/>
                <a:ea typeface="Yu Gothic"/>
                <a:cs typeface="Yu Gothic"/>
              </a:rPr>
              <a:t> ID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FBF607B-C41E-311E-AF36-A717E2A66CF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4D04987C-383C-142E-EB1E-CF008CC61CD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0CAE3E0-C314-A6CB-91B3-9BAB9BB41C59}"/>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への権限付与と第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回の設定に使うユーザー割り当てマネージド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を作成します。</a:t>
            </a:r>
            <a:endParaRPr lang="en-US" altLang="ja-JP" sz="1200" dirty="0">
              <a:solidFill>
                <a:srgbClr val="64748B"/>
              </a:solidFill>
              <a:latin typeface="Yu Gothic"/>
              <a:ea typeface="Yu Gothic"/>
              <a:cs typeface="Yu Gothic"/>
            </a:endParaRPr>
          </a:p>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Client ID </a:t>
            </a:r>
            <a:r>
              <a:rPr lang="ja-JP" altLang="en-US" sz="1200">
                <a:solidFill>
                  <a:srgbClr val="64748B"/>
                </a:solidFill>
                <a:latin typeface="Yu Gothic"/>
                <a:ea typeface="Yu Gothic"/>
                <a:cs typeface="Yu Gothic"/>
              </a:rPr>
              <a:t>や </a:t>
            </a:r>
            <a:r>
              <a:rPr lang="en" altLang="ja-JP" sz="1200" dirty="0">
                <a:solidFill>
                  <a:srgbClr val="64748B"/>
                </a:solidFill>
                <a:latin typeface="Yu Gothic"/>
                <a:ea typeface="Yu Gothic"/>
                <a:cs typeface="Yu Gothic"/>
              </a:rPr>
              <a:t>Resource ID </a:t>
            </a:r>
            <a:r>
              <a:rPr lang="ja-JP" altLang="en-US" sz="1200">
                <a:solidFill>
                  <a:srgbClr val="64748B"/>
                </a:solidFill>
                <a:latin typeface="Yu Gothic"/>
                <a:ea typeface="Yu Gothic"/>
                <a:cs typeface="Yu Gothic"/>
              </a:rPr>
              <a:t>は第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回で </a:t>
            </a:r>
            <a:r>
              <a:rPr lang="en" altLang="ja-JP" sz="1200" dirty="0">
                <a:solidFill>
                  <a:srgbClr val="64748B"/>
                </a:solidFill>
                <a:latin typeface="Yu Gothic"/>
                <a:ea typeface="Yu Gothic"/>
                <a:cs typeface="Yu Gothic"/>
              </a:rPr>
              <a:t>variables </a:t>
            </a:r>
            <a:r>
              <a:rPr lang="ja-JP" altLang="en-US" sz="1200">
                <a:solidFill>
                  <a:srgbClr val="64748B"/>
                </a:solidFill>
                <a:latin typeface="Yu Gothic"/>
                <a:ea typeface="Yu Gothic"/>
                <a:cs typeface="Yu Gothic"/>
              </a:rPr>
              <a:t>に使います。公開資料ではマスクしつつ、手元メモには正しく記録します。</a:t>
            </a:r>
          </a:p>
        </p:txBody>
      </p:sp>
      <p:sp>
        <p:nvSpPr>
          <p:cNvPr id="6" name="正方形/長方形 5">
            <a:extLst>
              <a:ext uri="{FF2B5EF4-FFF2-40B4-BE49-F238E27FC236}">
                <a16:creationId xmlns:a16="http://schemas.microsoft.com/office/drawing/2014/main" id="{197F905E-F628-2BCF-29E6-E0C439C465C9}"/>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21" name="図 20">
            <a:extLst>
              <a:ext uri="{FF2B5EF4-FFF2-40B4-BE49-F238E27FC236}">
                <a16:creationId xmlns:a16="http://schemas.microsoft.com/office/drawing/2014/main" id="{1B2C976E-2285-C5C3-DCE6-364DF60CC79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14254" y="2368839"/>
            <a:ext cx="5262417" cy="3289011"/>
          </a:xfrm>
          <a:prstGeom prst="rect">
            <a:avLst/>
          </a:prstGeom>
        </p:spPr>
      </p:pic>
      <p:sp>
        <p:nvSpPr>
          <p:cNvPr id="22" name="正方形/長方形 21">
            <a:extLst>
              <a:ext uri="{FF2B5EF4-FFF2-40B4-BE49-F238E27FC236}">
                <a16:creationId xmlns:a16="http://schemas.microsoft.com/office/drawing/2014/main" id="{DC1D714F-0E1D-F9E5-60D1-090E18F73BAB}"/>
              </a:ext>
            </a:extLst>
          </p:cNvPr>
          <p:cNvSpPr/>
          <p:nvPr/>
        </p:nvSpPr>
        <p:spPr>
          <a:xfrm>
            <a:off x="6005893" y="3167062"/>
            <a:ext cx="792071" cy="1395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吹き出し 22">
            <a:extLst>
              <a:ext uri="{FF2B5EF4-FFF2-40B4-BE49-F238E27FC236}">
                <a16:creationId xmlns:a16="http://schemas.microsoft.com/office/drawing/2014/main" id="{621F2384-65B8-0EB9-2802-ED6721C1B2DB}"/>
              </a:ext>
            </a:extLst>
          </p:cNvPr>
          <p:cNvSpPr/>
          <p:nvPr/>
        </p:nvSpPr>
        <p:spPr>
          <a:xfrm>
            <a:off x="6616825" y="3941690"/>
            <a:ext cx="2323819" cy="307902"/>
          </a:xfrm>
          <a:prstGeom prst="wedgeRectCallout">
            <a:avLst>
              <a:gd name="adj1" fmla="val -57024"/>
              <a:gd name="adj2" fmla="val -22132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もメモする</a:t>
            </a:r>
          </a:p>
        </p:txBody>
      </p:sp>
      <p:sp>
        <p:nvSpPr>
          <p:cNvPr id="24" name="正方形/長方形 23">
            <a:extLst>
              <a:ext uri="{FF2B5EF4-FFF2-40B4-BE49-F238E27FC236}">
                <a16:creationId xmlns:a16="http://schemas.microsoft.com/office/drawing/2014/main" id="{65C98E31-5CB7-8E18-6AC0-831CA967D920}"/>
              </a:ext>
            </a:extLst>
          </p:cNvPr>
          <p:cNvSpPr/>
          <p:nvPr/>
        </p:nvSpPr>
        <p:spPr>
          <a:xfrm>
            <a:off x="4305300" y="4025863"/>
            <a:ext cx="792071" cy="1395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吹き出し 24">
            <a:extLst>
              <a:ext uri="{FF2B5EF4-FFF2-40B4-BE49-F238E27FC236}">
                <a16:creationId xmlns:a16="http://schemas.microsoft.com/office/drawing/2014/main" id="{45451430-509F-414A-406C-DEC6F4E3D14E}"/>
              </a:ext>
            </a:extLst>
          </p:cNvPr>
          <p:cNvSpPr/>
          <p:nvPr/>
        </p:nvSpPr>
        <p:spPr>
          <a:xfrm>
            <a:off x="2622098" y="2668660"/>
            <a:ext cx="2323819" cy="307902"/>
          </a:xfrm>
          <a:prstGeom prst="wedgeRectCallout">
            <a:avLst>
              <a:gd name="adj1" fmla="val 33598"/>
              <a:gd name="adj2" fmla="val 35763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プロパティの画面に遷移する</a:t>
            </a:r>
          </a:p>
        </p:txBody>
      </p:sp>
    </p:spTree>
    <p:extLst>
      <p:ext uri="{BB962C8B-B14F-4D97-AF65-F5344CB8AC3E}">
        <p14:creationId xmlns:p14="http://schemas.microsoft.com/office/powerpoint/2010/main" val="17530899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34208-533A-FE55-243C-EA9B120C950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7048F54-D1B2-F988-B456-6316541BB29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データベースの作成、マネージド</a:t>
            </a:r>
            <a:r>
              <a:rPr lang="en-US" altLang="ja-JP" sz="2000" b="1" dirty="0">
                <a:solidFill>
                  <a:srgbClr val="1F2937"/>
                </a:solidFill>
                <a:latin typeface="Yu Gothic"/>
                <a:ea typeface="Yu Gothic"/>
                <a:cs typeface="Yu Gothic"/>
              </a:rPr>
              <a:t> ID </a:t>
            </a:r>
            <a:r>
              <a:rPr lang="ja-JP" altLang="en-US" sz="2000" b="1">
                <a:solidFill>
                  <a:srgbClr val="1F2937"/>
                </a:solidFill>
                <a:latin typeface="Yu Gothic"/>
                <a:ea typeface="Yu Gothic"/>
                <a:cs typeface="Yu Gothic"/>
              </a:rPr>
              <a:t>に対する権限の付与する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91B9EDF8-A2C3-A371-8003-468D9AE37D6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F518DDFC-C6D0-2401-4CE4-93BFD965E7C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5BA8213-F8E0-CAE8-C188-CC71FD9F9689}"/>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アプリ用の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を作成し、マネージド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が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にアクセスできるように権限を付与します。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7C156845-8122-6F4B-E111-1643D2BDC4EB}"/>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31913390-E22A-1561-9296-42DEADC442D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33712" y="2476501"/>
            <a:ext cx="4729779" cy="2956112"/>
          </a:xfrm>
          <a:prstGeom prst="rect">
            <a:avLst/>
          </a:prstGeom>
        </p:spPr>
      </p:pic>
      <p:pic>
        <p:nvPicPr>
          <p:cNvPr id="7" name="図 6">
            <a:extLst>
              <a:ext uri="{FF2B5EF4-FFF2-40B4-BE49-F238E27FC236}">
                <a16:creationId xmlns:a16="http://schemas.microsoft.com/office/drawing/2014/main" id="{97F843FB-8F4E-D47F-4F7B-B4DFB96CACE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428511" y="2476500"/>
            <a:ext cx="4865255" cy="3040784"/>
          </a:xfrm>
          <a:prstGeom prst="rect">
            <a:avLst/>
          </a:prstGeom>
        </p:spPr>
      </p:pic>
      <p:sp>
        <p:nvSpPr>
          <p:cNvPr id="8" name="正方形/長方形 7">
            <a:extLst>
              <a:ext uri="{FF2B5EF4-FFF2-40B4-BE49-F238E27FC236}">
                <a16:creationId xmlns:a16="http://schemas.microsoft.com/office/drawing/2014/main" id="{625CF9A7-20B0-6E39-24A7-2B2AA5CF0821}"/>
              </a:ext>
            </a:extLst>
          </p:cNvPr>
          <p:cNvSpPr/>
          <p:nvPr/>
        </p:nvSpPr>
        <p:spPr>
          <a:xfrm>
            <a:off x="898235" y="4290906"/>
            <a:ext cx="1022930" cy="1333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C8BBE404-B8BB-CA19-0850-B21A273FECE2}"/>
              </a:ext>
            </a:extLst>
          </p:cNvPr>
          <p:cNvSpPr/>
          <p:nvPr/>
        </p:nvSpPr>
        <p:spPr>
          <a:xfrm>
            <a:off x="119713" y="1793514"/>
            <a:ext cx="2579974" cy="543287"/>
          </a:xfrm>
          <a:prstGeom prst="wedgeRectCallout">
            <a:avLst>
              <a:gd name="adj1" fmla="val -8883"/>
              <a:gd name="adj2" fmla="val 38596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作成した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PostgreSQL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の画面に遷移し、データベースのメニューに遷移する</a:t>
            </a:r>
          </a:p>
        </p:txBody>
      </p:sp>
      <p:sp>
        <p:nvSpPr>
          <p:cNvPr id="11" name="正方形/長方形 10">
            <a:extLst>
              <a:ext uri="{FF2B5EF4-FFF2-40B4-BE49-F238E27FC236}">
                <a16:creationId xmlns:a16="http://schemas.microsoft.com/office/drawing/2014/main" id="{C7A32F10-8B09-C099-B996-C137161B55EB}"/>
              </a:ext>
            </a:extLst>
          </p:cNvPr>
          <p:cNvSpPr/>
          <p:nvPr/>
        </p:nvSpPr>
        <p:spPr>
          <a:xfrm>
            <a:off x="1921165" y="2934531"/>
            <a:ext cx="332508" cy="1333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CC077FE2-7C07-1454-C3A6-212823372DC4}"/>
              </a:ext>
            </a:extLst>
          </p:cNvPr>
          <p:cNvSpPr/>
          <p:nvPr/>
        </p:nvSpPr>
        <p:spPr>
          <a:xfrm>
            <a:off x="2932185" y="2304687"/>
            <a:ext cx="2579974" cy="543287"/>
          </a:xfrm>
          <a:prstGeom prst="wedgeRectCallout">
            <a:avLst>
              <a:gd name="adj1" fmla="val -70817"/>
              <a:gd name="adj2" fmla="val 629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追加から「</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tododb</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」という名前のデータベースを作成する</a:t>
            </a:r>
          </a:p>
        </p:txBody>
      </p:sp>
      <p:sp>
        <p:nvSpPr>
          <p:cNvPr id="13" name="正方形/長方形 12">
            <a:extLst>
              <a:ext uri="{FF2B5EF4-FFF2-40B4-BE49-F238E27FC236}">
                <a16:creationId xmlns:a16="http://schemas.microsoft.com/office/drawing/2014/main" id="{205CECCA-1B65-1004-D5CB-A933EA8212A8}"/>
              </a:ext>
            </a:extLst>
          </p:cNvPr>
          <p:cNvSpPr/>
          <p:nvPr/>
        </p:nvSpPr>
        <p:spPr>
          <a:xfrm>
            <a:off x="6315362" y="5034433"/>
            <a:ext cx="1022930" cy="1333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5E78F044-5872-A2E3-1351-32E96B98EB2C}"/>
              </a:ext>
            </a:extLst>
          </p:cNvPr>
          <p:cNvSpPr/>
          <p:nvPr/>
        </p:nvSpPr>
        <p:spPr>
          <a:xfrm>
            <a:off x="4735766" y="1821628"/>
            <a:ext cx="2579974" cy="543287"/>
          </a:xfrm>
          <a:prstGeom prst="wedgeRectCallout">
            <a:avLst>
              <a:gd name="adj1" fmla="val 15819"/>
              <a:gd name="adj2" fmla="val 513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次に認証のメニューに遷移する</a:t>
            </a:r>
          </a:p>
        </p:txBody>
      </p:sp>
      <p:sp>
        <p:nvSpPr>
          <p:cNvPr id="15" name="正方形/長方形 14">
            <a:extLst>
              <a:ext uri="{FF2B5EF4-FFF2-40B4-BE49-F238E27FC236}">
                <a16:creationId xmlns:a16="http://schemas.microsoft.com/office/drawing/2014/main" id="{EEF8EF9D-5C1A-0853-548A-689E3687BA5A}"/>
              </a:ext>
            </a:extLst>
          </p:cNvPr>
          <p:cNvSpPr/>
          <p:nvPr/>
        </p:nvSpPr>
        <p:spPr>
          <a:xfrm>
            <a:off x="7315740" y="4158566"/>
            <a:ext cx="1022930" cy="1333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F7008371-F81D-8D59-2015-98498B8C40FA}"/>
              </a:ext>
            </a:extLst>
          </p:cNvPr>
          <p:cNvSpPr/>
          <p:nvPr/>
        </p:nvSpPr>
        <p:spPr>
          <a:xfrm>
            <a:off x="7315740" y="2937062"/>
            <a:ext cx="378151" cy="13078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310E764B-04A5-A235-E286-0FB473895087}"/>
              </a:ext>
            </a:extLst>
          </p:cNvPr>
          <p:cNvSpPr/>
          <p:nvPr/>
        </p:nvSpPr>
        <p:spPr>
          <a:xfrm>
            <a:off x="8368278" y="4848829"/>
            <a:ext cx="2465977" cy="430834"/>
          </a:xfrm>
          <a:prstGeom prst="wedgeRectCallout">
            <a:avLst>
              <a:gd name="adj1" fmla="val -74532"/>
              <a:gd name="adj2" fmla="val -45999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マネージド </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を管理者に追加したら保存する</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6" name="四角形吹き出し 15">
            <a:extLst>
              <a:ext uri="{FF2B5EF4-FFF2-40B4-BE49-F238E27FC236}">
                <a16:creationId xmlns:a16="http://schemas.microsoft.com/office/drawing/2014/main" id="{977A0A61-6D70-29AF-665C-6C3D527A6A25}"/>
              </a:ext>
            </a:extLst>
          </p:cNvPr>
          <p:cNvSpPr/>
          <p:nvPr/>
        </p:nvSpPr>
        <p:spPr>
          <a:xfrm>
            <a:off x="7571150" y="1578337"/>
            <a:ext cx="3494013" cy="771958"/>
          </a:xfrm>
          <a:prstGeom prst="wedgeRectCallout">
            <a:avLst>
              <a:gd name="adj1" fmla="val -31574"/>
              <a:gd name="adj2" fmla="val 27261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Microsoft Entra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管理者の追加を選択し、先程作成したマネージド </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を追加する。名前が他の参加者と重複しているので、詳細に表示されたクライアント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で自身のマネージド</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を見分けること</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2166070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8D4DE-4D8C-7873-2830-B6A4E3DE88E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AFB230F-79BF-E946-44BA-42619FD082B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Entra ID </a:t>
            </a:r>
            <a:r>
              <a:rPr lang="ja-JP" altLang="en-US" sz="2000" b="1">
                <a:solidFill>
                  <a:srgbClr val="1F2937"/>
                </a:solidFill>
                <a:latin typeface="Yu Gothic"/>
                <a:ea typeface="Yu Gothic"/>
                <a:cs typeface="Yu Gothic"/>
              </a:rPr>
              <a:t>アプリ登録を作成する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B92C78AF-B702-8CF8-2643-1A5ECFE9E7E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60C1E415-8992-BB92-777A-80085DB7471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7AE041F-64F0-E139-797B-C76F8B20B8BC}"/>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サインイン用のアプリ登録を作成し、</a:t>
            </a:r>
            <a:r>
              <a:rPr lang="en" altLang="ja-JP" sz="1200" dirty="0">
                <a:solidFill>
                  <a:srgbClr val="64748B"/>
                </a:solidFill>
                <a:latin typeface="Yu Gothic"/>
                <a:ea typeface="Yu Gothic"/>
                <a:cs typeface="Yu Gothic"/>
              </a:rPr>
              <a:t>Web Container App URL </a:t>
            </a:r>
            <a:r>
              <a:rPr lang="ja-JP" altLang="en-US" sz="1200">
                <a:solidFill>
                  <a:srgbClr val="64748B"/>
                </a:solidFill>
                <a:latin typeface="Yu Gothic"/>
                <a:ea typeface="Yu Gothic"/>
                <a:cs typeface="Yu Gothic"/>
              </a:rPr>
              <a:t>を </a:t>
            </a:r>
            <a:r>
              <a:rPr lang="en" altLang="ja-JP" sz="1200" dirty="0">
                <a:solidFill>
                  <a:srgbClr val="64748B"/>
                </a:solidFill>
                <a:latin typeface="Yu Gothic"/>
                <a:ea typeface="Yu Gothic"/>
                <a:cs typeface="Yu Gothic"/>
              </a:rPr>
              <a:t>SPA redirect URI </a:t>
            </a:r>
            <a:r>
              <a:rPr lang="ja-JP" altLang="en-US" sz="1200">
                <a:solidFill>
                  <a:srgbClr val="64748B"/>
                </a:solidFill>
                <a:latin typeface="Yu Gothic"/>
                <a:ea typeface="Yu Gothic"/>
                <a:cs typeface="Yu Gothic"/>
              </a:rPr>
              <a:t>として設定します。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74C8BBD2-C10F-D13B-D560-7E0135D9EE41}"/>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94576701-5C7E-3CCC-B5B8-B9026EDA2C4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19199" y="2620529"/>
            <a:ext cx="4615873" cy="2884921"/>
          </a:xfrm>
          <a:prstGeom prst="rect">
            <a:avLst/>
          </a:prstGeom>
        </p:spPr>
      </p:pic>
      <p:pic>
        <p:nvPicPr>
          <p:cNvPr id="7" name="図 6">
            <a:extLst>
              <a:ext uri="{FF2B5EF4-FFF2-40B4-BE49-F238E27FC236}">
                <a16:creationId xmlns:a16="http://schemas.microsoft.com/office/drawing/2014/main" id="{CAE0A020-3AE5-F51D-E582-3562E08F6DC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56930" y="2620529"/>
            <a:ext cx="4615871" cy="2884920"/>
          </a:xfrm>
          <a:prstGeom prst="rect">
            <a:avLst/>
          </a:prstGeom>
        </p:spPr>
      </p:pic>
      <p:sp>
        <p:nvSpPr>
          <p:cNvPr id="8" name="正方形/長方形 7">
            <a:extLst>
              <a:ext uri="{FF2B5EF4-FFF2-40B4-BE49-F238E27FC236}">
                <a16:creationId xmlns:a16="http://schemas.microsoft.com/office/drawing/2014/main" id="{BBD0D7A8-52B0-07F8-C816-6EECF9073601}"/>
              </a:ext>
            </a:extLst>
          </p:cNvPr>
          <p:cNvSpPr/>
          <p:nvPr/>
        </p:nvSpPr>
        <p:spPr>
          <a:xfrm>
            <a:off x="2608029" y="2620529"/>
            <a:ext cx="1540741" cy="12858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440DF213-2D1D-51EB-B2E8-CDEA5D680360}"/>
              </a:ext>
            </a:extLst>
          </p:cNvPr>
          <p:cNvSpPr/>
          <p:nvPr/>
        </p:nvSpPr>
        <p:spPr>
          <a:xfrm>
            <a:off x="3180642" y="2058984"/>
            <a:ext cx="2621437" cy="309133"/>
          </a:xfrm>
          <a:prstGeom prst="wedgeRectCallout">
            <a:avLst>
              <a:gd name="adj1" fmla="val -57963"/>
              <a:gd name="adj2" fmla="val 10653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Entra ID</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」で検索</a:t>
            </a:r>
          </a:p>
        </p:txBody>
      </p:sp>
      <p:sp>
        <p:nvSpPr>
          <p:cNvPr id="11" name="正方形/長方形 10">
            <a:extLst>
              <a:ext uri="{FF2B5EF4-FFF2-40B4-BE49-F238E27FC236}">
                <a16:creationId xmlns:a16="http://schemas.microsoft.com/office/drawing/2014/main" id="{4AA56472-CA80-A56E-3C5F-71739424EB39}"/>
              </a:ext>
            </a:extLst>
          </p:cNvPr>
          <p:cNvSpPr/>
          <p:nvPr/>
        </p:nvSpPr>
        <p:spPr>
          <a:xfrm>
            <a:off x="2608029" y="3038783"/>
            <a:ext cx="1540741" cy="14592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B07780BA-1BB6-16F5-CAA5-C19FAFCDF9F2}"/>
              </a:ext>
            </a:extLst>
          </p:cNvPr>
          <p:cNvSpPr/>
          <p:nvPr/>
        </p:nvSpPr>
        <p:spPr>
          <a:xfrm>
            <a:off x="3158869" y="3442886"/>
            <a:ext cx="2621437" cy="377793"/>
          </a:xfrm>
          <a:prstGeom prst="wedgeRectCallout">
            <a:avLst>
              <a:gd name="adj1" fmla="val -45983"/>
              <a:gd name="adj2" fmla="val -9799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Microsoft Entra ID</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13" name="正方形/長方形 12">
            <a:extLst>
              <a:ext uri="{FF2B5EF4-FFF2-40B4-BE49-F238E27FC236}">
                <a16:creationId xmlns:a16="http://schemas.microsoft.com/office/drawing/2014/main" id="{E45A4E44-AFC8-E75F-E9FE-7DE1619CB99B}"/>
              </a:ext>
            </a:extLst>
          </p:cNvPr>
          <p:cNvSpPr/>
          <p:nvPr/>
        </p:nvSpPr>
        <p:spPr>
          <a:xfrm>
            <a:off x="6356930" y="4368820"/>
            <a:ext cx="838197"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C06951B5-C067-29BB-1411-E17081936F47}"/>
              </a:ext>
            </a:extLst>
          </p:cNvPr>
          <p:cNvSpPr/>
          <p:nvPr/>
        </p:nvSpPr>
        <p:spPr>
          <a:xfrm>
            <a:off x="6154625" y="2177617"/>
            <a:ext cx="2025507" cy="434616"/>
          </a:xfrm>
          <a:prstGeom prst="wedgeRectCallout">
            <a:avLst>
              <a:gd name="adj1" fmla="val -21392"/>
              <a:gd name="adj2" fmla="val 40211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「アプリの登録」を選択</a:t>
            </a:r>
          </a:p>
        </p:txBody>
      </p:sp>
      <p:sp>
        <p:nvSpPr>
          <p:cNvPr id="15" name="正方形/長方形 14">
            <a:extLst>
              <a:ext uri="{FF2B5EF4-FFF2-40B4-BE49-F238E27FC236}">
                <a16:creationId xmlns:a16="http://schemas.microsoft.com/office/drawing/2014/main" id="{130260D9-5A28-D5CB-F20D-CF1B8BBAAF30}"/>
              </a:ext>
            </a:extLst>
          </p:cNvPr>
          <p:cNvSpPr/>
          <p:nvPr/>
        </p:nvSpPr>
        <p:spPr>
          <a:xfrm>
            <a:off x="7223903" y="3007376"/>
            <a:ext cx="525328" cy="17733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862DE428-D45B-434F-7712-D73A7EBDE4AB}"/>
              </a:ext>
            </a:extLst>
          </p:cNvPr>
          <p:cNvSpPr/>
          <p:nvPr/>
        </p:nvSpPr>
        <p:spPr>
          <a:xfrm>
            <a:off x="8348262" y="3071940"/>
            <a:ext cx="2025507" cy="434616"/>
          </a:xfrm>
          <a:prstGeom prst="wedgeRectCallout">
            <a:avLst>
              <a:gd name="adj1" fmla="val -73376"/>
              <a:gd name="adj2" fmla="val -2716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「新規登録」を選択</a:t>
            </a:r>
          </a:p>
        </p:txBody>
      </p:sp>
    </p:spTree>
    <p:extLst>
      <p:ext uri="{BB962C8B-B14F-4D97-AF65-F5344CB8AC3E}">
        <p14:creationId xmlns:p14="http://schemas.microsoft.com/office/powerpoint/2010/main" val="2818438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981B2-2000-376B-03A4-A61BF305BA87}"/>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D01CC73-3E28-D5C4-5E4F-4EF7F3FA297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Entra ID </a:t>
            </a:r>
            <a:r>
              <a:rPr lang="ja-JP" altLang="en-US" sz="2000" b="1">
                <a:solidFill>
                  <a:srgbClr val="1F2937"/>
                </a:solidFill>
                <a:latin typeface="Yu Gothic"/>
                <a:ea typeface="Yu Gothic"/>
                <a:cs typeface="Yu Gothic"/>
              </a:rPr>
              <a:t>アプリ登録を作成する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CC7F7799-ECDB-95EF-6E50-363EA81C8AE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7CAF678E-83EB-90BA-A3E7-596079422C4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6B9B959-DB5B-4F14-6539-4BE87DF77EA6}"/>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サインイン用のアプリ登録を作成し、</a:t>
            </a:r>
            <a:r>
              <a:rPr lang="en" altLang="ja-JP" sz="1200" dirty="0">
                <a:solidFill>
                  <a:srgbClr val="64748B"/>
                </a:solidFill>
                <a:latin typeface="Yu Gothic"/>
                <a:ea typeface="Yu Gothic"/>
                <a:cs typeface="Yu Gothic"/>
              </a:rPr>
              <a:t>Web Container App URL </a:t>
            </a:r>
            <a:r>
              <a:rPr lang="ja-JP" altLang="en-US" sz="1200">
                <a:solidFill>
                  <a:srgbClr val="64748B"/>
                </a:solidFill>
                <a:latin typeface="Yu Gothic"/>
                <a:ea typeface="Yu Gothic"/>
                <a:cs typeface="Yu Gothic"/>
              </a:rPr>
              <a:t>を </a:t>
            </a:r>
            <a:r>
              <a:rPr lang="en" altLang="ja-JP" sz="1200" dirty="0">
                <a:solidFill>
                  <a:srgbClr val="64748B"/>
                </a:solidFill>
                <a:latin typeface="Yu Gothic"/>
                <a:ea typeface="Yu Gothic"/>
                <a:cs typeface="Yu Gothic"/>
              </a:rPr>
              <a:t>SPA redirect URI </a:t>
            </a:r>
            <a:r>
              <a:rPr lang="ja-JP" altLang="en-US" sz="1200">
                <a:solidFill>
                  <a:srgbClr val="64748B"/>
                </a:solidFill>
                <a:latin typeface="Yu Gothic"/>
                <a:ea typeface="Yu Gothic"/>
                <a:cs typeface="Yu Gothic"/>
              </a:rPr>
              <a:t>として設定します。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72C9BD83-18B2-0653-8FED-7B1B11991642}"/>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8" name="図 7">
            <a:extLst>
              <a:ext uri="{FF2B5EF4-FFF2-40B4-BE49-F238E27FC236}">
                <a16:creationId xmlns:a16="http://schemas.microsoft.com/office/drawing/2014/main" id="{0EF82B92-1F0A-D95D-7069-A29ACBCBC87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34473" y="2476500"/>
            <a:ext cx="4514735" cy="2821709"/>
          </a:xfrm>
          <a:prstGeom prst="rect">
            <a:avLst/>
          </a:prstGeom>
        </p:spPr>
      </p:pic>
      <p:sp>
        <p:nvSpPr>
          <p:cNvPr id="3" name="正方形/長方形 2">
            <a:extLst>
              <a:ext uri="{FF2B5EF4-FFF2-40B4-BE49-F238E27FC236}">
                <a16:creationId xmlns:a16="http://schemas.microsoft.com/office/drawing/2014/main" id="{906DF170-D627-6029-46B9-97CA644C9B6A}"/>
              </a:ext>
            </a:extLst>
          </p:cNvPr>
          <p:cNvSpPr/>
          <p:nvPr/>
        </p:nvSpPr>
        <p:spPr>
          <a:xfrm>
            <a:off x="1034472" y="3078396"/>
            <a:ext cx="2632363" cy="1820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6D9D633E-4D6A-03BB-D4E2-406C1D1F1237}"/>
              </a:ext>
            </a:extLst>
          </p:cNvPr>
          <p:cNvSpPr/>
          <p:nvPr/>
        </p:nvSpPr>
        <p:spPr>
          <a:xfrm>
            <a:off x="2972766" y="2541946"/>
            <a:ext cx="1783962" cy="434616"/>
          </a:xfrm>
          <a:prstGeom prst="wedgeRectCallout">
            <a:avLst>
              <a:gd name="adj1" fmla="val -72464"/>
              <a:gd name="adj2" fmla="val 6421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名前は「</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-web-app</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a:t>
            </a:r>
          </a:p>
        </p:txBody>
      </p:sp>
      <p:sp>
        <p:nvSpPr>
          <p:cNvPr id="11" name="正方形/長方形 10">
            <a:extLst>
              <a:ext uri="{FF2B5EF4-FFF2-40B4-BE49-F238E27FC236}">
                <a16:creationId xmlns:a16="http://schemas.microsoft.com/office/drawing/2014/main" id="{7AE42AD9-9879-6846-E40C-E076728A4678}"/>
              </a:ext>
            </a:extLst>
          </p:cNvPr>
          <p:cNvSpPr/>
          <p:nvPr/>
        </p:nvSpPr>
        <p:spPr>
          <a:xfrm>
            <a:off x="1034472" y="3451097"/>
            <a:ext cx="1533238" cy="1820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0E1A2D6A-ABD2-C6CE-0190-187D48456916}"/>
              </a:ext>
            </a:extLst>
          </p:cNvPr>
          <p:cNvSpPr/>
          <p:nvPr/>
        </p:nvSpPr>
        <p:spPr>
          <a:xfrm>
            <a:off x="1034472" y="4358802"/>
            <a:ext cx="1783962" cy="434616"/>
          </a:xfrm>
          <a:prstGeom prst="wedgeRectCallout">
            <a:avLst>
              <a:gd name="adj1" fmla="val -30009"/>
              <a:gd name="adj2" fmla="val -6754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プラットフォームの選択は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SPA</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3" name="正方形/長方形 12">
            <a:extLst>
              <a:ext uri="{FF2B5EF4-FFF2-40B4-BE49-F238E27FC236}">
                <a16:creationId xmlns:a16="http://schemas.microsoft.com/office/drawing/2014/main" id="{2A40D38F-D820-9C55-2364-C7582867FD05}"/>
              </a:ext>
            </a:extLst>
          </p:cNvPr>
          <p:cNvSpPr/>
          <p:nvPr/>
        </p:nvSpPr>
        <p:spPr>
          <a:xfrm>
            <a:off x="1034472" y="3999380"/>
            <a:ext cx="775855" cy="1820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6525459F-F9D2-8D0C-3DFE-45694B7BC55F}"/>
              </a:ext>
            </a:extLst>
          </p:cNvPr>
          <p:cNvSpPr/>
          <p:nvPr/>
        </p:nvSpPr>
        <p:spPr>
          <a:xfrm>
            <a:off x="1810327" y="3997052"/>
            <a:ext cx="1348509" cy="1820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8418A058-31E9-7711-0D83-AE015BD608AA}"/>
              </a:ext>
            </a:extLst>
          </p:cNvPr>
          <p:cNvSpPr/>
          <p:nvPr/>
        </p:nvSpPr>
        <p:spPr>
          <a:xfrm>
            <a:off x="3642703" y="3870763"/>
            <a:ext cx="1783962" cy="651734"/>
          </a:xfrm>
          <a:prstGeom prst="wedgeRectCallout">
            <a:avLst>
              <a:gd name="adj1" fmla="val -72464"/>
              <a:gd name="adj2" fmla="val -1158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リダイレクト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URI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Web</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用コンテナアプリのアプリケーション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URL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16" name="正方形/長方形 15">
            <a:extLst>
              <a:ext uri="{FF2B5EF4-FFF2-40B4-BE49-F238E27FC236}">
                <a16:creationId xmlns:a16="http://schemas.microsoft.com/office/drawing/2014/main" id="{55230197-40A4-A067-C985-226DA4C9418F}"/>
              </a:ext>
            </a:extLst>
          </p:cNvPr>
          <p:cNvSpPr/>
          <p:nvPr/>
        </p:nvSpPr>
        <p:spPr>
          <a:xfrm>
            <a:off x="1034472" y="5112506"/>
            <a:ext cx="775855" cy="1820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4D081F0B-D1F1-64A8-BFBA-712C62338815}"/>
              </a:ext>
            </a:extLst>
          </p:cNvPr>
          <p:cNvSpPr/>
          <p:nvPr/>
        </p:nvSpPr>
        <p:spPr>
          <a:xfrm>
            <a:off x="2399859" y="5294544"/>
            <a:ext cx="1036068" cy="315441"/>
          </a:xfrm>
          <a:prstGeom prst="wedgeRectCallout">
            <a:avLst>
              <a:gd name="adj1" fmla="val -97425"/>
              <a:gd name="adj2" fmla="val -8186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登録をクリック</a:t>
            </a:r>
          </a:p>
        </p:txBody>
      </p:sp>
      <p:pic>
        <p:nvPicPr>
          <p:cNvPr id="18" name="図 17">
            <a:extLst>
              <a:ext uri="{FF2B5EF4-FFF2-40B4-BE49-F238E27FC236}">
                <a16:creationId xmlns:a16="http://schemas.microsoft.com/office/drawing/2014/main" id="{4A9F2B61-6903-73D6-0E68-73D3EEEBB63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139905" y="2476500"/>
            <a:ext cx="5017622" cy="3136014"/>
          </a:xfrm>
          <a:prstGeom prst="rect">
            <a:avLst/>
          </a:prstGeom>
        </p:spPr>
      </p:pic>
      <p:sp>
        <p:nvSpPr>
          <p:cNvPr id="19" name="四角形吹き出し 18">
            <a:extLst>
              <a:ext uri="{FF2B5EF4-FFF2-40B4-BE49-F238E27FC236}">
                <a16:creationId xmlns:a16="http://schemas.microsoft.com/office/drawing/2014/main" id="{29B6B4E9-103C-982D-4326-098EB9E897E7}"/>
              </a:ext>
            </a:extLst>
          </p:cNvPr>
          <p:cNvSpPr/>
          <p:nvPr/>
        </p:nvSpPr>
        <p:spPr>
          <a:xfrm>
            <a:off x="6958257" y="1905000"/>
            <a:ext cx="3387770" cy="1262062"/>
          </a:xfrm>
          <a:prstGeom prst="wedgeRectCallout">
            <a:avLst>
              <a:gd name="adj1" fmla="val -19572"/>
              <a:gd name="adj2" fmla="val 735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登録するとアプリ登録の概要画面に遷移する。他の受講者とアプリ登録名が重複しており、見分けがつかなくなるので、必ずこの画面で、</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クライアント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a:t>
            </a:r>
          </a:p>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ディレクトリ</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テナント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a:t>
            </a: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をメモすること</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0" name="正方形/長方形 19">
            <a:extLst>
              <a:ext uri="{FF2B5EF4-FFF2-40B4-BE49-F238E27FC236}">
                <a16:creationId xmlns:a16="http://schemas.microsoft.com/office/drawing/2014/main" id="{1E27553E-F2EB-9120-58B8-9358BD61666B}"/>
              </a:ext>
            </a:extLst>
          </p:cNvPr>
          <p:cNvSpPr/>
          <p:nvPr/>
        </p:nvSpPr>
        <p:spPr>
          <a:xfrm>
            <a:off x="7181273" y="3532330"/>
            <a:ext cx="1463964" cy="7908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87788595-1F15-F5A0-4019-6A2DD3445625}"/>
              </a:ext>
            </a:extLst>
          </p:cNvPr>
          <p:cNvSpPr/>
          <p:nvPr/>
        </p:nvSpPr>
        <p:spPr>
          <a:xfrm>
            <a:off x="7181273" y="3719375"/>
            <a:ext cx="1463964" cy="7908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870574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BB07E-EB6F-B8A3-12EA-60835EC1700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8D2E260-E9E8-7A06-EC5B-88D9E953A6F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第</a:t>
            </a:r>
            <a:r>
              <a:rPr lang="en-US" altLang="ja-JP" sz="2000" b="1" dirty="0">
                <a:solidFill>
                  <a:srgbClr val="1F2937"/>
                </a:solidFill>
                <a:latin typeface="Yu Gothic"/>
                <a:ea typeface="Yu Gothic"/>
                <a:cs typeface="Yu Gothic"/>
              </a:rPr>
              <a:t>6</a:t>
            </a:r>
            <a:r>
              <a:rPr lang="ja-JP" altLang="en-US" sz="2000" b="1">
                <a:solidFill>
                  <a:srgbClr val="1F2937"/>
                </a:solidFill>
                <a:latin typeface="Yu Gothic"/>
                <a:ea typeface="Yu Gothic"/>
                <a:cs typeface="Yu Gothic"/>
              </a:rPr>
              <a:t>回に引き継ぐ情報を記録する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A603BD9D-D315-89B0-3E6B-9F7F9BE8A4F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66EEA2F7-0545-5539-18B4-12F45719498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E759F2F-90F2-9575-F173-DEDCE51C9068}"/>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hlinkClick r:id="rId3"/>
              </a:rPr>
              <a:t>元ガイドのサマリー項目</a:t>
            </a:r>
            <a:r>
              <a:rPr lang="ja-JP" altLang="en-US" sz="1200">
                <a:solidFill>
                  <a:srgbClr val="64748B"/>
                </a:solidFill>
                <a:latin typeface="Yu Gothic"/>
                <a:ea typeface="Yu Gothic"/>
                <a:cs typeface="Yu Gothic"/>
              </a:rPr>
              <a:t>を見ながら、</a:t>
            </a:r>
            <a:r>
              <a:rPr lang="en" altLang="ja-JP" sz="1200" dirty="0">
                <a:solidFill>
                  <a:srgbClr val="64748B"/>
                </a:solidFill>
                <a:latin typeface="Yu Gothic"/>
                <a:ea typeface="Yu Gothic"/>
                <a:cs typeface="Yu Gothic"/>
              </a:rPr>
              <a:t>Resource group</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ACR</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Web/API URL</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PostgreSQL</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Identity</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Entra ID </a:t>
            </a:r>
            <a:r>
              <a:rPr lang="ja-JP" altLang="en-US" sz="1200">
                <a:solidFill>
                  <a:srgbClr val="64748B"/>
                </a:solidFill>
                <a:latin typeface="Yu Gothic"/>
                <a:ea typeface="Yu Gothic"/>
                <a:cs typeface="Yu Gothic"/>
              </a:rPr>
              <a:t>の値をそろえます。</a:t>
            </a:r>
            <a:endParaRPr lang="ja-JP" altLang="en-US" sz="1200" dirty="0">
              <a:solidFill>
                <a:srgbClr val="64748B"/>
              </a:solidFill>
              <a:latin typeface="Yu Gothic"/>
              <a:ea typeface="Yu Gothic"/>
              <a:cs typeface="Yu Gothic"/>
            </a:endParaRPr>
          </a:p>
        </p:txBody>
      </p:sp>
      <p:sp>
        <p:nvSpPr>
          <p:cNvPr id="3" name="正方形/長方形 2">
            <a:extLst>
              <a:ext uri="{FF2B5EF4-FFF2-40B4-BE49-F238E27FC236}">
                <a16:creationId xmlns:a16="http://schemas.microsoft.com/office/drawing/2014/main" id="{EEE49FAB-5352-8A17-ED92-0CC1F91BDEA0}"/>
              </a:ext>
            </a:extLst>
          </p:cNvPr>
          <p:cNvSpPr>
            <a:spLocks noGrp="1"/>
          </p:cNvSpPr>
          <p:nvPr/>
        </p:nvSpPr>
        <p:spPr>
          <a:xfrm>
            <a:off x="5095875" y="1695450"/>
            <a:ext cx="6286500" cy="4286250"/>
          </a:xfrm>
          <a:prstGeom prst="rect">
            <a:avLst/>
          </a:prstGeom>
          <a:ln w="9525">
            <a:solidFill>
              <a:srgbClr val="CAD5E4"/>
            </a:solidFill>
            <a:prstDash val="solid"/>
          </a:ln>
        </p:spPr>
        <p:txBody>
          <a:bodyPr/>
          <a:lstStyle/>
          <a:p>
            <a:endParaRPr lang="ja-JP" altLang="en-US"/>
          </a:p>
        </p:txBody>
      </p:sp>
      <p:pic>
        <p:nvPicPr>
          <p:cNvPr id="7" name="図 6">
            <a:extLst>
              <a:ext uri="{FF2B5EF4-FFF2-40B4-BE49-F238E27FC236}">
                <a16:creationId xmlns:a16="http://schemas.microsoft.com/office/drawing/2014/main" id="{CED18A1D-C7D2-7F3F-1745-A249D03F03C4}"/>
              </a:ext>
            </a:extLst>
          </p:cNvPr>
          <p:cNvPicPr>
            <a:picLocks noChangeAspect="1"/>
          </p:cNvPicPr>
          <p:nvPr/>
        </p:nvPicPr>
        <p:blipFill>
          <a:blip r:embed="rId4" cstate="screen">
            <a:extLst>
              <a:ext uri="{28A0092B-C50C-407E-A947-70E740481C1C}">
                <a14:useLocalDpi xmlns:a14="http://schemas.microsoft.com/office/drawing/2010/main"/>
              </a:ext>
            </a:extLst>
          </a:blip>
          <a:stretch/>
        </p:blipFill>
        <p:spPr>
          <a:xfrm>
            <a:off x="5238750" y="1922264"/>
            <a:ext cx="6000750" cy="3375422"/>
          </a:xfrm>
          <a:prstGeom prst="rect">
            <a:avLst/>
          </a:prstGeom>
        </p:spPr>
      </p:pic>
      <p:sp>
        <p:nvSpPr>
          <p:cNvPr id="8" name="正方形/長方形 7">
            <a:extLst>
              <a:ext uri="{FF2B5EF4-FFF2-40B4-BE49-F238E27FC236}">
                <a16:creationId xmlns:a16="http://schemas.microsoft.com/office/drawing/2014/main" id="{32A6887B-E751-D5AC-157C-63642226EA36}"/>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第6回に必要な値の一覧を確認する</a:t>
            </a:r>
          </a:p>
        </p:txBody>
      </p:sp>
      <p:sp>
        <p:nvSpPr>
          <p:cNvPr id="10" name="正方形/長方形 9">
            <a:extLst>
              <a:ext uri="{FF2B5EF4-FFF2-40B4-BE49-F238E27FC236}">
                <a16:creationId xmlns:a16="http://schemas.microsoft.com/office/drawing/2014/main" id="{7C3FD087-0E82-486C-556E-189FB69322A3}"/>
              </a:ext>
            </a:extLst>
          </p:cNvPr>
          <p:cNvSpPr>
            <a:spLocks noGrp="1"/>
          </p:cNvSpPr>
          <p:nvPr/>
        </p:nvSpPr>
        <p:spPr>
          <a:xfrm>
            <a:off x="904875" y="2095500"/>
            <a:ext cx="3714750" cy="3886200"/>
          </a:xfrm>
          <a:prstGeom prst="rect">
            <a:avLst/>
          </a:prstGeom>
          <a:ln w="9525">
            <a:solidFill>
              <a:srgbClr val="DBE4EF"/>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D0948D2E-64F8-931E-B430-7E8DBDC46028}"/>
              </a:ext>
            </a:extLst>
          </p:cNvPr>
          <p:cNvSpPr>
            <a:spLocks noGrp="1"/>
          </p:cNvSpPr>
          <p:nvPr/>
        </p:nvSpPr>
        <p:spPr>
          <a:xfrm>
            <a:off x="904874" y="2095500"/>
            <a:ext cx="104775" cy="3886200"/>
          </a:xfrm>
          <a:prstGeom prst="rect">
            <a:avLst/>
          </a:prstGeom>
          <a:solidFill>
            <a:srgbClr val="00B050"/>
          </a:solidFill>
          <a:ln w="0">
            <a:solidFill>
              <a:srgbClr val="15803D"/>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55B2D1F5-5E69-BA40-5D3E-B9503393A72C}"/>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3" name="正方形/長方形 12">
            <a:extLst>
              <a:ext uri="{FF2B5EF4-FFF2-40B4-BE49-F238E27FC236}">
                <a16:creationId xmlns:a16="http://schemas.microsoft.com/office/drawing/2014/main" id="{57201C61-EADF-AD83-EAA9-B433A1EE8872}"/>
              </a:ext>
            </a:extLst>
          </p:cNvPr>
          <p:cNvSpPr>
            <a:spLocks noGrp="1"/>
          </p:cNvSpPr>
          <p:nvPr/>
        </p:nvSpPr>
        <p:spPr>
          <a:xfrm>
            <a:off x="1133475" y="2495550"/>
            <a:ext cx="3314700" cy="304800"/>
          </a:xfrm>
          <a:prstGeom prst="rect">
            <a:avLst/>
          </a:prstGeom>
          <a:ln w="0">
            <a:solidFill>
              <a:srgbClr val="FFFFFF"/>
            </a:solidFill>
            <a:prstDash val="solid"/>
          </a:ln>
        </p:spPr>
        <p:txBody>
          <a:bodyPr lIns="0" tIns="0" rIns="0" bIns="0" anchor="t"/>
          <a:lstStyle/>
          <a:p>
            <a:pPr algn="l">
              <a:defRPr sz="1500" b="1">
                <a:solidFill>
                  <a:srgbClr val="1F2937"/>
                </a:solidFill>
                <a:latin typeface="Yu Gothic"/>
                <a:ea typeface="Yu Gothic"/>
                <a:cs typeface="Yu Gothic"/>
              </a:defRPr>
            </a:pPr>
            <a:r>
              <a:rPr lang="ja-JP" altLang="en-US" sz="1500" b="1">
                <a:solidFill>
                  <a:srgbClr val="1F2937"/>
                </a:solidFill>
                <a:latin typeface="Yu Gothic"/>
                <a:ea typeface="Yu Gothic"/>
                <a:cs typeface="Yu Gothic"/>
              </a:rPr>
              <a:t>第</a:t>
            </a:r>
            <a:r>
              <a:rPr lang="en-US" altLang="ja-JP" sz="1500" b="1" dirty="0">
                <a:solidFill>
                  <a:srgbClr val="1F2937"/>
                </a:solidFill>
                <a:latin typeface="Yu Gothic"/>
                <a:ea typeface="Yu Gothic"/>
                <a:cs typeface="Yu Gothic"/>
              </a:rPr>
              <a:t>6</a:t>
            </a:r>
            <a:r>
              <a:rPr lang="ja-JP" altLang="en-US" sz="1500" b="1">
                <a:solidFill>
                  <a:srgbClr val="1F2937"/>
                </a:solidFill>
                <a:latin typeface="Yu Gothic"/>
                <a:ea typeface="Yu Gothic"/>
                <a:cs typeface="Yu Gothic"/>
              </a:rPr>
              <a:t>回に引き継ぐ情報</a:t>
            </a:r>
            <a:endParaRPr sz="1500" b="1" dirty="0">
              <a:solidFill>
                <a:srgbClr val="1F2937"/>
              </a:solidFill>
              <a:latin typeface="Yu Gothic"/>
              <a:ea typeface="Yu Gothic"/>
              <a:cs typeface="Yu Gothic"/>
            </a:endParaRPr>
          </a:p>
        </p:txBody>
      </p:sp>
      <p:sp>
        <p:nvSpPr>
          <p:cNvPr id="14" name="正方形/長方形 13">
            <a:extLst>
              <a:ext uri="{FF2B5EF4-FFF2-40B4-BE49-F238E27FC236}">
                <a16:creationId xmlns:a16="http://schemas.microsoft.com/office/drawing/2014/main" id="{65CF51F5-208C-5D2E-9307-E71BFEB34FE5}"/>
              </a:ext>
            </a:extLst>
          </p:cNvPr>
          <p:cNvSpPr>
            <a:spLocks noGrp="1"/>
          </p:cNvSpPr>
          <p:nvPr/>
        </p:nvSpPr>
        <p:spPr>
          <a:xfrm>
            <a:off x="1133475" y="2914650"/>
            <a:ext cx="3314700" cy="1000125"/>
          </a:xfrm>
          <a:prstGeom prst="rect">
            <a:avLst/>
          </a:prstGeom>
          <a:ln w="0">
            <a:solidFill>
              <a:srgbClr val="FFFFFF"/>
            </a:solidFill>
            <a:prstDash val="solid"/>
          </a:ln>
        </p:spPr>
        <p:txBody>
          <a:bodyPr lIns="0" tIns="0" rIns="0" bIns="0" anchor="t"/>
          <a:lstStyle/>
          <a:p>
            <a:pPr marL="171450" indent="-171450" algn="l">
              <a:buFont typeface="Arial" panose="020B0604020202020204" pitchFamily="34" charset="0"/>
              <a:buChar char="•"/>
              <a:defRPr sz="1125" b="0">
                <a:solidFill>
                  <a:srgbClr val="1F2937"/>
                </a:solidFill>
                <a:latin typeface="Yu Gothic"/>
                <a:ea typeface="Yu Gothic"/>
                <a:cs typeface="Yu Gothic"/>
              </a:defRPr>
            </a:pPr>
            <a:r>
              <a:rPr lang="ja-JP" altLang="en-US" sz="1125" b="0">
                <a:solidFill>
                  <a:srgbClr val="1F2937"/>
                </a:solidFill>
                <a:latin typeface="Yu Gothic"/>
                <a:ea typeface="Yu Gothic"/>
                <a:cs typeface="Yu Gothic"/>
              </a:rPr>
              <a:t>サブスクリプション</a:t>
            </a:r>
            <a:r>
              <a:rPr lang="en-US" altLang="ja-JP" sz="1125" b="0" dirty="0">
                <a:solidFill>
                  <a:srgbClr val="1F2937"/>
                </a:solidFill>
                <a:latin typeface="Yu Gothic"/>
                <a:ea typeface="Yu Gothic"/>
                <a:cs typeface="Yu Gothic"/>
              </a:rPr>
              <a:t> ID</a:t>
            </a:r>
          </a:p>
          <a:p>
            <a:pPr marL="171450" indent="-171450" algn="l">
              <a:buFont typeface="Arial" panose="020B0604020202020204" pitchFamily="34" charset="0"/>
              <a:buChar char="•"/>
              <a:defRPr sz="1125" b="0">
                <a:solidFill>
                  <a:srgbClr val="1F2937"/>
                </a:solidFill>
                <a:latin typeface="Yu Gothic"/>
                <a:ea typeface="Yu Gothic"/>
                <a:cs typeface="Yu Gothic"/>
              </a:defRPr>
            </a:pPr>
            <a:r>
              <a:rPr lang="ja-JP" altLang="en-US" sz="1125" b="0">
                <a:solidFill>
                  <a:srgbClr val="1F2937"/>
                </a:solidFill>
                <a:latin typeface="Yu Gothic"/>
                <a:ea typeface="Yu Gothic"/>
                <a:cs typeface="Yu Gothic"/>
              </a:rPr>
              <a:t>リソースグループ名</a:t>
            </a:r>
            <a:endParaRPr lang="en-US" altLang="ja-JP" sz="1125" b="0" dirty="0">
              <a:solidFill>
                <a:srgbClr val="1F2937"/>
              </a:solidFill>
              <a:latin typeface="Yu Gothic"/>
              <a:ea typeface="Yu Gothic"/>
              <a:cs typeface="Yu Gothic"/>
            </a:endParaRPr>
          </a:p>
          <a:p>
            <a:pPr marL="171450" indent="-171450" algn="l">
              <a:buFont typeface="Arial" panose="020B0604020202020204" pitchFamily="34" charset="0"/>
              <a:buChar char="•"/>
              <a:defRPr sz="1125" b="0">
                <a:solidFill>
                  <a:srgbClr val="1F2937"/>
                </a:solidFill>
                <a:latin typeface="Yu Gothic"/>
                <a:ea typeface="Yu Gothic"/>
                <a:cs typeface="Yu Gothic"/>
              </a:defRPr>
            </a:pPr>
            <a:r>
              <a:rPr lang="en-US" altLang="ja-JP" sz="1125" b="0" dirty="0" err="1">
                <a:solidFill>
                  <a:srgbClr val="1F2937"/>
                </a:solidFill>
                <a:latin typeface="Yu Gothic"/>
                <a:ea typeface="Yu Gothic"/>
                <a:cs typeface="Yu Gothic"/>
              </a:rPr>
              <a:t>VNet</a:t>
            </a:r>
            <a:r>
              <a:rPr lang="en-US" altLang="ja-JP" sz="1125" b="0" dirty="0">
                <a:solidFill>
                  <a:srgbClr val="1F2937"/>
                </a:solidFill>
                <a:latin typeface="Yu Gothic"/>
                <a:ea typeface="Yu Gothic"/>
                <a:cs typeface="Yu Gothic"/>
              </a:rPr>
              <a:t> </a:t>
            </a:r>
            <a:r>
              <a:rPr lang="ja-JP" altLang="en-US" sz="1125" b="0">
                <a:solidFill>
                  <a:srgbClr val="1F2937"/>
                </a:solidFill>
                <a:latin typeface="Yu Gothic"/>
                <a:ea typeface="Yu Gothic"/>
                <a:cs typeface="Yu Gothic"/>
              </a:rPr>
              <a:t>名</a:t>
            </a:r>
            <a:endParaRPr lang="en-US" altLang="ja-JP" sz="1125" b="0" dirty="0">
              <a:solidFill>
                <a:srgbClr val="1F2937"/>
              </a:solidFill>
              <a:latin typeface="Yu Gothic"/>
              <a:ea typeface="Yu Gothic"/>
              <a:cs typeface="Yu Gothic"/>
            </a:endParaRPr>
          </a:p>
          <a:p>
            <a:pPr marL="171450" indent="-171450" algn="l">
              <a:buFont typeface="Arial" panose="020B0604020202020204" pitchFamily="34" charset="0"/>
              <a:buChar char="•"/>
              <a:defRPr sz="1125" b="0">
                <a:solidFill>
                  <a:srgbClr val="1F2937"/>
                </a:solidFill>
                <a:latin typeface="Yu Gothic"/>
                <a:ea typeface="Yu Gothic"/>
                <a:cs typeface="Yu Gothic"/>
              </a:defRPr>
            </a:pPr>
            <a:r>
              <a:rPr lang="en-US" altLang="ja-JP" sz="1125" b="0" dirty="0">
                <a:solidFill>
                  <a:srgbClr val="1F2937"/>
                </a:solidFill>
                <a:latin typeface="Yu Gothic"/>
                <a:ea typeface="Yu Gothic"/>
                <a:cs typeface="Yu Gothic"/>
              </a:rPr>
              <a:t>ACA </a:t>
            </a:r>
            <a:r>
              <a:rPr lang="ja-JP" altLang="en-US" sz="1125" b="0">
                <a:solidFill>
                  <a:srgbClr val="1F2937"/>
                </a:solidFill>
                <a:latin typeface="Yu Gothic"/>
                <a:ea typeface="Yu Gothic"/>
                <a:cs typeface="Yu Gothic"/>
              </a:rPr>
              <a:t>用サブネット名</a:t>
            </a:r>
            <a:endParaRPr lang="en-US" altLang="ja-JP" sz="1125" b="0" dirty="0">
              <a:solidFill>
                <a:srgbClr val="1F2937"/>
              </a:solidFill>
              <a:latin typeface="Yu Gothic"/>
              <a:ea typeface="Yu Gothic"/>
              <a:cs typeface="Yu Gothic"/>
            </a:endParaRPr>
          </a:p>
          <a:p>
            <a:pPr marL="171450" indent="-171450" algn="l">
              <a:buFont typeface="Arial" panose="020B0604020202020204" pitchFamily="34" charset="0"/>
              <a:buChar char="•"/>
              <a:defRPr sz="1125" b="0">
                <a:solidFill>
                  <a:srgbClr val="1F2937"/>
                </a:solidFill>
                <a:latin typeface="Yu Gothic"/>
                <a:ea typeface="Yu Gothic"/>
                <a:cs typeface="Yu Gothic"/>
              </a:defRPr>
            </a:pPr>
            <a:r>
              <a:rPr lang="ja-JP" altLang="en-US" sz="1125">
                <a:solidFill>
                  <a:srgbClr val="1F2937"/>
                </a:solidFill>
                <a:latin typeface="Yu Gothic"/>
                <a:ea typeface="Yu Gothic"/>
                <a:cs typeface="Yu Gothic"/>
              </a:rPr>
              <a:t>プライベートエンドポイント用サブネット名</a:t>
            </a:r>
            <a:endParaRPr lang="en-US" altLang="ja-JP" sz="1125" dirty="0">
              <a:solidFill>
                <a:srgbClr val="1F2937"/>
              </a:solidFill>
              <a:latin typeface="Yu Gothic"/>
              <a:ea typeface="Yu Gothic"/>
              <a:cs typeface="Yu Gothic"/>
            </a:endParaRPr>
          </a:p>
          <a:p>
            <a:pPr marL="171450" indent="-171450" algn="l">
              <a:buFont typeface="Arial" panose="020B0604020202020204" pitchFamily="34" charset="0"/>
              <a:buChar char="•"/>
              <a:defRPr sz="1125" b="0">
                <a:solidFill>
                  <a:srgbClr val="1F2937"/>
                </a:solidFill>
                <a:latin typeface="Yu Gothic"/>
                <a:ea typeface="Yu Gothic"/>
                <a:cs typeface="Yu Gothic"/>
              </a:defRPr>
            </a:pPr>
            <a:r>
              <a:rPr lang="en-US" altLang="ja-JP" sz="1125" b="0" dirty="0">
                <a:solidFill>
                  <a:srgbClr val="1F2937"/>
                </a:solidFill>
                <a:latin typeface="Yu Gothic"/>
                <a:ea typeface="Yu Gothic"/>
                <a:cs typeface="Yu Gothic"/>
              </a:rPr>
              <a:t>PostgreSQL </a:t>
            </a:r>
            <a:r>
              <a:rPr lang="ja-JP" altLang="en-US" sz="1125" b="0">
                <a:solidFill>
                  <a:srgbClr val="1F2937"/>
                </a:solidFill>
                <a:latin typeface="Yu Gothic"/>
                <a:ea typeface="Yu Gothic"/>
                <a:cs typeface="Yu Gothic"/>
              </a:rPr>
              <a:t>用サブネット名</a:t>
            </a:r>
            <a:endParaRPr lang="en-US" altLang="ja-JP" sz="1125" b="0" dirty="0">
              <a:solidFill>
                <a:srgbClr val="1F2937"/>
              </a:solidFill>
              <a:latin typeface="Yu Gothic"/>
              <a:ea typeface="Yu Gothic"/>
              <a:cs typeface="Yu Gothic"/>
            </a:endParaRPr>
          </a:p>
          <a:p>
            <a:pPr marL="171450" indent="-171450" algn="l">
              <a:buFont typeface="Arial" panose="020B0604020202020204" pitchFamily="34" charset="0"/>
              <a:buChar char="•"/>
              <a:defRPr sz="1125" b="0">
                <a:solidFill>
                  <a:srgbClr val="1F2937"/>
                </a:solidFill>
                <a:latin typeface="Yu Gothic"/>
                <a:ea typeface="Yu Gothic"/>
                <a:cs typeface="Yu Gothic"/>
              </a:defRPr>
            </a:pPr>
            <a:r>
              <a:rPr lang="en-US" altLang="ja-JP" sz="1125" dirty="0">
                <a:solidFill>
                  <a:srgbClr val="1F2937"/>
                </a:solidFill>
                <a:latin typeface="Yu Gothic"/>
                <a:ea typeface="Yu Gothic"/>
                <a:cs typeface="Yu Gothic"/>
              </a:rPr>
              <a:t>ACR </a:t>
            </a:r>
            <a:r>
              <a:rPr lang="ja-JP" altLang="en-US" sz="1125">
                <a:solidFill>
                  <a:srgbClr val="1F2937"/>
                </a:solidFill>
                <a:latin typeface="Yu Gothic"/>
                <a:ea typeface="Yu Gothic"/>
                <a:cs typeface="Yu Gothic"/>
              </a:rPr>
              <a:t>名</a:t>
            </a:r>
            <a:endParaRPr lang="en-US" altLang="ja-JP" sz="1125" dirty="0">
              <a:solidFill>
                <a:srgbClr val="1F2937"/>
              </a:solidFill>
              <a:latin typeface="Yu Gothic"/>
              <a:ea typeface="Yu Gothic"/>
              <a:cs typeface="Yu Gothic"/>
            </a:endParaRPr>
          </a:p>
          <a:p>
            <a:pPr marL="171450" indent="-171450" algn="l">
              <a:buFont typeface="Arial" panose="020B0604020202020204" pitchFamily="34" charset="0"/>
              <a:buChar char="•"/>
              <a:defRPr sz="1125" b="0">
                <a:solidFill>
                  <a:srgbClr val="1F2937"/>
                </a:solidFill>
                <a:latin typeface="Yu Gothic"/>
                <a:ea typeface="Yu Gothic"/>
                <a:cs typeface="Yu Gothic"/>
              </a:defRPr>
            </a:pPr>
            <a:r>
              <a:rPr lang="en-US" altLang="ja-JP" sz="1125" dirty="0">
                <a:solidFill>
                  <a:srgbClr val="1F2937"/>
                </a:solidFill>
                <a:latin typeface="Yu Gothic"/>
                <a:ea typeface="Yu Gothic"/>
                <a:cs typeface="Yu Gothic"/>
              </a:rPr>
              <a:t>ACA </a:t>
            </a:r>
            <a:r>
              <a:rPr lang="ja-JP" altLang="en-US" sz="1125">
                <a:solidFill>
                  <a:srgbClr val="1F2937"/>
                </a:solidFill>
                <a:latin typeface="Yu Gothic"/>
                <a:ea typeface="Yu Gothic"/>
                <a:cs typeface="Yu Gothic"/>
              </a:rPr>
              <a:t>環境名</a:t>
            </a:r>
            <a:endParaRPr lang="en-US" altLang="ja-JP" sz="1125" dirty="0">
              <a:solidFill>
                <a:srgbClr val="1F2937"/>
              </a:solidFill>
              <a:latin typeface="Yu Gothic"/>
              <a:ea typeface="Yu Gothic"/>
              <a:cs typeface="Yu Gothic"/>
            </a:endParaRPr>
          </a:p>
          <a:p>
            <a:pPr marL="171450" indent="-171450" algn="l">
              <a:buFont typeface="Arial" panose="020B0604020202020204" pitchFamily="34" charset="0"/>
              <a:buChar char="•"/>
              <a:defRPr sz="1125" b="0">
                <a:solidFill>
                  <a:srgbClr val="1F2937"/>
                </a:solidFill>
                <a:latin typeface="Yu Gothic"/>
                <a:ea typeface="Yu Gothic"/>
                <a:cs typeface="Yu Gothic"/>
              </a:defRPr>
            </a:pPr>
            <a:r>
              <a:rPr lang="en-US" altLang="ja-JP" sz="1125" b="0" dirty="0">
                <a:solidFill>
                  <a:srgbClr val="1F2937"/>
                </a:solidFill>
                <a:latin typeface="Yu Gothic"/>
                <a:ea typeface="Yu Gothic"/>
                <a:cs typeface="Yu Gothic"/>
              </a:rPr>
              <a:t>PostgreSQL </a:t>
            </a:r>
            <a:r>
              <a:rPr lang="ja-JP" altLang="en-US" sz="1125" b="0">
                <a:solidFill>
                  <a:srgbClr val="1F2937"/>
                </a:solidFill>
                <a:latin typeface="Yu Gothic"/>
                <a:ea typeface="Yu Gothic"/>
                <a:cs typeface="Yu Gothic"/>
              </a:rPr>
              <a:t>エンドポイント</a:t>
            </a:r>
            <a:endParaRPr lang="en-US" altLang="ja-JP" sz="1125" b="0" dirty="0">
              <a:solidFill>
                <a:srgbClr val="1F2937"/>
              </a:solidFill>
              <a:latin typeface="Yu Gothic"/>
              <a:ea typeface="Yu Gothic"/>
              <a:cs typeface="Yu Gothic"/>
            </a:endParaRPr>
          </a:p>
          <a:p>
            <a:pPr marL="171450" indent="-171450" algn="l">
              <a:buFont typeface="Arial" panose="020B0604020202020204" pitchFamily="34" charset="0"/>
              <a:buChar char="•"/>
              <a:defRPr sz="1125" b="0">
                <a:solidFill>
                  <a:srgbClr val="1F2937"/>
                </a:solidFill>
                <a:latin typeface="Yu Gothic"/>
                <a:ea typeface="Yu Gothic"/>
                <a:cs typeface="Yu Gothic"/>
              </a:defRPr>
            </a:pPr>
            <a:r>
              <a:rPr lang="en-US" altLang="ja-JP" sz="1125" dirty="0">
                <a:solidFill>
                  <a:srgbClr val="1F2937"/>
                </a:solidFill>
                <a:latin typeface="Yu Gothic"/>
                <a:ea typeface="Yu Gothic"/>
                <a:cs typeface="Yu Gothic"/>
              </a:rPr>
              <a:t>PostgreSQL </a:t>
            </a:r>
            <a:r>
              <a:rPr lang="ja-JP" altLang="en-US" sz="1125">
                <a:solidFill>
                  <a:srgbClr val="1F2937"/>
                </a:solidFill>
                <a:latin typeface="Yu Gothic"/>
                <a:ea typeface="Yu Gothic"/>
                <a:cs typeface="Yu Gothic"/>
              </a:rPr>
              <a:t>データベース名</a:t>
            </a:r>
            <a:r>
              <a:rPr lang="en-US" altLang="ja-JP" sz="1125" dirty="0">
                <a:solidFill>
                  <a:srgbClr val="1F2937"/>
                </a:solidFill>
                <a:latin typeface="Yu Gothic"/>
                <a:ea typeface="Yu Gothic"/>
                <a:cs typeface="Yu Gothic"/>
              </a:rPr>
              <a:t>: </a:t>
            </a:r>
            <a:r>
              <a:rPr lang="en-US" altLang="ja-JP" sz="1125" dirty="0" err="1">
                <a:solidFill>
                  <a:srgbClr val="1F2937"/>
                </a:solidFill>
                <a:latin typeface="Yu Gothic"/>
                <a:ea typeface="Yu Gothic"/>
                <a:cs typeface="Yu Gothic"/>
              </a:rPr>
              <a:t>tododb</a:t>
            </a:r>
            <a:endParaRPr lang="en-US" altLang="ja-JP" sz="1125" dirty="0">
              <a:solidFill>
                <a:srgbClr val="1F2937"/>
              </a:solidFill>
              <a:latin typeface="Yu Gothic"/>
              <a:ea typeface="Yu Gothic"/>
              <a:cs typeface="Yu Gothic"/>
            </a:endParaRPr>
          </a:p>
          <a:p>
            <a:pPr marL="171450" indent="-171450">
              <a:buFont typeface="Arial" panose="020B0604020202020204" pitchFamily="34" charset="0"/>
              <a:buChar char="•"/>
              <a:defRPr sz="1125" b="0">
                <a:solidFill>
                  <a:srgbClr val="1F2937"/>
                </a:solidFill>
                <a:latin typeface="Yu Gothic"/>
                <a:ea typeface="Yu Gothic"/>
                <a:cs typeface="Yu Gothic"/>
              </a:defRPr>
            </a:pPr>
            <a:r>
              <a:rPr lang="ja-JP" altLang="en-US" sz="1125" b="0">
                <a:solidFill>
                  <a:srgbClr val="1F2937"/>
                </a:solidFill>
                <a:latin typeface="Yu Gothic"/>
                <a:ea typeface="Yu Gothic"/>
                <a:cs typeface="Yu Gothic"/>
              </a:rPr>
              <a:t>マネージド</a:t>
            </a:r>
            <a:r>
              <a:rPr lang="en-US" altLang="ja-JP" sz="1125" b="0" dirty="0">
                <a:solidFill>
                  <a:srgbClr val="1F2937"/>
                </a:solidFill>
                <a:latin typeface="Yu Gothic"/>
                <a:ea typeface="Yu Gothic"/>
                <a:cs typeface="Yu Gothic"/>
              </a:rPr>
              <a:t> ID </a:t>
            </a:r>
            <a:r>
              <a:rPr lang="ja-JP" altLang="en-US" sz="1125" b="0">
                <a:solidFill>
                  <a:srgbClr val="1F2937"/>
                </a:solidFill>
                <a:latin typeface="Yu Gothic"/>
                <a:ea typeface="Yu Gothic"/>
                <a:cs typeface="Yu Gothic"/>
              </a:rPr>
              <a:t>名</a:t>
            </a:r>
            <a:r>
              <a:rPr lang="en-US" altLang="ja-JP" sz="1125" b="0" dirty="0">
                <a:solidFill>
                  <a:srgbClr val="1F2937"/>
                </a:solidFill>
                <a:latin typeface="Yu Gothic"/>
                <a:ea typeface="Yu Gothic"/>
                <a:cs typeface="Yu Gothic"/>
              </a:rPr>
              <a:t>: </a:t>
            </a:r>
            <a:r>
              <a:rPr lang="ja-JP" altLang="ja-JP" sz="1125"/>
              <a:t>uai-todomanagement-api</a:t>
            </a:r>
            <a:endParaRPr lang="en-US" altLang="ja-JP" sz="1125" dirty="0"/>
          </a:p>
          <a:p>
            <a:pPr marL="171450" indent="-171450">
              <a:buFont typeface="Arial" panose="020B0604020202020204" pitchFamily="34" charset="0"/>
              <a:buChar char="•"/>
              <a:defRPr sz="1125" b="0">
                <a:solidFill>
                  <a:srgbClr val="1F2937"/>
                </a:solidFill>
                <a:latin typeface="Yu Gothic"/>
                <a:ea typeface="Yu Gothic"/>
                <a:cs typeface="Yu Gothic"/>
              </a:defRPr>
            </a:pPr>
            <a:r>
              <a:rPr lang="ja-JP" altLang="en-US" sz="1125" b="0">
                <a:solidFill>
                  <a:srgbClr val="1F2937"/>
                </a:solidFill>
                <a:latin typeface="Yu Gothic"/>
                <a:ea typeface="Yu Gothic"/>
                <a:cs typeface="Yu Gothic"/>
              </a:rPr>
              <a:t>マネージド</a:t>
            </a:r>
            <a:r>
              <a:rPr lang="en-US" altLang="ja-JP" sz="1125" b="0" dirty="0">
                <a:solidFill>
                  <a:srgbClr val="1F2937"/>
                </a:solidFill>
                <a:latin typeface="Yu Gothic"/>
                <a:ea typeface="Yu Gothic"/>
                <a:cs typeface="Yu Gothic"/>
              </a:rPr>
              <a:t> ID </a:t>
            </a:r>
            <a:r>
              <a:rPr lang="ja-JP" altLang="en-US" sz="1125" b="0">
                <a:solidFill>
                  <a:srgbClr val="1F2937"/>
                </a:solidFill>
                <a:latin typeface="Yu Gothic"/>
                <a:ea typeface="Yu Gothic"/>
                <a:cs typeface="Yu Gothic"/>
              </a:rPr>
              <a:t>クライアント</a:t>
            </a:r>
            <a:r>
              <a:rPr lang="en-US" altLang="ja-JP" sz="1125" b="0" dirty="0">
                <a:solidFill>
                  <a:srgbClr val="1F2937"/>
                </a:solidFill>
                <a:latin typeface="Yu Gothic"/>
                <a:ea typeface="Yu Gothic"/>
                <a:cs typeface="Yu Gothic"/>
              </a:rPr>
              <a:t> ID</a:t>
            </a:r>
          </a:p>
          <a:p>
            <a:pPr marL="171450" indent="-171450">
              <a:buFont typeface="Arial" panose="020B0604020202020204" pitchFamily="34" charset="0"/>
              <a:buChar char="•"/>
              <a:defRPr sz="1125" b="0">
                <a:solidFill>
                  <a:srgbClr val="1F2937"/>
                </a:solidFill>
                <a:latin typeface="Yu Gothic"/>
                <a:ea typeface="Yu Gothic"/>
                <a:cs typeface="Yu Gothic"/>
              </a:defRPr>
            </a:pPr>
            <a:r>
              <a:rPr lang="ja-JP" altLang="en-US" sz="1125">
                <a:solidFill>
                  <a:srgbClr val="1F2937"/>
                </a:solidFill>
                <a:latin typeface="Yu Gothic"/>
                <a:ea typeface="Yu Gothic"/>
                <a:cs typeface="Yu Gothic"/>
              </a:rPr>
              <a:t>マネージド</a:t>
            </a:r>
            <a:r>
              <a:rPr lang="en-US" altLang="ja-JP" sz="1125" dirty="0">
                <a:solidFill>
                  <a:srgbClr val="1F2937"/>
                </a:solidFill>
                <a:latin typeface="Yu Gothic"/>
                <a:ea typeface="Yu Gothic"/>
                <a:cs typeface="Yu Gothic"/>
              </a:rPr>
              <a:t> ID </a:t>
            </a:r>
            <a:r>
              <a:rPr lang="ja-JP" altLang="en-US" sz="1125">
                <a:solidFill>
                  <a:srgbClr val="1F2937"/>
                </a:solidFill>
                <a:latin typeface="Yu Gothic"/>
                <a:ea typeface="Yu Gothic"/>
                <a:cs typeface="Yu Gothic"/>
              </a:rPr>
              <a:t>リソース</a:t>
            </a:r>
            <a:r>
              <a:rPr lang="en-US" altLang="ja-JP" sz="1125" dirty="0">
                <a:solidFill>
                  <a:srgbClr val="1F2937"/>
                </a:solidFill>
                <a:latin typeface="Yu Gothic"/>
                <a:ea typeface="Yu Gothic"/>
                <a:cs typeface="Yu Gothic"/>
              </a:rPr>
              <a:t> ID</a:t>
            </a:r>
          </a:p>
          <a:p>
            <a:pPr marL="171450" indent="-171450">
              <a:buFont typeface="Arial" panose="020B0604020202020204" pitchFamily="34" charset="0"/>
              <a:buChar char="•"/>
              <a:defRPr sz="1125" b="0">
                <a:solidFill>
                  <a:srgbClr val="1F2937"/>
                </a:solidFill>
                <a:latin typeface="Yu Gothic"/>
                <a:ea typeface="Yu Gothic"/>
                <a:cs typeface="Yu Gothic"/>
              </a:defRPr>
            </a:pPr>
            <a:r>
              <a:rPr lang="ja-JP" altLang="en-US" sz="1125" b="0">
                <a:solidFill>
                  <a:srgbClr val="1F2937"/>
                </a:solidFill>
                <a:latin typeface="Yu Gothic"/>
                <a:ea typeface="Yu Gothic"/>
                <a:cs typeface="Yu Gothic"/>
              </a:rPr>
              <a:t>アプリ登録</a:t>
            </a:r>
            <a:r>
              <a:rPr lang="en-US" altLang="ja-JP" sz="1125" b="0" dirty="0">
                <a:solidFill>
                  <a:srgbClr val="1F2937"/>
                </a:solidFill>
                <a:latin typeface="Yu Gothic"/>
                <a:ea typeface="Yu Gothic"/>
                <a:cs typeface="Yu Gothic"/>
              </a:rPr>
              <a:t> </a:t>
            </a:r>
            <a:r>
              <a:rPr lang="ja-JP" altLang="en-US" sz="1125" b="0">
                <a:solidFill>
                  <a:srgbClr val="1F2937"/>
                </a:solidFill>
                <a:latin typeface="Yu Gothic"/>
                <a:ea typeface="Yu Gothic"/>
                <a:cs typeface="Yu Gothic"/>
              </a:rPr>
              <a:t>アプリケーション</a:t>
            </a:r>
            <a:r>
              <a:rPr lang="en-US" altLang="ja-JP" sz="1125" b="0" dirty="0">
                <a:solidFill>
                  <a:srgbClr val="1F2937"/>
                </a:solidFill>
                <a:latin typeface="Yu Gothic"/>
                <a:ea typeface="Yu Gothic"/>
                <a:cs typeface="Yu Gothic"/>
              </a:rPr>
              <a:t>(</a:t>
            </a:r>
            <a:r>
              <a:rPr lang="ja-JP" altLang="en-US" sz="1125" b="0">
                <a:solidFill>
                  <a:srgbClr val="1F2937"/>
                </a:solidFill>
                <a:latin typeface="Yu Gothic"/>
                <a:ea typeface="Yu Gothic"/>
                <a:cs typeface="Yu Gothic"/>
              </a:rPr>
              <a:t>クライアント</a:t>
            </a:r>
            <a:r>
              <a:rPr lang="en-US" altLang="ja-JP" sz="1125" b="0" dirty="0">
                <a:solidFill>
                  <a:srgbClr val="1F2937"/>
                </a:solidFill>
                <a:latin typeface="Yu Gothic"/>
                <a:ea typeface="Yu Gothic"/>
                <a:cs typeface="Yu Gothic"/>
              </a:rPr>
              <a:t>) ID</a:t>
            </a:r>
          </a:p>
          <a:p>
            <a:pPr marL="171450" indent="-171450">
              <a:buFont typeface="Arial" panose="020B0604020202020204" pitchFamily="34" charset="0"/>
              <a:buChar char="•"/>
              <a:defRPr sz="1125" b="0">
                <a:solidFill>
                  <a:srgbClr val="1F2937"/>
                </a:solidFill>
                <a:latin typeface="Yu Gothic"/>
                <a:ea typeface="Yu Gothic"/>
                <a:cs typeface="Yu Gothic"/>
              </a:defRPr>
            </a:pPr>
            <a:r>
              <a:rPr lang="ja-JP" altLang="en-US" sz="1125">
                <a:solidFill>
                  <a:srgbClr val="1F2937"/>
                </a:solidFill>
                <a:latin typeface="Yu Gothic"/>
                <a:ea typeface="Yu Gothic"/>
                <a:cs typeface="Yu Gothic"/>
              </a:rPr>
              <a:t>アプリ登録</a:t>
            </a:r>
            <a:r>
              <a:rPr lang="en-US" altLang="ja-JP" sz="1125" dirty="0">
                <a:solidFill>
                  <a:srgbClr val="1F2937"/>
                </a:solidFill>
                <a:latin typeface="Yu Gothic"/>
                <a:ea typeface="Yu Gothic"/>
                <a:cs typeface="Yu Gothic"/>
              </a:rPr>
              <a:t> </a:t>
            </a:r>
            <a:r>
              <a:rPr lang="ja-JP" altLang="en-US" sz="1125">
                <a:solidFill>
                  <a:srgbClr val="1F2937"/>
                </a:solidFill>
                <a:latin typeface="Yu Gothic"/>
                <a:ea typeface="Yu Gothic"/>
                <a:cs typeface="Yu Gothic"/>
              </a:rPr>
              <a:t>ディレクトリ</a:t>
            </a:r>
            <a:r>
              <a:rPr lang="en-US" altLang="ja-JP" sz="1125" dirty="0">
                <a:solidFill>
                  <a:srgbClr val="1F2937"/>
                </a:solidFill>
                <a:latin typeface="Yu Gothic"/>
                <a:ea typeface="Yu Gothic"/>
                <a:cs typeface="Yu Gothic"/>
              </a:rPr>
              <a:t>(</a:t>
            </a:r>
            <a:r>
              <a:rPr lang="ja-JP" altLang="en-US" sz="1125">
                <a:solidFill>
                  <a:srgbClr val="1F2937"/>
                </a:solidFill>
                <a:latin typeface="Yu Gothic"/>
                <a:ea typeface="Yu Gothic"/>
                <a:cs typeface="Yu Gothic"/>
              </a:rPr>
              <a:t>テナント</a:t>
            </a:r>
            <a:r>
              <a:rPr lang="en-US" altLang="ja-JP" sz="1125" dirty="0">
                <a:solidFill>
                  <a:srgbClr val="1F2937"/>
                </a:solidFill>
                <a:latin typeface="Yu Gothic"/>
                <a:ea typeface="Yu Gothic"/>
                <a:cs typeface="Yu Gothic"/>
              </a:rPr>
              <a:t>) ID</a:t>
            </a:r>
            <a:endParaRPr lang="en-US" altLang="ja-JP" sz="1125" b="0" dirty="0">
              <a:solidFill>
                <a:srgbClr val="1F2937"/>
              </a:solidFill>
              <a:latin typeface="Yu Gothic"/>
              <a:ea typeface="Yu Gothic"/>
              <a:cs typeface="Yu Gothic"/>
            </a:endParaRPr>
          </a:p>
          <a:p>
            <a:pPr marL="171450" indent="-171450" algn="l">
              <a:buFont typeface="Arial" panose="020B0604020202020204" pitchFamily="34" charset="0"/>
              <a:buChar char="•"/>
              <a:defRPr sz="1125" b="0">
                <a:solidFill>
                  <a:srgbClr val="1F2937"/>
                </a:solidFill>
                <a:latin typeface="Yu Gothic"/>
                <a:ea typeface="Yu Gothic"/>
                <a:cs typeface="Yu Gothic"/>
              </a:defRPr>
            </a:pPr>
            <a:r>
              <a:rPr lang="en-US" sz="1125" b="0" dirty="0">
                <a:solidFill>
                  <a:srgbClr val="1F2937"/>
                </a:solidFill>
                <a:latin typeface="Yu Gothic"/>
                <a:ea typeface="Yu Gothic"/>
                <a:cs typeface="Yu Gothic"/>
              </a:rPr>
              <a:t>Web </a:t>
            </a:r>
            <a:r>
              <a:rPr lang="en-US" sz="1125" b="0" dirty="0" err="1">
                <a:solidFill>
                  <a:srgbClr val="1F2937"/>
                </a:solidFill>
                <a:latin typeface="Yu Gothic"/>
                <a:ea typeface="Yu Gothic"/>
                <a:cs typeface="Yu Gothic"/>
              </a:rPr>
              <a:t>用コンテナアプリ</a:t>
            </a:r>
            <a:r>
              <a:rPr lang="en-US" sz="1125" dirty="0">
                <a:solidFill>
                  <a:srgbClr val="1F2937"/>
                </a:solidFill>
                <a:latin typeface="Yu Gothic"/>
                <a:ea typeface="Yu Gothic"/>
                <a:cs typeface="Yu Gothic"/>
              </a:rPr>
              <a:t> </a:t>
            </a:r>
            <a:r>
              <a:rPr lang="ja-JP" altLang="en-US" sz="1125" b="0">
                <a:solidFill>
                  <a:srgbClr val="1F2937"/>
                </a:solidFill>
                <a:latin typeface="Yu Gothic"/>
                <a:ea typeface="Yu Gothic"/>
                <a:cs typeface="Yu Gothic"/>
              </a:rPr>
              <a:t>アプリケーション</a:t>
            </a:r>
            <a:r>
              <a:rPr lang="en-US" altLang="ja-JP" sz="1125" b="0" dirty="0">
                <a:solidFill>
                  <a:srgbClr val="1F2937"/>
                </a:solidFill>
                <a:latin typeface="Yu Gothic"/>
                <a:ea typeface="Yu Gothic"/>
                <a:cs typeface="Yu Gothic"/>
              </a:rPr>
              <a:t> URL</a:t>
            </a:r>
          </a:p>
          <a:p>
            <a:pPr marL="171450" indent="-171450" algn="l">
              <a:buFont typeface="Arial" panose="020B0604020202020204" pitchFamily="34" charset="0"/>
              <a:buChar char="•"/>
              <a:defRPr sz="1125" b="0">
                <a:solidFill>
                  <a:srgbClr val="1F2937"/>
                </a:solidFill>
                <a:latin typeface="Yu Gothic"/>
                <a:ea typeface="Yu Gothic"/>
                <a:cs typeface="Yu Gothic"/>
              </a:defRPr>
            </a:pPr>
            <a:r>
              <a:rPr lang="en-US" sz="1125" dirty="0">
                <a:solidFill>
                  <a:srgbClr val="1F2937"/>
                </a:solidFill>
                <a:latin typeface="Yu Gothic"/>
                <a:ea typeface="Yu Gothic"/>
                <a:cs typeface="Yu Gothic"/>
              </a:rPr>
              <a:t>API </a:t>
            </a:r>
            <a:r>
              <a:rPr lang="en-US" sz="1125" dirty="0" err="1">
                <a:solidFill>
                  <a:srgbClr val="1F2937"/>
                </a:solidFill>
                <a:latin typeface="Yu Gothic"/>
                <a:ea typeface="Yu Gothic"/>
                <a:cs typeface="Yu Gothic"/>
              </a:rPr>
              <a:t>用コンテナアプリ</a:t>
            </a:r>
            <a:r>
              <a:rPr lang="en-US" sz="1125" dirty="0">
                <a:solidFill>
                  <a:srgbClr val="1F2937"/>
                </a:solidFill>
                <a:latin typeface="Yu Gothic"/>
                <a:ea typeface="Yu Gothic"/>
                <a:cs typeface="Yu Gothic"/>
              </a:rPr>
              <a:t> </a:t>
            </a:r>
            <a:r>
              <a:rPr lang="en-US" sz="1125" dirty="0" err="1">
                <a:solidFill>
                  <a:srgbClr val="1F2937"/>
                </a:solidFill>
                <a:latin typeface="Yu Gothic"/>
                <a:ea typeface="Yu Gothic"/>
                <a:cs typeface="Yu Gothic"/>
              </a:rPr>
              <a:t>アプリケーション</a:t>
            </a:r>
            <a:r>
              <a:rPr lang="en-US" sz="1125" dirty="0">
                <a:solidFill>
                  <a:srgbClr val="1F2937"/>
                </a:solidFill>
                <a:latin typeface="Yu Gothic"/>
                <a:ea typeface="Yu Gothic"/>
                <a:cs typeface="Yu Gothic"/>
              </a:rPr>
              <a:t> URL</a:t>
            </a:r>
            <a:endParaRPr sz="1125" b="0" dirty="0">
              <a:solidFill>
                <a:srgbClr val="1F2937"/>
              </a:solidFill>
              <a:latin typeface="Yu Gothic"/>
              <a:ea typeface="Yu Gothic"/>
              <a:cs typeface="Yu Gothic"/>
            </a:endParaRPr>
          </a:p>
        </p:txBody>
      </p:sp>
    </p:spTree>
    <p:extLst>
      <p:ext uri="{BB962C8B-B14F-4D97-AF65-F5344CB8AC3E}">
        <p14:creationId xmlns:p14="http://schemas.microsoft.com/office/powerpoint/2010/main" val="33235139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D616F-4C83-8AF5-1EC2-55217F10D19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68908760-E2BE-6963-680A-6CC2FD6CCD2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第</a:t>
            </a:r>
            <a:r>
              <a:rPr lang="en-US" altLang="ja-JP" sz="2000" b="1" dirty="0">
                <a:solidFill>
                  <a:srgbClr val="1F2937"/>
                </a:solidFill>
                <a:latin typeface="Yu Gothic"/>
                <a:ea typeface="Yu Gothic"/>
                <a:cs typeface="Yu Gothic"/>
              </a:rPr>
              <a:t>5</a:t>
            </a:r>
            <a:r>
              <a:rPr lang="ja-JP" altLang="en-US" sz="2000" b="1">
                <a:solidFill>
                  <a:srgbClr val="1F2937"/>
                </a:solidFill>
                <a:latin typeface="Yu Gothic"/>
                <a:ea typeface="Yu Gothic"/>
                <a:cs typeface="Yu Gothic"/>
              </a:rPr>
              <a:t>回終了時点のアーキテクチャ</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1981138B-EA67-C349-ACED-11B7F88505F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6F45005B-13B3-815D-60EA-A9725F64CAB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FE1331E-46ED-99E8-8077-C0111F8ACC99}"/>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まだ実アプリのコンテナイメージは動いていませんが、デプロイ先、</a:t>
            </a:r>
            <a:r>
              <a:rPr lang="en" altLang="ja-JP" sz="1200" dirty="0">
                <a:solidFill>
                  <a:srgbClr val="64748B"/>
                </a:solidFill>
                <a:latin typeface="Yu Gothic"/>
                <a:ea typeface="Yu Gothic"/>
                <a:cs typeface="Yu Gothic"/>
              </a:rPr>
              <a:t>DB</a:t>
            </a:r>
            <a:r>
              <a:rPr lang="ja-JP" altLang="en" sz="1200">
                <a:solidFill>
                  <a:srgbClr val="64748B"/>
                </a:solidFill>
                <a:latin typeface="Yu Gothic"/>
                <a:ea typeface="Yu Gothic"/>
                <a:cs typeface="Yu Gothic"/>
              </a:rPr>
              <a:t>、</a:t>
            </a:r>
            <a:r>
              <a:rPr lang="ja-JP" altLang="en-US" sz="1200">
                <a:solidFill>
                  <a:srgbClr val="64748B"/>
                </a:solidFill>
                <a:latin typeface="Yu Gothic"/>
                <a:ea typeface="Yu Gothic"/>
                <a:cs typeface="Yu Gothic"/>
              </a:rPr>
              <a:t>認証、権限、記録すべき値がそろいました。</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5B38C8C4-A00C-3037-526A-0012698F3F5F}"/>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descr="Architecture">
            <a:extLst>
              <a:ext uri="{FF2B5EF4-FFF2-40B4-BE49-F238E27FC236}">
                <a16:creationId xmlns:a16="http://schemas.microsoft.com/office/drawing/2014/main" id="{E82B9B3A-FD63-1E30-E21F-F43FFD5B176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84309" y="2262648"/>
            <a:ext cx="4377083" cy="3719052"/>
          </a:xfrm>
          <a:prstGeom prst="rect">
            <a:avLst/>
          </a:prstGeom>
        </p:spPr>
      </p:pic>
      <p:sp>
        <p:nvSpPr>
          <p:cNvPr id="8" name="四角形吹き出し 7">
            <a:extLst>
              <a:ext uri="{FF2B5EF4-FFF2-40B4-BE49-F238E27FC236}">
                <a16:creationId xmlns:a16="http://schemas.microsoft.com/office/drawing/2014/main" id="{8360E8AB-7F81-D44A-D4F3-DFBFDE59BF1F}"/>
              </a:ext>
            </a:extLst>
          </p:cNvPr>
          <p:cNvSpPr/>
          <p:nvPr/>
        </p:nvSpPr>
        <p:spPr>
          <a:xfrm>
            <a:off x="1170775" y="3783807"/>
            <a:ext cx="2271253" cy="1169551"/>
          </a:xfrm>
          <a:prstGeom prst="wedgeRectCallout">
            <a:avLst>
              <a:gd name="adj1" fmla="val 115355"/>
              <a:gd name="adj2" fmla="val 14466"/>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正方形/長方形 9">
            <a:extLst>
              <a:ext uri="{FF2B5EF4-FFF2-40B4-BE49-F238E27FC236}">
                <a16:creationId xmlns:a16="http://schemas.microsoft.com/office/drawing/2014/main" id="{2EC79FD0-7C8D-2ABF-18CD-FF5C42D191A0}"/>
              </a:ext>
            </a:extLst>
          </p:cNvPr>
          <p:cNvSpPr/>
          <p:nvPr/>
        </p:nvSpPr>
        <p:spPr>
          <a:xfrm>
            <a:off x="4861744" y="3460290"/>
            <a:ext cx="2266643" cy="1524000"/>
          </a:xfrm>
          <a:prstGeom prst="rect">
            <a:avLst/>
          </a:prstGeom>
          <a:solidFill>
            <a:schemeClr val="accent1">
              <a:alpha val="349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A756A372-4C68-0EE5-59CC-637103C4D088}"/>
              </a:ext>
            </a:extLst>
          </p:cNvPr>
          <p:cNvSpPr txBox="1"/>
          <p:nvPr/>
        </p:nvSpPr>
        <p:spPr>
          <a:xfrm>
            <a:off x="1170775" y="3786162"/>
            <a:ext cx="2271253" cy="1169551"/>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Environment, </a:t>
            </a:r>
            <a:r>
              <a:rPr lang="ja-JP" altLang="en-US" sz="1400">
                <a:solidFill>
                  <a:srgbClr val="1F2937"/>
                </a:solidFill>
                <a:latin typeface="Yu Gothic UI" panose="020B0500000000000000" pitchFamily="34" charset="-128"/>
                <a:ea typeface="Yu Gothic UI" panose="020B0500000000000000" pitchFamily="34" charset="-128"/>
                <a:cs typeface="Yu Gothic"/>
              </a:rPr>
              <a:t>プレースホルダとなるコンテナアプリ、</a:t>
            </a:r>
            <a:r>
              <a:rPr lang="en-US" altLang="ja-JP" sz="1400" dirty="0">
                <a:solidFill>
                  <a:srgbClr val="1F2937"/>
                </a:solidFill>
                <a:latin typeface="Yu Gothic UI" panose="020B0500000000000000" pitchFamily="34" charset="-128"/>
                <a:ea typeface="Yu Gothic UI" panose="020B0500000000000000" pitchFamily="34" charset="-128"/>
                <a:cs typeface="Yu Gothic"/>
              </a:rPr>
              <a:t>PostgreSQL Flexible Server </a:t>
            </a:r>
            <a:r>
              <a:rPr lang="ja-JP" altLang="en-US" sz="1400">
                <a:solidFill>
                  <a:srgbClr val="1F2937"/>
                </a:solidFill>
                <a:latin typeface="Yu Gothic UI" panose="020B0500000000000000" pitchFamily="34" charset="-128"/>
                <a:ea typeface="Yu Gothic UI" panose="020B0500000000000000" pitchFamily="34" charset="-128"/>
                <a:cs typeface="Yu Gothic"/>
              </a:rPr>
              <a:t>はデプロイ済み。ネットワーク関連も設定済み</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15" name="四角形吹き出し 14">
            <a:extLst>
              <a:ext uri="{FF2B5EF4-FFF2-40B4-BE49-F238E27FC236}">
                <a16:creationId xmlns:a16="http://schemas.microsoft.com/office/drawing/2014/main" id="{0023803D-F0D8-737D-15B9-9F98CA81A3ED}"/>
              </a:ext>
            </a:extLst>
          </p:cNvPr>
          <p:cNvSpPr/>
          <p:nvPr/>
        </p:nvSpPr>
        <p:spPr>
          <a:xfrm>
            <a:off x="1170775" y="2345557"/>
            <a:ext cx="2271253" cy="954107"/>
          </a:xfrm>
          <a:prstGeom prst="wedgeRectCallout">
            <a:avLst>
              <a:gd name="adj1" fmla="val 105189"/>
              <a:gd name="adj2" fmla="val -19213"/>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テキスト ボックス 15">
            <a:extLst>
              <a:ext uri="{FF2B5EF4-FFF2-40B4-BE49-F238E27FC236}">
                <a16:creationId xmlns:a16="http://schemas.microsoft.com/office/drawing/2014/main" id="{CD91C0E0-8139-937E-5C54-0ED514B55D19}"/>
              </a:ext>
            </a:extLst>
          </p:cNvPr>
          <p:cNvSpPr txBox="1"/>
          <p:nvPr/>
        </p:nvSpPr>
        <p:spPr>
          <a:xfrm>
            <a:off x="1170775" y="2347912"/>
            <a:ext cx="2271253" cy="95410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Web </a:t>
            </a:r>
            <a:r>
              <a:rPr lang="ja-JP" altLang="en-US" sz="1400">
                <a:solidFill>
                  <a:srgbClr val="1F2937"/>
                </a:solidFill>
                <a:latin typeface="Yu Gothic UI" panose="020B0500000000000000" pitchFamily="34" charset="-128"/>
                <a:ea typeface="Yu Gothic UI" panose="020B0500000000000000" pitchFamily="34" charset="-128"/>
                <a:cs typeface="Yu Gothic"/>
              </a:rPr>
              <a:t>アプリコンテナ用のアプリ登録は実施済み。</a:t>
            </a:r>
            <a:endParaRPr lang="en-US" altLang="ja-JP" sz="1400" dirty="0">
              <a:solidFill>
                <a:srgbClr val="1F2937"/>
              </a:solidFill>
              <a:latin typeface="Yu Gothic UI" panose="020B0500000000000000" pitchFamily="34" charset="-128"/>
              <a:ea typeface="Yu Gothic UI" panose="020B0500000000000000" pitchFamily="34" charset="-128"/>
              <a:cs typeface="Yu Gothic"/>
            </a:endParaRPr>
          </a:p>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GitHub Actions </a:t>
            </a:r>
            <a:r>
              <a:rPr lang="ja-JP" altLang="en-US" sz="1400">
                <a:solidFill>
                  <a:srgbClr val="1F2937"/>
                </a:solidFill>
                <a:latin typeface="Yu Gothic UI" panose="020B0500000000000000" pitchFamily="34" charset="-128"/>
                <a:ea typeface="Yu Gothic UI" panose="020B0500000000000000" pitchFamily="34" charset="-128"/>
                <a:cs typeface="Yu Gothic"/>
              </a:rPr>
              <a:t>用のサービスプリンシパルは未作成</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17" name="四角形吹き出し 16">
            <a:extLst>
              <a:ext uri="{FF2B5EF4-FFF2-40B4-BE49-F238E27FC236}">
                <a16:creationId xmlns:a16="http://schemas.microsoft.com/office/drawing/2014/main" id="{69DDACEA-6E70-2D34-79C3-75F00D8CB642}"/>
              </a:ext>
            </a:extLst>
          </p:cNvPr>
          <p:cNvSpPr/>
          <p:nvPr/>
        </p:nvSpPr>
        <p:spPr>
          <a:xfrm>
            <a:off x="1170775" y="5219702"/>
            <a:ext cx="2271253" cy="954107"/>
          </a:xfrm>
          <a:prstGeom prst="wedgeRectCallout">
            <a:avLst>
              <a:gd name="adj1" fmla="val 145449"/>
              <a:gd name="adj2" fmla="val 3052"/>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テキスト ボックス 17">
            <a:extLst>
              <a:ext uri="{FF2B5EF4-FFF2-40B4-BE49-F238E27FC236}">
                <a16:creationId xmlns:a16="http://schemas.microsoft.com/office/drawing/2014/main" id="{4625BC15-A773-300B-EA25-D30D8A6BF0D7}"/>
              </a:ext>
            </a:extLst>
          </p:cNvPr>
          <p:cNvSpPr txBox="1"/>
          <p:nvPr/>
        </p:nvSpPr>
        <p:spPr>
          <a:xfrm>
            <a:off x="1170775" y="5222057"/>
            <a:ext cx="2271253" cy="95410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Web </a:t>
            </a:r>
            <a:r>
              <a:rPr lang="ja-JP" altLang="en-US" sz="1400">
                <a:solidFill>
                  <a:srgbClr val="1F2937"/>
                </a:solidFill>
                <a:latin typeface="Yu Gothic UI" panose="020B0500000000000000" pitchFamily="34" charset="-128"/>
                <a:ea typeface="Yu Gothic UI" panose="020B0500000000000000" pitchFamily="34" charset="-128"/>
                <a:cs typeface="Yu Gothic"/>
              </a:rPr>
              <a:t>アプリコンテナ用のアプリ登録は実施済み。</a:t>
            </a:r>
            <a:endParaRPr lang="en-US" altLang="ja-JP" sz="1400" dirty="0">
              <a:solidFill>
                <a:srgbClr val="1F2937"/>
              </a:solidFill>
              <a:latin typeface="Yu Gothic UI" panose="020B0500000000000000" pitchFamily="34" charset="-128"/>
              <a:ea typeface="Yu Gothic UI" panose="020B0500000000000000" pitchFamily="34" charset="-128"/>
              <a:cs typeface="Yu Gothic"/>
            </a:endParaRPr>
          </a:p>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GitHub Actions </a:t>
            </a:r>
            <a:r>
              <a:rPr lang="ja-JP" altLang="en-US" sz="1400">
                <a:solidFill>
                  <a:srgbClr val="1F2937"/>
                </a:solidFill>
                <a:latin typeface="Yu Gothic UI" panose="020B0500000000000000" pitchFamily="34" charset="-128"/>
                <a:ea typeface="Yu Gothic UI" panose="020B0500000000000000" pitchFamily="34" charset="-128"/>
                <a:cs typeface="Yu Gothic"/>
              </a:rPr>
              <a:t>用のサービスプリンシパルは未作成</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19" name="正方形/長方形 18">
            <a:extLst>
              <a:ext uri="{FF2B5EF4-FFF2-40B4-BE49-F238E27FC236}">
                <a16:creationId xmlns:a16="http://schemas.microsoft.com/office/drawing/2014/main" id="{86CFA112-5ECD-FDC3-72FD-854B7F6769B9}"/>
              </a:ext>
            </a:extLst>
          </p:cNvPr>
          <p:cNvSpPr/>
          <p:nvPr/>
        </p:nvSpPr>
        <p:spPr>
          <a:xfrm>
            <a:off x="7226969" y="3472282"/>
            <a:ext cx="1276704" cy="649892"/>
          </a:xfrm>
          <a:prstGeom prst="rect">
            <a:avLst/>
          </a:prstGeom>
          <a:solidFill>
            <a:schemeClr val="accent1">
              <a:alpha val="349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吹き出し 12">
            <a:extLst>
              <a:ext uri="{FF2B5EF4-FFF2-40B4-BE49-F238E27FC236}">
                <a16:creationId xmlns:a16="http://schemas.microsoft.com/office/drawing/2014/main" id="{BDF05C5A-C7F4-B61E-8F86-7F7CAB0CBFF3}"/>
              </a:ext>
            </a:extLst>
          </p:cNvPr>
          <p:cNvSpPr/>
          <p:nvPr/>
        </p:nvSpPr>
        <p:spPr>
          <a:xfrm>
            <a:off x="8503673" y="2368565"/>
            <a:ext cx="2271253" cy="607997"/>
          </a:xfrm>
          <a:prstGeom prst="wedgeRectCallout">
            <a:avLst>
              <a:gd name="adj1" fmla="val -59917"/>
              <a:gd name="adj2" fmla="val 162413"/>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テキスト ボックス 13">
            <a:extLst>
              <a:ext uri="{FF2B5EF4-FFF2-40B4-BE49-F238E27FC236}">
                <a16:creationId xmlns:a16="http://schemas.microsoft.com/office/drawing/2014/main" id="{060EA345-8EC1-BB3D-A461-4D1E2139CD73}"/>
              </a:ext>
            </a:extLst>
          </p:cNvPr>
          <p:cNvSpPr txBox="1"/>
          <p:nvPr/>
        </p:nvSpPr>
        <p:spPr>
          <a:xfrm>
            <a:off x="8503673" y="2370920"/>
            <a:ext cx="2271253"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ACR </a:t>
            </a:r>
            <a:r>
              <a:rPr lang="ja-JP" altLang="en-US" sz="1400">
                <a:solidFill>
                  <a:srgbClr val="1F2937"/>
                </a:solidFill>
                <a:latin typeface="Yu Gothic UI" panose="020B0500000000000000" pitchFamily="34" charset="-128"/>
                <a:ea typeface="Yu Gothic UI" panose="020B0500000000000000" pitchFamily="34" charset="-128"/>
                <a:cs typeface="Yu Gothic"/>
              </a:rPr>
              <a:t>は存在するが、コンテナイメージのビルドは未着手</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20" name="四角形吹き出し 19">
            <a:extLst>
              <a:ext uri="{FF2B5EF4-FFF2-40B4-BE49-F238E27FC236}">
                <a16:creationId xmlns:a16="http://schemas.microsoft.com/office/drawing/2014/main" id="{62907EA1-39E0-9B4F-3AB6-4036E4E5ACE3}"/>
              </a:ext>
            </a:extLst>
          </p:cNvPr>
          <p:cNvSpPr/>
          <p:nvPr/>
        </p:nvSpPr>
        <p:spPr>
          <a:xfrm>
            <a:off x="6928873" y="1775497"/>
            <a:ext cx="3221890" cy="317495"/>
          </a:xfrm>
          <a:prstGeom prst="wedgeRectCallout">
            <a:avLst>
              <a:gd name="adj1" fmla="val -56130"/>
              <a:gd name="adj2" fmla="val 144509"/>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1" name="テキスト ボックス 20">
            <a:extLst>
              <a:ext uri="{FF2B5EF4-FFF2-40B4-BE49-F238E27FC236}">
                <a16:creationId xmlns:a16="http://schemas.microsoft.com/office/drawing/2014/main" id="{1B5589E7-3C34-8D58-083A-2A28759FB632}"/>
              </a:ext>
            </a:extLst>
          </p:cNvPr>
          <p:cNvSpPr txBox="1"/>
          <p:nvPr/>
        </p:nvSpPr>
        <p:spPr>
          <a:xfrm>
            <a:off x="6928873" y="1766928"/>
            <a:ext cx="3221890" cy="30777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Environment </a:t>
            </a:r>
            <a:r>
              <a:rPr lang="ja-JP" altLang="en-US" sz="1400">
                <a:solidFill>
                  <a:srgbClr val="1F2937"/>
                </a:solidFill>
                <a:latin typeface="Yu Gothic UI" panose="020B0500000000000000" pitchFamily="34" charset="-128"/>
                <a:ea typeface="Yu Gothic UI" panose="020B0500000000000000" pitchFamily="34" charset="-128"/>
                <a:cs typeface="Yu Gothic"/>
              </a:rPr>
              <a:t>の監視設定は実施</a:t>
            </a:r>
            <a:endParaRPr lang="en-US" altLang="ja-JP" sz="1400" dirty="0">
              <a:solidFill>
                <a:srgbClr val="1F2937"/>
              </a:solidFill>
              <a:latin typeface="Yu Gothic UI" panose="020B0500000000000000" pitchFamily="34" charset="-128"/>
              <a:ea typeface="Yu Gothic UI" panose="020B0500000000000000" pitchFamily="34" charset="-128"/>
              <a:cs typeface="Yu Gothic"/>
            </a:endParaRPr>
          </a:p>
        </p:txBody>
      </p:sp>
    </p:spTree>
    <p:extLst>
      <p:ext uri="{BB962C8B-B14F-4D97-AF65-F5344CB8AC3E}">
        <p14:creationId xmlns:p14="http://schemas.microsoft.com/office/powerpoint/2010/main" val="20824899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273D6-ADF1-0BD9-4FFA-393A89A89EA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6302A37-0E91-F0CF-EA71-80D422A7815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PostgreSQL </a:t>
            </a:r>
            <a:r>
              <a:rPr lang="ja-JP" altLang="en-US" sz="2000" b="1">
                <a:solidFill>
                  <a:srgbClr val="1F2937"/>
                </a:solidFill>
                <a:latin typeface="Yu Gothic"/>
                <a:ea typeface="Yu Gothic"/>
                <a:cs typeface="Yu Gothic"/>
              </a:rPr>
              <a:t>を停止する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EC9252E5-1F44-B0CA-CE26-4D2D948AB75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 第</a:t>
            </a:r>
            <a:r>
              <a:rPr lang="en-US" sz="713" b="0" dirty="0">
                <a:solidFill>
                  <a:srgbClr val="667085"/>
                </a:solidFill>
                <a:latin typeface="Yu Gothic UI"/>
                <a:ea typeface="Yu Gothic UI"/>
                <a:cs typeface="Yu Gothic UI"/>
              </a:rPr>
              <a:t>5</a:t>
            </a:r>
            <a:r>
              <a:rPr sz="713" b="0" dirty="0">
                <a:solidFill>
                  <a:srgbClr val="667085"/>
                </a:solidFill>
                <a:latin typeface="Yu Gothic UI"/>
                <a:ea typeface="Yu Gothic UI"/>
                <a:cs typeface="Yu Gothic UI"/>
              </a:rPr>
              <a:t>回</a:t>
            </a:r>
          </a:p>
        </p:txBody>
      </p:sp>
      <p:sp>
        <p:nvSpPr>
          <p:cNvPr id="4" name="正方形/長方形 3">
            <a:extLst>
              <a:ext uri="{FF2B5EF4-FFF2-40B4-BE49-F238E27FC236}">
                <a16:creationId xmlns:a16="http://schemas.microsoft.com/office/drawing/2014/main" id="{887A7A4C-EE33-5A30-0215-68AA309272B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D1E79CC-FF90-5B77-9D91-44991BC54921}"/>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回までリソースは残しますが、</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のコンピュート課金を抑えるため </a:t>
            </a:r>
            <a:r>
              <a:rPr lang="en" altLang="ja-JP" sz="1200" dirty="0">
                <a:solidFill>
                  <a:srgbClr val="64748B"/>
                </a:solidFill>
                <a:latin typeface="Yu Gothic"/>
                <a:ea typeface="Yu Gothic"/>
                <a:cs typeface="Yu Gothic"/>
              </a:rPr>
              <a:t>PostgreSQL Flexible Server </a:t>
            </a:r>
            <a:r>
              <a:rPr lang="ja-JP" altLang="en-US" sz="1200">
                <a:solidFill>
                  <a:srgbClr val="64748B"/>
                </a:solidFill>
                <a:latin typeface="Yu Gothic"/>
                <a:ea typeface="Yu Gothic"/>
                <a:cs typeface="Yu Gothic"/>
              </a:rPr>
              <a:t>を </a:t>
            </a:r>
            <a:r>
              <a:rPr lang="en" altLang="ja-JP" sz="1200" dirty="0">
                <a:solidFill>
                  <a:srgbClr val="64748B"/>
                </a:solidFill>
                <a:latin typeface="Yu Gothic"/>
                <a:ea typeface="Yu Gothic"/>
                <a:cs typeface="Yu Gothic"/>
              </a:rPr>
              <a:t>Stop </a:t>
            </a:r>
            <a:r>
              <a:rPr lang="ja-JP" altLang="en-US" sz="1200">
                <a:solidFill>
                  <a:srgbClr val="64748B"/>
                </a:solidFill>
                <a:latin typeface="Yu Gothic"/>
                <a:ea typeface="Yu Gothic"/>
                <a:cs typeface="Yu Gothic"/>
              </a:rPr>
              <a:t>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134DEE7D-A88D-1E89-4287-29566BBA282A}"/>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C1F8DD72-8555-08DF-8476-5B4625EAD15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492201" y="2409247"/>
            <a:ext cx="5197764" cy="3248603"/>
          </a:xfrm>
          <a:prstGeom prst="rect">
            <a:avLst/>
          </a:prstGeom>
        </p:spPr>
      </p:pic>
      <p:sp>
        <p:nvSpPr>
          <p:cNvPr id="7" name="正方形/長方形 6">
            <a:extLst>
              <a:ext uri="{FF2B5EF4-FFF2-40B4-BE49-F238E27FC236}">
                <a16:creationId xmlns:a16="http://schemas.microsoft.com/office/drawing/2014/main" id="{7BFCB1DC-7994-42A6-C9BB-FA04B0BBCF53}"/>
              </a:ext>
            </a:extLst>
          </p:cNvPr>
          <p:cNvSpPr/>
          <p:nvPr/>
        </p:nvSpPr>
        <p:spPr>
          <a:xfrm>
            <a:off x="6881091" y="2847974"/>
            <a:ext cx="315679" cy="20002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5635114A-6F0A-3A47-990A-0BDD98F18F6A}"/>
              </a:ext>
            </a:extLst>
          </p:cNvPr>
          <p:cNvSpPr/>
          <p:nvPr/>
        </p:nvSpPr>
        <p:spPr>
          <a:xfrm>
            <a:off x="7797984" y="2409247"/>
            <a:ext cx="1013507" cy="434616"/>
          </a:xfrm>
          <a:prstGeom prst="wedgeRectCallout">
            <a:avLst>
              <a:gd name="adj1" fmla="val -108917"/>
              <a:gd name="adj2" fmla="val 5146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停止をクリック</a:t>
            </a:r>
          </a:p>
        </p:txBody>
      </p:sp>
    </p:spTree>
    <p:extLst>
      <p:ext uri="{BB962C8B-B14F-4D97-AF65-F5344CB8AC3E}">
        <p14:creationId xmlns:p14="http://schemas.microsoft.com/office/powerpoint/2010/main" val="1715892012"/>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spAutoFit/>
      </a:bodyPr>
      <a:lstStyle>
        <a:defPPr marL="0" marR="0" indent="0" algn="l" defTabSz="931757" rtl="0" eaLnBrk="1" fontAlgn="base" latinLnBrk="0" hangingPunct="1">
          <a:lnSpc>
            <a:spcPct val="90000"/>
          </a:lnSpc>
          <a:spcBef>
            <a:spcPct val="0"/>
          </a:spcBef>
          <a:spcAft>
            <a:spcPct val="0"/>
          </a:spcAft>
          <a:buClrTx/>
          <a:buSzTx/>
          <a:buFontTx/>
          <a:buNone/>
          <a:tabLst/>
          <a:defRPr kumimoji="0" sz="1600" b="0" i="0" u="none" strike="noStrike" kern="1200" cap="none" spc="0" normalizeH="0" baseline="0" noProof="0" smtClean="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defRPr>
        </a:defPPr>
      </a:lstStyle>
    </a:tx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6420</TotalTime>
  <Words>5075</Words>
  <Application>Microsoft Macintosh PowerPoint</Application>
  <DocSecurity>0</DocSecurity>
  <PresentationFormat>ワイド画面</PresentationFormat>
  <Paragraphs>618</Paragraphs>
  <Slides>50</Slides>
  <Notes>50</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50</vt:i4>
      </vt:variant>
    </vt:vector>
  </HeadingPairs>
  <TitlesOfParts>
    <vt:vector size="62" baseType="lpstr">
      <vt:lpstr>Meiryo UI</vt:lpstr>
      <vt:lpstr>Yu Gothic UI</vt:lpstr>
      <vt:lpstr>游ゴシック</vt:lpstr>
      <vt:lpstr>游ゴシック</vt:lpstr>
      <vt:lpstr>Arial</vt:lpstr>
      <vt:lpstr>Segoe Sans Display</vt:lpstr>
      <vt:lpstr>Segoe Sans Text</vt:lpstr>
      <vt:lpstr>Segoe Sans Text Semibold</vt:lpstr>
      <vt:lpstr>Segoe UI</vt:lpstr>
      <vt:lpstr>Segoe UI Semibold</vt:lpstr>
      <vt:lpstr>Wingdings</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Azure PostgreSQL ファミリー</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hiyam_EX_Tenant_admin</cp:lastModifiedBy>
  <cp:revision>2</cp:revision>
  <dcterms:created xsi:type="dcterms:W3CDTF">2026-05-27T01:15:34Z</dcterms:created>
  <dcterms:modified xsi:type="dcterms:W3CDTF">2026-06-09T05:00:29Z</dcterms:modified>
</cp:coreProperties>
</file>