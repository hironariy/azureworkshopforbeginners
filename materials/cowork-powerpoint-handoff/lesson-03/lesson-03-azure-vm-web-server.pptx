
<file path=[Content_Types].xml><?xml version="1.0" encoding="utf-8"?>
<Types xmlns="http://schemas.openxmlformats.org/package/2006/content-types">
  <Default Extension="xml" ContentType="application/vnd.openxmlformats-package.core-properties+xml"/>
  <Default Extension="bin" ContentType="application/octet-stream"/>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b75a2981cb42fb" /><Relationship Type="http://schemas.openxmlformats.org/officeDocument/2006/relationships/extended-properties" Target="/docProps/app.xml" Id="Rdcf47e055893464f" /><Relationship Type="http://schemas.openxmlformats.org/officeDocument/2006/relationships/officeDocument" Target="/ppt/presentation.xml" Id="R7654bab1b74d4a3b" /></Relationships>
</file>

<file path=ppt/presentation.xml><?xml version="1.0" encoding="utf-8"?>
<p:presentation xmlns:p="http://schemas.openxmlformats.org/presentationml/2006/main">
  <p:sldMasterIdLst>
    <p:sldMasterId xmlns:r="http://schemas.openxmlformats.org/officeDocument/2006/relationships" id="2147483648" r:id="R0edc8b7652dd44d2"/>
  </p:sldMasterIdLst>
  <p:notesMasterIdLst>
    <p:notesMasterId xmlns:r="http://schemas.openxmlformats.org/officeDocument/2006/relationships" r:id="R0c195b8936e24c89"/>
  </p:notesMasterIdLst>
  <p:sldIdLst>
    <p:sldId xmlns:r="http://schemas.openxmlformats.org/officeDocument/2006/relationships" id="256" r:id="Ra1fcb0e080c146c4"/>
    <p:sldId xmlns:r="http://schemas.openxmlformats.org/officeDocument/2006/relationships" id="257" r:id="Ree1826303b54494d"/>
    <p:sldId xmlns:r="http://schemas.openxmlformats.org/officeDocument/2006/relationships" id="258" r:id="Rae793280220741d0"/>
    <p:sldId xmlns:r="http://schemas.openxmlformats.org/officeDocument/2006/relationships" id="259" r:id="Rac1d1ddf1ba44443"/>
    <p:sldId xmlns:r="http://schemas.openxmlformats.org/officeDocument/2006/relationships" id="260" r:id="R963f89033c224fe4"/>
    <p:sldId xmlns:r="http://schemas.openxmlformats.org/officeDocument/2006/relationships" id="261" r:id="R10cf4f6a84c64036"/>
    <p:sldId xmlns:r="http://schemas.openxmlformats.org/officeDocument/2006/relationships" id="262" r:id="R60098b82e2174cf7"/>
    <p:sldId xmlns:r="http://schemas.openxmlformats.org/officeDocument/2006/relationships" id="263" r:id="Rda22d66dbc8a4a38"/>
    <p:sldId xmlns:r="http://schemas.openxmlformats.org/officeDocument/2006/relationships" id="264" r:id="R2f5bbb0834354eeb"/>
    <p:sldId xmlns:r="http://schemas.openxmlformats.org/officeDocument/2006/relationships" id="265" r:id="R4f67283bce204a07"/>
    <p:sldId xmlns:r="http://schemas.openxmlformats.org/officeDocument/2006/relationships" id="266" r:id="R0daa4285642440a7"/>
    <p:sldId xmlns:r="http://schemas.openxmlformats.org/officeDocument/2006/relationships" id="267" r:id="R7d306846347d4b4c"/>
    <p:sldId xmlns:r="http://schemas.openxmlformats.org/officeDocument/2006/relationships" id="268" r:id="Rb07308ac539c4975"/>
    <p:sldId xmlns:r="http://schemas.openxmlformats.org/officeDocument/2006/relationships" id="269" r:id="Ra9abefb34b084f94"/>
    <p:sldId xmlns:r="http://schemas.openxmlformats.org/officeDocument/2006/relationships" id="270" r:id="R6c5f4fc13f164dab"/>
    <p:sldId xmlns:r="http://schemas.openxmlformats.org/officeDocument/2006/relationships" id="271" r:id="R02233e3b4f654dd5"/>
    <p:sldId xmlns:r="http://schemas.openxmlformats.org/officeDocument/2006/relationships" id="272" r:id="R408fb75a704d495c"/>
    <p:sldId xmlns:r="http://schemas.openxmlformats.org/officeDocument/2006/relationships" id="273" r:id="R51f34f4e8a804d2e"/>
    <p:sldId xmlns:r="http://schemas.openxmlformats.org/officeDocument/2006/relationships" id="274" r:id="Rb6431c99e4fb4255"/>
    <p:sldId xmlns:r="http://schemas.openxmlformats.org/officeDocument/2006/relationships" id="275" r:id="R40900df2530c41e1"/>
    <p:sldId xmlns:r="http://schemas.openxmlformats.org/officeDocument/2006/relationships" id="276" r:id="R5c18030505894c71"/>
    <p:sldId xmlns:r="http://schemas.openxmlformats.org/officeDocument/2006/relationships" id="277" r:id="R68c5fc8709c24d71"/>
    <p:sldId xmlns:r="http://schemas.openxmlformats.org/officeDocument/2006/relationships" id="278" r:id="Rb18f2b7c2c82475b"/>
    <p:sldId xmlns:r="http://schemas.openxmlformats.org/officeDocument/2006/relationships" id="279" r:id="R915305fac60c4e85"/>
    <p:sldId xmlns:r="http://schemas.openxmlformats.org/officeDocument/2006/relationships" id="280" r:id="R5cfeaf0a53284430"/>
    <p:sldId xmlns:r="http://schemas.openxmlformats.org/officeDocument/2006/relationships" id="281" r:id="R97d99e4b76744b18"/>
    <p:sldId xmlns:r="http://schemas.openxmlformats.org/officeDocument/2006/relationships" id="282" r:id="Rb7e795da36d04532"/>
    <p:sldId xmlns:r="http://schemas.openxmlformats.org/officeDocument/2006/relationships" id="283" r:id="Rc1c813b03cea40e0"/>
    <p:sldId xmlns:r="http://schemas.openxmlformats.org/officeDocument/2006/relationships" id="284" r:id="Rf5500f6de97b4ccf"/>
    <p:sldId xmlns:r="http://schemas.openxmlformats.org/officeDocument/2006/relationships" id="285" r:id="R4c9ca2b125db46f3"/>
    <p:sldId xmlns:r="http://schemas.openxmlformats.org/officeDocument/2006/relationships" id="286" r:id="R87ada78bd41b41ba"/>
    <p:sldId xmlns:r="http://schemas.openxmlformats.org/officeDocument/2006/relationships" id="287" r:id="R5d2eab57aeaf4c7d"/>
    <p:sldId xmlns:r="http://schemas.openxmlformats.org/officeDocument/2006/relationships" id="288" r:id="Rf32f02be0dfe41aa"/>
    <p:sldId xmlns:r="http://schemas.openxmlformats.org/officeDocument/2006/relationships" id="289" r:id="R726054fff9874ade"/>
    <p:sldId xmlns:r="http://schemas.openxmlformats.org/officeDocument/2006/relationships" id="290" r:id="R74b356eafe8f4280"/>
    <p:sldId xmlns:r="http://schemas.openxmlformats.org/officeDocument/2006/relationships" id="291" r:id="Ra59e839357e94bb7"/>
    <p:sldId xmlns:r="http://schemas.openxmlformats.org/officeDocument/2006/relationships" id="292" r:id="R49bccb4365384371"/>
    <p:sldId xmlns:r="http://schemas.openxmlformats.org/officeDocument/2006/relationships" id="293" r:id="Rdb24f6299a284dd8"/>
    <p:sldId xmlns:r="http://schemas.openxmlformats.org/officeDocument/2006/relationships" id="294" r:id="R3f83e6429d4b4b84"/>
    <p:sldId xmlns:r="http://schemas.openxmlformats.org/officeDocument/2006/relationships" id="295" r:id="Rb8434881e6e34e68"/>
    <p:sldId xmlns:r="http://schemas.openxmlformats.org/officeDocument/2006/relationships" id="296" r:id="Rfb7fc90a37a34ce2"/>
    <p:sldId xmlns:r="http://schemas.openxmlformats.org/officeDocument/2006/relationships" id="297" r:id="R1b016ba5320442a2"/>
    <p:sldId xmlns:r="http://schemas.openxmlformats.org/officeDocument/2006/relationships" id="298" r:id="R7ab64a95f16d41b9"/>
    <p:sldId xmlns:r="http://schemas.openxmlformats.org/officeDocument/2006/relationships" id="299" r:id="Raadde323eb914706"/>
    <p:sldId xmlns:r="http://schemas.openxmlformats.org/officeDocument/2006/relationships" id="300" r:id="Rff5d7e64a8e24ba1"/>
    <p:sldId xmlns:r="http://schemas.openxmlformats.org/officeDocument/2006/relationships" id="301" r:id="Rf3c276f5f74e47a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0edc8b7652dd44d2" /><Relationship Type="http://schemas.openxmlformats.org/officeDocument/2006/relationships/theme" Target="/ppt/theme/theme1.xml" Id="R1ce7e25c168f47c4" /><Relationship Type="http://schemas.openxmlformats.org/officeDocument/2006/relationships/notesMaster" Target="/ppt/notesMasters/notesMaster1.xml" Id="R0c195b8936e24c89" /><Relationship Type="http://schemas.openxmlformats.org/officeDocument/2006/relationships/presProps" Target="/ppt/presProps.xml" Id="R8cd79144bffc43d5" /><Relationship Type="http://schemas.openxmlformats.org/officeDocument/2006/relationships/viewProps" Target="/ppt/viewProps.xml" Id="R383d301ff33b4a61" /><Relationship Type="http://schemas.openxmlformats.org/officeDocument/2006/relationships/tableStyles" Target="/ppt/tableStyles.xml" Id="Rf86836711639452c" /><Relationship Type="http://schemas.openxmlformats.org/officeDocument/2006/relationships/slide" Target="/ppt/slides/slide1.xml" Id="Ra1fcb0e080c146c4" /><Relationship Type="http://schemas.openxmlformats.org/officeDocument/2006/relationships/slide" Target="/ppt/slides/slide2.xml" Id="Ree1826303b54494d" /><Relationship Type="http://schemas.openxmlformats.org/officeDocument/2006/relationships/slide" Target="/ppt/slides/slide3.xml" Id="Rae793280220741d0" /><Relationship Type="http://schemas.openxmlformats.org/officeDocument/2006/relationships/slide" Target="/ppt/slides/slide4.xml" Id="Rac1d1ddf1ba44443" /><Relationship Type="http://schemas.openxmlformats.org/officeDocument/2006/relationships/slide" Target="/ppt/slides/slide5.xml" Id="R963f89033c224fe4" /><Relationship Type="http://schemas.openxmlformats.org/officeDocument/2006/relationships/slide" Target="/ppt/slides/slide6.xml" Id="R10cf4f6a84c64036" /><Relationship Type="http://schemas.openxmlformats.org/officeDocument/2006/relationships/slide" Target="/ppt/slides/slide7.xml" Id="R60098b82e2174cf7" /><Relationship Type="http://schemas.openxmlformats.org/officeDocument/2006/relationships/slide" Target="/ppt/slides/slide8.xml" Id="Rda22d66dbc8a4a38" /><Relationship Type="http://schemas.openxmlformats.org/officeDocument/2006/relationships/slide" Target="/ppt/slides/slide9.xml" Id="R2f5bbb0834354eeb" /><Relationship Type="http://schemas.openxmlformats.org/officeDocument/2006/relationships/slide" Target="/ppt/slides/slide10.xml" Id="R4f67283bce204a07" /><Relationship Type="http://schemas.openxmlformats.org/officeDocument/2006/relationships/slide" Target="/ppt/slides/slide11.xml" Id="R0daa4285642440a7" /><Relationship Type="http://schemas.openxmlformats.org/officeDocument/2006/relationships/slide" Target="/ppt/slides/slide12.xml" Id="R7d306846347d4b4c" /><Relationship Type="http://schemas.openxmlformats.org/officeDocument/2006/relationships/slide" Target="/ppt/slides/slide13.xml" Id="Rb07308ac539c4975" /><Relationship Type="http://schemas.openxmlformats.org/officeDocument/2006/relationships/slide" Target="/ppt/slides/slide14.xml" Id="Ra9abefb34b084f94" /><Relationship Type="http://schemas.openxmlformats.org/officeDocument/2006/relationships/slide" Target="/ppt/slides/slide15.xml" Id="R6c5f4fc13f164dab" /><Relationship Type="http://schemas.openxmlformats.org/officeDocument/2006/relationships/slide" Target="/ppt/slides/slide16.xml" Id="R02233e3b4f654dd5" /><Relationship Type="http://schemas.openxmlformats.org/officeDocument/2006/relationships/slide" Target="/ppt/slides/slide17.xml" Id="R408fb75a704d495c" /><Relationship Type="http://schemas.openxmlformats.org/officeDocument/2006/relationships/slide" Target="/ppt/slides/slide18.xml" Id="R51f34f4e8a804d2e" /><Relationship Type="http://schemas.openxmlformats.org/officeDocument/2006/relationships/slide" Target="/ppt/slides/slide19.xml" Id="Rb6431c99e4fb4255" /><Relationship Type="http://schemas.openxmlformats.org/officeDocument/2006/relationships/slide" Target="/ppt/slides/slide20.xml" Id="R40900df2530c41e1" /><Relationship Type="http://schemas.openxmlformats.org/officeDocument/2006/relationships/slide" Target="/ppt/slides/slide21.xml" Id="R5c18030505894c71" /><Relationship Type="http://schemas.openxmlformats.org/officeDocument/2006/relationships/slide" Target="/ppt/slides/slide22.xml" Id="R68c5fc8709c24d71" /><Relationship Type="http://schemas.openxmlformats.org/officeDocument/2006/relationships/slide" Target="/ppt/slides/slide23.xml" Id="Rb18f2b7c2c82475b" /><Relationship Type="http://schemas.openxmlformats.org/officeDocument/2006/relationships/slide" Target="/ppt/slides/slide24.xml" Id="R915305fac60c4e85" /><Relationship Type="http://schemas.openxmlformats.org/officeDocument/2006/relationships/slide" Target="/ppt/slides/slide25.xml" Id="R5cfeaf0a53284430" /><Relationship Type="http://schemas.openxmlformats.org/officeDocument/2006/relationships/slide" Target="/ppt/slides/slide26.xml" Id="R97d99e4b76744b18" /><Relationship Type="http://schemas.openxmlformats.org/officeDocument/2006/relationships/slide" Target="/ppt/slides/slide27.xml" Id="Rb7e795da36d04532" /><Relationship Type="http://schemas.openxmlformats.org/officeDocument/2006/relationships/slide" Target="/ppt/slides/slide28.xml" Id="Rc1c813b03cea40e0" /><Relationship Type="http://schemas.openxmlformats.org/officeDocument/2006/relationships/slide" Target="/ppt/slides/slide29.xml" Id="Rf5500f6de97b4ccf" /><Relationship Type="http://schemas.openxmlformats.org/officeDocument/2006/relationships/slide" Target="/ppt/slides/slide30.xml" Id="R4c9ca2b125db46f3" /><Relationship Type="http://schemas.openxmlformats.org/officeDocument/2006/relationships/slide" Target="/ppt/slides/slide31.xml" Id="R87ada78bd41b41ba" /><Relationship Type="http://schemas.openxmlformats.org/officeDocument/2006/relationships/slide" Target="/ppt/slides/slide32.xml" Id="R5d2eab57aeaf4c7d" /><Relationship Type="http://schemas.openxmlformats.org/officeDocument/2006/relationships/slide" Target="/ppt/slides/slide33.xml" Id="Rf32f02be0dfe41aa" /><Relationship Type="http://schemas.openxmlformats.org/officeDocument/2006/relationships/slide" Target="/ppt/slides/slide34.xml" Id="R726054fff9874ade" /><Relationship Type="http://schemas.openxmlformats.org/officeDocument/2006/relationships/slide" Target="/ppt/slides/slide35.xml" Id="R74b356eafe8f4280" /><Relationship Type="http://schemas.openxmlformats.org/officeDocument/2006/relationships/slide" Target="/ppt/slides/slide36.xml" Id="Ra59e839357e94bb7" /><Relationship Type="http://schemas.openxmlformats.org/officeDocument/2006/relationships/slide" Target="/ppt/slides/slide37.xml" Id="R49bccb4365384371" /><Relationship Type="http://schemas.openxmlformats.org/officeDocument/2006/relationships/slide" Target="/ppt/slides/slide38.xml" Id="Rdb24f6299a284dd8" /><Relationship Type="http://schemas.openxmlformats.org/officeDocument/2006/relationships/slide" Target="/ppt/slides/slide39.xml" Id="R3f83e6429d4b4b84" /><Relationship Type="http://schemas.openxmlformats.org/officeDocument/2006/relationships/slide" Target="/ppt/slides/slide40.xml" Id="Rb8434881e6e34e68" /><Relationship Type="http://schemas.openxmlformats.org/officeDocument/2006/relationships/slide" Target="/ppt/slides/slide41.xml" Id="Rfb7fc90a37a34ce2" /><Relationship Type="http://schemas.openxmlformats.org/officeDocument/2006/relationships/slide" Target="/ppt/slides/slide42.xml" Id="R1b016ba5320442a2" /><Relationship Type="http://schemas.openxmlformats.org/officeDocument/2006/relationships/slide" Target="/ppt/slides/slide43.xml" Id="R7ab64a95f16d41b9" /><Relationship Type="http://schemas.openxmlformats.org/officeDocument/2006/relationships/slide" Target="/ppt/slides/slide44.xml" Id="Raadde323eb914706" /><Relationship Type="http://schemas.openxmlformats.org/officeDocument/2006/relationships/slide" Target="/ppt/slides/slide45.xml" Id="Rff5d7e64a8e24ba1" /><Relationship Type="http://schemas.openxmlformats.org/officeDocument/2006/relationships/slide" Target="/ppt/slides/slide46.xml" Id="Rf3c276f5f74e47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cb99409e3c0c4b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5cc7ddb8eb42d3" /><Relationship Type="http://schemas.openxmlformats.org/officeDocument/2006/relationships/notesMaster" Target="/ppt/notesMasters/notesMaster1.xml" Id="Rf73989e2cf6441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312a57b2f54a81" /><Relationship Type="http://schemas.openxmlformats.org/officeDocument/2006/relationships/notesMaster" Target="/ppt/notesMasters/notesMaster1.xml" Id="Reb6a584e28094c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a2fa1118c84f51" /><Relationship Type="http://schemas.openxmlformats.org/officeDocument/2006/relationships/notesMaster" Target="/ppt/notesMasters/notesMaster1.xml" Id="Rb6fe8ea3016649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f0936ec46c4c65" /><Relationship Type="http://schemas.openxmlformats.org/officeDocument/2006/relationships/notesMaster" Target="/ppt/notesMasters/notesMaster1.xml" Id="Ra0047b149a9b46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01f0be6c794569" /><Relationship Type="http://schemas.openxmlformats.org/officeDocument/2006/relationships/notesMaster" Target="/ppt/notesMasters/notesMaster1.xml" Id="R4e13d6d4077344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bfaa4652e14522" /><Relationship Type="http://schemas.openxmlformats.org/officeDocument/2006/relationships/notesMaster" Target="/ppt/notesMasters/notesMaster1.xml" Id="Rafd7c28eedc147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c6ce2791444987" /><Relationship Type="http://schemas.openxmlformats.org/officeDocument/2006/relationships/notesMaster" Target="/ppt/notesMasters/notesMaster1.xml" Id="R358466ad629f41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47306336f24da4" /><Relationship Type="http://schemas.openxmlformats.org/officeDocument/2006/relationships/notesMaster" Target="/ppt/notesMasters/notesMaster1.xml" Id="R1d1d34b1eea94d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04d24ba7844e89" /><Relationship Type="http://schemas.openxmlformats.org/officeDocument/2006/relationships/notesMaster" Target="/ppt/notesMasters/notesMaster1.xml" Id="Rff9da85680be44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bdc28cb0ce4cec" /><Relationship Type="http://schemas.openxmlformats.org/officeDocument/2006/relationships/notesMaster" Target="/ppt/notesMasters/notesMaster1.xml" Id="Rf361c4527a9b4d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da1b0e75074f76" /><Relationship Type="http://schemas.openxmlformats.org/officeDocument/2006/relationships/notesMaster" Target="/ppt/notesMasters/notesMaster1.xml" Id="Rbd4d2a8f145147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324a69fb264345" /><Relationship Type="http://schemas.openxmlformats.org/officeDocument/2006/relationships/notesMaster" Target="/ppt/notesMasters/notesMaster1.xml" Id="Rf85f7a6af42a4c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f15fc5162945f3" /><Relationship Type="http://schemas.openxmlformats.org/officeDocument/2006/relationships/notesMaster" Target="/ppt/notesMasters/notesMaster1.xml" Id="R0aafe86bc6814bc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b0815b0dfc24804" /><Relationship Type="http://schemas.openxmlformats.org/officeDocument/2006/relationships/notesMaster" Target="/ppt/notesMasters/notesMaster1.xml" Id="Rd6a979706c6d4e6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1f00e6429f04876" /><Relationship Type="http://schemas.openxmlformats.org/officeDocument/2006/relationships/notesMaster" Target="/ppt/notesMasters/notesMaster1.xml" Id="R8eac6b6e6a4a43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b1c5eff3bd4071" /><Relationship Type="http://schemas.openxmlformats.org/officeDocument/2006/relationships/notesMaster" Target="/ppt/notesMasters/notesMaster1.xml" Id="Rfd10bb1371954c8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ad0190aa0724c00" /><Relationship Type="http://schemas.openxmlformats.org/officeDocument/2006/relationships/notesMaster" Target="/ppt/notesMasters/notesMaster1.xml" Id="R1798789e309e45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df96cf46f374ee4" /><Relationship Type="http://schemas.openxmlformats.org/officeDocument/2006/relationships/notesMaster" Target="/ppt/notesMasters/notesMaster1.xml" Id="R5ab01188835b432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3546251c5a44e0" /><Relationship Type="http://schemas.openxmlformats.org/officeDocument/2006/relationships/notesMaster" Target="/ppt/notesMasters/notesMaster1.xml" Id="R0eff8d9f65a3404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48496bc1672442e" /><Relationship Type="http://schemas.openxmlformats.org/officeDocument/2006/relationships/notesMaster" Target="/ppt/notesMasters/notesMaster1.xml" Id="Re297f4d02008440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54b65a9a8424180" /><Relationship Type="http://schemas.openxmlformats.org/officeDocument/2006/relationships/notesMaster" Target="/ppt/notesMasters/notesMaster1.xml" Id="Rcf03c9e556e042e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ddc477f000e4ed0" /><Relationship Type="http://schemas.openxmlformats.org/officeDocument/2006/relationships/notesMaster" Target="/ppt/notesMasters/notesMaster1.xml" Id="R0bc98de376bd4ed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efd8bf55eb54b48" /><Relationship Type="http://schemas.openxmlformats.org/officeDocument/2006/relationships/notesMaster" Target="/ppt/notesMasters/notesMaster1.xml" Id="Rcb41c14697f543e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6eb628c08314288" /><Relationship Type="http://schemas.openxmlformats.org/officeDocument/2006/relationships/notesMaster" Target="/ppt/notesMasters/notesMaster1.xml" Id="R71ea8c3a34804a9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4f4dcfc21da49d5" /><Relationship Type="http://schemas.openxmlformats.org/officeDocument/2006/relationships/notesMaster" Target="/ppt/notesMasters/notesMaster1.xml" Id="R734d0f4d2cef41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64dd51f3acc4792" /><Relationship Type="http://schemas.openxmlformats.org/officeDocument/2006/relationships/notesMaster" Target="/ppt/notesMasters/notesMaster1.xml" Id="R43f0c27b5016468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d6fba007cfd4642" /><Relationship Type="http://schemas.openxmlformats.org/officeDocument/2006/relationships/notesMaster" Target="/ppt/notesMasters/notesMaster1.xml" Id="R392a720d59a44f6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8b7b5023f1b49a8" /><Relationship Type="http://schemas.openxmlformats.org/officeDocument/2006/relationships/notesMaster" Target="/ppt/notesMasters/notesMaster1.xml" Id="Ra7f8fe7004b04a9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a4ccc4562f345ca" /><Relationship Type="http://schemas.openxmlformats.org/officeDocument/2006/relationships/notesMaster" Target="/ppt/notesMasters/notesMaster1.xml" Id="Rfb1383dd577842d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c32924d67e34980" /><Relationship Type="http://schemas.openxmlformats.org/officeDocument/2006/relationships/notesMaster" Target="/ppt/notesMasters/notesMaster1.xml" Id="R44993753d1fa494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b4cabe9b3df40f0" /><Relationship Type="http://schemas.openxmlformats.org/officeDocument/2006/relationships/notesMaster" Target="/ppt/notesMasters/notesMaster1.xml" Id="Rcd7576e5119e4a9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bf9618aa9e54247" /><Relationship Type="http://schemas.openxmlformats.org/officeDocument/2006/relationships/notesMaster" Target="/ppt/notesMasters/notesMaster1.xml" Id="Rb486661a36654a6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bdfd6fe46c7445c" /><Relationship Type="http://schemas.openxmlformats.org/officeDocument/2006/relationships/notesMaster" Target="/ppt/notesMasters/notesMaster1.xml" Id="Rb2872f80643f4b8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ad96217f90e4ef3" /><Relationship Type="http://schemas.openxmlformats.org/officeDocument/2006/relationships/notesMaster" Target="/ppt/notesMasters/notesMaster1.xml" Id="R4209156e422445d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b478c643c3948b3" /><Relationship Type="http://schemas.openxmlformats.org/officeDocument/2006/relationships/notesMaster" Target="/ppt/notesMasters/notesMaster1.xml" Id="R694ee9d0d5bf484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5cb033ef30e4659" /><Relationship Type="http://schemas.openxmlformats.org/officeDocument/2006/relationships/notesMaster" Target="/ppt/notesMasters/notesMaster1.xml" Id="R519b5e5390f6492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b2d6460f546442a" /><Relationship Type="http://schemas.openxmlformats.org/officeDocument/2006/relationships/notesMaster" Target="/ppt/notesMasters/notesMaster1.xml" Id="R638a1517947f457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8baab87169b448e" /><Relationship Type="http://schemas.openxmlformats.org/officeDocument/2006/relationships/notesMaster" Target="/ppt/notesMasters/notesMaster1.xml" Id="R742599ef6ca9411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2d73f6d2a674896" /><Relationship Type="http://schemas.openxmlformats.org/officeDocument/2006/relationships/notesMaster" Target="/ppt/notesMasters/notesMaster1.xml" Id="R973066bc47374b9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3ed719a03ea4dd0" /><Relationship Type="http://schemas.openxmlformats.org/officeDocument/2006/relationships/notesMaster" Target="/ppt/notesMasters/notesMaster1.xml" Id="R7ae0782fc025478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5d280bd69114f49" /><Relationship Type="http://schemas.openxmlformats.org/officeDocument/2006/relationships/notesMaster" Target="/ppt/notesMasters/notesMaster1.xml" Id="R75b8cca191bc4de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46d278e4f3b47fb" /><Relationship Type="http://schemas.openxmlformats.org/officeDocument/2006/relationships/notesMaster" Target="/ppt/notesMasters/notesMaster1.xml" Id="Re2190645f9b348b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dcaaf69655f4dae" /><Relationship Type="http://schemas.openxmlformats.org/officeDocument/2006/relationships/notesMaster" Target="/ppt/notesMasters/notesMaster1.xml" Id="R59a66cd82b11484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9c66474d6554084" /><Relationship Type="http://schemas.openxmlformats.org/officeDocument/2006/relationships/notesMaster" Target="/ppt/notesMasters/notesMaster1.xml" Id="Rf2f8eee654ec49e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21bb57cd3654c05" /><Relationship Type="http://schemas.openxmlformats.org/officeDocument/2006/relationships/notesMaster" Target="/ppt/notesMasters/notesMaster1.xml" Id="R39e98539ed4749c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749d8b0ebd442cc" /><Relationship Type="http://schemas.openxmlformats.org/officeDocument/2006/relationships/notesMaster" Target="/ppt/notesMasters/notesMaster1.xml" Id="R139d0b5464b24b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スライド1「Azure VM をつかった Web サーバ構築」。本文の粒度は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スライド2「今日のゴール」。本文の粒度は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スライド3「前回の振り返り」。本文の粒度は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スライド4「いきなり3層すべてを作らない理由」。本文の粒度は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スライド5「Azure IaaS とは何か」。本文の粒度は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スライド6「Azure VM の全体像」。本文の粒度は HTML に合わせる。</a:t>
            </a:r>
          </a:p>
          <a:p xmlns:a="http://schemas.openxmlformats.org/drawingml/2006/main">
            <a:r>
              <a:t>講師メモ: VM、Disk、NIC、VNet、Public IP、NSG の関係を構成図に戻して説明する。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スライド7「OS イメージとサイズ」。本文の粒度は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スライド8「Managed Disk」。本文の粒度は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スライド9「NIC と IP アドレス」。本文の粒度は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スライド10「VNet とサブネット」。本文の粒度は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スライド11「NSG」。本文の粒度は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スライド12「Route Table/UDR」。本文の粒度は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スライド13「今日作るアーキテクチャ」。本文の粒度は HTML に合わせる。</a:t>
            </a:r>
          </a:p>
          <a:p xmlns:a="http://schemas.openxmlformats.org/drawingml/2006/main">
            <a:r>
              <a:t>講師メモ: VM、Disk、NIC、VNet、Public IP、NSG の関係を構成図に戻して説明する。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スライド14「ハンズオンで使う値」。本文の粒度は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スライド15「ハンズオンの流れ」。本文の粒度は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スライド16「Azure Portal にサインイン」。本文の粒度は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スライド17「リソースグループを作成する」。本文の粒度は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スライド18「リソースグループ作成を確認する」。本文の粒度は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スライド19「VM 作成を開始する」。本文の粒度は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スライド20「VM の基本情報を入力する」。本文の粒度は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スライド21「管理者アカウントを指定する」。本文の粒度は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スライド22「HTTP アクセスを許可する」。本文の粒度は HTML に合わせる。</a:t>
            </a:r>
          </a:p>
          <a:p xmlns:a="http://schemas.openxmlformats.org/drawingml/2006/main">
            <a:r>
              <a:t>操作メモ: スクリーンショットの順序を崩さず、Portal の実画面確認として扱う。マスク済み情報は推測しない。</a:t>
            </a:r>
          </a:p>
          <a:p xmlns:a="http://schemas.openxmlformats.org/drawingml/2006/main">
            <a:r>
              <a:t>トラブル時: VM 状態、Public IP、HTTP、NSG、cloud-init の順で確認する。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スライド23「ディスク設定を確認する」。本文の粒度は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スライド24「ネットワーク設定を確認する」。本文の粒度は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スライド25「カスタムデータを設定する」。本文の粒度は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スライド26「タグを設定する」。本文の粒度は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スライド27「内容を確認して作成する」。本文の粒度は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スライド28「デプロイ完了を待つ」。本文の粒度は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スライド29「VM の Overview を確認する」。本文の粒度は HTML に合わせる。</a:t>
            </a:r>
          </a:p>
          <a:p xmlns:a="http://schemas.openxmlformats.org/drawingml/2006/main">
            <a:r>
              <a:t>操作メモ: スクリーンショットの順序を崩さず、Portal の実画面確認として扱う。マスク済み情報は推測しない。</a:t>
            </a:r>
          </a:p>
          <a:p xmlns:a="http://schemas.openxmlformats.org/drawingml/2006/main">
            <a:r>
              <a:t>トラブル時: VM 状態、Public IP、HTTP、NSG、cloud-init の順で確認する。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スライド30「作成された関連リソースを見る」。本文の粒度は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スライド31「ブラウザーでアクセスする」。本文の粒度は HTML に合わせる。</a:t>
            </a:r>
          </a:p>
          <a:p xmlns:a="http://schemas.openxmlformats.org/drawingml/2006/main">
            <a:r>
              <a:t>操作メモ: スクリーンショットの順序を崩さず、Portal の実画面確認として扱う。マスク済み情報は推測しない。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スライド32「表示されないときの見方」。本文の粒度は HTML に合わせる。</a:t>
            </a:r>
          </a:p>
          <a:p xmlns:a="http://schemas.openxmlformats.org/drawingml/2006/main">
            <a:r>
              <a:t>トラブル時: VM 状態、Public IP、HTTP、NSG、cloud-init の順で確認する。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スライド33「NSG の受信ルールを確認する」。本文の粒度は HTML に合わせる。</a:t>
            </a:r>
          </a:p>
          <a:p xmlns:a="http://schemas.openxmlformats.org/drawingml/2006/main">
            <a:r>
              <a:t>トラブル時: VM 状態、Public IP、HTTP、NSG、cloud-init の順で確認する。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スライド34「カスタムデータが失敗した場合」。本文の粒度は HTML に合わせる。</a:t>
            </a:r>
          </a:p>
          <a:p xmlns:a="http://schemas.openxmlformats.org/drawingml/2006/main">
            <a:r>
              <a:t>トラブル時: VM 状態、Public IP、HTTP、NSG、cloud-init の順で確認する。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スライド35「構築した構成を振り返る」。本文の粒度は HTML に合わせる。</a:t>
            </a:r>
          </a:p>
          <a:p xmlns:a="http://schemas.openxmlformats.org/drawingml/2006/main">
            <a:r>
              <a:t>講師メモ: VM、Disk、NIC、VNet、Public IP、NSG の関係を構成図に戻して説明する。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スライド36「第2回の Web 層との関係」。本文の粒度は HTML に合わせる。</a:t>
            </a:r>
          </a:p>
          <a:p xmlns:a="http://schemas.openxmlformats.org/drawingml/2006/main">
            <a:r>
              <a:t>講師メモ: VM、Disk、NIC、VNet、Public IP、NSG の関係を構成図に戻して説明する。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スライド37「コストが発生する場所」。本文の粒度は HTML に合わせる。</a:t>
            </a:r>
          </a:p>
          <a:p xmlns:a="http://schemas.openxmlformats.org/drawingml/2006/main">
            <a:r>
              <a:t>重要: VM 停止ではなく、受講者ごとのリソースグループ削除までを完了条件にする。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スライド38「リソースグループを削除する」。本文の粒度は HTML に合わせる。</a:t>
            </a:r>
          </a:p>
          <a:p xmlns:a="http://schemas.openxmlformats.org/drawingml/2006/main">
            <a:r>
              <a:t>重要: VM 停止ではなく、受講者ごとのリソースグループ削除までを完了条件にする。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スライド39「削除完了を確認する」。本文の粒度は HTML に合わせる。</a:t>
            </a:r>
          </a:p>
          <a:p xmlns:a="http://schemas.openxmlformats.org/drawingml/2006/main">
            <a:r>
              <a:t>重要: VM 停止ではなく、受講者ごとのリソースグループ削除までを完了条件にする。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スライド40「早く終えた人向け」。本文の粒度は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スライド41「よくある失敗」。本文の粒度は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スライド42「復旧できない場合」。本文の粒度は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スライド43「今日のまとめ」。本文の粒度は HTML に合わせる。</a:t>
            </a:r>
          </a:p>
          <a:p xmlns:a="http://schemas.openxmlformats.org/drawingml/2006/main">
            <a:r>
              <a:t>重要: VM 停止ではなく、受講者ごとのリソースグループ削除までを完了条件にする。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スライド44「確認クイズ」。本文の粒度は HTML に合わせる。</a:t>
            </a:r>
          </a:p>
          <a:p xmlns:a="http://schemas.openxmlformats.org/drawingml/2006/main">
            <a:r>
              <a:t>確認クイズ: 正解だけでなく、なぜそのリソースが必要なのかを受講者の言葉で説明してもらう。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スライド45「次回予告」。本文の粒度は HTML に合わせる。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HTML一次情報: スライド46「QA」。本文の粒度は HTML に合わせる。</a:t>
            </a:r>
          </a:p>
          <a:p xmlns:a="http://schemas.openxmlformats.org/drawingml/2006/main">
            <a:r>
              <a:t>重要: VM 停止ではなく、受講者ごとのリソースグループ削除までを完了条件にする。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b589be04d14a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83b2eae57348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289c3521a2244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bbb464bdc74f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686e4f3553464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f9f338decdd4934" /></Relationships>
</file>

<file path=ppt/slideLayouts/slideLayout2.xml><?xml version="1.0" encoding="utf-8"?>
<p:sldLayout xmlns:p="http://schemas.openxmlformats.org/presentationml/2006/main">
  <p:cSld name="標準スライドマスター">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D1A50C14-2547-473E-A140-357F715AE48C}"/>
              </a:ext>
            </a:extLst>
          </p:cNvPr>
          <p:cNvSpPr/>
          <p:nvPr>
            <p:ph type="title" idx="0"/>
          </p:nvPr>
        </p:nvSpPr>
        <p:spPr>
          <a:xfrm xmlns:a="http://schemas.openxmlformats.org/drawingml/2006/main">
            <a:off x="838200" y="365125"/>
            <a:ext cx="10515600" cy="549275"/>
          </a:xfrm>
        </p:spPr>
        <p:txBody>
          <a:bodyPr xmlns:a="http://schemas.openxmlformats.org/drawingml/2006/main">
            <a:normAutofit/>
          </a:bodyPr>
          <a:lstStyle xmlns:a="http://schemas.openxmlformats.org/drawingml/2006/main">
            <a:lvl1pPr>
              <a:buNone/>
              <a:defRPr sz="2400" b="1">
                <a:latin typeface="Yu Gothic UI"/>
                <a:ea typeface="Yu Gothic UI"/>
                <a:cs typeface="Yu Gothic UI"/>
              </a:defRPr>
            </a:lvl1pPr>
          </a:lstStyle>
          <a:p xmlns:a="http://schemas.openxmlformats.org/drawingml/2006/main"/>
        </p:txBody>
      </p:sp>
      <p:sp>
        <p:nvSpPr>
          <p:cNvPr id="3" name="コンテンツ プレースホルダー 2">
            <a:extLst xmlns:a="http://schemas.openxmlformats.org/drawingml/2006/main">
              <a:ext uri="{FF2B5EF4-FFF2-40B4-BE49-F238E27FC236}">
                <a16:creationId xmlns:a16="http://schemas.microsoft.com/office/drawing/2014/main" id="{1F03BF41-DF74-4F68-832D-3D1CD1DE9B4A}"/>
              </a:ext>
            </a:extLst>
          </p:cNvPr>
          <p:cNvSpPr/>
          <p:nvPr>
            <p:ph idx="1"/>
          </p:nvPr>
        </p:nvSpPr>
        <p:spPr>
          <a:xfrm xmlns:a="http://schemas.openxmlformats.org/drawingml/2006/main">
            <a:off x="838200" y="1162974"/>
            <a:ext cx="10515600" cy="4907625"/>
          </a:xfrm>
        </p:spPr>
        <p:txBody>
          <a:bodyPr xmlns:a="http://schemas.openxmlformats.org/drawingml/2006/main">
            <a:normAutofit/>
          </a:bodyPr>
          <a:lstStyle xmlns:a="http://schemas.openxmlformats.org/drawingml/2006/main">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xmlns:a="http://schemas.openxmlformats.org/drawingml/2006/main"/>
        </p:txBody>
      </p:sp>
      <p:sp>
        <p:nvSpPr>
          <p:cNvPr id="4" name="日付プレースホルダー 3">
            <a:extLst xmlns:a="http://schemas.openxmlformats.org/drawingml/2006/main">
              <a:ext uri="{FF2B5EF4-FFF2-40B4-BE49-F238E27FC236}">
                <a16:creationId xmlns:a16="http://schemas.microsoft.com/office/drawing/2014/main" id="{571E96A7-B217-484F-83E2-7FE34696D7B8}"/>
              </a:ext>
            </a:extLst>
          </p:cNvPr>
          <p:cNvSpPr/>
          <p:nvPr>
            <p:ph type="dt" idx="10"/>
          </p:nvPr>
        </p:nvSpPr>
        <p:spPr>
          <a:xfrm xmlns:a="http://schemas.openxmlformats.org/drawingml/2006/main">
            <a:off x="8610600" y="6356348"/>
            <a:ext cx="2743200" cy="365125"/>
          </a:xfrm>
        </p:spPr>
        <p:txBody>
          <a:bodyPr xmlns:a="http://schemas.openxmlformats.org/drawingml/2006/main"/>
          <a:lstStyle xmlns:a="http://schemas.openxmlformats.org/drawingml/2006/main">
            <a:lvl1pPr algn="r">
              <a:buNone/>
              <a:defRPr/>
            </a:lvl1pPr>
          </a:lstStyle>
          <a:p xmlns:a="http://schemas.openxmlformats.org/drawingml/2006/main"/>
        </p:txBody>
      </p:sp>
      <p:sp>
        <p:nvSpPr>
          <p:cNvPr id="5" name="フッター プレースホルダー 4">
            <a:extLst xmlns:a="http://schemas.openxmlformats.org/drawingml/2006/main">
              <a:ext uri="{FF2B5EF4-FFF2-40B4-BE49-F238E27FC236}">
                <a16:creationId xmlns:a16="http://schemas.microsoft.com/office/drawing/2014/main" id="{77737D5D-4FB4-4DA9-9780-D7405A06C353}"/>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B576B126-3647-4E8A-BFBE-BD046B834E99}"/>
              </a:ext>
            </a:extLst>
          </p:cNvPr>
          <p:cNvSpPr/>
          <p:nvPr>
            <p:ph type="sldNum" idx="12"/>
          </p:nvPr>
        </p:nvSpPr>
        <p:spPr>
          <a:xfrm xmlns:a="http://schemas.openxmlformats.org/drawingml/2006/main">
            <a:off x="838200" y="6356349"/>
            <a:ext cx="2743200" cy="365125"/>
          </a:xfrm>
        </p:spPr>
        <p:txBody>
          <a:bodyPr xmlns:a="http://schemas.openxmlformats.org/drawingml/2006/main"/>
          <a:lstStyle xmlns:a="http://schemas.openxmlformats.org/drawingml/2006/main">
            <a:lvl1pPr algn="l">
              <a:buNone/>
              <a:defRPr/>
            </a:lvl1pPr>
          </a:lstStyle>
          <a:p xmlns:a="http://schemas.openxmlformats.org/drawingml/2006/main"/>
        </p:txBody>
      </p:sp>
    </p:spTree>
  </p:cSld>
</p:sldLayout>
</file>

<file path=ppt/slideLayouts/slideLayout3.xml><?xml version="1.0" encoding="utf-8"?>
<p:sldLayout xmlns:p="http://schemas.openxmlformats.org/presentationml/2006/main">
  <p:cSld name="スライド表紙">
    <p:spTree>
      <p:nvGrpSpPr>
        <p:cNvPr id="1" name=""/>
        <p:cNvGrpSpPr/>
        <p:nvPr/>
      </p:nvGrpSpPr>
      <p:grpSpPr>
        <a:xfrm xmlns:a="http://schemas.openxmlformats.org/drawingml/2006/main"/>
      </p:grpSpPr>
      <p:sp>
        <p:nvSpPr>
          <p:cNvPr id="3" name="タイトル 1">
            <a:extLst xmlns:a="http://schemas.openxmlformats.org/drawingml/2006/main">
              <a:ext uri="{FF2B5EF4-FFF2-40B4-BE49-F238E27FC236}">
                <a16:creationId xmlns:a16="http://schemas.microsoft.com/office/drawing/2014/main" id="{AA04A7EC-51A4-2CCD-C19C-6471CA721861}"/>
              </a:ext>
            </a:extLst>
          </p:cNvPr>
          <p:cNvSpPr/>
          <p:nvPr>
            <p:ph type="ctrTitle" idx="0"/>
          </p:nvPr>
        </p:nvSpPr>
        <p:spPr>
          <a:xfrm xmlns:a="http://schemas.openxmlformats.org/drawingml/2006/main">
            <a:off x="1524000" y="1122363"/>
            <a:ext cx="9144000" cy="2387600"/>
          </a:xfrm>
        </p:spPr>
        <p:txBody>
          <a:bodyPr xmlns:a="http://schemas.openxmlformats.org/drawingml/2006/main" anchor="b">
            <a:normAutofit/>
          </a:bodyPr>
          <a:lstStyle xmlns:a="http://schemas.openxmlformats.org/drawingml/2006/main">
            <a:lvl1pPr algn="ctr">
              <a:buNone/>
              <a:defRPr sz="4000"/>
            </a:lvl1pPr>
          </a:lstStyle>
          <a:p xmlns:a="http://schemas.openxmlformats.org/drawingml/2006/main"/>
        </p:txBody>
      </p:sp>
      <p:sp>
        <p:nvSpPr>
          <p:cNvPr id="4" name="字幕 2">
            <a:extLst xmlns:a="http://schemas.openxmlformats.org/drawingml/2006/main">
              <a:ext uri="{FF2B5EF4-FFF2-40B4-BE49-F238E27FC236}">
                <a16:creationId xmlns:a16="http://schemas.microsoft.com/office/drawing/2014/main" id="{6FAFA8D3-BD7F-63F6-E03A-E4C1097B0C91}"/>
              </a:ext>
            </a:extLst>
          </p:cNvPr>
          <p:cNvSpPr/>
          <p:nvPr>
            <p:ph type="subTitle" idx="1"/>
          </p:nvPr>
        </p:nvSpPr>
        <p:spPr>
          <a:xfrm xmlns:a="http://schemas.openxmlformats.org/drawingml/2006/main">
            <a:off x="1524000" y="3602038"/>
            <a:ext cx="9144000" cy="863362"/>
          </a:xfrm>
        </p:spPr>
        <p:txBody>
          <a:bodyPr xmlns:a="http://schemas.openxmlformats.org/drawingml/2006/main"/>
          <a:lstStyle xmlns:a="http://schemas.openxmlformats.org/drawingml/2006/main">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9" name="テキスト プレースホルダー 8">
            <a:extLst xmlns:a="http://schemas.openxmlformats.org/drawingml/2006/main">
              <a:ext uri="{FF2B5EF4-FFF2-40B4-BE49-F238E27FC236}">
                <a16:creationId xmlns:a16="http://schemas.microsoft.com/office/drawing/2014/main" id="{CFB302AD-8C05-763D-CA33-038DD291D42B}"/>
              </a:ext>
            </a:extLst>
          </p:cNvPr>
          <p:cNvSpPr/>
          <p:nvPr>
            <p:ph type="body" idx="10"/>
          </p:nvPr>
        </p:nvSpPr>
        <p:spPr>
          <a:xfrm xmlns:a="http://schemas.openxmlformats.org/drawingml/2006/main">
            <a:off x="577356" y="5155452"/>
            <a:ext cx="5184775" cy="1221390"/>
          </a:xfrm>
        </p:spPr>
        <p:txBody>
          <a:bodyPr xmlns:a="http://schemas.openxmlformats.org/drawingml/2006/main"/>
          <a:lstStyle xmlns:a="http://schemas.openxmlformats.org/drawingml/2006/main">
            <a:lvl1pPr>
              <a:spcBef>
                <a:spcPts val="400"/>
              </a:spcBef>
              <a:buNone/>
              <a:defRPr sz="2400"/>
            </a:lvl1pPr>
          </a:lstStyle>
          <a:p xmlns:a="http://schemas.openxmlformats.org/drawingml/2006/main"/>
        </p:txBody>
      </p:sp>
      <p:sp>
        <p:nvSpPr>
          <p:cNvPr id="12" name="テキスト プレースホルダー 11">
            <a:extLst xmlns:a="http://schemas.openxmlformats.org/drawingml/2006/main">
              <a:ext uri="{FF2B5EF4-FFF2-40B4-BE49-F238E27FC236}">
                <a16:creationId xmlns:a16="http://schemas.microsoft.com/office/drawing/2014/main" id="{C5F34568-844A-6D62-99C6-A28EF2F3CC14}"/>
              </a:ext>
            </a:extLst>
          </p:cNvPr>
          <p:cNvSpPr/>
          <p:nvPr>
            <p:ph type="body" idx="11"/>
          </p:nvPr>
        </p:nvSpPr>
        <p:spPr>
          <a:xfrm xmlns:a="http://schemas.openxmlformats.org/drawingml/2006/main">
            <a:off x="9282113" y="5919642"/>
            <a:ext cx="2572430" cy="457200"/>
          </a:xfrm>
        </p:spPr>
        <p:txBody>
          <a:bodyPr xmlns:a="http://schemas.openxmlformats.org/drawingml/2006/main">
            <a:noAutofit/>
          </a:bodyPr>
          <a:lstStyle xmlns:a="http://schemas.openxmlformats.org/drawingml/2006/main">
            <a:lvl1pPr algn="r">
              <a:buNone/>
              <a:defRPr sz="2400"/>
            </a:lvl1pPr>
          </a:lstStyle>
          <a:p xmlns:a="http://schemas.openxmlformats.org/drawingml/2006/main"/>
        </p:txBody>
      </p:sp>
    </p:spTree>
  </p:cSld>
</p:sldLayout>
</file>

<file path=ppt/slideLayouts/slideLayout4.xml><?xml version="1.0" encoding="utf-8"?>
<p:sldLayout xmlns:p="http://schemas.openxmlformats.org/presentationml/2006/main">
  <p:cSld name="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D1A50C14-2547-473E-A140-357F715AE48C}"/>
              </a:ext>
            </a:extLst>
          </p:cNvPr>
          <p:cNvSpPr/>
          <p:nvPr>
            <p:ph type="title" idx="0"/>
          </p:nvPr>
        </p:nvSpPr>
        <p:spPr>
          <a:xfrm xmlns:a="http://schemas.openxmlformats.org/drawingml/2006/main">
            <a:off x="838200" y="365125"/>
            <a:ext cx="10515600" cy="549275"/>
          </a:xfrm>
        </p:spPr>
        <p:txBody>
          <a:bodyPr xmlns:a="http://schemas.openxmlformats.org/drawingml/2006/main">
            <a:normAutofit/>
          </a:bodyPr>
          <a:lstStyle xmlns:a="http://schemas.openxmlformats.org/drawingml/2006/main">
            <a:lvl1pPr>
              <a:buNone/>
              <a:defRPr sz="2400" b="1">
                <a:latin typeface="Yu Gothic UI"/>
                <a:ea typeface="Yu Gothic UI"/>
                <a:cs typeface="Yu Gothic UI"/>
              </a:defRPr>
            </a:lvl1pPr>
          </a:lstStyle>
          <a:p xmlns:a="http://schemas.openxmlformats.org/drawingml/2006/main"/>
        </p:txBody>
      </p:sp>
      <p:sp>
        <p:nvSpPr>
          <p:cNvPr id="3" name="コンテンツ プレースホルダー 2">
            <a:extLst xmlns:a="http://schemas.openxmlformats.org/drawingml/2006/main">
              <a:ext uri="{FF2B5EF4-FFF2-40B4-BE49-F238E27FC236}">
                <a16:creationId xmlns:a16="http://schemas.microsoft.com/office/drawing/2014/main" id="{1F03BF41-DF74-4F68-832D-3D1CD1DE9B4A}"/>
              </a:ext>
            </a:extLst>
          </p:cNvPr>
          <p:cNvSpPr/>
          <p:nvPr>
            <p:ph idx="1"/>
          </p:nvPr>
        </p:nvSpPr>
        <p:spPr>
          <a:xfrm xmlns:a="http://schemas.openxmlformats.org/drawingml/2006/main">
            <a:off x="838200" y="1162974"/>
            <a:ext cx="10515600" cy="1173825"/>
          </a:xfrm>
        </p:spPr>
        <p:txBody>
          <a:bodyPr xmlns:a="http://schemas.openxmlformats.org/drawingml/2006/main">
            <a:noAutofit/>
          </a:bodyPr>
          <a:lstStyle xmlns:a="http://schemas.openxmlformats.org/drawingml/2006/main">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xmlns:a="http://schemas.openxmlformats.org/drawingml/2006/main"/>
        </p:txBody>
      </p:sp>
      <p:sp>
        <p:nvSpPr>
          <p:cNvPr id="4" name="日付プレースホルダー 3">
            <a:extLst xmlns:a="http://schemas.openxmlformats.org/drawingml/2006/main">
              <a:ext uri="{FF2B5EF4-FFF2-40B4-BE49-F238E27FC236}">
                <a16:creationId xmlns:a16="http://schemas.microsoft.com/office/drawing/2014/main" id="{571E96A7-B217-484F-83E2-7FE34696D7B8}"/>
              </a:ext>
            </a:extLst>
          </p:cNvPr>
          <p:cNvSpPr/>
          <p:nvPr>
            <p:ph type="dt" idx="10"/>
          </p:nvPr>
        </p:nvSpPr>
        <p:spPr>
          <a:xfrm xmlns:a="http://schemas.openxmlformats.org/drawingml/2006/main">
            <a:off x="8610600" y="6356348"/>
            <a:ext cx="2743200" cy="365125"/>
          </a:xfrm>
        </p:spPr>
        <p:txBody>
          <a:bodyPr xmlns:a="http://schemas.openxmlformats.org/drawingml/2006/main"/>
          <a:lstStyle xmlns:a="http://schemas.openxmlformats.org/drawingml/2006/main">
            <a:lvl1pPr algn="r">
              <a:buNone/>
              <a:defRPr/>
            </a:lvl1pPr>
          </a:lstStyle>
          <a:p xmlns:a="http://schemas.openxmlformats.org/drawingml/2006/main"/>
        </p:txBody>
      </p:sp>
      <p:sp>
        <p:nvSpPr>
          <p:cNvPr id="5" name="フッター プレースホルダー 4">
            <a:extLst xmlns:a="http://schemas.openxmlformats.org/drawingml/2006/main">
              <a:ext uri="{FF2B5EF4-FFF2-40B4-BE49-F238E27FC236}">
                <a16:creationId xmlns:a16="http://schemas.microsoft.com/office/drawing/2014/main" id="{77737D5D-4FB4-4DA9-9780-D7405A06C353}"/>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B576B126-3647-4E8A-BFBE-BD046B834E99}"/>
              </a:ext>
            </a:extLst>
          </p:cNvPr>
          <p:cNvSpPr/>
          <p:nvPr>
            <p:ph type="sldNum" idx="12"/>
          </p:nvPr>
        </p:nvSpPr>
        <p:spPr>
          <a:xfrm xmlns:a="http://schemas.openxmlformats.org/drawingml/2006/main">
            <a:off x="838200" y="6356349"/>
            <a:ext cx="2743200" cy="365125"/>
          </a:xfrm>
        </p:spPr>
        <p:txBody>
          <a:bodyPr xmlns:a="http://schemas.openxmlformats.org/drawingml/2006/main"/>
          <a:lstStyle xmlns:a="http://schemas.openxmlformats.org/drawingml/2006/main">
            <a:lvl1pPr algn="l">
              <a:buNone/>
              <a:defRPr/>
            </a:lvl1pPr>
          </a:lstStyle>
          <a:p xmlns:a="http://schemas.openxmlformats.org/drawingml/2006/main"/>
        </p:txBody>
      </p:sp>
    </p:spTree>
  </p:cSld>
</p:sldLayout>
</file>

<file path=ppt/slideLayouts/slideLayout5.xml><?xml version="1.0" encoding="utf-8"?>
<p:sldLayout xmlns:p="http://schemas.openxmlformats.org/presentationml/2006/main">
  <p:cSld name="エンドクレジット">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セクションタイトル">
    <p:spTree>
      <p:nvGrpSpPr>
        <p:cNvPr id="1" name=""/>
        <p:cNvGrpSpPr/>
        <p:nvPr/>
      </p:nvGrpSpPr>
      <p:grpSpPr>
        <a:xfrm xmlns:a="http://schemas.openxmlformats.org/drawingml/2006/main"/>
      </p:grpSpPr>
      <p:sp>
        <p:nvSpPr>
          <p:cNvPr id="2" name="日付プレースホルダー 1">
            <a:extLst xmlns:a="http://schemas.openxmlformats.org/drawingml/2006/main">
              <a:ext uri="{FF2B5EF4-FFF2-40B4-BE49-F238E27FC236}">
                <a16:creationId xmlns:a16="http://schemas.microsoft.com/office/drawing/2014/main" id="{7D02FB24-493B-4123-A0B6-09180120D3D5}"/>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3" name="フッター プレースホルダー 2">
            <a:extLst xmlns:a="http://schemas.openxmlformats.org/drawingml/2006/main">
              <a:ext uri="{FF2B5EF4-FFF2-40B4-BE49-F238E27FC236}">
                <a16:creationId xmlns:a16="http://schemas.microsoft.com/office/drawing/2014/main" id="{8890D093-FE2F-4604-946C-D15AB7EBF10A}"/>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4" name="スライド番号プレースホルダー 3">
            <a:extLst xmlns:a="http://schemas.openxmlformats.org/drawingml/2006/main">
              <a:ext uri="{FF2B5EF4-FFF2-40B4-BE49-F238E27FC236}">
                <a16:creationId xmlns:a16="http://schemas.microsoft.com/office/drawing/2014/main" id="{9D7F2009-FCEB-48FE-8C7A-B8C659F513DD}"/>
              </a:ext>
            </a:extLst>
          </p:cNvPr>
          <p:cNvSpPr/>
          <p:nvPr>
            <p:ph type="sldNum" idx="12"/>
          </p:nvPr>
        </p:nvSpPr>
        <p:spPr/>
        <p:txBody>
          <a:bodyPr xmlns:a="http://schemas.openxmlformats.org/drawingml/2006/main"/>
          <a:lstStyle xmlns:a="http://schemas.openxmlformats.org/drawingml/2006/main"/>
          <a:p xmlns:a="http://schemas.openxmlformats.org/drawingml/2006/main"/>
        </p:txBody>
      </p:sp>
      <p:sp>
        <p:nvSpPr>
          <p:cNvPr id="7" name="テキスト プレースホルダー 6">
            <a:extLst xmlns:a="http://schemas.openxmlformats.org/drawingml/2006/main">
              <a:ext uri="{FF2B5EF4-FFF2-40B4-BE49-F238E27FC236}">
                <a16:creationId xmlns:a16="http://schemas.microsoft.com/office/drawing/2014/main" id="{C8DCFE20-2760-245C-6805-9307FDD861B2}"/>
              </a:ext>
            </a:extLst>
          </p:cNvPr>
          <p:cNvSpPr/>
          <p:nvPr>
            <p:ph type="body" idx="13"/>
          </p:nvPr>
        </p:nvSpPr>
        <p:spPr>
          <a:xfrm xmlns:a="http://schemas.openxmlformats.org/drawingml/2006/main">
            <a:off x="838200" y="2716213"/>
            <a:ext cx="10374313" cy="2262187"/>
          </a:xfrm>
        </p:spPr>
        <p:txBody>
          <a:bodyPr xmlns:a="http://schemas.openxmlformats.org/drawingml/2006/main"/>
          <a:lstStyle xmlns:a="http://schemas.openxmlformats.org/drawingml/2006/main">
            <a:lvl1pPr>
              <a:buNone/>
              <a:defRPr sz="3600"/>
            </a:lvl1pPr>
          </a:lstStyle>
          <a:p xmlns:a="http://schemas.openxmlformats.org/drawingml/2006/main"/>
        </p:txBody>
      </p:sp>
    </p:spTree>
  </p:cSld>
</p:sldLayout>
</file>

<file path=ppt/slideLayouts/slideLayout7.xml><?xml version="1.0" encoding="utf-8"?>
<p:sldLayout xmlns:p="http://schemas.openxmlformats.org/presentationml/2006/main">
  <p:cSld name="リード文なし">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D1A50C14-2547-473E-A140-357F715AE48C}"/>
              </a:ext>
            </a:extLst>
          </p:cNvPr>
          <p:cNvSpPr/>
          <p:nvPr>
            <p:ph type="title" idx="0"/>
          </p:nvPr>
        </p:nvSpPr>
        <p:spPr>
          <a:xfrm xmlns:a="http://schemas.openxmlformats.org/drawingml/2006/main">
            <a:off x="838200" y="365125"/>
            <a:ext cx="10515600" cy="549275"/>
          </a:xfrm>
        </p:spPr>
        <p:txBody>
          <a:bodyPr xmlns:a="http://schemas.openxmlformats.org/drawingml/2006/main">
            <a:normAutofit/>
          </a:bodyPr>
          <a:lstStyle xmlns:a="http://schemas.openxmlformats.org/drawingml/2006/main">
            <a:lvl1pPr>
              <a:buNone/>
              <a:defRPr sz="2400" b="1">
                <a:latin typeface="Yu Gothic UI"/>
                <a:ea typeface="Yu Gothic UI"/>
                <a:cs typeface="Yu Gothic UI"/>
              </a:defRPr>
            </a:lvl1pPr>
          </a:lstStyle>
          <a:p xmlns:a="http://schemas.openxmlformats.org/drawingml/2006/main"/>
        </p:txBody>
      </p:sp>
      <p:sp>
        <p:nvSpPr>
          <p:cNvPr id="4" name="日付プレースホルダー 3">
            <a:extLst xmlns:a="http://schemas.openxmlformats.org/drawingml/2006/main">
              <a:ext uri="{FF2B5EF4-FFF2-40B4-BE49-F238E27FC236}">
                <a16:creationId xmlns:a16="http://schemas.microsoft.com/office/drawing/2014/main" id="{571E96A7-B217-484F-83E2-7FE34696D7B8}"/>
              </a:ext>
            </a:extLst>
          </p:cNvPr>
          <p:cNvSpPr/>
          <p:nvPr>
            <p:ph type="dt" idx="10"/>
          </p:nvPr>
        </p:nvSpPr>
        <p:spPr>
          <a:xfrm xmlns:a="http://schemas.openxmlformats.org/drawingml/2006/main">
            <a:off x="8610600" y="6356348"/>
            <a:ext cx="2743200" cy="365125"/>
          </a:xfrm>
        </p:spPr>
        <p:txBody>
          <a:bodyPr xmlns:a="http://schemas.openxmlformats.org/drawingml/2006/main"/>
          <a:lstStyle xmlns:a="http://schemas.openxmlformats.org/drawingml/2006/main">
            <a:lvl1pPr algn="r">
              <a:buNone/>
              <a:defRPr/>
            </a:lvl1pPr>
          </a:lstStyle>
          <a:p xmlns:a="http://schemas.openxmlformats.org/drawingml/2006/main"/>
        </p:txBody>
      </p:sp>
      <p:sp>
        <p:nvSpPr>
          <p:cNvPr id="5" name="フッター プレースホルダー 4">
            <a:extLst xmlns:a="http://schemas.openxmlformats.org/drawingml/2006/main">
              <a:ext uri="{FF2B5EF4-FFF2-40B4-BE49-F238E27FC236}">
                <a16:creationId xmlns:a16="http://schemas.microsoft.com/office/drawing/2014/main" id="{77737D5D-4FB4-4DA9-9780-D7405A06C353}"/>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B576B126-3647-4E8A-BFBE-BD046B834E99}"/>
              </a:ext>
            </a:extLst>
          </p:cNvPr>
          <p:cNvSpPr/>
          <p:nvPr>
            <p:ph type="sldNum" idx="12"/>
          </p:nvPr>
        </p:nvSpPr>
        <p:spPr>
          <a:xfrm xmlns:a="http://schemas.openxmlformats.org/drawingml/2006/main">
            <a:off x="838200" y="6356349"/>
            <a:ext cx="2743200" cy="365125"/>
          </a:xfrm>
        </p:spPr>
        <p:txBody>
          <a:bodyPr xmlns:a="http://schemas.openxmlformats.org/drawingml/2006/main"/>
          <a:lstStyle xmlns:a="http://schemas.openxmlformats.org/drawingml/2006/main">
            <a:lvl1pPr algn="l">
              <a:buNone/>
              <a:defRPr/>
            </a:lvl1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7049757284a45c3" /><Relationship Type="http://schemas.openxmlformats.org/officeDocument/2006/relationships/slideLayout" Target="/ppt/slideLayouts/slideLayout2.xml" Id="R74bc958249264aa7" /><Relationship Type="http://schemas.openxmlformats.org/officeDocument/2006/relationships/slideLayout" Target="/ppt/slideLayouts/slideLayout3.xml" Id="Rafcaea75799a42fd" /><Relationship Type="http://schemas.openxmlformats.org/officeDocument/2006/relationships/slideLayout" Target="/ppt/slideLayouts/slideLayout4.xml" Id="Red024baaa7b74f4f" /><Relationship Type="http://schemas.openxmlformats.org/officeDocument/2006/relationships/slideLayout" Target="/ppt/slideLayouts/slideLayout5.xml" Id="Rad8af799dc54496a" /><Relationship Type="http://schemas.openxmlformats.org/officeDocument/2006/relationships/slideLayout" Target="/ppt/slideLayouts/slideLayout6.xml" Id="Rbb90d70a599a4e04" /><Relationship Type="http://schemas.openxmlformats.org/officeDocument/2006/relationships/slideLayout" Target="/ppt/slideLayouts/slideLayout7.xml" Id="R6b60b80fe38d4afb" /></Relationships>
</file>

<file path=ppt/slideMasters/slideMaster1.xml><?xml version="1.0" encoding="utf-8"?>
<p:sldMaster xmlns:p="http://schemas.openxmlformats.org/presentationml/2006/main">
  <p:cSld>
    <p:bg>
      <p:bgPr>
        <a:solidFill xmlns:a="http://schemas.openxmlformats.org/drawingml/2006/main">
          <a:srgbClr val="FCFCFC"/>
        </a:solidFill>
      </p:bgPr>
    </p:bg>
    <p:spTree>
      <p:nvGrpSpPr>
        <p:cNvPr id="1" name=""/>
        <p:cNvGrpSpPr/>
        <p:nvPr/>
      </p:nvGrpSpPr>
      <p:grpSpPr>
        <a:xfrm xmlns:a="http://schemas.openxmlformats.org/drawingml/2006/main"/>
      </p:grpSpPr>
      <p:sp>
        <p:nvSpPr>
          <p:cNvPr id="2" name="タイトル プレースホルダー 1">
            <a:extLst xmlns:a="http://schemas.openxmlformats.org/drawingml/2006/main">
              <a:ext uri="{FF2B5EF4-FFF2-40B4-BE49-F238E27FC236}">
                <a16:creationId xmlns:a16="http://schemas.microsoft.com/office/drawing/2014/main" id="{1B48D7FF-B78B-44FF-983F-50666A1D5F71}"/>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テキスト プレースホルダー 2">
            <a:extLst xmlns:a="http://schemas.openxmlformats.org/drawingml/2006/main">
              <a:ext uri="{FF2B5EF4-FFF2-40B4-BE49-F238E27FC236}">
                <a16:creationId xmlns:a16="http://schemas.microsoft.com/office/drawing/2014/main" id="{E698EC68-E480-458A-B36D-265A18218A83}"/>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付プレースホルダー 3">
            <a:extLst xmlns:a="http://schemas.openxmlformats.org/drawingml/2006/main">
              <a:ext uri="{FF2B5EF4-FFF2-40B4-BE49-F238E27FC236}">
                <a16:creationId xmlns:a16="http://schemas.microsoft.com/office/drawing/2014/main" id="{F91653D7-C620-4352-A865-1F041D89FB04}"/>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フッター プレースホルダー 4">
            <a:extLst xmlns:a="http://schemas.openxmlformats.org/drawingml/2006/main">
              <a:ext uri="{FF2B5EF4-FFF2-40B4-BE49-F238E27FC236}">
                <a16:creationId xmlns:a16="http://schemas.microsoft.com/office/drawing/2014/main" id="{56603EA2-4A43-4B89-B70F-998BB42EEB64}"/>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D9C29C83-EA4C-4F10-BAC0-CA53A8B36BC8}"/>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bc958249264aa7"/>
    <p:sldLayoutId xmlns:r="http://schemas.openxmlformats.org/officeDocument/2006/relationships" id="2147483650" r:id="Rafcaea75799a42fd"/>
    <p:sldLayoutId xmlns:r="http://schemas.openxmlformats.org/officeDocument/2006/relationships" id="2147483651" r:id="Red024baaa7b74f4f"/>
    <p:sldLayoutId xmlns:r="http://schemas.openxmlformats.org/officeDocument/2006/relationships" id="2147483652" r:id="Rad8af799dc54496a"/>
    <p:sldLayoutId xmlns:r="http://schemas.openxmlformats.org/officeDocument/2006/relationships" id="2147483653" r:id="Rbb90d70a599a4e04"/>
    <p:sldLayoutId xmlns:r="http://schemas.openxmlformats.org/officeDocument/2006/relationships" id="2147483654" r:id="R6b60b80fe38d4afb"/>
  </p:sldLayoutIdLst>
  <p:txStyles>
    <p:titleStyle>
      <a:lvl1pPr xmlns:a="http://schemas.openxmlformats.org/drawingml/2006/main" algn="l">
        <a:lnSpc>
          <a:spcPct val="90000"/>
        </a:lnSpc>
        <a:spcBef>
          <a:spcPts val="0"/>
        </a:spcBef>
        <a:buNone/>
        <a:defRPr sz="4400">
          <a:solidFill>
            <a:schemeClr val="tx1"/>
          </a:solidFill>
          <a:latin typeface="Yu Gothic UI"/>
          <a:ea typeface="Yu Gothic UI"/>
          <a:cs typeface="Yu Gothic UI"/>
        </a:defRPr>
      </a:lvl1pPr>
    </p:titleStyle>
    <p:bodyStyle>
      <a:lvl1pPr xmlns:a="http://schemas.openxmlformats.org/drawingml/2006/main" marL="228600" indent="-228600" algn="l">
        <a:lnSpc>
          <a:spcPct val="90000"/>
        </a:lnSpc>
        <a:spcBef>
          <a:spcPts val="1000"/>
        </a:spcBef>
        <a:buChar char="•"/>
        <a:defRPr sz="2800">
          <a:solidFill>
            <a:schemeClr val="tx1"/>
          </a:solidFill>
          <a:latin typeface="Yu Gothic UI"/>
          <a:ea typeface="Yu Gothic UI"/>
          <a:cs typeface="Yu Gothic UI"/>
        </a:defRPr>
      </a:lvl1pPr>
      <a:lvl2pPr xmlns:a="http://schemas.openxmlformats.org/drawingml/2006/main" marL="685800" indent="-228600" algn="l">
        <a:lnSpc>
          <a:spcPct val="90000"/>
        </a:lnSpc>
        <a:spcBef>
          <a:spcPts val="500"/>
        </a:spcBef>
        <a:buChar char="•"/>
        <a:defRPr sz="2400">
          <a:solidFill>
            <a:schemeClr val="tx1"/>
          </a:solidFill>
          <a:latin typeface="Yu Gothic UI"/>
          <a:ea typeface="Yu Gothic UI"/>
          <a:cs typeface="Yu Gothic UI"/>
        </a:defRPr>
      </a:lvl2pPr>
      <a:lvl3pPr xmlns:a="http://schemas.openxmlformats.org/drawingml/2006/main" marL="1143000" indent="-228600" algn="l">
        <a:lnSpc>
          <a:spcPct val="90000"/>
        </a:lnSpc>
        <a:spcBef>
          <a:spcPts val="500"/>
        </a:spcBef>
        <a:buChar char="•"/>
        <a:defRPr sz="2000">
          <a:solidFill>
            <a:schemeClr val="tx1"/>
          </a:solidFill>
          <a:latin typeface="Yu Gothic UI"/>
          <a:ea typeface="Yu Gothic UI"/>
          <a:cs typeface="Yu Gothic UI"/>
        </a:defRPr>
      </a:lvl3pPr>
      <a:lvl4pPr xmlns:a="http://schemas.openxmlformats.org/drawingml/2006/main" marL="1600200" indent="-228600" algn="l">
        <a:lnSpc>
          <a:spcPct val="90000"/>
        </a:lnSpc>
        <a:spcBef>
          <a:spcPts val="500"/>
        </a:spcBef>
        <a:buChar char="•"/>
        <a:defRPr sz="1800">
          <a:solidFill>
            <a:schemeClr val="tx1"/>
          </a:solidFill>
          <a:latin typeface="Yu Gothic UI"/>
          <a:ea typeface="Yu Gothic UI"/>
          <a:cs typeface="Yu Gothic UI"/>
        </a:defRPr>
      </a:lvl4pPr>
      <a:lvl5pPr xmlns:a="http://schemas.openxmlformats.org/drawingml/2006/main" marL="2057400" indent="-228600" algn="l">
        <a:lnSpc>
          <a:spcPct val="90000"/>
        </a:lnSpc>
        <a:spcBef>
          <a:spcPts val="500"/>
        </a:spcBef>
        <a:buChar char="•"/>
        <a:defRPr sz="1800">
          <a:solidFill>
            <a:schemeClr val="tx1"/>
          </a:solidFill>
          <a:latin typeface="Yu Gothic UI"/>
          <a:ea typeface="Yu Gothic UI"/>
          <a:cs typeface="Yu Gothic UI"/>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3.xml" Id="R9e9266f683ae4a77" /><Relationship Type="http://schemas.openxmlformats.org/officeDocument/2006/relationships/notesSlide" Target="/ppt/notesSlides/notesSlide1.xml" Id="R6b401d7e2f0142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f7627e990fe04b2f" /><Relationship Type="http://schemas.openxmlformats.org/officeDocument/2006/relationships/notesSlide" Target="/ppt/notesSlides/notesSlide2.xml" Id="R405370732f9f46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6aee132aa1ec4980" /><Relationship Type="http://schemas.openxmlformats.org/officeDocument/2006/relationships/notesSlide" Target="/ppt/notesSlides/notesSlide3.xml" Id="Rbe786318845f48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a310e33941704541" /><Relationship Type="http://schemas.openxmlformats.org/officeDocument/2006/relationships/notesSlide" Target="/ppt/notesSlides/notesSlide4.xml" Id="R804b28abf03e41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ceb98a4739894482" /><Relationship Type="http://schemas.openxmlformats.org/officeDocument/2006/relationships/notesSlide" Target="/ppt/notesSlides/notesSlide5.xml" Id="Rad918fdcfda543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6edc20cde51b4fd6" /><Relationship Type="http://schemas.openxmlformats.org/officeDocument/2006/relationships/image" Target="/ppt/media/image.bin" Id="R5f96c714802148f4" /><Relationship Type="http://schemas.openxmlformats.org/officeDocument/2006/relationships/notesSlide" Target="/ppt/notesSlides/notesSlide6.xml" Id="R8a41bb019f6b4c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713280f6603c4944" /><Relationship Type="http://schemas.openxmlformats.org/officeDocument/2006/relationships/notesSlide" Target="/ppt/notesSlides/notesSlide7.xml" Id="Ra284a3d7b4af4a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1972a2ab399047ab" /><Relationship Type="http://schemas.openxmlformats.org/officeDocument/2006/relationships/notesSlide" Target="/ppt/notesSlides/notesSlide8.xml" Id="R1b19d6cd92ce44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8b36b6d9cf77448c" /><Relationship Type="http://schemas.openxmlformats.org/officeDocument/2006/relationships/notesSlide" Target="/ppt/notesSlides/notesSlide9.xml" Id="R74cfb5abd3d44d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3dc253cf5db04776" /><Relationship Type="http://schemas.openxmlformats.org/officeDocument/2006/relationships/notesSlide" Target="/ppt/notesSlides/notesSlide10.xml" Id="R69b1e5885c714c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16bd45df75964702" /><Relationship Type="http://schemas.openxmlformats.org/officeDocument/2006/relationships/notesSlide" Target="/ppt/notesSlides/notesSlide11.xml" Id="Rb2990a1074da4b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b33280ffc37245f9" /><Relationship Type="http://schemas.openxmlformats.org/officeDocument/2006/relationships/notesSlide" Target="/ppt/notesSlides/notesSlide12.xml" Id="Raeb0d37aa934436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ba259045b6444f3e" /><Relationship Type="http://schemas.openxmlformats.org/officeDocument/2006/relationships/image" Target="/ppt/media/image2.bin" Id="Rbb45819b2bb54368" /><Relationship Type="http://schemas.openxmlformats.org/officeDocument/2006/relationships/notesSlide" Target="/ppt/notesSlides/notesSlide13.xml" Id="Ra42d92dce9a646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7dbb429e31d94c2e" /><Relationship Type="http://schemas.openxmlformats.org/officeDocument/2006/relationships/notesSlide" Target="/ppt/notesSlides/notesSlide14.xml" Id="R4980ad0953974b9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37dfa449e5cf4706" /><Relationship Type="http://schemas.openxmlformats.org/officeDocument/2006/relationships/image" Target="/ppt/media/image3.bin" Id="R217f384ef1904fc3" /><Relationship Type="http://schemas.openxmlformats.org/officeDocument/2006/relationships/notesSlide" Target="/ppt/notesSlides/notesSlide15.xml" Id="Rd3fda0068fa849d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4.xml" Id="Rb1f72917c0994ca0" /><Relationship Type="http://schemas.openxmlformats.org/officeDocument/2006/relationships/image" Target="/ppt/media/image.png" Id="R80ff857ecf384f80" /><Relationship Type="http://schemas.openxmlformats.org/officeDocument/2006/relationships/notesSlide" Target="/ppt/notesSlides/notesSlide16.xml" Id="R35f7e5bc0e6e4f4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54177d33f71f466f" /><Relationship Type="http://schemas.openxmlformats.org/officeDocument/2006/relationships/image" Target="/ppt/media/image2.png" Id="Rd4af30f5ec864fe5" /><Relationship Type="http://schemas.openxmlformats.org/officeDocument/2006/relationships/notesSlide" Target="/ppt/notesSlides/notesSlide17.xml" Id="R1da2e4a9f43e45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4.xml" Id="R8ffeb465b76245da" /><Relationship Type="http://schemas.openxmlformats.org/officeDocument/2006/relationships/image" Target="/ppt/media/image3.png" Id="Raf1246d18a6944ac" /><Relationship Type="http://schemas.openxmlformats.org/officeDocument/2006/relationships/notesSlide" Target="/ppt/notesSlides/notesSlide18.xml" Id="Rd72851ea3abb4b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4.xml" Id="Re29918207864461d" /><Relationship Type="http://schemas.openxmlformats.org/officeDocument/2006/relationships/image" Target="/ppt/media/image4.png" Id="Rae3193f202b94b94" /><Relationship Type="http://schemas.openxmlformats.org/officeDocument/2006/relationships/notesSlide" Target="/ppt/notesSlides/notesSlide19.xml" Id="R9d32f099a9ca452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4.xml" Id="R6007997e1a1b4f2f" /><Relationship Type="http://schemas.openxmlformats.org/officeDocument/2006/relationships/image" Target="/ppt/media/image5.png" Id="Rb0ec1699e121455b" /><Relationship Type="http://schemas.openxmlformats.org/officeDocument/2006/relationships/notesSlide" Target="/ppt/notesSlides/notesSlide20.xml" Id="R82beef99a3d243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4.xml" Id="R5907565c645e4b67" /><Relationship Type="http://schemas.openxmlformats.org/officeDocument/2006/relationships/image" Target="/ppt/media/image6.png" Id="R0936dbff7af74865" /><Relationship Type="http://schemas.openxmlformats.org/officeDocument/2006/relationships/notesSlide" Target="/ppt/notesSlides/notesSlide21.xml" Id="R1f7930bdabc14e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4.xml" Id="Rb5818fdc7d4a419f" /><Relationship Type="http://schemas.openxmlformats.org/officeDocument/2006/relationships/image" Target="/ppt/media/image7.png" Id="R9597dd0e310b4cb5" /><Relationship Type="http://schemas.openxmlformats.org/officeDocument/2006/relationships/notesSlide" Target="/ppt/notesSlides/notesSlide22.xml" Id="R7b9538c48af740f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4.xml" Id="R0ceff567f6764aaa" /><Relationship Type="http://schemas.openxmlformats.org/officeDocument/2006/relationships/image" Target="/ppt/media/image8.png" Id="R6c6c9f7327d24680" /><Relationship Type="http://schemas.openxmlformats.org/officeDocument/2006/relationships/notesSlide" Target="/ppt/notesSlides/notesSlide23.xml" Id="R4b8389847fb8472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4.xml" Id="Refad5946e8f8409d" /><Relationship Type="http://schemas.openxmlformats.org/officeDocument/2006/relationships/image" Target="/ppt/media/image9.png" Id="R7927216e275d4d39" /><Relationship Type="http://schemas.openxmlformats.org/officeDocument/2006/relationships/notesSlide" Target="/ppt/notesSlides/notesSlide24.xml" Id="R03d10f81d28940d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4.xml" Id="R292548854bc9410e" /><Relationship Type="http://schemas.openxmlformats.org/officeDocument/2006/relationships/image" Target="/ppt/media/image10.png" Id="R54b87d03621246f7" /><Relationship Type="http://schemas.openxmlformats.org/officeDocument/2006/relationships/notesSlide" Target="/ppt/notesSlides/notesSlide25.xml" Id="Rdc700444e67a45c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4.xml" Id="Rc8ce7a9240784a52" /><Relationship Type="http://schemas.openxmlformats.org/officeDocument/2006/relationships/image" Target="/ppt/media/image11.png" Id="R9073e8f230f141bc" /><Relationship Type="http://schemas.openxmlformats.org/officeDocument/2006/relationships/notesSlide" Target="/ppt/notesSlides/notesSlide26.xml" Id="R65a2bd46c0784b3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4.xml" Id="Re49a2504945b4084" /><Relationship Type="http://schemas.openxmlformats.org/officeDocument/2006/relationships/image" Target="/ppt/media/image12.png" Id="Rc213f760aae74c81" /><Relationship Type="http://schemas.openxmlformats.org/officeDocument/2006/relationships/notesSlide" Target="/ppt/notesSlides/notesSlide27.xml" Id="R907965358c6b41e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4.xml" Id="R2578a61773234d3c" /><Relationship Type="http://schemas.openxmlformats.org/officeDocument/2006/relationships/image" Target="/ppt/media/image13.png" Id="R9824a88fbea84219" /><Relationship Type="http://schemas.openxmlformats.org/officeDocument/2006/relationships/notesSlide" Target="/ppt/notesSlides/notesSlide28.xml" Id="Rf59ef47ce6ea48b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4.xml" Id="R1f9f178179a24267" /><Relationship Type="http://schemas.openxmlformats.org/officeDocument/2006/relationships/image" Target="/ppt/media/image14.png" Id="Rd35db120289a40a5" /><Relationship Type="http://schemas.openxmlformats.org/officeDocument/2006/relationships/notesSlide" Target="/ppt/notesSlides/notesSlide29.xml" Id="R8129a2925f2f406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4.xml" Id="Rcadef7144b9c4d1c" /><Relationship Type="http://schemas.openxmlformats.org/officeDocument/2006/relationships/image" Target="/ppt/media/image15.png" Id="Re1e66d191ed0477a" /><Relationship Type="http://schemas.openxmlformats.org/officeDocument/2006/relationships/notesSlide" Target="/ppt/notesSlides/notesSlide30.xml" Id="Rf8164261357b422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4.xml" Id="R387235cd5f8b41d5" /><Relationship Type="http://schemas.openxmlformats.org/officeDocument/2006/relationships/image" Target="/ppt/media/image16.png" Id="R079ca11200fa4fa7" /><Relationship Type="http://schemas.openxmlformats.org/officeDocument/2006/relationships/notesSlide" Target="/ppt/notesSlides/notesSlide31.xml" Id="Rb54a0adb8ed8495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4.xml" Id="R3871635bda504c1d" /><Relationship Type="http://schemas.openxmlformats.org/officeDocument/2006/relationships/image" Target="/ppt/media/image4.bin" Id="Rb3f9f3759b1141b8" /><Relationship Type="http://schemas.openxmlformats.org/officeDocument/2006/relationships/notesSlide" Target="/ppt/notesSlides/notesSlide32.xml" Id="R7ef60cfb093c4b5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4.xml" Id="R6b32babd2cf643e7" /><Relationship Type="http://schemas.openxmlformats.org/officeDocument/2006/relationships/image" Target="/ppt/media/image17.png" Id="R296f33b7037346ab" /><Relationship Type="http://schemas.openxmlformats.org/officeDocument/2006/relationships/notesSlide" Target="/ppt/notesSlides/notesSlide33.xml" Id="R9e7650a594e2496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4.xml" Id="R409acd925aca4dec" /><Relationship Type="http://schemas.openxmlformats.org/officeDocument/2006/relationships/image" Target="/ppt/media/image18.png" Id="Ra4b49f2c68d74442" /><Relationship Type="http://schemas.openxmlformats.org/officeDocument/2006/relationships/notesSlide" Target="/ppt/notesSlides/notesSlide34.xml" Id="R8f2dbb240b2a483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4.xml" Id="R9004b96730f446c7" /><Relationship Type="http://schemas.openxmlformats.org/officeDocument/2006/relationships/image" Target="/ppt/media/image5.bin" Id="R81655aa1abd049ea" /><Relationship Type="http://schemas.openxmlformats.org/officeDocument/2006/relationships/notesSlide" Target="/ppt/notesSlides/notesSlide35.xml" Id="R2fdc4a42cb744e2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4.xml" Id="R9c16083b9ef345cc" /><Relationship Type="http://schemas.openxmlformats.org/officeDocument/2006/relationships/notesSlide" Target="/ppt/notesSlides/notesSlide36.xml" Id="R61a67b125ccd42b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4.xml" Id="Rc796318e02964b16" /><Relationship Type="http://schemas.openxmlformats.org/officeDocument/2006/relationships/notesSlide" Target="/ppt/notesSlides/notesSlide37.xml" Id="Rd9f11d830881478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4.xml" Id="R147643fbc61e45d2" /><Relationship Type="http://schemas.openxmlformats.org/officeDocument/2006/relationships/image" Target="/ppt/media/image19.png" Id="R48bf427658174c76" /><Relationship Type="http://schemas.openxmlformats.org/officeDocument/2006/relationships/notesSlide" Target="/ppt/notesSlides/notesSlide38.xml" Id="Rbb44487a52ab474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4.xml" Id="R0168938142e34bda" /><Relationship Type="http://schemas.openxmlformats.org/officeDocument/2006/relationships/image" Target="/ppt/media/image20.png" Id="Re819cf8cae874c91" /><Relationship Type="http://schemas.openxmlformats.org/officeDocument/2006/relationships/notesSlide" Target="/ppt/notesSlides/notesSlide39.xml" Id="R256e80d7ae7542e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4.xml" Id="R6e8871a205b54471" /><Relationship Type="http://schemas.openxmlformats.org/officeDocument/2006/relationships/notesSlide" Target="/ppt/notesSlides/notesSlide40.xml" Id="R4ccaf5362a9b4a6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4.xml" Id="Rc9ce744719ac420c" /><Relationship Type="http://schemas.openxmlformats.org/officeDocument/2006/relationships/notesSlide" Target="/ppt/notesSlides/notesSlide41.xml" Id="R5a3b639966c54aa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4.xml" Id="R2ae7fe018ee44baf" /><Relationship Type="http://schemas.openxmlformats.org/officeDocument/2006/relationships/notesSlide" Target="/ppt/notesSlides/notesSlide42.xml" Id="R22b5301487f546b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4.xml" Id="R922adcb0d46f4387" /><Relationship Type="http://schemas.openxmlformats.org/officeDocument/2006/relationships/notesSlide" Target="/ppt/notesSlides/notesSlide43.xml" Id="R4f0d70833bf743d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4.xml" Id="R26ac6e09fe044ee3" /><Relationship Type="http://schemas.openxmlformats.org/officeDocument/2006/relationships/notesSlide" Target="/ppt/notesSlides/notesSlide44.xml" Id="Rd296e4179559419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4.xml" Id="R225224b4f09245d7" /><Relationship Type="http://schemas.openxmlformats.org/officeDocument/2006/relationships/image" Target="/ppt/media/image6.bin" Id="R79323fb2ffe34f8f" /><Relationship Type="http://schemas.openxmlformats.org/officeDocument/2006/relationships/notesSlide" Target="/ppt/notesSlides/notesSlide45.xml" Id="R0dc79b1583214f9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4.xml" Id="Rbe7dacbc69ec4f6c" /><Relationship Type="http://schemas.openxmlformats.org/officeDocument/2006/relationships/notesSlide" Target="/ppt/notesSlides/notesSlide46.xml" Id="Rf3b2f874fbe0418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00B6BF-88C5-48A2-8D76-F95A2A4FBB9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1445921-59C9-41E6-9C1B-92F61509A245}"/>
              </a:ext>
            </a:extLst>
          </p:cNvPr>
          <p:cNvSpPr>
            <a:spLocks xmlns:a="http://schemas.openxmlformats.org/drawingml/2006/main" noGrp="1"/>
          </p:cNvSpPr>
          <p:nvPr/>
        </p:nvSpPr>
        <p:spPr>
          <a:xfrm xmlns:a="http://schemas.openxmlformats.org/drawingml/2006/main">
            <a:off x="0" y="0"/>
            <a:ext cx="4629150" cy="6858000"/>
          </a:xfrm>
          <a:prstGeom xmlns:a="http://schemas.openxmlformats.org/drawingml/2006/main" prst="rect">
            <a:avLst/>
          </a:prstGeom>
          <a:solidFill xmlns:a="http://schemas.openxmlformats.org/drawingml/2006/main">
            <a:srgbClr val="EAF1F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EF37F54-1768-4CA7-B726-6B0EF9FEE20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472C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01A15F1-4EB2-4C62-9E56-DCCFBD3EDDFB}"/>
              </a:ext>
            </a:extLst>
          </p:cNvPr>
          <p:cNvSpPr>
            <a:spLocks xmlns:a="http://schemas.openxmlformats.org/drawingml/2006/main" noGrp="1"/>
          </p:cNvSpPr>
          <p:nvPr/>
        </p:nvSpPr>
        <p:spPr>
          <a:xfrm xmlns:a="http://schemas.openxmlformats.org/drawingml/2006/main">
            <a:off x="742950" y="819150"/>
            <a:ext cx="3429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xmlns:a="http://schemas.openxmlformats.org/drawingml/2006/main">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
            <a:extLst xmlns:a="http://schemas.openxmlformats.org/drawingml/2006/main">
              <a:ext uri="{FF2B5EF4-FFF2-40B4-BE49-F238E27FC236}">
                <a16:creationId xmlns:a16="http://schemas.microsoft.com/office/drawing/2014/main" id="{259CC252-FD2E-416D-A656-E0610C781A8F}"/>
              </a:ext>
            </a:extLst>
          </p:cNvPr>
          <p:cNvSpPr>
            <a:spLocks xmlns:a="http://schemas.openxmlformats.org/drawingml/2006/main" noGrp="1"/>
          </p:cNvSpPr>
          <p:nvPr/>
        </p:nvSpPr>
        <p:spPr>
          <a:xfrm xmlns:a="http://schemas.openxmlformats.org/drawingml/2006/main">
            <a:off x="5219700" y="1295400"/>
            <a:ext cx="58102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1F2937"/>
                </a:solidFill>
                <a:latin typeface="Meiryo UI"/>
                <a:ea typeface="Meiryo UI"/>
                <a:cs typeface="Meiryo UI"/>
              </a:defRPr>
            </a:pPr>
            <a:r>
              <a:rPr sz="2625" b="1">
                <a:solidFill>
                  <a:srgbClr val="1F2937"/>
                </a:solidFill>
                <a:latin typeface="Meiryo UI"/>
                <a:ea typeface="Meiryo UI"/>
                <a:cs typeface="Meiryo UI"/>
              </a:rPr>
              <a:t>Azure VM をつかった Web サーバ構築</a:t>
            </a:r>
          </a:p>
        </p:txBody>
      </p:sp>
      <p:sp>
        <p:nvSpPr>
          <p:cNvPr id="6" name="">
            <a:extLst xmlns:a="http://schemas.openxmlformats.org/drawingml/2006/main">
              <a:ext uri="{FF2B5EF4-FFF2-40B4-BE49-F238E27FC236}">
                <a16:creationId xmlns:a16="http://schemas.microsoft.com/office/drawing/2014/main" id="{9BEEF681-1D63-42E8-BFF7-E34C3B0DB599}"/>
              </a:ext>
            </a:extLst>
          </p:cNvPr>
          <p:cNvSpPr>
            <a:spLocks xmlns:a="http://schemas.openxmlformats.org/drawingml/2006/main" noGrp="1"/>
          </p:cNvSpPr>
          <p:nvPr/>
        </p:nvSpPr>
        <p:spPr>
          <a:xfrm xmlns:a="http://schemas.openxmlformats.org/drawingml/2006/main">
            <a:off x="5257800" y="2571750"/>
            <a:ext cx="5524500" cy="1009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0">
                <a:solidFill>
                  <a:srgbClr val="344054"/>
                </a:solidFill>
                <a:latin typeface="Yu Gothic UI"/>
                <a:ea typeface="Yu Gothic UI"/>
                <a:cs typeface="Yu Gothic UI"/>
              </a:defRPr>
            </a:pPr>
            <a:r>
              <a:rPr sz="1238" b="0">
                <a:solidFill>
                  <a:srgbClr val="344054"/>
                </a:solidFill>
                <a:latin typeface="Yu Gothic UI"/>
                <a:ea typeface="Yu Gothic UI"/>
                <a:cs typeface="Yu Gothic UI"/>
              </a:rPr>
              <a:t>この回では、Azure Portal で Linux VM を作成し、起動時スクリプトで NGINX をインストールして、インターネットから Web サーバへアクセスできることを確認します。</a:t>
            </a:r>
          </a:p>
        </p:txBody>
      </p:sp>
      <p:sp>
        <p:nvSpPr>
          <p:cNvPr id="7" name="">
            <a:extLst xmlns:a="http://schemas.openxmlformats.org/drawingml/2006/main">
              <a:ext uri="{FF2B5EF4-FFF2-40B4-BE49-F238E27FC236}">
                <a16:creationId xmlns:a16="http://schemas.microsoft.com/office/drawing/2014/main" id="{4CCD0285-AC0D-45B9-ACA0-F6FF23F3ADA7}"/>
              </a:ext>
            </a:extLst>
          </p:cNvPr>
          <p:cNvSpPr>
            <a:spLocks xmlns:a="http://schemas.openxmlformats.org/drawingml/2006/main" noGrp="1"/>
          </p:cNvSpPr>
          <p:nvPr/>
        </p:nvSpPr>
        <p:spPr>
          <a:xfrm xmlns:a="http://schemas.openxmlformats.org/drawingml/2006/main">
            <a:off x="5257800" y="3943350"/>
            <a:ext cx="800100" cy="285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788" b="1">
                <a:solidFill>
                  <a:srgbClr val="FFFFFF"/>
                </a:solidFill>
                <a:latin typeface="Yu Gothic UI"/>
                <a:ea typeface="Yu Gothic UI"/>
                <a:cs typeface="Yu Gothic UI"/>
              </a:defRPr>
            </a:pPr>
            <a:r>
              <a:rPr sz="788" b="1">
                <a:solidFill>
                  <a:srgbClr val="FFFFFF"/>
                </a:solidFill>
                <a:latin typeface="Yu Gothic UI"/>
                <a:ea typeface="Yu Gothic UI"/>
                <a:cs typeface="Yu Gothic UI"/>
              </a:rPr>
              <a:t>第3回</a:t>
            </a:r>
          </a:p>
        </p:txBody>
      </p:sp>
      <p:sp>
        <p:nvSpPr>
          <p:cNvPr id="8" name="">
            <a:extLst xmlns:a="http://schemas.openxmlformats.org/drawingml/2006/main">
              <a:ext uri="{FF2B5EF4-FFF2-40B4-BE49-F238E27FC236}">
                <a16:creationId xmlns:a16="http://schemas.microsoft.com/office/drawing/2014/main" id="{B86BDD7D-C7CB-4DCD-8D1C-357834D88F88}"/>
              </a:ext>
            </a:extLst>
          </p:cNvPr>
          <p:cNvSpPr>
            <a:spLocks xmlns:a="http://schemas.openxmlformats.org/drawingml/2006/main" noGrp="1"/>
          </p:cNvSpPr>
          <p:nvPr/>
        </p:nvSpPr>
        <p:spPr>
          <a:xfrm xmlns:a="http://schemas.openxmlformats.org/drawingml/2006/main">
            <a:off x="6191250" y="3943350"/>
            <a:ext cx="2076450" cy="28575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788" b="1">
                <a:solidFill>
                  <a:srgbClr val="FFFFFF"/>
                </a:solidFill>
                <a:latin typeface="Yu Gothic UI"/>
                <a:ea typeface="Yu Gothic UI"/>
                <a:cs typeface="Yu Gothic UI"/>
              </a:defRPr>
            </a:pPr>
            <a:r>
              <a:rPr sz="788" b="1">
                <a:solidFill>
                  <a:srgbClr val="FFFFFF"/>
                </a:solidFill>
                <a:latin typeface="Yu Gothic UI"/>
                <a:ea typeface="Yu Gothic UI"/>
                <a:cs typeface="Yu Gothic UI"/>
              </a:rPr>
              <a:t>オンライン座学 + ハンズオン</a:t>
            </a:r>
          </a:p>
        </p:txBody>
      </p:sp>
      <p:sp>
        <p:nvSpPr>
          <p:cNvPr id="9" name="">
            <a:extLst xmlns:a="http://schemas.openxmlformats.org/drawingml/2006/main">
              <a:ext uri="{FF2B5EF4-FFF2-40B4-BE49-F238E27FC236}">
                <a16:creationId xmlns:a16="http://schemas.microsoft.com/office/drawing/2014/main" id="{251F5B06-1BBD-454E-8914-D0533F119B44}"/>
              </a:ext>
            </a:extLst>
          </p:cNvPr>
          <p:cNvSpPr>
            <a:spLocks xmlns:a="http://schemas.openxmlformats.org/drawingml/2006/main" noGrp="1"/>
          </p:cNvSpPr>
          <p:nvPr/>
        </p:nvSpPr>
        <p:spPr>
          <a:xfrm xmlns:a="http://schemas.openxmlformats.org/drawingml/2006/main">
            <a:off x="8401050" y="3943350"/>
            <a:ext cx="1352550" cy="285750"/>
          </a:xfrm>
          <a:prstGeom xmlns:a="http://schemas.openxmlformats.org/drawingml/2006/main" prst="rect">
            <a:avLst/>
          </a:prstGeom>
          <a:solidFill xmlns:a="http://schemas.openxmlformats.org/drawingml/2006/main">
            <a:srgbClr val="ED7D31"/>
          </a:solidFill>
          <a:ln xmlns:a="http://schemas.openxmlformats.org/drawingml/2006/main" w="0">
            <a:solidFill>
              <a:srgbClr val="ED7D31"/>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788" b="1">
                <a:solidFill>
                  <a:srgbClr val="FFFFFF"/>
                </a:solidFill>
                <a:latin typeface="Yu Gothic UI"/>
                <a:ea typeface="Yu Gothic UI"/>
                <a:cs typeface="Yu Gothic UI"/>
              </a:defRPr>
            </a:pPr>
            <a:r>
              <a:rPr sz="788" b="1">
                <a:solidFill>
                  <a:srgbClr val="FFFFFF"/>
                </a:solidFill>
                <a:latin typeface="Yu Gothic UI"/>
                <a:ea typeface="Yu Gothic UI"/>
                <a:cs typeface="Yu Gothic UI"/>
              </a:rPr>
              <a:t>50分 + 10分 QA</a:t>
            </a:r>
          </a:p>
        </p:txBody>
      </p:sp>
      <p:sp>
        <p:nvSpPr>
          <p:cNvPr id="10" name="">
            <a:extLst xmlns:a="http://schemas.openxmlformats.org/drawingml/2006/main">
              <a:ext uri="{FF2B5EF4-FFF2-40B4-BE49-F238E27FC236}">
                <a16:creationId xmlns:a16="http://schemas.microsoft.com/office/drawing/2014/main" id="{2B561F34-A636-4DC1-AF14-E7AF4E00FBD3}"/>
              </a:ext>
            </a:extLst>
          </p:cNvPr>
          <p:cNvSpPr>
            <a:spLocks xmlns:a="http://schemas.openxmlformats.org/drawingml/2006/main" noGrp="1"/>
          </p:cNvSpPr>
          <p:nvPr/>
        </p:nvSpPr>
        <p:spPr>
          <a:xfrm xmlns:a="http://schemas.openxmlformats.org/drawingml/2006/main">
            <a:off x="9886950" y="3943350"/>
            <a:ext cx="1295400" cy="2857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788" b="1">
                <a:solidFill>
                  <a:srgbClr val="FFFFFF"/>
                </a:solidFill>
                <a:latin typeface="Yu Gothic UI"/>
                <a:ea typeface="Yu Gothic UI"/>
                <a:cs typeface="Yu Gothic UI"/>
              </a:defRPr>
            </a:pPr>
            <a:r>
              <a:rPr sz="788" b="1">
                <a:solidFill>
                  <a:srgbClr val="FFFFFF"/>
                </a:solidFill>
                <a:latin typeface="Yu Gothic UI"/>
                <a:ea typeface="Yu Gothic UI"/>
                <a:cs typeface="Yu Gothic UI"/>
              </a:rPr>
              <a:t>2026年7月2日</a:t>
            </a:r>
          </a:p>
        </p:txBody>
      </p:sp>
      <p:sp>
        <p:nvSpPr>
          <p:cNvPr id="11" name="">
            <a:extLst xmlns:a="http://schemas.openxmlformats.org/drawingml/2006/main">
              <a:ext uri="{FF2B5EF4-FFF2-40B4-BE49-F238E27FC236}">
                <a16:creationId xmlns:a16="http://schemas.microsoft.com/office/drawing/2014/main" id="{D9A55162-DB9A-498B-AA7B-8AC7A8F2E8DA}"/>
              </a:ext>
            </a:extLst>
          </p:cNvPr>
          <p:cNvSpPr>
            <a:spLocks xmlns:a="http://schemas.openxmlformats.org/drawingml/2006/main" noGrp="1"/>
          </p:cNvSpPr>
          <p:nvPr/>
        </p:nvSpPr>
        <p:spPr>
          <a:xfrm xmlns:a="http://schemas.openxmlformats.org/drawingml/2006/main">
            <a:off x="742950" y="5524500"/>
            <a:ext cx="33337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344054"/>
                </a:solidFill>
                <a:latin typeface="Yu Gothic UI"/>
                <a:ea typeface="Yu Gothic UI"/>
                <a:cs typeface="Yu Gothic UI"/>
              </a:defRPr>
            </a:pPr>
            <a:r>
              <a:rPr sz="1013" b="0">
                <a:solidFill>
                  <a:srgbClr val="344054"/>
                </a:solidFill>
                <a:latin typeface="Yu Gothic UI"/>
                <a:ea typeface="Yu Gothic UI"/>
                <a:cs typeface="Yu Gothic UI"/>
              </a:rPr>
              <a:t>Web 層を VM で作り、Public IP と NSG を通る HTTP 到達を確認します。</a:t>
            </a:r>
          </a:p>
        </p:txBody>
      </p:sp>
    </p:spTree>
    <p:extLst>
      <p:ext uri="{BB962C8B-B14F-4D97-AF65-F5344CB8AC3E}">
        <p14:creationId xmlns:p14="http://schemas.microsoft.com/office/powerpoint/2010/main" val="18816902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5530251-992A-4156-B83D-4C1DDE9EBC6A}"/>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今日のゴール</a:t>
            </a:r>
          </a:p>
        </p:txBody>
      </p:sp>
      <p:sp>
        <p:nvSpPr>
          <p:cNvPr id="2" name="">
            <a:extLst xmlns:a="http://schemas.openxmlformats.org/drawingml/2006/main">
              <a:ext uri="{FF2B5EF4-FFF2-40B4-BE49-F238E27FC236}">
                <a16:creationId xmlns:a16="http://schemas.microsoft.com/office/drawing/2014/main" id="{49E29064-6825-41E6-AAB1-FFC2CEA874C3}"/>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215ABA3C-8968-4666-954D-0FF39486869C}"/>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02</a:t>
            </a:r>
          </a:p>
        </p:txBody>
      </p:sp>
      <p:sp>
        <p:nvSpPr>
          <p:cNvPr id="4" name="">
            <a:extLst xmlns:a="http://schemas.openxmlformats.org/drawingml/2006/main">
              <a:ext uri="{FF2B5EF4-FFF2-40B4-BE49-F238E27FC236}">
                <a16:creationId xmlns:a16="http://schemas.microsoft.com/office/drawing/2014/main" id="{C0BE501A-4A74-464E-AB9F-CD24067335A9}"/>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8A1B54C-98FA-4074-9764-D80D83A05B9B}"/>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Azure VM を作って NGINX を動かし、ブラウザーから Public IP へアクセスして Web サーバの表示を確認します。</a:t>
            </a:r>
          </a:p>
        </p:txBody>
      </p:sp>
      <p:sp>
        <p:nvSpPr>
          <p:cNvPr id="6" name="">
            <a:extLst xmlns:a="http://schemas.openxmlformats.org/drawingml/2006/main">
              <a:ext uri="{FF2B5EF4-FFF2-40B4-BE49-F238E27FC236}">
                <a16:creationId xmlns:a16="http://schemas.microsoft.com/office/drawing/2014/main" id="{380A7E71-033F-4C7D-B741-C41BB9493886}"/>
              </a:ext>
            </a:extLst>
          </p:cNvPr>
          <p:cNvSpPr>
            <a:spLocks xmlns:a="http://schemas.openxmlformats.org/drawingml/2006/main" noGrp="1"/>
          </p:cNvSpPr>
          <p:nvPr/>
        </p:nvSpPr>
        <p:spPr>
          <a:xfrm xmlns:a="http://schemas.openxmlformats.org/drawingml/2006/main">
            <a:off x="895350" y="21145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9CEE515A-205F-47F0-B964-FE83AE341934}"/>
              </a:ext>
            </a:extLst>
          </p:cNvPr>
          <p:cNvSpPr>
            <a:spLocks xmlns:a="http://schemas.openxmlformats.org/drawingml/2006/main" noGrp="1"/>
          </p:cNvSpPr>
          <p:nvPr/>
        </p:nvSpPr>
        <p:spPr>
          <a:xfrm xmlns:a="http://schemas.openxmlformats.org/drawingml/2006/main">
            <a:off x="895350" y="2114550"/>
            <a:ext cx="76200" cy="12954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19C42695-A401-4B6B-AAFC-6124F0D5C10E}"/>
              </a:ext>
            </a:extLst>
          </p:cNvPr>
          <p:cNvSpPr>
            <a:spLocks xmlns:a="http://schemas.openxmlformats.org/drawingml/2006/main" noGrp="1"/>
          </p:cNvSpPr>
          <p:nvPr/>
        </p:nvSpPr>
        <p:spPr>
          <a:xfrm xmlns:a="http://schemas.openxmlformats.org/drawingml/2006/main">
            <a:off x="1104900" y="22669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0F766E"/>
                </a:solidFill>
                <a:latin typeface="Yu Gothic UI"/>
                <a:ea typeface="Yu Gothic UI"/>
                <a:cs typeface="Yu Gothic UI"/>
              </a:defRPr>
            </a:pPr>
            <a:r>
              <a:rPr sz="713" b="1">
                <a:solidFill>
                  <a:srgbClr val="0F766E"/>
                </a:solidFill>
                <a:latin typeface="Yu Gothic UI"/>
                <a:ea typeface="Yu Gothic UI"/>
                <a:cs typeface="Yu Gothic UI"/>
              </a:rPr>
              <a:t>Goal 1</a:t>
            </a:r>
          </a:p>
        </p:txBody>
      </p:sp>
      <p:sp>
        <p:nvSpPr>
          <p:cNvPr id="9" name="">
            <a:extLst xmlns:a="http://schemas.openxmlformats.org/drawingml/2006/main">
              <a:ext uri="{FF2B5EF4-FFF2-40B4-BE49-F238E27FC236}">
                <a16:creationId xmlns:a16="http://schemas.microsoft.com/office/drawing/2014/main" id="{7382116B-6D8E-4F29-95F1-94D7D57C4FA0}"/>
              </a:ext>
            </a:extLst>
          </p:cNvPr>
          <p:cNvSpPr>
            <a:spLocks xmlns:a="http://schemas.openxmlformats.org/drawingml/2006/main" noGrp="1"/>
          </p:cNvSpPr>
          <p:nvPr/>
        </p:nvSpPr>
        <p:spPr>
          <a:xfrm xmlns:a="http://schemas.openxmlformats.org/drawingml/2006/main">
            <a:off x="1104900" y="25146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Web サーバを構築</a:t>
            </a:r>
          </a:p>
        </p:txBody>
      </p:sp>
      <p:sp>
        <p:nvSpPr>
          <p:cNvPr id="10" name="">
            <a:extLst xmlns:a="http://schemas.openxmlformats.org/drawingml/2006/main">
              <a:ext uri="{FF2B5EF4-FFF2-40B4-BE49-F238E27FC236}">
                <a16:creationId xmlns:a16="http://schemas.microsoft.com/office/drawing/2014/main" id="{682E58D1-18B8-4D86-8F27-F077A75B9C64}"/>
              </a:ext>
            </a:extLst>
          </p:cNvPr>
          <p:cNvSpPr>
            <a:spLocks xmlns:a="http://schemas.openxmlformats.org/drawingml/2006/main" noGrp="1"/>
          </p:cNvSpPr>
          <p:nvPr/>
        </p:nvSpPr>
        <p:spPr>
          <a:xfrm xmlns:a="http://schemas.openxmlformats.org/drawingml/2006/main">
            <a:off x="1104900" y="29146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Azure VM 上に NGINX を用意し、ブラウザーから表示できる状態にします。</a:t>
            </a:r>
          </a:p>
        </p:txBody>
      </p:sp>
      <p:sp>
        <p:nvSpPr>
          <p:cNvPr id="11" name="">
            <a:extLst xmlns:a="http://schemas.openxmlformats.org/drawingml/2006/main">
              <a:ext uri="{FF2B5EF4-FFF2-40B4-BE49-F238E27FC236}">
                <a16:creationId xmlns:a16="http://schemas.microsoft.com/office/drawing/2014/main" id="{4E1E5263-3711-401B-BB51-FB40058BEACB}"/>
              </a:ext>
            </a:extLst>
          </p:cNvPr>
          <p:cNvSpPr>
            <a:spLocks xmlns:a="http://schemas.openxmlformats.org/drawingml/2006/main" noGrp="1"/>
          </p:cNvSpPr>
          <p:nvPr/>
        </p:nvSpPr>
        <p:spPr>
          <a:xfrm xmlns:a="http://schemas.openxmlformats.org/drawingml/2006/main">
            <a:off x="6115050" y="21145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228AF94F-C26D-49F7-999E-E0189B1A7968}"/>
              </a:ext>
            </a:extLst>
          </p:cNvPr>
          <p:cNvSpPr>
            <a:spLocks xmlns:a="http://schemas.openxmlformats.org/drawingml/2006/main" noGrp="1"/>
          </p:cNvSpPr>
          <p:nvPr/>
        </p:nvSpPr>
        <p:spPr>
          <a:xfrm xmlns:a="http://schemas.openxmlformats.org/drawingml/2006/main">
            <a:off x="6115050" y="2114550"/>
            <a:ext cx="76200" cy="129540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13" name="">
            <a:extLst xmlns:a="http://schemas.openxmlformats.org/drawingml/2006/main">
              <a:ext uri="{FF2B5EF4-FFF2-40B4-BE49-F238E27FC236}">
                <a16:creationId xmlns:a16="http://schemas.microsoft.com/office/drawing/2014/main" id="{58995B95-9B85-4695-B4E9-C8991AE4131C}"/>
              </a:ext>
            </a:extLst>
          </p:cNvPr>
          <p:cNvSpPr>
            <a:spLocks xmlns:a="http://schemas.openxmlformats.org/drawingml/2006/main" noGrp="1"/>
          </p:cNvSpPr>
          <p:nvPr/>
        </p:nvSpPr>
        <p:spPr>
          <a:xfrm xmlns:a="http://schemas.openxmlformats.org/drawingml/2006/main">
            <a:off x="6324600" y="22669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Goal 2</a:t>
            </a:r>
          </a:p>
        </p:txBody>
      </p:sp>
      <p:sp>
        <p:nvSpPr>
          <p:cNvPr id="14" name="">
            <a:extLst xmlns:a="http://schemas.openxmlformats.org/drawingml/2006/main">
              <a:ext uri="{FF2B5EF4-FFF2-40B4-BE49-F238E27FC236}">
                <a16:creationId xmlns:a16="http://schemas.microsoft.com/office/drawing/2014/main" id="{EF77E370-9D3B-4FD9-928F-839BF76535F1}"/>
              </a:ext>
            </a:extLst>
          </p:cNvPr>
          <p:cNvSpPr>
            <a:spLocks xmlns:a="http://schemas.openxmlformats.org/drawingml/2006/main" noGrp="1"/>
          </p:cNvSpPr>
          <p:nvPr/>
        </p:nvSpPr>
        <p:spPr>
          <a:xfrm xmlns:a="http://schemas.openxmlformats.org/drawingml/2006/main">
            <a:off x="6324600" y="25146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周辺リソースを理解</a:t>
            </a:r>
          </a:p>
        </p:txBody>
      </p:sp>
      <p:sp>
        <p:nvSpPr>
          <p:cNvPr id="15" name="">
            <a:extLst xmlns:a="http://schemas.openxmlformats.org/drawingml/2006/main">
              <a:ext uri="{FF2B5EF4-FFF2-40B4-BE49-F238E27FC236}">
                <a16:creationId xmlns:a16="http://schemas.microsoft.com/office/drawing/2014/main" id="{AFAA0059-F04D-4767-973B-4E185C7C6B05}"/>
              </a:ext>
            </a:extLst>
          </p:cNvPr>
          <p:cNvSpPr>
            <a:spLocks xmlns:a="http://schemas.openxmlformats.org/drawingml/2006/main" noGrp="1"/>
          </p:cNvSpPr>
          <p:nvPr/>
        </p:nvSpPr>
        <p:spPr>
          <a:xfrm xmlns:a="http://schemas.openxmlformats.org/drawingml/2006/main">
            <a:off x="6324600" y="29146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Managed Disk、NIC、VNet、Public IP、NSG の役割を確認します。</a:t>
            </a:r>
          </a:p>
        </p:txBody>
      </p:sp>
      <p:sp>
        <p:nvSpPr>
          <p:cNvPr id="16" name="">
            <a:extLst xmlns:a="http://schemas.openxmlformats.org/drawingml/2006/main">
              <a:ext uri="{FF2B5EF4-FFF2-40B4-BE49-F238E27FC236}">
                <a16:creationId xmlns:a16="http://schemas.microsoft.com/office/drawing/2014/main" id="{4DB7D9AA-CC66-434C-8553-E773EB50636D}"/>
              </a:ext>
            </a:extLst>
          </p:cNvPr>
          <p:cNvSpPr>
            <a:spLocks xmlns:a="http://schemas.openxmlformats.org/drawingml/2006/main" noGrp="1"/>
          </p:cNvSpPr>
          <p:nvPr/>
        </p:nvSpPr>
        <p:spPr>
          <a:xfrm xmlns:a="http://schemas.openxmlformats.org/drawingml/2006/main">
            <a:off x="895350" y="37147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ED3CBA5B-5064-4B14-957D-2F97F9B76D44}"/>
              </a:ext>
            </a:extLst>
          </p:cNvPr>
          <p:cNvSpPr>
            <a:spLocks xmlns:a="http://schemas.openxmlformats.org/drawingml/2006/main" noGrp="1"/>
          </p:cNvSpPr>
          <p:nvPr/>
        </p:nvSpPr>
        <p:spPr>
          <a:xfrm xmlns:a="http://schemas.openxmlformats.org/drawingml/2006/main">
            <a:off x="895350" y="3714750"/>
            <a:ext cx="76200" cy="1295400"/>
          </a:xfrm>
          <a:prstGeom xmlns:a="http://schemas.openxmlformats.org/drawingml/2006/main" prst="rect">
            <a:avLst/>
          </a:prstGeom>
          <a:solidFill xmlns:a="http://schemas.openxmlformats.org/drawingml/2006/main">
            <a:srgbClr val="ED7D31"/>
          </a:solidFill>
          <a:ln xmlns:a="http://schemas.openxmlformats.org/drawingml/2006/main" w="0">
            <a:solidFill>
              <a:srgbClr val="ED7D31"/>
            </a:solidFill>
            <a:prstDash val="solid"/>
          </a:ln>
        </p:spPr>
      </p:sp>
      <p:sp>
        <p:nvSpPr>
          <p:cNvPr id="18" name="">
            <a:extLst xmlns:a="http://schemas.openxmlformats.org/drawingml/2006/main">
              <a:ext uri="{FF2B5EF4-FFF2-40B4-BE49-F238E27FC236}">
                <a16:creationId xmlns:a16="http://schemas.microsoft.com/office/drawing/2014/main" id="{234F552D-F3BB-4E12-BFC0-3C166A8402E0}"/>
              </a:ext>
            </a:extLst>
          </p:cNvPr>
          <p:cNvSpPr>
            <a:spLocks xmlns:a="http://schemas.openxmlformats.org/drawingml/2006/main" noGrp="1"/>
          </p:cNvSpPr>
          <p:nvPr/>
        </p:nvSpPr>
        <p:spPr>
          <a:xfrm xmlns:a="http://schemas.openxmlformats.org/drawingml/2006/main">
            <a:off x="1104900" y="38671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D7D31"/>
                </a:solidFill>
                <a:latin typeface="Yu Gothic UI"/>
                <a:ea typeface="Yu Gothic UI"/>
                <a:cs typeface="Yu Gothic UI"/>
              </a:defRPr>
            </a:pPr>
            <a:r>
              <a:rPr sz="713" b="1">
                <a:solidFill>
                  <a:srgbClr val="ED7D31"/>
                </a:solidFill>
                <a:latin typeface="Yu Gothic UI"/>
                <a:ea typeface="Yu Gothic UI"/>
                <a:cs typeface="Yu Gothic UI"/>
              </a:rPr>
              <a:t>Goal 3</a:t>
            </a:r>
          </a:p>
        </p:txBody>
      </p:sp>
      <p:sp>
        <p:nvSpPr>
          <p:cNvPr id="19" name="">
            <a:extLst xmlns:a="http://schemas.openxmlformats.org/drawingml/2006/main">
              <a:ext uri="{FF2B5EF4-FFF2-40B4-BE49-F238E27FC236}">
                <a16:creationId xmlns:a16="http://schemas.microsoft.com/office/drawing/2014/main" id="{A701E741-8BBA-46D5-A16B-7F43B5360B68}"/>
              </a:ext>
            </a:extLst>
          </p:cNvPr>
          <p:cNvSpPr>
            <a:spLocks xmlns:a="http://schemas.openxmlformats.org/drawingml/2006/main" noGrp="1"/>
          </p:cNvSpPr>
          <p:nvPr/>
        </p:nvSpPr>
        <p:spPr>
          <a:xfrm xmlns:a="http://schemas.openxmlformats.org/drawingml/2006/main">
            <a:off x="1104900" y="41148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HTTP の入口を見る</a:t>
            </a:r>
          </a:p>
        </p:txBody>
      </p:sp>
      <p:sp>
        <p:nvSpPr>
          <p:cNvPr id="20" name="">
            <a:extLst xmlns:a="http://schemas.openxmlformats.org/drawingml/2006/main">
              <a:ext uri="{FF2B5EF4-FFF2-40B4-BE49-F238E27FC236}">
                <a16:creationId xmlns:a16="http://schemas.microsoft.com/office/drawing/2014/main" id="{A5039819-A250-4A83-8A03-9D2379E63572}"/>
              </a:ext>
            </a:extLst>
          </p:cNvPr>
          <p:cNvSpPr>
            <a:spLocks xmlns:a="http://schemas.openxmlformats.org/drawingml/2006/main" noGrp="1"/>
          </p:cNvSpPr>
          <p:nvPr/>
        </p:nvSpPr>
        <p:spPr>
          <a:xfrm xmlns:a="http://schemas.openxmlformats.org/drawingml/2006/main">
            <a:off x="1104900" y="45148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Public IP と NSG が Web サーバ公開にどう関係するかを追います。</a:t>
            </a:r>
          </a:p>
        </p:txBody>
      </p:sp>
      <p:sp>
        <p:nvSpPr>
          <p:cNvPr id="21" name="">
            <a:extLst xmlns:a="http://schemas.openxmlformats.org/drawingml/2006/main">
              <a:ext uri="{FF2B5EF4-FFF2-40B4-BE49-F238E27FC236}">
                <a16:creationId xmlns:a16="http://schemas.microsoft.com/office/drawing/2014/main" id="{76B60639-B024-4805-B031-10A7DB3606B7}"/>
              </a:ext>
            </a:extLst>
          </p:cNvPr>
          <p:cNvSpPr>
            <a:spLocks xmlns:a="http://schemas.openxmlformats.org/drawingml/2006/main" noGrp="1"/>
          </p:cNvSpPr>
          <p:nvPr/>
        </p:nvSpPr>
        <p:spPr>
          <a:xfrm xmlns:a="http://schemas.openxmlformats.org/drawingml/2006/main">
            <a:off x="6115050" y="37147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A7FE47EF-40F3-4B12-8189-BAFE316BE289}"/>
              </a:ext>
            </a:extLst>
          </p:cNvPr>
          <p:cNvSpPr>
            <a:spLocks xmlns:a="http://schemas.openxmlformats.org/drawingml/2006/main" noGrp="1"/>
          </p:cNvSpPr>
          <p:nvPr/>
        </p:nvSpPr>
        <p:spPr>
          <a:xfrm xmlns:a="http://schemas.openxmlformats.org/drawingml/2006/main">
            <a:off x="6115050" y="3714750"/>
            <a:ext cx="76200" cy="12954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23" name="">
            <a:extLst xmlns:a="http://schemas.openxmlformats.org/drawingml/2006/main">
              <a:ext uri="{FF2B5EF4-FFF2-40B4-BE49-F238E27FC236}">
                <a16:creationId xmlns:a16="http://schemas.microsoft.com/office/drawing/2014/main" id="{07028301-CDAC-4905-8AE9-838CEC6B2ADA}"/>
              </a:ext>
            </a:extLst>
          </p:cNvPr>
          <p:cNvSpPr>
            <a:spLocks xmlns:a="http://schemas.openxmlformats.org/drawingml/2006/main" noGrp="1"/>
          </p:cNvSpPr>
          <p:nvPr/>
        </p:nvSpPr>
        <p:spPr>
          <a:xfrm xmlns:a="http://schemas.openxmlformats.org/drawingml/2006/main">
            <a:off x="6324600" y="38671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4472C4"/>
                </a:solidFill>
                <a:latin typeface="Yu Gothic UI"/>
                <a:ea typeface="Yu Gothic UI"/>
                <a:cs typeface="Yu Gothic UI"/>
              </a:defRPr>
            </a:pPr>
            <a:r>
              <a:rPr sz="713" b="1">
                <a:solidFill>
                  <a:srgbClr val="4472C4"/>
                </a:solidFill>
                <a:latin typeface="Yu Gothic UI"/>
                <a:ea typeface="Yu Gothic UI"/>
                <a:cs typeface="Yu Gothic UI"/>
              </a:rPr>
              <a:t>Goal 4</a:t>
            </a:r>
          </a:p>
        </p:txBody>
      </p:sp>
      <p:sp>
        <p:nvSpPr>
          <p:cNvPr id="24" name="">
            <a:extLst xmlns:a="http://schemas.openxmlformats.org/drawingml/2006/main">
              <a:ext uri="{FF2B5EF4-FFF2-40B4-BE49-F238E27FC236}">
                <a16:creationId xmlns:a16="http://schemas.microsoft.com/office/drawing/2014/main" id="{393CDDB1-E5BA-441B-927D-222050358892}"/>
              </a:ext>
            </a:extLst>
          </p:cNvPr>
          <p:cNvSpPr>
            <a:spLocks xmlns:a="http://schemas.openxmlformats.org/drawingml/2006/main" noGrp="1"/>
          </p:cNvSpPr>
          <p:nvPr/>
        </p:nvSpPr>
        <p:spPr>
          <a:xfrm xmlns:a="http://schemas.openxmlformats.org/drawingml/2006/main">
            <a:off x="6324600" y="41148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課金を残さない</a:t>
            </a:r>
          </a:p>
        </p:txBody>
      </p:sp>
      <p:sp>
        <p:nvSpPr>
          <p:cNvPr id="25" name="">
            <a:extLst xmlns:a="http://schemas.openxmlformats.org/drawingml/2006/main">
              <a:ext uri="{FF2B5EF4-FFF2-40B4-BE49-F238E27FC236}">
                <a16:creationId xmlns:a16="http://schemas.microsoft.com/office/drawing/2014/main" id="{8F9D1949-0EED-437A-A730-763C16F2978F}"/>
              </a:ext>
            </a:extLst>
          </p:cNvPr>
          <p:cNvSpPr>
            <a:spLocks xmlns:a="http://schemas.openxmlformats.org/drawingml/2006/main" noGrp="1"/>
          </p:cNvSpPr>
          <p:nvPr/>
        </p:nvSpPr>
        <p:spPr>
          <a:xfrm xmlns:a="http://schemas.openxmlformats.org/drawingml/2006/main">
            <a:off x="6324600" y="45148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最後にリソースグループを削除し、作成したリソースを残さない状態にします。</a:t>
            </a:r>
          </a:p>
        </p:txBody>
      </p:sp>
      <p:sp>
        <p:nvSpPr>
          <p:cNvPr id="26" name="">
            <a:extLst xmlns:a="http://schemas.openxmlformats.org/drawingml/2006/main">
              <a:ext uri="{FF2B5EF4-FFF2-40B4-BE49-F238E27FC236}">
                <a16:creationId xmlns:a16="http://schemas.microsoft.com/office/drawing/2014/main" id="{7F0A8CC4-1FBE-4474-94B3-F1D877176992}"/>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 / 46</a:t>
            </a:r>
          </a:p>
        </p:txBody>
      </p:sp>
    </p:spTree>
    <p:extLst>
      <p:ext uri="{BB962C8B-B14F-4D97-AF65-F5344CB8AC3E}">
        <p14:creationId xmlns:p14="http://schemas.microsoft.com/office/powerpoint/2010/main" val="118607714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9B19B5-C5F7-4109-B6B3-9DC3FEDAB348}"/>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前回の振り返り</a:t>
            </a:r>
          </a:p>
        </p:txBody>
      </p:sp>
      <p:sp>
        <p:nvSpPr>
          <p:cNvPr id="2" name="">
            <a:extLst xmlns:a="http://schemas.openxmlformats.org/drawingml/2006/main">
              <a:ext uri="{FF2B5EF4-FFF2-40B4-BE49-F238E27FC236}">
                <a16:creationId xmlns:a16="http://schemas.microsoft.com/office/drawing/2014/main" id="{AD428A6E-C79C-4B18-BE97-6A410E04BA96}"/>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A37FC832-DBB8-40EB-937C-D01DD777FD15}"/>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03</a:t>
            </a:r>
          </a:p>
        </p:txBody>
      </p:sp>
      <p:sp>
        <p:nvSpPr>
          <p:cNvPr id="4" name="">
            <a:extLst xmlns:a="http://schemas.openxmlformats.org/drawingml/2006/main">
              <a:ext uri="{FF2B5EF4-FFF2-40B4-BE49-F238E27FC236}">
                <a16:creationId xmlns:a16="http://schemas.microsoft.com/office/drawing/2014/main" id="{DAE3F86C-52C2-4FF9-8A10-B02735770F6D}"/>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E2E453D-2290-437C-A9DA-08A46E273008}"/>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第2回では、Web 層、AP 層、DB 層という役割の分け方を学びました。第3回では、そのうち利用者に近い Web 層を小さく作ります。</a:t>
            </a:r>
          </a:p>
        </p:txBody>
      </p:sp>
      <p:sp>
        <p:nvSpPr>
          <p:cNvPr id="6" name="">
            <a:extLst xmlns:a="http://schemas.openxmlformats.org/drawingml/2006/main">
              <a:ext uri="{FF2B5EF4-FFF2-40B4-BE49-F238E27FC236}">
                <a16:creationId xmlns:a16="http://schemas.microsoft.com/office/drawing/2014/main" id="{8E43CE41-5392-4D4F-A81A-760A6037981A}"/>
              </a:ext>
            </a:extLst>
          </p:cNvPr>
          <p:cNvSpPr>
            <a:spLocks xmlns:a="http://schemas.openxmlformats.org/drawingml/2006/main" noGrp="1"/>
          </p:cNvSpPr>
          <p:nvPr/>
        </p:nvSpPr>
        <p:spPr>
          <a:xfrm xmlns:a="http://schemas.openxmlformats.org/drawingml/2006/main">
            <a:off x="914400" y="2628900"/>
            <a:ext cx="3302000" cy="1143000"/>
          </a:xfrm>
          <a:prstGeom xmlns:a="http://schemas.openxmlformats.org/drawingml/2006/main" prst="rect">
            <a:avLst/>
          </a:prstGeom>
          <a:solidFill xmlns:a="http://schemas.openxmlformats.org/drawingml/2006/main">
            <a:srgbClr val="EAF1FB"/>
          </a:solidFill>
          <a:ln xmlns:a="http://schemas.openxmlformats.org/drawingml/2006/main" w="13335">
            <a:solidFill>
              <a:srgbClr val="0F766E"/>
            </a:solidFill>
            <a:prstDash val="solid"/>
          </a:ln>
        </p:spPr>
      </p:sp>
      <p:sp>
        <p:nvSpPr>
          <p:cNvPr id="7" name="">
            <a:extLst xmlns:a="http://schemas.openxmlformats.org/drawingml/2006/main">
              <a:ext uri="{FF2B5EF4-FFF2-40B4-BE49-F238E27FC236}">
                <a16:creationId xmlns:a16="http://schemas.microsoft.com/office/drawing/2014/main" id="{BF6EFBB1-953C-4775-B8EE-B70E2DD4D269}"/>
              </a:ext>
            </a:extLst>
          </p:cNvPr>
          <p:cNvSpPr>
            <a:spLocks xmlns:a="http://schemas.openxmlformats.org/drawingml/2006/main" noGrp="1"/>
          </p:cNvSpPr>
          <p:nvPr/>
        </p:nvSpPr>
        <p:spPr>
          <a:xfrm xmlns:a="http://schemas.openxmlformats.org/drawingml/2006/main">
            <a:off x="1009650" y="2819400"/>
            <a:ext cx="3111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Web 層 今回作る: NGINX on Azure VM</a:t>
            </a:r>
          </a:p>
        </p:txBody>
      </p:sp>
      <p:sp>
        <p:nvSpPr>
          <p:cNvPr id="8" name="">
            <a:extLst xmlns:a="http://schemas.openxmlformats.org/drawingml/2006/main">
              <a:ext uri="{FF2B5EF4-FFF2-40B4-BE49-F238E27FC236}">
                <a16:creationId xmlns:a16="http://schemas.microsoft.com/office/drawing/2014/main" id="{1D042785-E752-43F3-ADA1-2F441F231DB9}"/>
              </a:ext>
            </a:extLst>
          </p:cNvPr>
          <p:cNvSpPr>
            <a:spLocks xmlns:a="http://schemas.openxmlformats.org/drawingml/2006/main" noGrp="1"/>
          </p:cNvSpPr>
          <p:nvPr/>
        </p:nvSpPr>
        <p:spPr>
          <a:xfrm xmlns:a="http://schemas.openxmlformats.org/drawingml/2006/main">
            <a:off x="4216400" y="3076575"/>
            <a:ext cx="228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0">
                <a:solidFill>
                  <a:srgbClr val="4472C4"/>
                </a:solidFill>
                <a:latin typeface="Yu Gothic UI"/>
                <a:ea typeface="Yu Gothic UI"/>
                <a:cs typeface="Yu Gothic UI"/>
              </a:defRPr>
            </a:pPr>
            <a:r>
              <a:rPr sz="1350" b="0">
                <a:solidFill>
                  <a:srgbClr val="4472C4"/>
                </a:solidFill>
                <a:latin typeface="Yu Gothic UI"/>
                <a:ea typeface="Yu Gothic UI"/>
                <a:cs typeface="Yu Gothic UI"/>
              </a:rPr>
              <a:t>→</a:t>
            </a:r>
          </a:p>
        </p:txBody>
      </p:sp>
      <p:sp>
        <p:nvSpPr>
          <p:cNvPr id="9" name="">
            <a:extLst xmlns:a="http://schemas.openxmlformats.org/drawingml/2006/main">
              <a:ext uri="{FF2B5EF4-FFF2-40B4-BE49-F238E27FC236}">
                <a16:creationId xmlns:a16="http://schemas.microsoft.com/office/drawing/2014/main" id="{36DCDEC3-AC1A-44C6-BCFD-788FE13CE391}"/>
              </a:ext>
            </a:extLst>
          </p:cNvPr>
          <p:cNvSpPr>
            <a:spLocks xmlns:a="http://schemas.openxmlformats.org/drawingml/2006/main" noGrp="1"/>
          </p:cNvSpPr>
          <p:nvPr/>
        </p:nvSpPr>
        <p:spPr>
          <a:xfrm xmlns:a="http://schemas.openxmlformats.org/drawingml/2006/main">
            <a:off x="4445000" y="2628900"/>
            <a:ext cx="3302000" cy="1143000"/>
          </a:xfrm>
          <a:prstGeom xmlns:a="http://schemas.openxmlformats.org/drawingml/2006/main" prst="rect">
            <a:avLst/>
          </a:prstGeom>
          <a:solidFill xmlns:a="http://schemas.openxmlformats.org/drawingml/2006/main">
            <a:srgbClr val="FFFFFF"/>
          </a:solidFill>
          <a:ln xmlns:a="http://schemas.openxmlformats.org/drawingml/2006/main" w="13335">
            <a:solidFill>
              <a:srgbClr val="70AD47"/>
            </a:solidFill>
            <a:prstDash val="solid"/>
          </a:ln>
        </p:spPr>
      </p:sp>
      <p:sp>
        <p:nvSpPr>
          <p:cNvPr id="10" name="">
            <a:extLst xmlns:a="http://schemas.openxmlformats.org/drawingml/2006/main">
              <a:ext uri="{FF2B5EF4-FFF2-40B4-BE49-F238E27FC236}">
                <a16:creationId xmlns:a16="http://schemas.microsoft.com/office/drawing/2014/main" id="{C144C09E-FF28-40A0-8035-1A12547C939F}"/>
              </a:ext>
            </a:extLst>
          </p:cNvPr>
          <p:cNvSpPr>
            <a:spLocks xmlns:a="http://schemas.openxmlformats.org/drawingml/2006/main" noGrp="1"/>
          </p:cNvSpPr>
          <p:nvPr/>
        </p:nvSpPr>
        <p:spPr>
          <a:xfrm xmlns:a="http://schemas.openxmlformats.org/drawingml/2006/main">
            <a:off x="4540250" y="2819400"/>
            <a:ext cx="3111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AP 層 今回は未作成</a:t>
            </a:r>
          </a:p>
        </p:txBody>
      </p:sp>
      <p:sp>
        <p:nvSpPr>
          <p:cNvPr id="11" name="">
            <a:extLst xmlns:a="http://schemas.openxmlformats.org/drawingml/2006/main">
              <a:ext uri="{FF2B5EF4-FFF2-40B4-BE49-F238E27FC236}">
                <a16:creationId xmlns:a16="http://schemas.microsoft.com/office/drawing/2014/main" id="{A8D58A6D-D793-4496-82A9-694F9DD940BF}"/>
              </a:ext>
            </a:extLst>
          </p:cNvPr>
          <p:cNvSpPr>
            <a:spLocks xmlns:a="http://schemas.openxmlformats.org/drawingml/2006/main" noGrp="1"/>
          </p:cNvSpPr>
          <p:nvPr/>
        </p:nvSpPr>
        <p:spPr>
          <a:xfrm xmlns:a="http://schemas.openxmlformats.org/drawingml/2006/main">
            <a:off x="7747000" y="3076575"/>
            <a:ext cx="228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0">
                <a:solidFill>
                  <a:srgbClr val="4472C4"/>
                </a:solidFill>
                <a:latin typeface="Yu Gothic UI"/>
                <a:ea typeface="Yu Gothic UI"/>
                <a:cs typeface="Yu Gothic UI"/>
              </a:defRPr>
            </a:pPr>
            <a:r>
              <a:rPr sz="1350" b="0">
                <a:solidFill>
                  <a:srgbClr val="4472C4"/>
                </a:solidFill>
                <a:latin typeface="Yu Gothic UI"/>
                <a:ea typeface="Yu Gothic UI"/>
                <a:cs typeface="Yu Gothic UI"/>
              </a:rPr>
              <a:t>→</a:t>
            </a:r>
          </a:p>
        </p:txBody>
      </p:sp>
      <p:sp>
        <p:nvSpPr>
          <p:cNvPr id="12" name="">
            <a:extLst xmlns:a="http://schemas.openxmlformats.org/drawingml/2006/main">
              <a:ext uri="{FF2B5EF4-FFF2-40B4-BE49-F238E27FC236}">
                <a16:creationId xmlns:a16="http://schemas.microsoft.com/office/drawing/2014/main" id="{27B6741C-CB2A-4A2D-A74E-94F7DC54BF57}"/>
              </a:ext>
            </a:extLst>
          </p:cNvPr>
          <p:cNvSpPr>
            <a:spLocks xmlns:a="http://schemas.openxmlformats.org/drawingml/2006/main" noGrp="1"/>
          </p:cNvSpPr>
          <p:nvPr/>
        </p:nvSpPr>
        <p:spPr>
          <a:xfrm xmlns:a="http://schemas.openxmlformats.org/drawingml/2006/main">
            <a:off x="7975600" y="2628900"/>
            <a:ext cx="3302000" cy="1143000"/>
          </a:xfrm>
          <a:prstGeom xmlns:a="http://schemas.openxmlformats.org/drawingml/2006/main" prst="rect">
            <a:avLst/>
          </a:prstGeom>
          <a:solidFill xmlns:a="http://schemas.openxmlformats.org/drawingml/2006/main">
            <a:srgbClr val="FFFFFF"/>
          </a:solidFill>
          <a:ln xmlns:a="http://schemas.openxmlformats.org/drawingml/2006/main" w="13335">
            <a:solidFill>
              <a:srgbClr val="ED7D31"/>
            </a:solidFill>
            <a:prstDash val="solid"/>
          </a:ln>
        </p:spPr>
      </p:sp>
      <p:sp>
        <p:nvSpPr>
          <p:cNvPr id="13" name="">
            <a:extLst xmlns:a="http://schemas.openxmlformats.org/drawingml/2006/main">
              <a:ext uri="{FF2B5EF4-FFF2-40B4-BE49-F238E27FC236}">
                <a16:creationId xmlns:a16="http://schemas.microsoft.com/office/drawing/2014/main" id="{F69E8553-1D81-413D-B275-0B78246FD992}"/>
              </a:ext>
            </a:extLst>
          </p:cNvPr>
          <p:cNvSpPr>
            <a:spLocks xmlns:a="http://schemas.openxmlformats.org/drawingml/2006/main" noGrp="1"/>
          </p:cNvSpPr>
          <p:nvPr/>
        </p:nvSpPr>
        <p:spPr>
          <a:xfrm xmlns:a="http://schemas.openxmlformats.org/drawingml/2006/main">
            <a:off x="8070850" y="2819400"/>
            <a:ext cx="3111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DB 層 今回は未作成</a:t>
            </a:r>
          </a:p>
        </p:txBody>
      </p:sp>
      <p:sp>
        <p:nvSpPr>
          <p:cNvPr id="14" name="">
            <a:extLst xmlns:a="http://schemas.openxmlformats.org/drawingml/2006/main">
              <a:ext uri="{FF2B5EF4-FFF2-40B4-BE49-F238E27FC236}">
                <a16:creationId xmlns:a16="http://schemas.microsoft.com/office/drawing/2014/main" id="{4BC74250-1B6A-4941-9FF7-3FEE4C11E101}"/>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 / 46</a:t>
            </a:r>
          </a:p>
        </p:txBody>
      </p:sp>
    </p:spTree>
    <p:extLst>
      <p:ext uri="{BB962C8B-B14F-4D97-AF65-F5344CB8AC3E}">
        <p14:creationId xmlns:p14="http://schemas.microsoft.com/office/powerpoint/2010/main" val="118607714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4882EC-60E8-4E48-A51C-A93B2CD25875}"/>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いきなり3層すべてを作らない理由</a:t>
            </a:r>
          </a:p>
        </p:txBody>
      </p:sp>
      <p:sp>
        <p:nvSpPr>
          <p:cNvPr id="2" name="">
            <a:extLst xmlns:a="http://schemas.openxmlformats.org/drawingml/2006/main">
              <a:ext uri="{FF2B5EF4-FFF2-40B4-BE49-F238E27FC236}">
                <a16:creationId xmlns:a16="http://schemas.microsoft.com/office/drawing/2014/main" id="{891D36E3-FCBA-4A16-9B41-F8CC0F936ABB}"/>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4494C133-81AF-4DE5-BACE-08E82AC1CE10}"/>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04</a:t>
            </a:r>
          </a:p>
        </p:txBody>
      </p:sp>
      <p:sp>
        <p:nvSpPr>
          <p:cNvPr id="4" name="">
            <a:extLst xmlns:a="http://schemas.openxmlformats.org/drawingml/2006/main">
              <a:ext uri="{FF2B5EF4-FFF2-40B4-BE49-F238E27FC236}">
                <a16:creationId xmlns:a16="http://schemas.microsoft.com/office/drawing/2014/main" id="{92FFF0DA-1FE1-4247-8F40-40FBAE655D1A}"/>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E0C4627-5A7A-4FB4-A2EC-FDAAFA7D5394}"/>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第3回では Web 層に絞って、Azure のリソース作成、ネットワーク公開、画面表示確認までの流れを確実にします。</a:t>
            </a:r>
          </a:p>
        </p:txBody>
      </p:sp>
      <p:sp>
        <p:nvSpPr>
          <p:cNvPr id="6" name="">
            <a:extLst xmlns:a="http://schemas.openxmlformats.org/drawingml/2006/main">
              <a:ext uri="{FF2B5EF4-FFF2-40B4-BE49-F238E27FC236}">
                <a16:creationId xmlns:a16="http://schemas.microsoft.com/office/drawing/2014/main" id="{495E1D59-505B-49AC-AB61-2DA1367BF714}"/>
              </a:ext>
            </a:extLst>
          </p:cNvPr>
          <p:cNvSpPr>
            <a:spLocks xmlns:a="http://schemas.openxmlformats.org/drawingml/2006/main" noGrp="1"/>
          </p:cNvSpPr>
          <p:nvPr/>
        </p:nvSpPr>
        <p:spPr>
          <a:xfrm xmlns:a="http://schemas.openxmlformats.org/drawingml/2006/main">
            <a:off x="876300" y="2381250"/>
            <a:ext cx="4953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C3C02C91-0FF3-4522-BCAC-EA0126C51926}"/>
              </a:ext>
            </a:extLst>
          </p:cNvPr>
          <p:cNvSpPr>
            <a:spLocks xmlns:a="http://schemas.openxmlformats.org/drawingml/2006/main" noGrp="1"/>
          </p:cNvSpPr>
          <p:nvPr/>
        </p:nvSpPr>
        <p:spPr>
          <a:xfrm xmlns:a="http://schemas.openxmlformats.org/drawingml/2006/main">
            <a:off x="876300" y="2381250"/>
            <a:ext cx="76200" cy="20002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15CAA380-F102-4044-A8D3-9D0B78AC2509}"/>
              </a:ext>
            </a:extLst>
          </p:cNvPr>
          <p:cNvSpPr>
            <a:spLocks xmlns:a="http://schemas.openxmlformats.org/drawingml/2006/main" noGrp="1"/>
          </p:cNvSpPr>
          <p:nvPr/>
        </p:nvSpPr>
        <p:spPr>
          <a:xfrm xmlns:a="http://schemas.openxmlformats.org/drawingml/2006/main">
            <a:off x="1085850" y="25336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0F766E"/>
                </a:solidFill>
                <a:latin typeface="Yu Gothic UI"/>
                <a:ea typeface="Yu Gothic UI"/>
                <a:cs typeface="Yu Gothic UI"/>
              </a:defRPr>
            </a:pPr>
            <a:r>
              <a:rPr sz="713" b="1">
                <a:solidFill>
                  <a:srgbClr val="0F766E"/>
                </a:solidFill>
                <a:latin typeface="Yu Gothic UI"/>
                <a:ea typeface="Yu Gothic UI"/>
                <a:cs typeface="Yu Gothic UI"/>
              </a:rPr>
              <a:t>一度に広げすぎると</a:t>
            </a:r>
          </a:p>
        </p:txBody>
      </p:sp>
      <p:sp>
        <p:nvSpPr>
          <p:cNvPr id="9" name="">
            <a:extLst xmlns:a="http://schemas.openxmlformats.org/drawingml/2006/main">
              <a:ext uri="{FF2B5EF4-FFF2-40B4-BE49-F238E27FC236}">
                <a16:creationId xmlns:a16="http://schemas.microsoft.com/office/drawing/2014/main" id="{276F774B-907C-4BBD-8F60-ADCFF998CDA2}"/>
              </a:ext>
            </a:extLst>
          </p:cNvPr>
          <p:cNvSpPr>
            <a:spLocks xmlns:a="http://schemas.openxmlformats.org/drawingml/2006/main" noGrp="1"/>
          </p:cNvSpPr>
          <p:nvPr/>
        </p:nvSpPr>
        <p:spPr>
          <a:xfrm xmlns:a="http://schemas.openxmlformats.org/drawingml/2006/main">
            <a:off x="1085850" y="27813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作業対象が多い</a:t>
            </a:r>
          </a:p>
        </p:txBody>
      </p:sp>
      <p:sp>
        <p:nvSpPr>
          <p:cNvPr id="10" name="">
            <a:extLst xmlns:a="http://schemas.openxmlformats.org/drawingml/2006/main">
              <a:ext uri="{FF2B5EF4-FFF2-40B4-BE49-F238E27FC236}">
                <a16:creationId xmlns:a16="http://schemas.microsoft.com/office/drawing/2014/main" id="{9714E3F1-021B-452D-84C7-8DF58F9BA389}"/>
              </a:ext>
            </a:extLst>
          </p:cNvPr>
          <p:cNvSpPr>
            <a:spLocks xmlns:a="http://schemas.openxmlformats.org/drawingml/2006/main" noGrp="1"/>
          </p:cNvSpPr>
          <p:nvPr/>
        </p:nvSpPr>
        <p:spPr>
          <a:xfrm xmlns:a="http://schemas.openxmlformats.org/drawingml/2006/main">
            <a:off x="1085850" y="3181350"/>
            <a:ext cx="45529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Web、AP、DB、接続情報、認証、ネットワークを同時に扱うと、どこで詰まったか切り分けにくくなります。</a:t>
            </a:r>
          </a:p>
        </p:txBody>
      </p:sp>
      <p:sp>
        <p:nvSpPr>
          <p:cNvPr id="11" name="">
            <a:extLst xmlns:a="http://schemas.openxmlformats.org/drawingml/2006/main">
              <a:ext uri="{FF2B5EF4-FFF2-40B4-BE49-F238E27FC236}">
                <a16:creationId xmlns:a16="http://schemas.microsoft.com/office/drawing/2014/main" id="{F4EBDFED-91C9-4710-98BB-2E65BEC5BEB8}"/>
              </a:ext>
            </a:extLst>
          </p:cNvPr>
          <p:cNvSpPr>
            <a:spLocks xmlns:a="http://schemas.openxmlformats.org/drawingml/2006/main" noGrp="1"/>
          </p:cNvSpPr>
          <p:nvPr/>
        </p:nvSpPr>
        <p:spPr>
          <a:xfrm xmlns:a="http://schemas.openxmlformats.org/drawingml/2006/main">
            <a:off x="6191250" y="2381250"/>
            <a:ext cx="4953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F58E0A11-72EC-4899-A287-97FA19AF0D28}"/>
              </a:ext>
            </a:extLst>
          </p:cNvPr>
          <p:cNvSpPr>
            <a:spLocks xmlns:a="http://schemas.openxmlformats.org/drawingml/2006/main" noGrp="1"/>
          </p:cNvSpPr>
          <p:nvPr/>
        </p:nvSpPr>
        <p:spPr>
          <a:xfrm xmlns:a="http://schemas.openxmlformats.org/drawingml/2006/main">
            <a:off x="6191250" y="2381250"/>
            <a:ext cx="76200" cy="200025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13" name="">
            <a:extLst xmlns:a="http://schemas.openxmlformats.org/drawingml/2006/main">
              <a:ext uri="{FF2B5EF4-FFF2-40B4-BE49-F238E27FC236}">
                <a16:creationId xmlns:a16="http://schemas.microsoft.com/office/drawing/2014/main" id="{0469CF48-E69C-4D9F-8A22-3A378C858B1F}"/>
              </a:ext>
            </a:extLst>
          </p:cNvPr>
          <p:cNvSpPr>
            <a:spLocks xmlns:a="http://schemas.openxmlformats.org/drawingml/2006/main" noGrp="1"/>
          </p:cNvSpPr>
          <p:nvPr/>
        </p:nvSpPr>
        <p:spPr>
          <a:xfrm xmlns:a="http://schemas.openxmlformats.org/drawingml/2006/main">
            <a:off x="6400800" y="25336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今回の進め方</a:t>
            </a:r>
          </a:p>
        </p:txBody>
      </p:sp>
      <p:sp>
        <p:nvSpPr>
          <p:cNvPr id="14" name="">
            <a:extLst xmlns:a="http://schemas.openxmlformats.org/drawingml/2006/main">
              <a:ext uri="{FF2B5EF4-FFF2-40B4-BE49-F238E27FC236}">
                <a16:creationId xmlns:a16="http://schemas.microsoft.com/office/drawing/2014/main" id="{36099CF0-48CC-4194-9A4F-0E5E93ABCBBE}"/>
              </a:ext>
            </a:extLst>
          </p:cNvPr>
          <p:cNvSpPr>
            <a:spLocks xmlns:a="http://schemas.openxmlformats.org/drawingml/2006/main" noGrp="1"/>
          </p:cNvSpPr>
          <p:nvPr/>
        </p:nvSpPr>
        <p:spPr>
          <a:xfrm xmlns:a="http://schemas.openxmlformats.org/drawingml/2006/main">
            <a:off x="6400800" y="27813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入口を確実に作る</a:t>
            </a:r>
          </a:p>
        </p:txBody>
      </p:sp>
      <p:sp>
        <p:nvSpPr>
          <p:cNvPr id="15" name="">
            <a:extLst xmlns:a="http://schemas.openxmlformats.org/drawingml/2006/main">
              <a:ext uri="{FF2B5EF4-FFF2-40B4-BE49-F238E27FC236}">
                <a16:creationId xmlns:a16="http://schemas.microsoft.com/office/drawing/2014/main" id="{9370C162-7171-42E5-B469-9E45694A8DF9}"/>
              </a:ext>
            </a:extLst>
          </p:cNvPr>
          <p:cNvSpPr>
            <a:spLocks xmlns:a="http://schemas.openxmlformats.org/drawingml/2006/main" noGrp="1"/>
          </p:cNvSpPr>
          <p:nvPr/>
        </p:nvSpPr>
        <p:spPr>
          <a:xfrm xmlns:a="http://schemas.openxmlformats.org/drawingml/2006/main">
            <a:off x="6400800" y="3181350"/>
            <a:ext cx="45529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ブラウザーから VM 上の NGINX まで到達する流れを、Azure Portal の画面と構成図で確認します。</a:t>
            </a:r>
          </a:p>
        </p:txBody>
      </p:sp>
      <p:sp>
        <p:nvSpPr>
          <p:cNvPr id="16" name="">
            <a:extLst xmlns:a="http://schemas.openxmlformats.org/drawingml/2006/main">
              <a:ext uri="{FF2B5EF4-FFF2-40B4-BE49-F238E27FC236}">
                <a16:creationId xmlns:a16="http://schemas.microsoft.com/office/drawing/2014/main" id="{EC610FE7-6E75-437B-AB52-E66A7B53A666}"/>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4 / 46</a:t>
            </a:r>
          </a:p>
        </p:txBody>
      </p:sp>
    </p:spTree>
    <p:extLst>
      <p:ext uri="{BB962C8B-B14F-4D97-AF65-F5344CB8AC3E}">
        <p14:creationId xmlns:p14="http://schemas.microsoft.com/office/powerpoint/2010/main" val="118607714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5AFAA2-C6E5-4737-943C-0D1303192903}"/>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Azure IaaS とは何か</a:t>
            </a:r>
          </a:p>
        </p:txBody>
      </p:sp>
      <p:sp>
        <p:nvSpPr>
          <p:cNvPr id="2" name="">
            <a:extLst xmlns:a="http://schemas.openxmlformats.org/drawingml/2006/main">
              <a:ext uri="{FF2B5EF4-FFF2-40B4-BE49-F238E27FC236}">
                <a16:creationId xmlns:a16="http://schemas.microsoft.com/office/drawing/2014/main" id="{BF36D929-79ED-4029-BE26-FADD530CC89A}"/>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F2D711AE-1B03-4364-B8BB-B324A68BD32A}"/>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05</a:t>
            </a:r>
          </a:p>
        </p:txBody>
      </p:sp>
      <p:sp>
        <p:nvSpPr>
          <p:cNvPr id="4" name="">
            <a:extLst xmlns:a="http://schemas.openxmlformats.org/drawingml/2006/main">
              <a:ext uri="{FF2B5EF4-FFF2-40B4-BE49-F238E27FC236}">
                <a16:creationId xmlns:a16="http://schemas.microsoft.com/office/drawing/2014/main" id="{52D0B338-A35D-44B2-A828-FF9E9CDF93DC}"/>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41C7388-5947-49E3-B70E-FF720536C870}"/>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IaaS では、クラウド上に仮想的なサーバ、ネットワーク、ストレージを用意し、OS やミドルウェアの設定は利用者が管理します。</a:t>
            </a:r>
          </a:p>
        </p:txBody>
      </p:sp>
      <p:sp>
        <p:nvSpPr>
          <p:cNvPr id="6" name="">
            <a:extLst xmlns:a="http://schemas.openxmlformats.org/drawingml/2006/main">
              <a:ext uri="{FF2B5EF4-FFF2-40B4-BE49-F238E27FC236}">
                <a16:creationId xmlns:a16="http://schemas.microsoft.com/office/drawing/2014/main" id="{905CAD37-7A4E-45CE-891A-81DCE8016535}"/>
              </a:ext>
            </a:extLst>
          </p:cNvPr>
          <p:cNvSpPr>
            <a:spLocks xmlns:a="http://schemas.openxmlformats.org/drawingml/2006/main" noGrp="1"/>
          </p:cNvSpPr>
          <p:nvPr/>
        </p:nvSpPr>
        <p:spPr>
          <a:xfrm xmlns:a="http://schemas.openxmlformats.org/drawingml/2006/main">
            <a:off x="895350" y="21145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5FFB430D-C64C-439B-8A84-9C126B57B665}"/>
              </a:ext>
            </a:extLst>
          </p:cNvPr>
          <p:cNvSpPr>
            <a:spLocks xmlns:a="http://schemas.openxmlformats.org/drawingml/2006/main" noGrp="1"/>
          </p:cNvSpPr>
          <p:nvPr/>
        </p:nvSpPr>
        <p:spPr>
          <a:xfrm xmlns:a="http://schemas.openxmlformats.org/drawingml/2006/main">
            <a:off x="895350" y="2114550"/>
            <a:ext cx="76200" cy="12954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2DCF33F8-165E-4C90-9EB4-F550202826CE}"/>
              </a:ext>
            </a:extLst>
          </p:cNvPr>
          <p:cNvSpPr>
            <a:spLocks xmlns:a="http://schemas.openxmlformats.org/drawingml/2006/main" noGrp="1"/>
          </p:cNvSpPr>
          <p:nvPr/>
        </p:nvSpPr>
        <p:spPr>
          <a:xfrm xmlns:a="http://schemas.openxmlformats.org/drawingml/2006/main">
            <a:off x="1104900" y="22669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0F766E"/>
                </a:solidFill>
                <a:latin typeface="Yu Gothic UI"/>
                <a:ea typeface="Yu Gothic UI"/>
                <a:cs typeface="Yu Gothic UI"/>
              </a:defRPr>
            </a:pPr>
            <a:r>
              <a:rPr sz="713" b="1">
                <a:solidFill>
                  <a:srgbClr val="0F766E"/>
                </a:solidFill>
                <a:latin typeface="Yu Gothic UI"/>
                <a:ea typeface="Yu Gothic UI"/>
                <a:cs typeface="Yu Gothic UI"/>
              </a:rPr>
              <a:t>Azure が提供</a:t>
            </a:r>
          </a:p>
        </p:txBody>
      </p:sp>
      <p:sp>
        <p:nvSpPr>
          <p:cNvPr id="9" name="">
            <a:extLst xmlns:a="http://schemas.openxmlformats.org/drawingml/2006/main">
              <a:ext uri="{FF2B5EF4-FFF2-40B4-BE49-F238E27FC236}">
                <a16:creationId xmlns:a16="http://schemas.microsoft.com/office/drawing/2014/main" id="{58789038-5868-49EF-975F-6E84F84A499B}"/>
              </a:ext>
            </a:extLst>
          </p:cNvPr>
          <p:cNvSpPr>
            <a:spLocks xmlns:a="http://schemas.openxmlformats.org/drawingml/2006/main" noGrp="1"/>
          </p:cNvSpPr>
          <p:nvPr/>
        </p:nvSpPr>
        <p:spPr>
          <a:xfrm xmlns:a="http://schemas.openxmlformats.org/drawingml/2006/main">
            <a:off x="1104900" y="25146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物理基盤</a:t>
            </a:r>
          </a:p>
        </p:txBody>
      </p:sp>
      <p:sp>
        <p:nvSpPr>
          <p:cNvPr id="10" name="">
            <a:extLst xmlns:a="http://schemas.openxmlformats.org/drawingml/2006/main">
              <a:ext uri="{FF2B5EF4-FFF2-40B4-BE49-F238E27FC236}">
                <a16:creationId xmlns:a16="http://schemas.microsoft.com/office/drawing/2014/main" id="{FC0E0142-F966-4E09-8E8A-79157EF029F7}"/>
              </a:ext>
            </a:extLst>
          </p:cNvPr>
          <p:cNvSpPr>
            <a:spLocks xmlns:a="http://schemas.openxmlformats.org/drawingml/2006/main" noGrp="1"/>
          </p:cNvSpPr>
          <p:nvPr/>
        </p:nvSpPr>
        <p:spPr>
          <a:xfrm xmlns:a="http://schemas.openxmlformats.org/drawingml/2006/main">
            <a:off x="1104900" y="29146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データセンター、物理サーバ、物理ネットワーク、基盤の可用性。</a:t>
            </a:r>
          </a:p>
        </p:txBody>
      </p:sp>
      <p:sp>
        <p:nvSpPr>
          <p:cNvPr id="11" name="">
            <a:extLst xmlns:a="http://schemas.openxmlformats.org/drawingml/2006/main">
              <a:ext uri="{FF2B5EF4-FFF2-40B4-BE49-F238E27FC236}">
                <a16:creationId xmlns:a16="http://schemas.microsoft.com/office/drawing/2014/main" id="{4789A897-A8CD-4C9E-8865-4256D0B5273B}"/>
              </a:ext>
            </a:extLst>
          </p:cNvPr>
          <p:cNvSpPr>
            <a:spLocks xmlns:a="http://schemas.openxmlformats.org/drawingml/2006/main" noGrp="1"/>
          </p:cNvSpPr>
          <p:nvPr/>
        </p:nvSpPr>
        <p:spPr>
          <a:xfrm xmlns:a="http://schemas.openxmlformats.org/drawingml/2006/main">
            <a:off x="6115050" y="21145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820FC5F4-ABB2-4B9B-A24C-1C8ADD7F54CE}"/>
              </a:ext>
            </a:extLst>
          </p:cNvPr>
          <p:cNvSpPr>
            <a:spLocks xmlns:a="http://schemas.openxmlformats.org/drawingml/2006/main" noGrp="1"/>
          </p:cNvSpPr>
          <p:nvPr/>
        </p:nvSpPr>
        <p:spPr>
          <a:xfrm xmlns:a="http://schemas.openxmlformats.org/drawingml/2006/main">
            <a:off x="6115050" y="2114550"/>
            <a:ext cx="76200" cy="129540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13" name="">
            <a:extLst xmlns:a="http://schemas.openxmlformats.org/drawingml/2006/main">
              <a:ext uri="{FF2B5EF4-FFF2-40B4-BE49-F238E27FC236}">
                <a16:creationId xmlns:a16="http://schemas.microsoft.com/office/drawing/2014/main" id="{8A98ADE2-B55A-43AF-BE16-C0649709F53C}"/>
              </a:ext>
            </a:extLst>
          </p:cNvPr>
          <p:cNvSpPr>
            <a:spLocks xmlns:a="http://schemas.openxmlformats.org/drawingml/2006/main" noGrp="1"/>
          </p:cNvSpPr>
          <p:nvPr/>
        </p:nvSpPr>
        <p:spPr>
          <a:xfrm xmlns:a="http://schemas.openxmlformats.org/drawingml/2006/main">
            <a:off x="6324600" y="22669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利用者が設定</a:t>
            </a:r>
          </a:p>
        </p:txBody>
      </p:sp>
      <p:sp>
        <p:nvSpPr>
          <p:cNvPr id="14" name="">
            <a:extLst xmlns:a="http://schemas.openxmlformats.org/drawingml/2006/main">
              <a:ext uri="{FF2B5EF4-FFF2-40B4-BE49-F238E27FC236}">
                <a16:creationId xmlns:a16="http://schemas.microsoft.com/office/drawing/2014/main" id="{7EEB80C0-8B61-4CEF-9B4C-AED64B0B8692}"/>
              </a:ext>
            </a:extLst>
          </p:cNvPr>
          <p:cNvSpPr>
            <a:spLocks xmlns:a="http://schemas.openxmlformats.org/drawingml/2006/main" noGrp="1"/>
          </p:cNvSpPr>
          <p:nvPr/>
        </p:nvSpPr>
        <p:spPr>
          <a:xfrm xmlns:a="http://schemas.openxmlformats.org/drawingml/2006/main">
            <a:off x="6324600" y="25146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仮想リソース</a:t>
            </a:r>
          </a:p>
        </p:txBody>
      </p:sp>
      <p:sp>
        <p:nvSpPr>
          <p:cNvPr id="15" name="">
            <a:extLst xmlns:a="http://schemas.openxmlformats.org/drawingml/2006/main">
              <a:ext uri="{FF2B5EF4-FFF2-40B4-BE49-F238E27FC236}">
                <a16:creationId xmlns:a16="http://schemas.microsoft.com/office/drawing/2014/main" id="{89E9456B-A5C7-4132-BDE8-00CA7F910D94}"/>
              </a:ext>
            </a:extLst>
          </p:cNvPr>
          <p:cNvSpPr>
            <a:spLocks xmlns:a="http://schemas.openxmlformats.org/drawingml/2006/main" noGrp="1"/>
          </p:cNvSpPr>
          <p:nvPr/>
        </p:nvSpPr>
        <p:spPr>
          <a:xfrm xmlns:a="http://schemas.openxmlformats.org/drawingml/2006/main">
            <a:off x="6324600" y="29146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VM、OS、ミドルウェア、公開ポート、アプリケーションの構成。</a:t>
            </a:r>
          </a:p>
        </p:txBody>
      </p:sp>
      <p:sp>
        <p:nvSpPr>
          <p:cNvPr id="16" name="">
            <a:extLst xmlns:a="http://schemas.openxmlformats.org/drawingml/2006/main">
              <a:ext uri="{FF2B5EF4-FFF2-40B4-BE49-F238E27FC236}">
                <a16:creationId xmlns:a16="http://schemas.microsoft.com/office/drawing/2014/main" id="{E6599683-6C89-427C-A40E-3A24CF899CF6}"/>
              </a:ext>
            </a:extLst>
          </p:cNvPr>
          <p:cNvSpPr>
            <a:spLocks xmlns:a="http://schemas.openxmlformats.org/drawingml/2006/main" noGrp="1"/>
          </p:cNvSpPr>
          <p:nvPr/>
        </p:nvSpPr>
        <p:spPr>
          <a:xfrm xmlns:a="http://schemas.openxmlformats.org/drawingml/2006/main">
            <a:off x="895350" y="37147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52944795-6A78-4A0E-9804-552950E553E5}"/>
              </a:ext>
            </a:extLst>
          </p:cNvPr>
          <p:cNvSpPr>
            <a:spLocks xmlns:a="http://schemas.openxmlformats.org/drawingml/2006/main" noGrp="1"/>
          </p:cNvSpPr>
          <p:nvPr/>
        </p:nvSpPr>
        <p:spPr>
          <a:xfrm xmlns:a="http://schemas.openxmlformats.org/drawingml/2006/main">
            <a:off x="895350" y="3714750"/>
            <a:ext cx="76200" cy="1295400"/>
          </a:xfrm>
          <a:prstGeom xmlns:a="http://schemas.openxmlformats.org/drawingml/2006/main" prst="rect">
            <a:avLst/>
          </a:prstGeom>
          <a:solidFill xmlns:a="http://schemas.openxmlformats.org/drawingml/2006/main">
            <a:srgbClr val="ED7D31"/>
          </a:solidFill>
          <a:ln xmlns:a="http://schemas.openxmlformats.org/drawingml/2006/main" w="0">
            <a:solidFill>
              <a:srgbClr val="ED7D31"/>
            </a:solidFill>
            <a:prstDash val="solid"/>
          </a:ln>
        </p:spPr>
      </p:sp>
      <p:sp>
        <p:nvSpPr>
          <p:cNvPr id="18" name="">
            <a:extLst xmlns:a="http://schemas.openxmlformats.org/drawingml/2006/main">
              <a:ext uri="{FF2B5EF4-FFF2-40B4-BE49-F238E27FC236}">
                <a16:creationId xmlns:a16="http://schemas.microsoft.com/office/drawing/2014/main" id="{CC942FFD-2D7C-48FC-B41E-74E5083688BF}"/>
              </a:ext>
            </a:extLst>
          </p:cNvPr>
          <p:cNvSpPr>
            <a:spLocks xmlns:a="http://schemas.openxmlformats.org/drawingml/2006/main" noGrp="1"/>
          </p:cNvSpPr>
          <p:nvPr/>
        </p:nvSpPr>
        <p:spPr>
          <a:xfrm xmlns:a="http://schemas.openxmlformats.org/drawingml/2006/main">
            <a:off x="1104900" y="38671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D7D31"/>
                </a:solidFill>
                <a:latin typeface="Yu Gothic UI"/>
                <a:ea typeface="Yu Gothic UI"/>
                <a:cs typeface="Yu Gothic UI"/>
              </a:defRPr>
            </a:pPr>
            <a:r>
              <a:rPr sz="713" b="1">
                <a:solidFill>
                  <a:srgbClr val="ED7D31"/>
                </a:solidFill>
                <a:latin typeface="Yu Gothic UI"/>
                <a:ea typeface="Yu Gothic UI"/>
                <a:cs typeface="Yu Gothic UI"/>
              </a:rPr>
              <a:t>本回の中心</a:t>
            </a:r>
          </a:p>
        </p:txBody>
      </p:sp>
      <p:sp>
        <p:nvSpPr>
          <p:cNvPr id="19" name="">
            <a:extLst xmlns:a="http://schemas.openxmlformats.org/drawingml/2006/main">
              <a:ext uri="{FF2B5EF4-FFF2-40B4-BE49-F238E27FC236}">
                <a16:creationId xmlns:a16="http://schemas.microsoft.com/office/drawing/2014/main" id="{60431124-4B21-4E11-9716-75EA575865ED}"/>
              </a:ext>
            </a:extLst>
          </p:cNvPr>
          <p:cNvSpPr>
            <a:spLocks xmlns:a="http://schemas.openxmlformats.org/drawingml/2006/main" noGrp="1"/>
          </p:cNvSpPr>
          <p:nvPr/>
        </p:nvSpPr>
        <p:spPr>
          <a:xfrm xmlns:a="http://schemas.openxmlformats.org/drawingml/2006/main">
            <a:off x="1104900" y="41148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VM と NGINX</a:t>
            </a:r>
          </a:p>
        </p:txBody>
      </p:sp>
      <p:sp>
        <p:nvSpPr>
          <p:cNvPr id="20" name="">
            <a:extLst xmlns:a="http://schemas.openxmlformats.org/drawingml/2006/main">
              <a:ext uri="{FF2B5EF4-FFF2-40B4-BE49-F238E27FC236}">
                <a16:creationId xmlns:a16="http://schemas.microsoft.com/office/drawing/2014/main" id="{8BFD8CA8-D924-4767-896A-7CDE121CFFB6}"/>
              </a:ext>
            </a:extLst>
          </p:cNvPr>
          <p:cNvSpPr>
            <a:spLocks xmlns:a="http://schemas.openxmlformats.org/drawingml/2006/main" noGrp="1"/>
          </p:cNvSpPr>
          <p:nvPr/>
        </p:nvSpPr>
        <p:spPr>
          <a:xfrm xmlns:a="http://schemas.openxmlformats.org/drawingml/2006/main">
            <a:off x="1104900" y="45148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Linux VM を作り、起動時に NGINX を入れて Web サーバとして動かします。</a:t>
            </a:r>
          </a:p>
        </p:txBody>
      </p:sp>
      <p:sp>
        <p:nvSpPr>
          <p:cNvPr id="21" name="">
            <a:extLst xmlns:a="http://schemas.openxmlformats.org/drawingml/2006/main">
              <a:ext uri="{FF2B5EF4-FFF2-40B4-BE49-F238E27FC236}">
                <a16:creationId xmlns:a16="http://schemas.microsoft.com/office/drawing/2014/main" id="{BA18ADAD-3151-40AE-ACC3-9BC6D14EE2F7}"/>
              </a:ext>
            </a:extLst>
          </p:cNvPr>
          <p:cNvSpPr>
            <a:spLocks xmlns:a="http://schemas.openxmlformats.org/drawingml/2006/main" noGrp="1"/>
          </p:cNvSpPr>
          <p:nvPr/>
        </p:nvSpPr>
        <p:spPr>
          <a:xfrm xmlns:a="http://schemas.openxmlformats.org/drawingml/2006/main">
            <a:off x="6115050" y="37147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29B9CF1C-7367-4CA7-A366-10B3D0FCA818}"/>
              </a:ext>
            </a:extLst>
          </p:cNvPr>
          <p:cNvSpPr>
            <a:spLocks xmlns:a="http://schemas.openxmlformats.org/drawingml/2006/main" noGrp="1"/>
          </p:cNvSpPr>
          <p:nvPr/>
        </p:nvSpPr>
        <p:spPr>
          <a:xfrm xmlns:a="http://schemas.openxmlformats.org/drawingml/2006/main">
            <a:off x="6115050" y="3714750"/>
            <a:ext cx="76200" cy="12954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23" name="">
            <a:extLst xmlns:a="http://schemas.openxmlformats.org/drawingml/2006/main">
              <a:ext uri="{FF2B5EF4-FFF2-40B4-BE49-F238E27FC236}">
                <a16:creationId xmlns:a16="http://schemas.microsoft.com/office/drawing/2014/main" id="{FD859892-89D2-4BD7-9985-1C6DA93198C4}"/>
              </a:ext>
            </a:extLst>
          </p:cNvPr>
          <p:cNvSpPr>
            <a:spLocks xmlns:a="http://schemas.openxmlformats.org/drawingml/2006/main" noGrp="1"/>
          </p:cNvSpPr>
          <p:nvPr/>
        </p:nvSpPr>
        <p:spPr>
          <a:xfrm xmlns:a="http://schemas.openxmlformats.org/drawingml/2006/main">
            <a:off x="6324600" y="38671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4472C4"/>
                </a:solidFill>
                <a:latin typeface="Yu Gothic UI"/>
                <a:ea typeface="Yu Gothic UI"/>
                <a:cs typeface="Yu Gothic UI"/>
              </a:defRPr>
            </a:pPr>
            <a:r>
              <a:rPr sz="713" b="1">
                <a:solidFill>
                  <a:srgbClr val="4472C4"/>
                </a:solidFill>
                <a:latin typeface="Yu Gothic UI"/>
                <a:ea typeface="Yu Gothic UI"/>
                <a:cs typeface="Yu Gothic UI"/>
              </a:rPr>
              <a:t>本番では追加</a:t>
            </a:r>
          </a:p>
        </p:txBody>
      </p:sp>
      <p:sp>
        <p:nvSpPr>
          <p:cNvPr id="24" name="">
            <a:extLst xmlns:a="http://schemas.openxmlformats.org/drawingml/2006/main">
              <a:ext uri="{FF2B5EF4-FFF2-40B4-BE49-F238E27FC236}">
                <a16:creationId xmlns:a16="http://schemas.microsoft.com/office/drawing/2014/main" id="{02BFF035-0AB7-4725-B0B9-5D146297DBEB}"/>
              </a:ext>
            </a:extLst>
          </p:cNvPr>
          <p:cNvSpPr>
            <a:spLocks xmlns:a="http://schemas.openxmlformats.org/drawingml/2006/main" noGrp="1"/>
          </p:cNvSpPr>
          <p:nvPr/>
        </p:nvSpPr>
        <p:spPr>
          <a:xfrm xmlns:a="http://schemas.openxmlformats.org/drawingml/2006/main">
            <a:off x="6324600" y="41148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運用設計</a:t>
            </a:r>
          </a:p>
        </p:txBody>
      </p:sp>
      <p:sp>
        <p:nvSpPr>
          <p:cNvPr id="25" name="">
            <a:extLst xmlns:a="http://schemas.openxmlformats.org/drawingml/2006/main">
              <a:ext uri="{FF2B5EF4-FFF2-40B4-BE49-F238E27FC236}">
                <a16:creationId xmlns:a16="http://schemas.microsoft.com/office/drawing/2014/main" id="{0E85E0D7-2E0C-4361-A405-8CF53F417567}"/>
              </a:ext>
            </a:extLst>
          </p:cNvPr>
          <p:cNvSpPr>
            <a:spLocks xmlns:a="http://schemas.openxmlformats.org/drawingml/2006/main" noGrp="1"/>
          </p:cNvSpPr>
          <p:nvPr/>
        </p:nvSpPr>
        <p:spPr>
          <a:xfrm xmlns:a="http://schemas.openxmlformats.org/drawingml/2006/main">
            <a:off x="6324600" y="45148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パッチ、監視、バックアップ、冗長化、HTTPS などを別途検討します。</a:t>
            </a:r>
          </a:p>
        </p:txBody>
      </p:sp>
      <p:sp>
        <p:nvSpPr>
          <p:cNvPr id="26" name="">
            <a:extLst xmlns:a="http://schemas.openxmlformats.org/drawingml/2006/main">
              <a:ext uri="{FF2B5EF4-FFF2-40B4-BE49-F238E27FC236}">
                <a16:creationId xmlns:a16="http://schemas.microsoft.com/office/drawing/2014/main" id="{24929DA4-4D94-4454-A4B8-2D6B4502E4B4}"/>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5 / 46</a:t>
            </a:r>
          </a:p>
        </p:txBody>
      </p:sp>
    </p:spTree>
    <p:extLst>
      <p:ext uri="{BB962C8B-B14F-4D97-AF65-F5344CB8AC3E}">
        <p14:creationId xmlns:p14="http://schemas.microsoft.com/office/powerpoint/2010/main" val="118607714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3FCEC4-1268-41BE-BFBF-72AA15F4F645}"/>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Azure VM の全体像</a:t>
            </a:r>
          </a:p>
        </p:txBody>
      </p:sp>
      <p:sp>
        <p:nvSpPr>
          <p:cNvPr id="2" name="">
            <a:extLst xmlns:a="http://schemas.openxmlformats.org/drawingml/2006/main">
              <a:ext uri="{FF2B5EF4-FFF2-40B4-BE49-F238E27FC236}">
                <a16:creationId xmlns:a16="http://schemas.microsoft.com/office/drawing/2014/main" id="{A55D60B8-B047-4381-9378-453059CFA944}"/>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9066AF89-DA63-47EA-8F72-FFAA23326E41}"/>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06</a:t>
            </a:r>
          </a:p>
        </p:txBody>
      </p:sp>
      <p:sp>
        <p:nvSpPr>
          <p:cNvPr id="4" name="">
            <a:extLst xmlns:a="http://schemas.openxmlformats.org/drawingml/2006/main">
              <a:ext uri="{FF2B5EF4-FFF2-40B4-BE49-F238E27FC236}">
                <a16:creationId xmlns:a16="http://schemas.microsoft.com/office/drawing/2014/main" id="{575A5175-E41C-4266-ADDF-A69CA7F3D8C5}"/>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E714DF9-3B75-42CD-BC39-0A8CAB1F70CE}"/>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Azure VM は単体で浮かんでいるサーバではありません。ディスク、NIC、VNet、Public IP、NSG と組み合わさってはじめてアクセス可能な Web サーバになります。</a:t>
            </a:r>
          </a:p>
        </p:txBody>
      </p:sp>
      <p:sp>
        <p:nvSpPr>
          <p:cNvPr id="6" name="">
            <a:extLst xmlns:a="http://schemas.openxmlformats.org/drawingml/2006/main">
              <a:ext uri="{FF2B5EF4-FFF2-40B4-BE49-F238E27FC236}">
                <a16:creationId xmlns:a16="http://schemas.microsoft.com/office/drawing/2014/main" id="{EE41D420-6F19-4EEE-AA52-704D456892B1}"/>
              </a:ext>
            </a:extLst>
          </p:cNvPr>
          <p:cNvSpPr>
            <a:spLocks xmlns:a="http://schemas.openxmlformats.org/drawingml/2006/main" noGrp="1"/>
          </p:cNvSpPr>
          <p:nvPr/>
        </p:nvSpPr>
        <p:spPr>
          <a:xfrm xmlns:a="http://schemas.openxmlformats.org/drawingml/2006/main">
            <a:off x="685800" y="2038350"/>
            <a:ext cx="1082040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f96c714802148f4"/>
          <a:stretch xmlns:a="http://schemas.openxmlformats.org/drawingml/2006/main"/>
        </p:blipFill>
        <p:spPr>
          <a:xfrm xmlns:a="http://schemas.openxmlformats.org/drawingml/2006/main">
            <a:off x="857250" y="2190750"/>
            <a:ext cx="10477500" cy="3505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609CA6D-DCCD-4F27-BE5D-C593C16814ED}"/>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6 / 46</a:t>
            </a:r>
          </a:p>
        </p:txBody>
      </p:sp>
    </p:spTree>
    <p:extLst>
      <p:ext uri="{BB962C8B-B14F-4D97-AF65-F5344CB8AC3E}">
        <p14:creationId xmlns:p14="http://schemas.microsoft.com/office/powerpoint/2010/main" val="118607714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1D4FD2-4C95-4611-BADD-7467F803C75F}"/>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OS イメージとサイズ</a:t>
            </a:r>
          </a:p>
        </p:txBody>
      </p:sp>
      <p:sp>
        <p:nvSpPr>
          <p:cNvPr id="2" name="">
            <a:extLst xmlns:a="http://schemas.openxmlformats.org/drawingml/2006/main">
              <a:ext uri="{FF2B5EF4-FFF2-40B4-BE49-F238E27FC236}">
                <a16:creationId xmlns:a16="http://schemas.microsoft.com/office/drawing/2014/main" id="{79C344A6-1A61-493C-AC83-53335D83D026}"/>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C98DC7CB-DBE4-4C83-9762-C62E93417DA1}"/>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07</a:t>
            </a:r>
          </a:p>
        </p:txBody>
      </p:sp>
      <p:sp>
        <p:nvSpPr>
          <p:cNvPr id="4" name="">
            <a:extLst xmlns:a="http://schemas.openxmlformats.org/drawingml/2006/main">
              <a:ext uri="{FF2B5EF4-FFF2-40B4-BE49-F238E27FC236}">
                <a16:creationId xmlns:a16="http://schemas.microsoft.com/office/drawing/2014/main" id="{10D44D8C-7D0F-4C5E-A57E-3027E7EC3B68}"/>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C0C8D36-6A06-472F-937C-F47003F85855}"/>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VM 作成時には、どの OS を入れるか、どのくらいの CPU とメモリを使うか、どのリージョンに置くかを選びます。</a:t>
            </a:r>
          </a:p>
        </p:txBody>
      </p:sp>
      <p:sp>
        <p:nvSpPr>
          <p:cNvPr id="6" name="">
            <a:extLst xmlns:a="http://schemas.openxmlformats.org/drawingml/2006/main">
              <a:ext uri="{FF2B5EF4-FFF2-40B4-BE49-F238E27FC236}">
                <a16:creationId xmlns:a16="http://schemas.microsoft.com/office/drawing/2014/main" id="{00080C07-A6F3-4201-B016-E3A717446E83}"/>
              </a:ext>
            </a:extLst>
          </p:cNvPr>
          <p:cNvSpPr>
            <a:spLocks xmlns:a="http://schemas.openxmlformats.org/drawingml/2006/main" noGrp="1"/>
          </p:cNvSpPr>
          <p:nvPr/>
        </p:nvSpPr>
        <p:spPr>
          <a:xfrm xmlns:a="http://schemas.openxmlformats.org/drawingml/2006/main">
            <a:off x="876300" y="2038350"/>
            <a:ext cx="260985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7" name="">
            <a:extLst xmlns:a="http://schemas.openxmlformats.org/drawingml/2006/main">
              <a:ext uri="{FF2B5EF4-FFF2-40B4-BE49-F238E27FC236}">
                <a16:creationId xmlns:a16="http://schemas.microsoft.com/office/drawing/2014/main" id="{F28C9052-5DD6-4D86-8025-3AEC7F0180C2}"/>
              </a:ext>
            </a:extLst>
          </p:cNvPr>
          <p:cNvSpPr>
            <a:spLocks xmlns:a="http://schemas.openxmlformats.org/drawingml/2006/main" noGrp="1"/>
          </p:cNvSpPr>
          <p:nvPr/>
        </p:nvSpPr>
        <p:spPr>
          <a:xfrm xmlns:a="http://schemas.openxmlformats.org/drawingml/2006/main">
            <a:off x="952500" y="2085975"/>
            <a:ext cx="24574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項目</a:t>
            </a:r>
          </a:p>
        </p:txBody>
      </p:sp>
      <p:sp>
        <p:nvSpPr>
          <p:cNvPr id="8" name="">
            <a:extLst xmlns:a="http://schemas.openxmlformats.org/drawingml/2006/main">
              <a:ext uri="{FF2B5EF4-FFF2-40B4-BE49-F238E27FC236}">
                <a16:creationId xmlns:a16="http://schemas.microsoft.com/office/drawing/2014/main" id="{E6FF861A-50EF-4A0B-8F59-99E29943A3CF}"/>
              </a:ext>
            </a:extLst>
          </p:cNvPr>
          <p:cNvSpPr>
            <a:spLocks xmlns:a="http://schemas.openxmlformats.org/drawingml/2006/main" noGrp="1"/>
          </p:cNvSpPr>
          <p:nvPr/>
        </p:nvSpPr>
        <p:spPr>
          <a:xfrm xmlns:a="http://schemas.openxmlformats.org/drawingml/2006/main">
            <a:off x="3486150" y="2038350"/>
            <a:ext cx="260985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9" name="">
            <a:extLst xmlns:a="http://schemas.openxmlformats.org/drawingml/2006/main">
              <a:ext uri="{FF2B5EF4-FFF2-40B4-BE49-F238E27FC236}">
                <a16:creationId xmlns:a16="http://schemas.microsoft.com/office/drawing/2014/main" id="{280929AD-26BC-41D0-B56D-3C81525400AE}"/>
              </a:ext>
            </a:extLst>
          </p:cNvPr>
          <p:cNvSpPr>
            <a:spLocks xmlns:a="http://schemas.openxmlformats.org/drawingml/2006/main" noGrp="1"/>
          </p:cNvSpPr>
          <p:nvPr/>
        </p:nvSpPr>
        <p:spPr>
          <a:xfrm xmlns:a="http://schemas.openxmlformats.org/drawingml/2006/main">
            <a:off x="3562350" y="2085975"/>
            <a:ext cx="24574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意味</a:t>
            </a:r>
          </a:p>
        </p:txBody>
      </p:sp>
      <p:sp>
        <p:nvSpPr>
          <p:cNvPr id="10" name="">
            <a:extLst xmlns:a="http://schemas.openxmlformats.org/drawingml/2006/main">
              <a:ext uri="{FF2B5EF4-FFF2-40B4-BE49-F238E27FC236}">
                <a16:creationId xmlns:a16="http://schemas.microsoft.com/office/drawing/2014/main" id="{BC2D03DE-D277-4C88-A575-BA33CCA45B55}"/>
              </a:ext>
            </a:extLst>
          </p:cNvPr>
          <p:cNvSpPr>
            <a:spLocks xmlns:a="http://schemas.openxmlformats.org/drawingml/2006/main" noGrp="1"/>
          </p:cNvSpPr>
          <p:nvPr/>
        </p:nvSpPr>
        <p:spPr>
          <a:xfrm xmlns:a="http://schemas.openxmlformats.org/drawingml/2006/main">
            <a:off x="6096000" y="2038350"/>
            <a:ext cx="260985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11" name="">
            <a:extLst xmlns:a="http://schemas.openxmlformats.org/drawingml/2006/main">
              <a:ext uri="{FF2B5EF4-FFF2-40B4-BE49-F238E27FC236}">
                <a16:creationId xmlns:a16="http://schemas.microsoft.com/office/drawing/2014/main" id="{ADE203D8-65CB-4C28-B068-55374BEECAA5}"/>
              </a:ext>
            </a:extLst>
          </p:cNvPr>
          <p:cNvSpPr>
            <a:spLocks xmlns:a="http://schemas.openxmlformats.org/drawingml/2006/main" noGrp="1"/>
          </p:cNvSpPr>
          <p:nvPr/>
        </p:nvSpPr>
        <p:spPr>
          <a:xfrm xmlns:a="http://schemas.openxmlformats.org/drawingml/2006/main">
            <a:off x="6172200" y="2085975"/>
            <a:ext cx="24574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本回の想定</a:t>
            </a:r>
          </a:p>
        </p:txBody>
      </p:sp>
      <p:sp>
        <p:nvSpPr>
          <p:cNvPr id="12" name="">
            <a:extLst xmlns:a="http://schemas.openxmlformats.org/drawingml/2006/main">
              <a:ext uri="{FF2B5EF4-FFF2-40B4-BE49-F238E27FC236}">
                <a16:creationId xmlns:a16="http://schemas.microsoft.com/office/drawing/2014/main" id="{DE58A1D4-63F5-4919-8891-AF1907D8C7AE}"/>
              </a:ext>
            </a:extLst>
          </p:cNvPr>
          <p:cNvSpPr>
            <a:spLocks xmlns:a="http://schemas.openxmlformats.org/drawingml/2006/main" noGrp="1"/>
          </p:cNvSpPr>
          <p:nvPr/>
        </p:nvSpPr>
        <p:spPr>
          <a:xfrm xmlns:a="http://schemas.openxmlformats.org/drawingml/2006/main">
            <a:off x="8705850" y="2038350"/>
            <a:ext cx="260985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13" name="">
            <a:extLst xmlns:a="http://schemas.openxmlformats.org/drawingml/2006/main">
              <a:ext uri="{FF2B5EF4-FFF2-40B4-BE49-F238E27FC236}">
                <a16:creationId xmlns:a16="http://schemas.microsoft.com/office/drawing/2014/main" id="{29CE76FF-380D-46C0-958B-0D7E75105DE4}"/>
              </a:ext>
            </a:extLst>
          </p:cNvPr>
          <p:cNvSpPr>
            <a:spLocks xmlns:a="http://schemas.openxmlformats.org/drawingml/2006/main" noGrp="1"/>
          </p:cNvSpPr>
          <p:nvPr/>
        </p:nvSpPr>
        <p:spPr>
          <a:xfrm xmlns:a="http://schemas.openxmlformats.org/drawingml/2006/main">
            <a:off x="8782050" y="2085975"/>
            <a:ext cx="24574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注意点</a:t>
            </a:r>
          </a:p>
        </p:txBody>
      </p:sp>
      <p:sp>
        <p:nvSpPr>
          <p:cNvPr id="14" name="">
            <a:extLst xmlns:a="http://schemas.openxmlformats.org/drawingml/2006/main">
              <a:ext uri="{FF2B5EF4-FFF2-40B4-BE49-F238E27FC236}">
                <a16:creationId xmlns:a16="http://schemas.microsoft.com/office/drawing/2014/main" id="{5502571A-740E-4120-A8D2-19321EDA8D1C}"/>
              </a:ext>
            </a:extLst>
          </p:cNvPr>
          <p:cNvSpPr>
            <a:spLocks xmlns:a="http://schemas.openxmlformats.org/drawingml/2006/main" noGrp="1"/>
          </p:cNvSpPr>
          <p:nvPr/>
        </p:nvSpPr>
        <p:spPr>
          <a:xfrm xmlns:a="http://schemas.openxmlformats.org/drawingml/2006/main">
            <a:off x="876300" y="2447925"/>
            <a:ext cx="2609850" cy="1006475"/>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15" name="">
            <a:extLst xmlns:a="http://schemas.openxmlformats.org/drawingml/2006/main">
              <a:ext uri="{FF2B5EF4-FFF2-40B4-BE49-F238E27FC236}">
                <a16:creationId xmlns:a16="http://schemas.microsoft.com/office/drawing/2014/main" id="{4F4849E3-F830-4BC9-93DD-FDFB6004F634}"/>
              </a:ext>
            </a:extLst>
          </p:cNvPr>
          <p:cNvSpPr>
            <a:spLocks xmlns:a="http://schemas.openxmlformats.org/drawingml/2006/main" noGrp="1"/>
          </p:cNvSpPr>
          <p:nvPr/>
        </p:nvSpPr>
        <p:spPr>
          <a:xfrm xmlns:a="http://schemas.openxmlformats.org/drawingml/2006/main">
            <a:off x="952500" y="2495550"/>
            <a:ext cx="2457450" cy="911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1">
                <a:solidFill>
                  <a:srgbClr val="344054"/>
                </a:solidFill>
                <a:latin typeface="Yu Gothic UI"/>
                <a:ea typeface="Yu Gothic UI"/>
                <a:cs typeface="Yu Gothic UI"/>
              </a:defRPr>
            </a:pPr>
            <a:r>
              <a:rPr sz="795" b="1">
                <a:solidFill>
                  <a:srgbClr val="344054"/>
                </a:solidFill>
                <a:latin typeface="Yu Gothic UI"/>
                <a:ea typeface="Yu Gothic UI"/>
                <a:cs typeface="Yu Gothic UI"/>
              </a:rPr>
              <a:t>OS イメージ</a:t>
            </a:r>
          </a:p>
        </p:txBody>
      </p:sp>
      <p:sp>
        <p:nvSpPr>
          <p:cNvPr id="16" name="">
            <a:extLst xmlns:a="http://schemas.openxmlformats.org/drawingml/2006/main">
              <a:ext uri="{FF2B5EF4-FFF2-40B4-BE49-F238E27FC236}">
                <a16:creationId xmlns:a16="http://schemas.microsoft.com/office/drawing/2014/main" id="{6308AA4B-E50B-4570-B00B-3B7069F525FF}"/>
              </a:ext>
            </a:extLst>
          </p:cNvPr>
          <p:cNvSpPr>
            <a:spLocks xmlns:a="http://schemas.openxmlformats.org/drawingml/2006/main" noGrp="1"/>
          </p:cNvSpPr>
          <p:nvPr/>
        </p:nvSpPr>
        <p:spPr>
          <a:xfrm xmlns:a="http://schemas.openxmlformats.org/drawingml/2006/main">
            <a:off x="3486150" y="2447925"/>
            <a:ext cx="2609850" cy="1006475"/>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17" name="">
            <a:extLst xmlns:a="http://schemas.openxmlformats.org/drawingml/2006/main">
              <a:ext uri="{FF2B5EF4-FFF2-40B4-BE49-F238E27FC236}">
                <a16:creationId xmlns:a16="http://schemas.microsoft.com/office/drawing/2014/main" id="{03866A56-EA97-4E1F-BBBB-F7F453D34002}"/>
              </a:ext>
            </a:extLst>
          </p:cNvPr>
          <p:cNvSpPr>
            <a:spLocks xmlns:a="http://schemas.openxmlformats.org/drawingml/2006/main" noGrp="1"/>
          </p:cNvSpPr>
          <p:nvPr/>
        </p:nvSpPr>
        <p:spPr>
          <a:xfrm xmlns:a="http://schemas.openxmlformats.org/drawingml/2006/main">
            <a:off x="3562350" y="2495550"/>
            <a:ext cx="2457450" cy="911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VM に入れる OS</a:t>
            </a:r>
          </a:p>
        </p:txBody>
      </p:sp>
      <p:sp>
        <p:nvSpPr>
          <p:cNvPr id="18" name="">
            <a:extLst xmlns:a="http://schemas.openxmlformats.org/drawingml/2006/main">
              <a:ext uri="{FF2B5EF4-FFF2-40B4-BE49-F238E27FC236}">
                <a16:creationId xmlns:a16="http://schemas.microsoft.com/office/drawing/2014/main" id="{D263B5F2-142C-479D-B752-AC587CE89481}"/>
              </a:ext>
            </a:extLst>
          </p:cNvPr>
          <p:cNvSpPr>
            <a:spLocks xmlns:a="http://schemas.openxmlformats.org/drawingml/2006/main" noGrp="1"/>
          </p:cNvSpPr>
          <p:nvPr/>
        </p:nvSpPr>
        <p:spPr>
          <a:xfrm xmlns:a="http://schemas.openxmlformats.org/drawingml/2006/main">
            <a:off x="6096000" y="2447925"/>
            <a:ext cx="2609850" cy="1006475"/>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19" name="">
            <a:extLst xmlns:a="http://schemas.openxmlformats.org/drawingml/2006/main">
              <a:ext uri="{FF2B5EF4-FFF2-40B4-BE49-F238E27FC236}">
                <a16:creationId xmlns:a16="http://schemas.microsoft.com/office/drawing/2014/main" id="{D120A8C4-0730-43D9-9B2D-4EA50AC947FC}"/>
              </a:ext>
            </a:extLst>
          </p:cNvPr>
          <p:cNvSpPr>
            <a:spLocks xmlns:a="http://schemas.openxmlformats.org/drawingml/2006/main" noGrp="1"/>
          </p:cNvSpPr>
          <p:nvPr/>
        </p:nvSpPr>
        <p:spPr>
          <a:xfrm xmlns:a="http://schemas.openxmlformats.org/drawingml/2006/main">
            <a:off x="6172200" y="2495550"/>
            <a:ext cx="2457450" cy="911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Ubuntu Server 24.04 LTS</a:t>
            </a:r>
          </a:p>
        </p:txBody>
      </p:sp>
      <p:sp>
        <p:nvSpPr>
          <p:cNvPr id="20" name="">
            <a:extLst xmlns:a="http://schemas.openxmlformats.org/drawingml/2006/main">
              <a:ext uri="{FF2B5EF4-FFF2-40B4-BE49-F238E27FC236}">
                <a16:creationId xmlns:a16="http://schemas.microsoft.com/office/drawing/2014/main" id="{8613A8F9-B6CD-4768-8B97-6E8B2071FB22}"/>
              </a:ext>
            </a:extLst>
          </p:cNvPr>
          <p:cNvSpPr>
            <a:spLocks xmlns:a="http://schemas.openxmlformats.org/drawingml/2006/main" noGrp="1"/>
          </p:cNvSpPr>
          <p:nvPr/>
        </p:nvSpPr>
        <p:spPr>
          <a:xfrm xmlns:a="http://schemas.openxmlformats.org/drawingml/2006/main">
            <a:off x="8705850" y="2447925"/>
            <a:ext cx="2609850" cy="1006475"/>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1" name="">
            <a:extLst xmlns:a="http://schemas.openxmlformats.org/drawingml/2006/main">
              <a:ext uri="{FF2B5EF4-FFF2-40B4-BE49-F238E27FC236}">
                <a16:creationId xmlns:a16="http://schemas.microsoft.com/office/drawing/2014/main" id="{8E8CFCFF-4681-4014-8C54-99067E5699D0}"/>
              </a:ext>
            </a:extLst>
          </p:cNvPr>
          <p:cNvSpPr>
            <a:spLocks xmlns:a="http://schemas.openxmlformats.org/drawingml/2006/main" noGrp="1"/>
          </p:cNvSpPr>
          <p:nvPr/>
        </p:nvSpPr>
        <p:spPr>
          <a:xfrm xmlns:a="http://schemas.openxmlformats.org/drawingml/2006/main">
            <a:off x="8782050" y="2495550"/>
            <a:ext cx="2457450" cy="911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Portal 表示名は講座前に確認します。</a:t>
            </a:r>
          </a:p>
        </p:txBody>
      </p:sp>
      <p:sp>
        <p:nvSpPr>
          <p:cNvPr id="22" name="">
            <a:extLst xmlns:a="http://schemas.openxmlformats.org/drawingml/2006/main">
              <a:ext uri="{FF2B5EF4-FFF2-40B4-BE49-F238E27FC236}">
                <a16:creationId xmlns:a16="http://schemas.microsoft.com/office/drawing/2014/main" id="{C2F47952-1E86-4FFE-9AF1-347200723967}"/>
              </a:ext>
            </a:extLst>
          </p:cNvPr>
          <p:cNvSpPr>
            <a:spLocks xmlns:a="http://schemas.openxmlformats.org/drawingml/2006/main" noGrp="1"/>
          </p:cNvSpPr>
          <p:nvPr/>
        </p:nvSpPr>
        <p:spPr>
          <a:xfrm xmlns:a="http://schemas.openxmlformats.org/drawingml/2006/main">
            <a:off x="876300" y="3454400"/>
            <a:ext cx="2609850" cy="1006475"/>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23" name="">
            <a:extLst xmlns:a="http://schemas.openxmlformats.org/drawingml/2006/main">
              <a:ext uri="{FF2B5EF4-FFF2-40B4-BE49-F238E27FC236}">
                <a16:creationId xmlns:a16="http://schemas.microsoft.com/office/drawing/2014/main" id="{90CA6E71-85D7-4915-8C8E-CCE51F21E9EA}"/>
              </a:ext>
            </a:extLst>
          </p:cNvPr>
          <p:cNvSpPr>
            <a:spLocks xmlns:a="http://schemas.openxmlformats.org/drawingml/2006/main" noGrp="1"/>
          </p:cNvSpPr>
          <p:nvPr/>
        </p:nvSpPr>
        <p:spPr>
          <a:xfrm xmlns:a="http://schemas.openxmlformats.org/drawingml/2006/main">
            <a:off x="952500" y="3502025"/>
            <a:ext cx="2457450" cy="911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1">
                <a:solidFill>
                  <a:srgbClr val="344054"/>
                </a:solidFill>
                <a:latin typeface="Yu Gothic UI"/>
                <a:ea typeface="Yu Gothic UI"/>
                <a:cs typeface="Yu Gothic UI"/>
              </a:defRPr>
            </a:pPr>
            <a:r>
              <a:rPr sz="795" b="1">
                <a:solidFill>
                  <a:srgbClr val="344054"/>
                </a:solidFill>
                <a:latin typeface="Yu Gothic UI"/>
                <a:ea typeface="Yu Gothic UI"/>
                <a:cs typeface="Yu Gothic UI"/>
              </a:rPr>
              <a:t>サイズ/SKU</a:t>
            </a:r>
          </a:p>
        </p:txBody>
      </p:sp>
      <p:sp>
        <p:nvSpPr>
          <p:cNvPr id="24" name="">
            <a:extLst xmlns:a="http://schemas.openxmlformats.org/drawingml/2006/main">
              <a:ext uri="{FF2B5EF4-FFF2-40B4-BE49-F238E27FC236}">
                <a16:creationId xmlns:a16="http://schemas.microsoft.com/office/drawing/2014/main" id="{0EED12C9-48E0-4B95-9E01-D19CDF77B50B}"/>
              </a:ext>
            </a:extLst>
          </p:cNvPr>
          <p:cNvSpPr>
            <a:spLocks xmlns:a="http://schemas.openxmlformats.org/drawingml/2006/main" noGrp="1"/>
          </p:cNvSpPr>
          <p:nvPr/>
        </p:nvSpPr>
        <p:spPr>
          <a:xfrm xmlns:a="http://schemas.openxmlformats.org/drawingml/2006/main">
            <a:off x="3486150" y="3454400"/>
            <a:ext cx="2609850" cy="1006475"/>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5" name="">
            <a:extLst xmlns:a="http://schemas.openxmlformats.org/drawingml/2006/main">
              <a:ext uri="{FF2B5EF4-FFF2-40B4-BE49-F238E27FC236}">
                <a16:creationId xmlns:a16="http://schemas.microsoft.com/office/drawing/2014/main" id="{D70E6302-5A0E-47CD-8015-F330C566E4DC}"/>
              </a:ext>
            </a:extLst>
          </p:cNvPr>
          <p:cNvSpPr>
            <a:spLocks xmlns:a="http://schemas.openxmlformats.org/drawingml/2006/main" noGrp="1"/>
          </p:cNvSpPr>
          <p:nvPr/>
        </p:nvSpPr>
        <p:spPr>
          <a:xfrm xmlns:a="http://schemas.openxmlformats.org/drawingml/2006/main">
            <a:off x="3562350" y="3502025"/>
            <a:ext cx="2457450" cy="911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CPU、メモリ、価格の大きさ</a:t>
            </a:r>
          </a:p>
        </p:txBody>
      </p:sp>
      <p:sp>
        <p:nvSpPr>
          <p:cNvPr id="26" name="">
            <a:extLst xmlns:a="http://schemas.openxmlformats.org/drawingml/2006/main">
              <a:ext uri="{FF2B5EF4-FFF2-40B4-BE49-F238E27FC236}">
                <a16:creationId xmlns:a16="http://schemas.microsoft.com/office/drawing/2014/main" id="{3222A3DA-B467-434C-B352-8C81239AD0BA}"/>
              </a:ext>
            </a:extLst>
          </p:cNvPr>
          <p:cNvSpPr>
            <a:spLocks xmlns:a="http://schemas.openxmlformats.org/drawingml/2006/main" noGrp="1"/>
          </p:cNvSpPr>
          <p:nvPr/>
        </p:nvSpPr>
        <p:spPr>
          <a:xfrm xmlns:a="http://schemas.openxmlformats.org/drawingml/2006/main">
            <a:off x="6096000" y="3454400"/>
            <a:ext cx="2609850" cy="1006475"/>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7" name="">
            <a:extLst xmlns:a="http://schemas.openxmlformats.org/drawingml/2006/main">
              <a:ext uri="{FF2B5EF4-FFF2-40B4-BE49-F238E27FC236}">
                <a16:creationId xmlns:a16="http://schemas.microsoft.com/office/drawing/2014/main" id="{C1666423-FAC9-44AC-8F5E-5EE95AF281AA}"/>
              </a:ext>
            </a:extLst>
          </p:cNvPr>
          <p:cNvSpPr>
            <a:spLocks xmlns:a="http://schemas.openxmlformats.org/drawingml/2006/main" noGrp="1"/>
          </p:cNvSpPr>
          <p:nvPr/>
        </p:nvSpPr>
        <p:spPr>
          <a:xfrm xmlns:a="http://schemas.openxmlformats.org/drawingml/2006/main">
            <a:off x="6172200" y="3502025"/>
            <a:ext cx="2457450" cy="911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低コスト SKU を講師が指定</a:t>
            </a:r>
          </a:p>
        </p:txBody>
      </p:sp>
      <p:sp>
        <p:nvSpPr>
          <p:cNvPr id="28" name="">
            <a:extLst xmlns:a="http://schemas.openxmlformats.org/drawingml/2006/main">
              <a:ext uri="{FF2B5EF4-FFF2-40B4-BE49-F238E27FC236}">
                <a16:creationId xmlns:a16="http://schemas.microsoft.com/office/drawing/2014/main" id="{B03B2679-A8CF-4D14-8C98-546B1E3C3C6D}"/>
              </a:ext>
            </a:extLst>
          </p:cNvPr>
          <p:cNvSpPr>
            <a:spLocks xmlns:a="http://schemas.openxmlformats.org/drawingml/2006/main" noGrp="1"/>
          </p:cNvSpPr>
          <p:nvPr/>
        </p:nvSpPr>
        <p:spPr>
          <a:xfrm xmlns:a="http://schemas.openxmlformats.org/drawingml/2006/main">
            <a:off x="8705850" y="3454400"/>
            <a:ext cx="2609850" cy="1006475"/>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9" name="">
            <a:extLst xmlns:a="http://schemas.openxmlformats.org/drawingml/2006/main">
              <a:ext uri="{FF2B5EF4-FFF2-40B4-BE49-F238E27FC236}">
                <a16:creationId xmlns:a16="http://schemas.microsoft.com/office/drawing/2014/main" id="{2551AE3C-7531-48AE-99EC-67344AE1005A}"/>
              </a:ext>
            </a:extLst>
          </p:cNvPr>
          <p:cNvSpPr>
            <a:spLocks xmlns:a="http://schemas.openxmlformats.org/drawingml/2006/main" noGrp="1"/>
          </p:cNvSpPr>
          <p:nvPr/>
        </p:nvSpPr>
        <p:spPr>
          <a:xfrm xmlns:a="http://schemas.openxmlformats.org/drawingml/2006/main">
            <a:off x="8782050" y="3502025"/>
            <a:ext cx="2457450" cy="911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高価なサイズを自己判断で選びません。</a:t>
            </a:r>
          </a:p>
        </p:txBody>
      </p:sp>
      <p:sp>
        <p:nvSpPr>
          <p:cNvPr id="30" name="">
            <a:extLst xmlns:a="http://schemas.openxmlformats.org/drawingml/2006/main">
              <a:ext uri="{FF2B5EF4-FFF2-40B4-BE49-F238E27FC236}">
                <a16:creationId xmlns:a16="http://schemas.microsoft.com/office/drawing/2014/main" id="{15EBF2BA-E2E4-444D-BE01-5BF971FFC089}"/>
              </a:ext>
            </a:extLst>
          </p:cNvPr>
          <p:cNvSpPr>
            <a:spLocks xmlns:a="http://schemas.openxmlformats.org/drawingml/2006/main" noGrp="1"/>
          </p:cNvSpPr>
          <p:nvPr/>
        </p:nvSpPr>
        <p:spPr>
          <a:xfrm xmlns:a="http://schemas.openxmlformats.org/drawingml/2006/main">
            <a:off x="876300" y="4460875"/>
            <a:ext cx="2609850" cy="1006475"/>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31" name="">
            <a:extLst xmlns:a="http://schemas.openxmlformats.org/drawingml/2006/main">
              <a:ext uri="{FF2B5EF4-FFF2-40B4-BE49-F238E27FC236}">
                <a16:creationId xmlns:a16="http://schemas.microsoft.com/office/drawing/2014/main" id="{BD79B7ED-1F2F-43E3-924C-22DA15B3D169}"/>
              </a:ext>
            </a:extLst>
          </p:cNvPr>
          <p:cNvSpPr>
            <a:spLocks xmlns:a="http://schemas.openxmlformats.org/drawingml/2006/main" noGrp="1"/>
          </p:cNvSpPr>
          <p:nvPr/>
        </p:nvSpPr>
        <p:spPr>
          <a:xfrm xmlns:a="http://schemas.openxmlformats.org/drawingml/2006/main">
            <a:off x="952500" y="4508500"/>
            <a:ext cx="2457450" cy="911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1">
                <a:solidFill>
                  <a:srgbClr val="344054"/>
                </a:solidFill>
                <a:latin typeface="Yu Gothic UI"/>
                <a:ea typeface="Yu Gothic UI"/>
                <a:cs typeface="Yu Gothic UI"/>
              </a:defRPr>
            </a:pPr>
            <a:r>
              <a:rPr sz="795" b="1">
                <a:solidFill>
                  <a:srgbClr val="344054"/>
                </a:solidFill>
                <a:latin typeface="Yu Gothic UI"/>
                <a:ea typeface="Yu Gothic UI"/>
                <a:cs typeface="Yu Gothic UI"/>
              </a:rPr>
              <a:t>リージョン</a:t>
            </a:r>
          </a:p>
        </p:txBody>
      </p:sp>
      <p:sp>
        <p:nvSpPr>
          <p:cNvPr id="32" name="">
            <a:extLst xmlns:a="http://schemas.openxmlformats.org/drawingml/2006/main">
              <a:ext uri="{FF2B5EF4-FFF2-40B4-BE49-F238E27FC236}">
                <a16:creationId xmlns:a16="http://schemas.microsoft.com/office/drawing/2014/main" id="{3BF8B274-3A9F-48CB-B22C-670AEB1C752C}"/>
              </a:ext>
            </a:extLst>
          </p:cNvPr>
          <p:cNvSpPr>
            <a:spLocks xmlns:a="http://schemas.openxmlformats.org/drawingml/2006/main" noGrp="1"/>
          </p:cNvSpPr>
          <p:nvPr/>
        </p:nvSpPr>
        <p:spPr>
          <a:xfrm xmlns:a="http://schemas.openxmlformats.org/drawingml/2006/main">
            <a:off x="3486150" y="4460875"/>
            <a:ext cx="2609850" cy="1006475"/>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33" name="">
            <a:extLst xmlns:a="http://schemas.openxmlformats.org/drawingml/2006/main">
              <a:ext uri="{FF2B5EF4-FFF2-40B4-BE49-F238E27FC236}">
                <a16:creationId xmlns:a16="http://schemas.microsoft.com/office/drawing/2014/main" id="{731E2B21-1FE4-4345-A859-A56A48DDEE16}"/>
              </a:ext>
            </a:extLst>
          </p:cNvPr>
          <p:cNvSpPr>
            <a:spLocks xmlns:a="http://schemas.openxmlformats.org/drawingml/2006/main" noGrp="1"/>
          </p:cNvSpPr>
          <p:nvPr/>
        </p:nvSpPr>
        <p:spPr>
          <a:xfrm xmlns:a="http://schemas.openxmlformats.org/drawingml/2006/main">
            <a:off x="3562350" y="4508500"/>
            <a:ext cx="2457450" cy="911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リソースを配置する地域</a:t>
            </a:r>
          </a:p>
        </p:txBody>
      </p:sp>
      <p:sp>
        <p:nvSpPr>
          <p:cNvPr id="34" name="">
            <a:extLst xmlns:a="http://schemas.openxmlformats.org/drawingml/2006/main">
              <a:ext uri="{FF2B5EF4-FFF2-40B4-BE49-F238E27FC236}">
                <a16:creationId xmlns:a16="http://schemas.microsoft.com/office/drawing/2014/main" id="{63FFC32C-68DD-4167-AB2C-75163DD2B892}"/>
              </a:ext>
            </a:extLst>
          </p:cNvPr>
          <p:cNvSpPr>
            <a:spLocks xmlns:a="http://schemas.openxmlformats.org/drawingml/2006/main" noGrp="1"/>
          </p:cNvSpPr>
          <p:nvPr/>
        </p:nvSpPr>
        <p:spPr>
          <a:xfrm xmlns:a="http://schemas.openxmlformats.org/drawingml/2006/main">
            <a:off x="6096000" y="4460875"/>
            <a:ext cx="2609850" cy="1006475"/>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35" name="">
            <a:extLst xmlns:a="http://schemas.openxmlformats.org/drawingml/2006/main">
              <a:ext uri="{FF2B5EF4-FFF2-40B4-BE49-F238E27FC236}">
                <a16:creationId xmlns:a16="http://schemas.microsoft.com/office/drawing/2014/main" id="{D9BEC9E3-0F1C-472C-ADD5-F63088B4770B}"/>
              </a:ext>
            </a:extLst>
          </p:cNvPr>
          <p:cNvSpPr>
            <a:spLocks xmlns:a="http://schemas.openxmlformats.org/drawingml/2006/main" noGrp="1"/>
          </p:cNvSpPr>
          <p:nvPr/>
        </p:nvSpPr>
        <p:spPr>
          <a:xfrm xmlns:a="http://schemas.openxmlformats.org/drawingml/2006/main">
            <a:off x="6172200" y="4508500"/>
            <a:ext cx="2457450" cy="911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Japan East</a:t>
            </a:r>
          </a:p>
        </p:txBody>
      </p:sp>
      <p:sp>
        <p:nvSpPr>
          <p:cNvPr id="36" name="">
            <a:extLst xmlns:a="http://schemas.openxmlformats.org/drawingml/2006/main">
              <a:ext uri="{FF2B5EF4-FFF2-40B4-BE49-F238E27FC236}">
                <a16:creationId xmlns:a16="http://schemas.microsoft.com/office/drawing/2014/main" id="{D4BB028D-2202-4982-B75F-53AE79025322}"/>
              </a:ext>
            </a:extLst>
          </p:cNvPr>
          <p:cNvSpPr>
            <a:spLocks xmlns:a="http://schemas.openxmlformats.org/drawingml/2006/main" noGrp="1"/>
          </p:cNvSpPr>
          <p:nvPr/>
        </p:nvSpPr>
        <p:spPr>
          <a:xfrm xmlns:a="http://schemas.openxmlformats.org/drawingml/2006/main">
            <a:off x="8705850" y="4460875"/>
            <a:ext cx="2609850" cy="1006475"/>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37" name="">
            <a:extLst xmlns:a="http://schemas.openxmlformats.org/drawingml/2006/main">
              <a:ext uri="{FF2B5EF4-FFF2-40B4-BE49-F238E27FC236}">
                <a16:creationId xmlns:a16="http://schemas.microsoft.com/office/drawing/2014/main" id="{75EDEBEA-E37C-40C2-9D58-B24343EC8A68}"/>
              </a:ext>
            </a:extLst>
          </p:cNvPr>
          <p:cNvSpPr>
            <a:spLocks xmlns:a="http://schemas.openxmlformats.org/drawingml/2006/main" noGrp="1"/>
          </p:cNvSpPr>
          <p:nvPr/>
        </p:nvSpPr>
        <p:spPr>
          <a:xfrm xmlns:a="http://schemas.openxmlformats.org/drawingml/2006/main">
            <a:off x="8782050" y="4508500"/>
            <a:ext cx="2457450" cy="9112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利用できない場合は講師が代替を案内します。</a:t>
            </a:r>
          </a:p>
        </p:txBody>
      </p:sp>
      <p:sp>
        <p:nvSpPr>
          <p:cNvPr id="38" name="">
            <a:extLst xmlns:a="http://schemas.openxmlformats.org/drawingml/2006/main">
              <a:ext uri="{FF2B5EF4-FFF2-40B4-BE49-F238E27FC236}">
                <a16:creationId xmlns:a16="http://schemas.microsoft.com/office/drawing/2014/main" id="{615FD68E-4115-4693-859D-61E8BE437328}"/>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7 / 46</a:t>
            </a:r>
          </a:p>
        </p:txBody>
      </p:sp>
    </p:spTree>
    <p:extLst>
      <p:ext uri="{BB962C8B-B14F-4D97-AF65-F5344CB8AC3E}">
        <p14:creationId xmlns:p14="http://schemas.microsoft.com/office/powerpoint/2010/main" val="118607714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CCF31C-2028-491E-A131-D3759279A741}"/>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Managed Disk</a:t>
            </a:r>
          </a:p>
        </p:txBody>
      </p:sp>
      <p:sp>
        <p:nvSpPr>
          <p:cNvPr id="2" name="">
            <a:extLst xmlns:a="http://schemas.openxmlformats.org/drawingml/2006/main">
              <a:ext uri="{FF2B5EF4-FFF2-40B4-BE49-F238E27FC236}">
                <a16:creationId xmlns:a16="http://schemas.microsoft.com/office/drawing/2014/main" id="{FE16561D-AF2E-4A00-AF41-3722F24E630A}"/>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DDFFD262-4B32-46D6-82C6-309BAB451379}"/>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08</a:t>
            </a:r>
          </a:p>
        </p:txBody>
      </p:sp>
      <p:sp>
        <p:nvSpPr>
          <p:cNvPr id="4" name="">
            <a:extLst xmlns:a="http://schemas.openxmlformats.org/drawingml/2006/main">
              <a:ext uri="{FF2B5EF4-FFF2-40B4-BE49-F238E27FC236}">
                <a16:creationId xmlns:a16="http://schemas.microsoft.com/office/drawing/2014/main" id="{538CD5DF-0DFF-4367-8693-1C17D5EEDC0E}"/>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FA7AEBA-70B6-4B4A-A27D-DC8DAA14CADB}"/>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VM の OS や追加データは Managed Disk に保存されます。VM 本体と同じく課金対象なので、作成後に関連リソースとして確認します。</a:t>
            </a:r>
          </a:p>
        </p:txBody>
      </p:sp>
      <p:sp>
        <p:nvSpPr>
          <p:cNvPr id="6" name="">
            <a:extLst xmlns:a="http://schemas.openxmlformats.org/drawingml/2006/main">
              <a:ext uri="{FF2B5EF4-FFF2-40B4-BE49-F238E27FC236}">
                <a16:creationId xmlns:a16="http://schemas.microsoft.com/office/drawing/2014/main" id="{7DA86F5F-E412-4289-A02A-632378C026AB}"/>
              </a:ext>
            </a:extLst>
          </p:cNvPr>
          <p:cNvSpPr>
            <a:spLocks xmlns:a="http://schemas.openxmlformats.org/drawingml/2006/main" noGrp="1"/>
          </p:cNvSpPr>
          <p:nvPr/>
        </p:nvSpPr>
        <p:spPr>
          <a:xfrm xmlns:a="http://schemas.openxmlformats.org/drawingml/2006/main">
            <a:off x="895350" y="21145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4D6144C8-8CB8-4A39-B740-72C2E2A7AA5D}"/>
              </a:ext>
            </a:extLst>
          </p:cNvPr>
          <p:cNvSpPr>
            <a:spLocks xmlns:a="http://schemas.openxmlformats.org/drawingml/2006/main" noGrp="1"/>
          </p:cNvSpPr>
          <p:nvPr/>
        </p:nvSpPr>
        <p:spPr>
          <a:xfrm xmlns:a="http://schemas.openxmlformats.org/drawingml/2006/main">
            <a:off x="895350" y="2114550"/>
            <a:ext cx="76200" cy="12954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414AE79E-4374-44BC-ABFA-0C99294EB7AA}"/>
              </a:ext>
            </a:extLst>
          </p:cNvPr>
          <p:cNvSpPr>
            <a:spLocks xmlns:a="http://schemas.openxmlformats.org/drawingml/2006/main" noGrp="1"/>
          </p:cNvSpPr>
          <p:nvPr/>
        </p:nvSpPr>
        <p:spPr>
          <a:xfrm xmlns:a="http://schemas.openxmlformats.org/drawingml/2006/main">
            <a:off x="1104900" y="22669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0F766E"/>
                </a:solidFill>
                <a:latin typeface="Yu Gothic UI"/>
                <a:ea typeface="Yu Gothic UI"/>
                <a:cs typeface="Yu Gothic UI"/>
              </a:defRPr>
            </a:pPr>
            <a:r>
              <a:rPr sz="713" b="1">
                <a:solidFill>
                  <a:srgbClr val="0F766E"/>
                </a:solidFill>
                <a:latin typeface="Yu Gothic UI"/>
                <a:ea typeface="Yu Gothic UI"/>
                <a:cs typeface="Yu Gothic UI"/>
              </a:rPr>
              <a:t>OS Disk</a:t>
            </a:r>
          </a:p>
        </p:txBody>
      </p:sp>
      <p:sp>
        <p:nvSpPr>
          <p:cNvPr id="9" name="">
            <a:extLst xmlns:a="http://schemas.openxmlformats.org/drawingml/2006/main">
              <a:ext uri="{FF2B5EF4-FFF2-40B4-BE49-F238E27FC236}">
                <a16:creationId xmlns:a16="http://schemas.microsoft.com/office/drawing/2014/main" id="{6ED1B7AD-9877-4A2C-856D-65A1E765138D}"/>
              </a:ext>
            </a:extLst>
          </p:cNvPr>
          <p:cNvSpPr>
            <a:spLocks xmlns:a="http://schemas.openxmlformats.org/drawingml/2006/main" noGrp="1"/>
          </p:cNvSpPr>
          <p:nvPr/>
        </p:nvSpPr>
        <p:spPr>
          <a:xfrm xmlns:a="http://schemas.openxmlformats.org/drawingml/2006/main">
            <a:off x="1104900" y="25146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起動に必要</a:t>
            </a:r>
          </a:p>
        </p:txBody>
      </p:sp>
      <p:sp>
        <p:nvSpPr>
          <p:cNvPr id="10" name="">
            <a:extLst xmlns:a="http://schemas.openxmlformats.org/drawingml/2006/main">
              <a:ext uri="{FF2B5EF4-FFF2-40B4-BE49-F238E27FC236}">
                <a16:creationId xmlns:a16="http://schemas.microsoft.com/office/drawing/2014/main" id="{A2658C9F-A867-4402-8E38-31A0FB1F0555}"/>
              </a:ext>
            </a:extLst>
          </p:cNvPr>
          <p:cNvSpPr>
            <a:spLocks xmlns:a="http://schemas.openxmlformats.org/drawingml/2006/main" noGrp="1"/>
          </p:cNvSpPr>
          <p:nvPr/>
        </p:nvSpPr>
        <p:spPr>
          <a:xfrm xmlns:a="http://schemas.openxmlformats.org/drawingml/2006/main">
            <a:off x="1104900" y="29146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Linux の OS、設定、インストールした NGINX などが保存されます。</a:t>
            </a:r>
          </a:p>
        </p:txBody>
      </p:sp>
      <p:sp>
        <p:nvSpPr>
          <p:cNvPr id="11" name="">
            <a:extLst xmlns:a="http://schemas.openxmlformats.org/drawingml/2006/main">
              <a:ext uri="{FF2B5EF4-FFF2-40B4-BE49-F238E27FC236}">
                <a16:creationId xmlns:a16="http://schemas.microsoft.com/office/drawing/2014/main" id="{6DD2D031-CF47-41CB-A849-3381BF0BD56F}"/>
              </a:ext>
            </a:extLst>
          </p:cNvPr>
          <p:cNvSpPr>
            <a:spLocks xmlns:a="http://schemas.openxmlformats.org/drawingml/2006/main" noGrp="1"/>
          </p:cNvSpPr>
          <p:nvPr/>
        </p:nvSpPr>
        <p:spPr>
          <a:xfrm xmlns:a="http://schemas.openxmlformats.org/drawingml/2006/main">
            <a:off x="6115050" y="21145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084DC4D1-F814-42AC-90AC-4A4FC7492B66}"/>
              </a:ext>
            </a:extLst>
          </p:cNvPr>
          <p:cNvSpPr>
            <a:spLocks xmlns:a="http://schemas.openxmlformats.org/drawingml/2006/main" noGrp="1"/>
          </p:cNvSpPr>
          <p:nvPr/>
        </p:nvSpPr>
        <p:spPr>
          <a:xfrm xmlns:a="http://schemas.openxmlformats.org/drawingml/2006/main">
            <a:off x="6115050" y="2114550"/>
            <a:ext cx="76200" cy="129540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13" name="">
            <a:extLst xmlns:a="http://schemas.openxmlformats.org/drawingml/2006/main">
              <a:ext uri="{FF2B5EF4-FFF2-40B4-BE49-F238E27FC236}">
                <a16:creationId xmlns:a16="http://schemas.microsoft.com/office/drawing/2014/main" id="{25A33D0B-71AA-471E-BC22-6725918D0070}"/>
              </a:ext>
            </a:extLst>
          </p:cNvPr>
          <p:cNvSpPr>
            <a:spLocks xmlns:a="http://schemas.openxmlformats.org/drawingml/2006/main" noGrp="1"/>
          </p:cNvSpPr>
          <p:nvPr/>
        </p:nvSpPr>
        <p:spPr>
          <a:xfrm xmlns:a="http://schemas.openxmlformats.org/drawingml/2006/main">
            <a:off x="6324600" y="22669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Data Disk</a:t>
            </a:r>
          </a:p>
        </p:txBody>
      </p:sp>
      <p:sp>
        <p:nvSpPr>
          <p:cNvPr id="14" name="">
            <a:extLst xmlns:a="http://schemas.openxmlformats.org/drawingml/2006/main">
              <a:ext uri="{FF2B5EF4-FFF2-40B4-BE49-F238E27FC236}">
                <a16:creationId xmlns:a16="http://schemas.microsoft.com/office/drawing/2014/main" id="{60C4626D-C3D0-426C-AA10-9D2356F5CEFB}"/>
              </a:ext>
            </a:extLst>
          </p:cNvPr>
          <p:cNvSpPr>
            <a:spLocks xmlns:a="http://schemas.openxmlformats.org/drawingml/2006/main" noGrp="1"/>
          </p:cNvSpPr>
          <p:nvPr/>
        </p:nvSpPr>
        <p:spPr>
          <a:xfrm xmlns:a="http://schemas.openxmlformats.org/drawingml/2006/main">
            <a:off x="6324600" y="25146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追加保存領域</a:t>
            </a:r>
          </a:p>
        </p:txBody>
      </p:sp>
      <p:sp>
        <p:nvSpPr>
          <p:cNvPr id="15" name="">
            <a:extLst xmlns:a="http://schemas.openxmlformats.org/drawingml/2006/main">
              <a:ext uri="{FF2B5EF4-FFF2-40B4-BE49-F238E27FC236}">
                <a16:creationId xmlns:a16="http://schemas.microsoft.com/office/drawing/2014/main" id="{72BFE8C6-07CB-45B5-B3A2-7337A332957A}"/>
              </a:ext>
            </a:extLst>
          </p:cNvPr>
          <p:cNvSpPr>
            <a:spLocks xmlns:a="http://schemas.openxmlformats.org/drawingml/2006/main" noGrp="1"/>
          </p:cNvSpPr>
          <p:nvPr/>
        </p:nvSpPr>
        <p:spPr>
          <a:xfrm xmlns:a="http://schemas.openxmlformats.org/drawingml/2006/main">
            <a:off x="6324600" y="29146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本回では追加しませんが、実務ではデータ用ディスクを分けることがあります。</a:t>
            </a:r>
          </a:p>
        </p:txBody>
      </p:sp>
      <p:sp>
        <p:nvSpPr>
          <p:cNvPr id="16" name="">
            <a:extLst xmlns:a="http://schemas.openxmlformats.org/drawingml/2006/main">
              <a:ext uri="{FF2B5EF4-FFF2-40B4-BE49-F238E27FC236}">
                <a16:creationId xmlns:a16="http://schemas.microsoft.com/office/drawing/2014/main" id="{B525E0AC-871F-482A-8FAB-6EC073BE4D9F}"/>
              </a:ext>
            </a:extLst>
          </p:cNvPr>
          <p:cNvSpPr>
            <a:spLocks xmlns:a="http://schemas.openxmlformats.org/drawingml/2006/main" noGrp="1"/>
          </p:cNvSpPr>
          <p:nvPr/>
        </p:nvSpPr>
        <p:spPr>
          <a:xfrm xmlns:a="http://schemas.openxmlformats.org/drawingml/2006/main">
            <a:off x="895350" y="37147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1D302A96-5192-4C2F-BCCA-D4F030FF609D}"/>
              </a:ext>
            </a:extLst>
          </p:cNvPr>
          <p:cNvSpPr>
            <a:spLocks xmlns:a="http://schemas.openxmlformats.org/drawingml/2006/main" noGrp="1"/>
          </p:cNvSpPr>
          <p:nvPr/>
        </p:nvSpPr>
        <p:spPr>
          <a:xfrm xmlns:a="http://schemas.openxmlformats.org/drawingml/2006/main">
            <a:off x="895350" y="3714750"/>
            <a:ext cx="76200" cy="1295400"/>
          </a:xfrm>
          <a:prstGeom xmlns:a="http://schemas.openxmlformats.org/drawingml/2006/main" prst="rect">
            <a:avLst/>
          </a:prstGeom>
          <a:solidFill xmlns:a="http://schemas.openxmlformats.org/drawingml/2006/main">
            <a:srgbClr val="ED7D31"/>
          </a:solidFill>
          <a:ln xmlns:a="http://schemas.openxmlformats.org/drawingml/2006/main" w="0">
            <a:solidFill>
              <a:srgbClr val="ED7D31"/>
            </a:solidFill>
            <a:prstDash val="solid"/>
          </a:ln>
        </p:spPr>
      </p:sp>
      <p:sp>
        <p:nvSpPr>
          <p:cNvPr id="18" name="">
            <a:extLst xmlns:a="http://schemas.openxmlformats.org/drawingml/2006/main">
              <a:ext uri="{FF2B5EF4-FFF2-40B4-BE49-F238E27FC236}">
                <a16:creationId xmlns:a16="http://schemas.microsoft.com/office/drawing/2014/main" id="{CA8A2184-D95B-4839-BBD9-AB33382B9ED1}"/>
              </a:ext>
            </a:extLst>
          </p:cNvPr>
          <p:cNvSpPr>
            <a:spLocks xmlns:a="http://schemas.openxmlformats.org/drawingml/2006/main" noGrp="1"/>
          </p:cNvSpPr>
          <p:nvPr/>
        </p:nvSpPr>
        <p:spPr>
          <a:xfrm xmlns:a="http://schemas.openxmlformats.org/drawingml/2006/main">
            <a:off x="1104900" y="38671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D7D31"/>
                </a:solidFill>
                <a:latin typeface="Yu Gothic UI"/>
                <a:ea typeface="Yu Gothic UI"/>
                <a:cs typeface="Yu Gothic UI"/>
              </a:defRPr>
            </a:pPr>
            <a:r>
              <a:rPr sz="713" b="1">
                <a:solidFill>
                  <a:srgbClr val="ED7D31"/>
                </a:solidFill>
                <a:latin typeface="Yu Gothic UI"/>
                <a:ea typeface="Yu Gothic UI"/>
                <a:cs typeface="Yu Gothic UI"/>
              </a:rPr>
              <a:t>Cost</a:t>
            </a:r>
          </a:p>
        </p:txBody>
      </p:sp>
      <p:sp>
        <p:nvSpPr>
          <p:cNvPr id="19" name="">
            <a:extLst xmlns:a="http://schemas.openxmlformats.org/drawingml/2006/main">
              <a:ext uri="{FF2B5EF4-FFF2-40B4-BE49-F238E27FC236}">
                <a16:creationId xmlns:a16="http://schemas.microsoft.com/office/drawing/2014/main" id="{670F4407-5E1E-4E27-A0B2-8649BED13FDE}"/>
              </a:ext>
            </a:extLst>
          </p:cNvPr>
          <p:cNvSpPr>
            <a:spLocks xmlns:a="http://schemas.openxmlformats.org/drawingml/2006/main" noGrp="1"/>
          </p:cNvSpPr>
          <p:nvPr/>
        </p:nvSpPr>
        <p:spPr>
          <a:xfrm xmlns:a="http://schemas.openxmlformats.org/drawingml/2006/main">
            <a:off x="1104900" y="41148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残すと課金対象</a:t>
            </a:r>
          </a:p>
        </p:txBody>
      </p:sp>
      <p:sp>
        <p:nvSpPr>
          <p:cNvPr id="20" name="">
            <a:extLst xmlns:a="http://schemas.openxmlformats.org/drawingml/2006/main">
              <a:ext uri="{FF2B5EF4-FFF2-40B4-BE49-F238E27FC236}">
                <a16:creationId xmlns:a16="http://schemas.microsoft.com/office/drawing/2014/main" id="{5013D64C-43FA-46B0-8967-063448D76FB6}"/>
              </a:ext>
            </a:extLst>
          </p:cNvPr>
          <p:cNvSpPr>
            <a:spLocks xmlns:a="http://schemas.openxmlformats.org/drawingml/2006/main" noGrp="1"/>
          </p:cNvSpPr>
          <p:nvPr/>
        </p:nvSpPr>
        <p:spPr>
          <a:xfrm xmlns:a="http://schemas.openxmlformats.org/drawingml/2006/main">
            <a:off x="1104900" y="45148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VM を消したつもりでもディスクだけ残ると課金が続く可能性があります。</a:t>
            </a:r>
          </a:p>
        </p:txBody>
      </p:sp>
      <p:sp>
        <p:nvSpPr>
          <p:cNvPr id="21" name="">
            <a:extLst xmlns:a="http://schemas.openxmlformats.org/drawingml/2006/main">
              <a:ext uri="{FF2B5EF4-FFF2-40B4-BE49-F238E27FC236}">
                <a16:creationId xmlns:a16="http://schemas.microsoft.com/office/drawing/2014/main" id="{8D86C262-1CAE-4DE3-996F-B61AA64E2494}"/>
              </a:ext>
            </a:extLst>
          </p:cNvPr>
          <p:cNvSpPr>
            <a:spLocks xmlns:a="http://schemas.openxmlformats.org/drawingml/2006/main" noGrp="1"/>
          </p:cNvSpPr>
          <p:nvPr/>
        </p:nvSpPr>
        <p:spPr>
          <a:xfrm xmlns:a="http://schemas.openxmlformats.org/drawingml/2006/main">
            <a:off x="6115050" y="37147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E9F2D646-FDD4-4E65-88D7-35F05F4FAE9D}"/>
              </a:ext>
            </a:extLst>
          </p:cNvPr>
          <p:cNvSpPr>
            <a:spLocks xmlns:a="http://schemas.openxmlformats.org/drawingml/2006/main" noGrp="1"/>
          </p:cNvSpPr>
          <p:nvPr/>
        </p:nvSpPr>
        <p:spPr>
          <a:xfrm xmlns:a="http://schemas.openxmlformats.org/drawingml/2006/main">
            <a:off x="6115050" y="3714750"/>
            <a:ext cx="76200" cy="12954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23" name="">
            <a:extLst xmlns:a="http://schemas.openxmlformats.org/drawingml/2006/main">
              <a:ext uri="{FF2B5EF4-FFF2-40B4-BE49-F238E27FC236}">
                <a16:creationId xmlns:a16="http://schemas.microsoft.com/office/drawing/2014/main" id="{DA8B7D92-A869-4252-A7E9-979F74FF1A2E}"/>
              </a:ext>
            </a:extLst>
          </p:cNvPr>
          <p:cNvSpPr>
            <a:spLocks xmlns:a="http://schemas.openxmlformats.org/drawingml/2006/main" noGrp="1"/>
          </p:cNvSpPr>
          <p:nvPr/>
        </p:nvSpPr>
        <p:spPr>
          <a:xfrm xmlns:a="http://schemas.openxmlformats.org/drawingml/2006/main">
            <a:off x="6324600" y="38671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4472C4"/>
                </a:solidFill>
                <a:latin typeface="Yu Gothic UI"/>
                <a:ea typeface="Yu Gothic UI"/>
                <a:cs typeface="Yu Gothic UI"/>
              </a:defRPr>
            </a:pPr>
            <a:r>
              <a:rPr sz="713" b="1">
                <a:solidFill>
                  <a:srgbClr val="4472C4"/>
                </a:solidFill>
                <a:latin typeface="Yu Gothic UI"/>
                <a:ea typeface="Yu Gothic UI"/>
                <a:cs typeface="Yu Gothic UI"/>
              </a:rPr>
              <a:t>Cleanup</a:t>
            </a:r>
          </a:p>
        </p:txBody>
      </p:sp>
      <p:sp>
        <p:nvSpPr>
          <p:cNvPr id="24" name="">
            <a:extLst xmlns:a="http://schemas.openxmlformats.org/drawingml/2006/main">
              <a:ext uri="{FF2B5EF4-FFF2-40B4-BE49-F238E27FC236}">
                <a16:creationId xmlns:a16="http://schemas.microsoft.com/office/drawing/2014/main" id="{2B15B21D-2FC1-4B44-835E-C1E034672784}"/>
              </a:ext>
            </a:extLst>
          </p:cNvPr>
          <p:cNvSpPr>
            <a:spLocks xmlns:a="http://schemas.openxmlformats.org/drawingml/2006/main" noGrp="1"/>
          </p:cNvSpPr>
          <p:nvPr/>
        </p:nvSpPr>
        <p:spPr>
          <a:xfrm xmlns:a="http://schemas.openxmlformats.org/drawingml/2006/main">
            <a:off x="6324600" y="41148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まとめて削除</a:t>
            </a:r>
          </a:p>
        </p:txBody>
      </p:sp>
      <p:sp>
        <p:nvSpPr>
          <p:cNvPr id="25" name="">
            <a:extLst xmlns:a="http://schemas.openxmlformats.org/drawingml/2006/main">
              <a:ext uri="{FF2B5EF4-FFF2-40B4-BE49-F238E27FC236}">
                <a16:creationId xmlns:a16="http://schemas.microsoft.com/office/drawing/2014/main" id="{6EEEF2F0-1212-498D-BAB6-C89063B499CE}"/>
              </a:ext>
            </a:extLst>
          </p:cNvPr>
          <p:cNvSpPr>
            <a:spLocks xmlns:a="http://schemas.openxmlformats.org/drawingml/2006/main" noGrp="1"/>
          </p:cNvSpPr>
          <p:nvPr/>
        </p:nvSpPr>
        <p:spPr>
          <a:xfrm xmlns:a="http://schemas.openxmlformats.org/drawingml/2006/main">
            <a:off x="6324600" y="45148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本回ではリソースグループごと削除して、関連リソースを残さないようにします。</a:t>
            </a:r>
          </a:p>
        </p:txBody>
      </p:sp>
      <p:sp>
        <p:nvSpPr>
          <p:cNvPr id="26" name="">
            <a:extLst xmlns:a="http://schemas.openxmlformats.org/drawingml/2006/main">
              <a:ext uri="{FF2B5EF4-FFF2-40B4-BE49-F238E27FC236}">
                <a16:creationId xmlns:a16="http://schemas.microsoft.com/office/drawing/2014/main" id="{550FDD40-CCA5-489C-8FAC-CF7E7B5E45ED}"/>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8 / 46</a:t>
            </a:r>
          </a:p>
        </p:txBody>
      </p:sp>
    </p:spTree>
    <p:extLst>
      <p:ext uri="{BB962C8B-B14F-4D97-AF65-F5344CB8AC3E}">
        <p14:creationId xmlns:p14="http://schemas.microsoft.com/office/powerpoint/2010/main" val="118607714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5782B5B-C10E-400A-8B9C-737F580E1094}"/>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NIC と IP アドレス</a:t>
            </a:r>
          </a:p>
        </p:txBody>
      </p:sp>
      <p:sp>
        <p:nvSpPr>
          <p:cNvPr id="2" name="">
            <a:extLst xmlns:a="http://schemas.openxmlformats.org/drawingml/2006/main">
              <a:ext uri="{FF2B5EF4-FFF2-40B4-BE49-F238E27FC236}">
                <a16:creationId xmlns:a16="http://schemas.microsoft.com/office/drawing/2014/main" id="{497472B0-99DD-48C1-A1BD-BA2C9CBDDA68}"/>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70F24166-CE42-4ACA-8572-52785B2F1C32}"/>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09</a:t>
            </a:r>
          </a:p>
        </p:txBody>
      </p:sp>
      <p:sp>
        <p:nvSpPr>
          <p:cNvPr id="4" name="">
            <a:extLst xmlns:a="http://schemas.openxmlformats.org/drawingml/2006/main">
              <a:ext uri="{FF2B5EF4-FFF2-40B4-BE49-F238E27FC236}">
                <a16:creationId xmlns:a16="http://schemas.microsoft.com/office/drawing/2014/main" id="{E56C8572-BE07-4299-865B-2F9D7E5D57AD}"/>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967C91D-CCB8-4D7C-BDC5-712FAE077797}"/>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VM がネットワークに参加するには NIC が必要です。Private IP は VNet 内の住所、Public IP はインターネット側からアクセスするための宛先です。</a:t>
            </a:r>
          </a:p>
        </p:txBody>
      </p:sp>
      <p:sp>
        <p:nvSpPr>
          <p:cNvPr id="6" name="">
            <a:extLst xmlns:a="http://schemas.openxmlformats.org/drawingml/2006/main">
              <a:ext uri="{FF2B5EF4-FFF2-40B4-BE49-F238E27FC236}">
                <a16:creationId xmlns:a16="http://schemas.microsoft.com/office/drawing/2014/main" id="{A09B1341-523B-40FD-ADF0-48E7E0470900}"/>
              </a:ext>
            </a:extLst>
          </p:cNvPr>
          <p:cNvSpPr>
            <a:spLocks xmlns:a="http://schemas.openxmlformats.org/drawingml/2006/main" noGrp="1"/>
          </p:cNvSpPr>
          <p:nvPr/>
        </p:nvSpPr>
        <p:spPr>
          <a:xfrm xmlns:a="http://schemas.openxmlformats.org/drawingml/2006/main">
            <a:off x="914400" y="2628900"/>
            <a:ext cx="2419350" cy="1143000"/>
          </a:xfrm>
          <a:prstGeom xmlns:a="http://schemas.openxmlformats.org/drawingml/2006/main" prst="rect">
            <a:avLst/>
          </a:prstGeom>
          <a:solidFill xmlns:a="http://schemas.openxmlformats.org/drawingml/2006/main">
            <a:srgbClr val="EAF1FB"/>
          </a:solidFill>
          <a:ln xmlns:a="http://schemas.openxmlformats.org/drawingml/2006/main" w="13335">
            <a:solidFill>
              <a:srgbClr val="0F766E"/>
            </a:solidFill>
            <a:prstDash val="solid"/>
          </a:ln>
        </p:spPr>
      </p:sp>
      <p:sp>
        <p:nvSpPr>
          <p:cNvPr id="7" name="">
            <a:extLst xmlns:a="http://schemas.openxmlformats.org/drawingml/2006/main">
              <a:ext uri="{FF2B5EF4-FFF2-40B4-BE49-F238E27FC236}">
                <a16:creationId xmlns:a16="http://schemas.microsoft.com/office/drawing/2014/main" id="{D1F854EE-39F4-4396-A5BE-8316E858D807}"/>
              </a:ext>
            </a:extLst>
          </p:cNvPr>
          <p:cNvSpPr>
            <a:spLocks xmlns:a="http://schemas.openxmlformats.org/drawingml/2006/main" noGrp="1"/>
          </p:cNvSpPr>
          <p:nvPr/>
        </p:nvSpPr>
        <p:spPr>
          <a:xfrm xmlns:a="http://schemas.openxmlformats.org/drawingml/2006/main">
            <a:off x="1009650" y="2819400"/>
            <a:ext cx="22288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ブラウザー 利用者の端末</a:t>
            </a:r>
          </a:p>
        </p:txBody>
      </p:sp>
      <p:sp>
        <p:nvSpPr>
          <p:cNvPr id="8" name="">
            <a:extLst xmlns:a="http://schemas.openxmlformats.org/drawingml/2006/main">
              <a:ext uri="{FF2B5EF4-FFF2-40B4-BE49-F238E27FC236}">
                <a16:creationId xmlns:a16="http://schemas.microsoft.com/office/drawing/2014/main" id="{D832933A-D89E-4CBF-AAC5-FF1CC53EA00C}"/>
              </a:ext>
            </a:extLst>
          </p:cNvPr>
          <p:cNvSpPr>
            <a:spLocks xmlns:a="http://schemas.openxmlformats.org/drawingml/2006/main" noGrp="1"/>
          </p:cNvSpPr>
          <p:nvPr/>
        </p:nvSpPr>
        <p:spPr>
          <a:xfrm xmlns:a="http://schemas.openxmlformats.org/drawingml/2006/main">
            <a:off x="3333750" y="3076575"/>
            <a:ext cx="228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0">
                <a:solidFill>
                  <a:srgbClr val="4472C4"/>
                </a:solidFill>
                <a:latin typeface="Yu Gothic UI"/>
                <a:ea typeface="Yu Gothic UI"/>
                <a:cs typeface="Yu Gothic UI"/>
              </a:defRPr>
            </a:pPr>
            <a:r>
              <a:rPr sz="1350" b="0">
                <a:solidFill>
                  <a:srgbClr val="4472C4"/>
                </a:solidFill>
                <a:latin typeface="Yu Gothic UI"/>
                <a:ea typeface="Yu Gothic UI"/>
                <a:cs typeface="Yu Gothic UI"/>
              </a:rPr>
              <a:t>→</a:t>
            </a:r>
          </a:p>
        </p:txBody>
      </p:sp>
      <p:sp>
        <p:nvSpPr>
          <p:cNvPr id="9" name="">
            <a:extLst xmlns:a="http://schemas.openxmlformats.org/drawingml/2006/main">
              <a:ext uri="{FF2B5EF4-FFF2-40B4-BE49-F238E27FC236}">
                <a16:creationId xmlns:a16="http://schemas.microsoft.com/office/drawing/2014/main" id="{19FF43C6-76F6-4A51-8E6B-92288C49AE12}"/>
              </a:ext>
            </a:extLst>
          </p:cNvPr>
          <p:cNvSpPr>
            <a:spLocks xmlns:a="http://schemas.openxmlformats.org/drawingml/2006/main" noGrp="1"/>
          </p:cNvSpPr>
          <p:nvPr/>
        </p:nvSpPr>
        <p:spPr>
          <a:xfrm xmlns:a="http://schemas.openxmlformats.org/drawingml/2006/main">
            <a:off x="3562350" y="2628900"/>
            <a:ext cx="2419350" cy="1143000"/>
          </a:xfrm>
          <a:prstGeom xmlns:a="http://schemas.openxmlformats.org/drawingml/2006/main" prst="rect">
            <a:avLst/>
          </a:prstGeom>
          <a:solidFill xmlns:a="http://schemas.openxmlformats.org/drawingml/2006/main">
            <a:srgbClr val="FFFFFF"/>
          </a:solidFill>
          <a:ln xmlns:a="http://schemas.openxmlformats.org/drawingml/2006/main" w="13335">
            <a:solidFill>
              <a:srgbClr val="70AD47"/>
            </a:solidFill>
            <a:prstDash val="solid"/>
          </a:ln>
        </p:spPr>
      </p:sp>
      <p:sp>
        <p:nvSpPr>
          <p:cNvPr id="10" name="">
            <a:extLst xmlns:a="http://schemas.openxmlformats.org/drawingml/2006/main">
              <a:ext uri="{FF2B5EF4-FFF2-40B4-BE49-F238E27FC236}">
                <a16:creationId xmlns:a16="http://schemas.microsoft.com/office/drawing/2014/main" id="{13E3F6D2-675D-4366-8BD4-D9DBB12A7C82}"/>
              </a:ext>
            </a:extLst>
          </p:cNvPr>
          <p:cNvSpPr>
            <a:spLocks xmlns:a="http://schemas.openxmlformats.org/drawingml/2006/main" noGrp="1"/>
          </p:cNvSpPr>
          <p:nvPr/>
        </p:nvSpPr>
        <p:spPr>
          <a:xfrm xmlns:a="http://schemas.openxmlformats.org/drawingml/2006/main">
            <a:off x="3657600" y="2819400"/>
            <a:ext cx="22288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Public IP 外から見える宛先</a:t>
            </a:r>
          </a:p>
        </p:txBody>
      </p:sp>
      <p:sp>
        <p:nvSpPr>
          <p:cNvPr id="11" name="">
            <a:extLst xmlns:a="http://schemas.openxmlformats.org/drawingml/2006/main">
              <a:ext uri="{FF2B5EF4-FFF2-40B4-BE49-F238E27FC236}">
                <a16:creationId xmlns:a16="http://schemas.microsoft.com/office/drawing/2014/main" id="{C2996C24-43B1-457E-8FF6-67E0B23D6559}"/>
              </a:ext>
            </a:extLst>
          </p:cNvPr>
          <p:cNvSpPr>
            <a:spLocks xmlns:a="http://schemas.openxmlformats.org/drawingml/2006/main" noGrp="1"/>
          </p:cNvSpPr>
          <p:nvPr/>
        </p:nvSpPr>
        <p:spPr>
          <a:xfrm xmlns:a="http://schemas.openxmlformats.org/drawingml/2006/main">
            <a:off x="5981700" y="3076575"/>
            <a:ext cx="228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0">
                <a:solidFill>
                  <a:srgbClr val="4472C4"/>
                </a:solidFill>
                <a:latin typeface="Yu Gothic UI"/>
                <a:ea typeface="Yu Gothic UI"/>
                <a:cs typeface="Yu Gothic UI"/>
              </a:defRPr>
            </a:pPr>
            <a:r>
              <a:rPr sz="1350" b="0">
                <a:solidFill>
                  <a:srgbClr val="4472C4"/>
                </a:solidFill>
                <a:latin typeface="Yu Gothic UI"/>
                <a:ea typeface="Yu Gothic UI"/>
                <a:cs typeface="Yu Gothic UI"/>
              </a:rPr>
              <a:t>→</a:t>
            </a:r>
          </a:p>
        </p:txBody>
      </p:sp>
      <p:sp>
        <p:nvSpPr>
          <p:cNvPr id="12" name="">
            <a:extLst xmlns:a="http://schemas.openxmlformats.org/drawingml/2006/main">
              <a:ext uri="{FF2B5EF4-FFF2-40B4-BE49-F238E27FC236}">
                <a16:creationId xmlns:a16="http://schemas.microsoft.com/office/drawing/2014/main" id="{B2374348-5A0C-449E-9036-CB2430CC1552}"/>
              </a:ext>
            </a:extLst>
          </p:cNvPr>
          <p:cNvSpPr>
            <a:spLocks xmlns:a="http://schemas.openxmlformats.org/drawingml/2006/main" noGrp="1"/>
          </p:cNvSpPr>
          <p:nvPr/>
        </p:nvSpPr>
        <p:spPr>
          <a:xfrm xmlns:a="http://schemas.openxmlformats.org/drawingml/2006/main">
            <a:off x="6210300" y="2628900"/>
            <a:ext cx="2419350" cy="1143000"/>
          </a:xfrm>
          <a:prstGeom xmlns:a="http://schemas.openxmlformats.org/drawingml/2006/main" prst="rect">
            <a:avLst/>
          </a:prstGeom>
          <a:solidFill xmlns:a="http://schemas.openxmlformats.org/drawingml/2006/main">
            <a:srgbClr val="FFFFFF"/>
          </a:solidFill>
          <a:ln xmlns:a="http://schemas.openxmlformats.org/drawingml/2006/main" w="13335">
            <a:solidFill>
              <a:srgbClr val="ED7D31"/>
            </a:solidFill>
            <a:prstDash val="solid"/>
          </a:ln>
        </p:spPr>
      </p:sp>
      <p:sp>
        <p:nvSpPr>
          <p:cNvPr id="13" name="">
            <a:extLst xmlns:a="http://schemas.openxmlformats.org/drawingml/2006/main">
              <a:ext uri="{FF2B5EF4-FFF2-40B4-BE49-F238E27FC236}">
                <a16:creationId xmlns:a16="http://schemas.microsoft.com/office/drawing/2014/main" id="{818E92AE-22B4-4ED6-88A4-710B2429A2F7}"/>
              </a:ext>
            </a:extLst>
          </p:cNvPr>
          <p:cNvSpPr>
            <a:spLocks xmlns:a="http://schemas.openxmlformats.org/drawingml/2006/main" noGrp="1"/>
          </p:cNvSpPr>
          <p:nvPr/>
        </p:nvSpPr>
        <p:spPr>
          <a:xfrm xmlns:a="http://schemas.openxmlformats.org/drawingml/2006/main">
            <a:off x="6305550" y="2819400"/>
            <a:ext cx="22288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NIC VM のネットワーク口</a:t>
            </a:r>
          </a:p>
        </p:txBody>
      </p:sp>
      <p:sp>
        <p:nvSpPr>
          <p:cNvPr id="14" name="">
            <a:extLst xmlns:a="http://schemas.openxmlformats.org/drawingml/2006/main">
              <a:ext uri="{FF2B5EF4-FFF2-40B4-BE49-F238E27FC236}">
                <a16:creationId xmlns:a16="http://schemas.microsoft.com/office/drawing/2014/main" id="{AE52BEA3-A457-45B5-B7A8-953DCD260623}"/>
              </a:ext>
            </a:extLst>
          </p:cNvPr>
          <p:cNvSpPr>
            <a:spLocks xmlns:a="http://schemas.openxmlformats.org/drawingml/2006/main" noGrp="1"/>
          </p:cNvSpPr>
          <p:nvPr/>
        </p:nvSpPr>
        <p:spPr>
          <a:xfrm xmlns:a="http://schemas.openxmlformats.org/drawingml/2006/main">
            <a:off x="8629650" y="3076575"/>
            <a:ext cx="228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0">
                <a:solidFill>
                  <a:srgbClr val="4472C4"/>
                </a:solidFill>
                <a:latin typeface="Yu Gothic UI"/>
                <a:ea typeface="Yu Gothic UI"/>
                <a:cs typeface="Yu Gothic UI"/>
              </a:defRPr>
            </a:pPr>
            <a:r>
              <a:rPr sz="1350" b="0">
                <a:solidFill>
                  <a:srgbClr val="4472C4"/>
                </a:solidFill>
                <a:latin typeface="Yu Gothic UI"/>
                <a:ea typeface="Yu Gothic UI"/>
                <a:cs typeface="Yu Gothic UI"/>
              </a:rPr>
              <a:t>→</a:t>
            </a:r>
          </a:p>
        </p:txBody>
      </p:sp>
      <p:sp>
        <p:nvSpPr>
          <p:cNvPr id="15" name="">
            <a:extLst xmlns:a="http://schemas.openxmlformats.org/drawingml/2006/main">
              <a:ext uri="{FF2B5EF4-FFF2-40B4-BE49-F238E27FC236}">
                <a16:creationId xmlns:a16="http://schemas.microsoft.com/office/drawing/2014/main" id="{6E56B932-3520-4CB0-848D-B6EAF1DC1E04}"/>
              </a:ext>
            </a:extLst>
          </p:cNvPr>
          <p:cNvSpPr>
            <a:spLocks xmlns:a="http://schemas.openxmlformats.org/drawingml/2006/main" noGrp="1"/>
          </p:cNvSpPr>
          <p:nvPr/>
        </p:nvSpPr>
        <p:spPr>
          <a:xfrm xmlns:a="http://schemas.openxmlformats.org/drawingml/2006/main">
            <a:off x="8858250" y="2628900"/>
            <a:ext cx="2419350" cy="1143000"/>
          </a:xfrm>
          <a:prstGeom xmlns:a="http://schemas.openxmlformats.org/drawingml/2006/main" prst="rect">
            <a:avLst/>
          </a:prstGeom>
          <a:solidFill xmlns:a="http://schemas.openxmlformats.org/drawingml/2006/main">
            <a:srgbClr val="FFFFFF"/>
          </a:solidFill>
          <a:ln xmlns:a="http://schemas.openxmlformats.org/drawingml/2006/main" w="13335">
            <a:solidFill>
              <a:srgbClr val="4472C4"/>
            </a:solidFill>
            <a:prstDash val="solid"/>
          </a:ln>
        </p:spPr>
      </p:sp>
      <p:sp>
        <p:nvSpPr>
          <p:cNvPr id="16" name="">
            <a:extLst xmlns:a="http://schemas.openxmlformats.org/drawingml/2006/main">
              <a:ext uri="{FF2B5EF4-FFF2-40B4-BE49-F238E27FC236}">
                <a16:creationId xmlns:a16="http://schemas.microsoft.com/office/drawing/2014/main" id="{54661E41-892E-4490-88D7-7B5B4463CF3E}"/>
              </a:ext>
            </a:extLst>
          </p:cNvPr>
          <p:cNvSpPr>
            <a:spLocks xmlns:a="http://schemas.openxmlformats.org/drawingml/2006/main" noGrp="1"/>
          </p:cNvSpPr>
          <p:nvPr/>
        </p:nvSpPr>
        <p:spPr>
          <a:xfrm xmlns:a="http://schemas.openxmlformats.org/drawingml/2006/main">
            <a:off x="8953500" y="2819400"/>
            <a:ext cx="22288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Private IP VNet 内の住所</a:t>
            </a:r>
          </a:p>
        </p:txBody>
      </p:sp>
      <p:sp>
        <p:nvSpPr>
          <p:cNvPr id="17" name="">
            <a:extLst xmlns:a="http://schemas.openxmlformats.org/drawingml/2006/main">
              <a:ext uri="{FF2B5EF4-FFF2-40B4-BE49-F238E27FC236}">
                <a16:creationId xmlns:a16="http://schemas.microsoft.com/office/drawing/2014/main" id="{0BBF42A1-95EE-43C4-A36A-C8C8E42283F9}"/>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9 / 46</a:t>
            </a:r>
          </a:p>
        </p:txBody>
      </p:sp>
    </p:spTree>
    <p:extLst>
      <p:ext uri="{BB962C8B-B14F-4D97-AF65-F5344CB8AC3E}">
        <p14:creationId xmlns:p14="http://schemas.microsoft.com/office/powerpoint/2010/main" val="118607714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AC06B83-353B-41E3-A957-69E1348E2240}"/>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VNet とサブネット</a:t>
            </a:r>
          </a:p>
        </p:txBody>
      </p:sp>
      <p:sp>
        <p:nvSpPr>
          <p:cNvPr id="2" name="">
            <a:extLst xmlns:a="http://schemas.openxmlformats.org/drawingml/2006/main">
              <a:ext uri="{FF2B5EF4-FFF2-40B4-BE49-F238E27FC236}">
                <a16:creationId xmlns:a16="http://schemas.microsoft.com/office/drawing/2014/main" id="{EB78FDDA-912F-4DE6-8A38-CFC397612238}"/>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DDC53CD5-CD1A-4034-B5FC-58DEA87F23B3}"/>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10</a:t>
            </a:r>
          </a:p>
        </p:txBody>
      </p:sp>
      <p:sp>
        <p:nvSpPr>
          <p:cNvPr id="4" name="">
            <a:extLst xmlns:a="http://schemas.openxmlformats.org/drawingml/2006/main">
              <a:ext uri="{FF2B5EF4-FFF2-40B4-BE49-F238E27FC236}">
                <a16:creationId xmlns:a16="http://schemas.microsoft.com/office/drawing/2014/main" id="{699006A2-227D-45DF-BB26-7E29D97EBFC1}"/>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84D1AD0-BAD2-414E-B354-C0D044AA5A71}"/>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VNet は Azure 上の仮想ネットワーク空間で、サブネットはその中の区画です。VM はサブネットに所属し、そこから通信します。</a:t>
            </a:r>
          </a:p>
        </p:txBody>
      </p:sp>
      <p:sp>
        <p:nvSpPr>
          <p:cNvPr id="6" name="">
            <a:extLst xmlns:a="http://schemas.openxmlformats.org/drawingml/2006/main">
              <a:ext uri="{FF2B5EF4-FFF2-40B4-BE49-F238E27FC236}">
                <a16:creationId xmlns:a16="http://schemas.microsoft.com/office/drawing/2014/main" id="{1C50062C-8C82-4600-BE45-CAFF22B3D128}"/>
              </a:ext>
            </a:extLst>
          </p:cNvPr>
          <p:cNvSpPr>
            <a:spLocks xmlns:a="http://schemas.openxmlformats.org/drawingml/2006/main" noGrp="1"/>
          </p:cNvSpPr>
          <p:nvPr/>
        </p:nvSpPr>
        <p:spPr>
          <a:xfrm xmlns:a="http://schemas.openxmlformats.org/drawingml/2006/main">
            <a:off x="914400" y="2628900"/>
            <a:ext cx="3302000" cy="1143000"/>
          </a:xfrm>
          <a:prstGeom xmlns:a="http://schemas.openxmlformats.org/drawingml/2006/main" prst="rect">
            <a:avLst/>
          </a:prstGeom>
          <a:solidFill xmlns:a="http://schemas.openxmlformats.org/drawingml/2006/main">
            <a:srgbClr val="EAF1FB"/>
          </a:solidFill>
          <a:ln xmlns:a="http://schemas.openxmlformats.org/drawingml/2006/main" w="13335">
            <a:solidFill>
              <a:srgbClr val="0F766E"/>
            </a:solidFill>
            <a:prstDash val="solid"/>
          </a:ln>
        </p:spPr>
      </p:sp>
      <p:sp>
        <p:nvSpPr>
          <p:cNvPr id="7" name="">
            <a:extLst xmlns:a="http://schemas.openxmlformats.org/drawingml/2006/main">
              <a:ext uri="{FF2B5EF4-FFF2-40B4-BE49-F238E27FC236}">
                <a16:creationId xmlns:a16="http://schemas.microsoft.com/office/drawing/2014/main" id="{A2CC5958-417B-43A8-B064-E2BEFA627042}"/>
              </a:ext>
            </a:extLst>
          </p:cNvPr>
          <p:cNvSpPr>
            <a:spLocks xmlns:a="http://schemas.openxmlformats.org/drawingml/2006/main" noGrp="1"/>
          </p:cNvSpPr>
          <p:nvPr/>
        </p:nvSpPr>
        <p:spPr>
          <a:xfrm xmlns:a="http://schemas.openxmlformats.org/drawingml/2006/main">
            <a:off x="1009650" y="2819400"/>
            <a:ext cx="3111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Virtual Network</a:t>
            </a:r>
          </a:p>
        </p:txBody>
      </p:sp>
      <p:sp>
        <p:nvSpPr>
          <p:cNvPr id="8" name="">
            <a:extLst xmlns:a="http://schemas.openxmlformats.org/drawingml/2006/main">
              <a:ext uri="{FF2B5EF4-FFF2-40B4-BE49-F238E27FC236}">
                <a16:creationId xmlns:a16="http://schemas.microsoft.com/office/drawing/2014/main" id="{9D214A85-45A0-4850-AD13-A7C4595563C9}"/>
              </a:ext>
            </a:extLst>
          </p:cNvPr>
          <p:cNvSpPr>
            <a:spLocks xmlns:a="http://schemas.openxmlformats.org/drawingml/2006/main" noGrp="1"/>
          </p:cNvSpPr>
          <p:nvPr/>
        </p:nvSpPr>
        <p:spPr>
          <a:xfrm xmlns:a="http://schemas.openxmlformats.org/drawingml/2006/main">
            <a:off x="4216400" y="3076575"/>
            <a:ext cx="228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0">
                <a:solidFill>
                  <a:srgbClr val="4472C4"/>
                </a:solidFill>
                <a:latin typeface="Yu Gothic UI"/>
                <a:ea typeface="Yu Gothic UI"/>
                <a:cs typeface="Yu Gothic UI"/>
              </a:defRPr>
            </a:pPr>
            <a:r>
              <a:rPr sz="1350" b="0">
                <a:solidFill>
                  <a:srgbClr val="4472C4"/>
                </a:solidFill>
                <a:latin typeface="Yu Gothic UI"/>
                <a:ea typeface="Yu Gothic UI"/>
                <a:cs typeface="Yu Gothic UI"/>
              </a:rPr>
              <a:t>→</a:t>
            </a:r>
          </a:p>
        </p:txBody>
      </p:sp>
      <p:sp>
        <p:nvSpPr>
          <p:cNvPr id="9" name="">
            <a:extLst xmlns:a="http://schemas.openxmlformats.org/drawingml/2006/main">
              <a:ext uri="{FF2B5EF4-FFF2-40B4-BE49-F238E27FC236}">
                <a16:creationId xmlns:a16="http://schemas.microsoft.com/office/drawing/2014/main" id="{C386B5F9-A0CA-4A01-8F80-1C3A737B7636}"/>
              </a:ext>
            </a:extLst>
          </p:cNvPr>
          <p:cNvSpPr>
            <a:spLocks xmlns:a="http://schemas.openxmlformats.org/drawingml/2006/main" noGrp="1"/>
          </p:cNvSpPr>
          <p:nvPr/>
        </p:nvSpPr>
        <p:spPr>
          <a:xfrm xmlns:a="http://schemas.openxmlformats.org/drawingml/2006/main">
            <a:off x="4445000" y="2628900"/>
            <a:ext cx="3302000" cy="1143000"/>
          </a:xfrm>
          <a:prstGeom xmlns:a="http://schemas.openxmlformats.org/drawingml/2006/main" prst="rect">
            <a:avLst/>
          </a:prstGeom>
          <a:solidFill xmlns:a="http://schemas.openxmlformats.org/drawingml/2006/main">
            <a:srgbClr val="FFFFFF"/>
          </a:solidFill>
          <a:ln xmlns:a="http://schemas.openxmlformats.org/drawingml/2006/main" w="13335">
            <a:solidFill>
              <a:srgbClr val="70AD47"/>
            </a:solidFill>
            <a:prstDash val="solid"/>
          </a:ln>
        </p:spPr>
      </p:sp>
      <p:sp>
        <p:nvSpPr>
          <p:cNvPr id="10" name="">
            <a:extLst xmlns:a="http://schemas.openxmlformats.org/drawingml/2006/main">
              <a:ext uri="{FF2B5EF4-FFF2-40B4-BE49-F238E27FC236}">
                <a16:creationId xmlns:a16="http://schemas.microsoft.com/office/drawing/2014/main" id="{65FA084C-85DD-46FD-BE4B-E04BAAB595DD}"/>
              </a:ext>
            </a:extLst>
          </p:cNvPr>
          <p:cNvSpPr>
            <a:spLocks xmlns:a="http://schemas.openxmlformats.org/drawingml/2006/main" noGrp="1"/>
          </p:cNvSpPr>
          <p:nvPr/>
        </p:nvSpPr>
        <p:spPr>
          <a:xfrm xmlns:a="http://schemas.openxmlformats.org/drawingml/2006/main">
            <a:off x="4540250" y="2819400"/>
            <a:ext cx="3111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サブネット 今回の VM が所属</a:t>
            </a:r>
          </a:p>
        </p:txBody>
      </p:sp>
      <p:sp>
        <p:nvSpPr>
          <p:cNvPr id="11" name="">
            <a:extLst xmlns:a="http://schemas.openxmlformats.org/drawingml/2006/main">
              <a:ext uri="{FF2B5EF4-FFF2-40B4-BE49-F238E27FC236}">
                <a16:creationId xmlns:a16="http://schemas.microsoft.com/office/drawing/2014/main" id="{9585B524-29E6-4CA4-ABCC-089C493A1039}"/>
              </a:ext>
            </a:extLst>
          </p:cNvPr>
          <p:cNvSpPr>
            <a:spLocks xmlns:a="http://schemas.openxmlformats.org/drawingml/2006/main" noGrp="1"/>
          </p:cNvSpPr>
          <p:nvPr/>
        </p:nvSpPr>
        <p:spPr>
          <a:xfrm xmlns:a="http://schemas.openxmlformats.org/drawingml/2006/main">
            <a:off x="7747000" y="3076575"/>
            <a:ext cx="228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0">
                <a:solidFill>
                  <a:srgbClr val="4472C4"/>
                </a:solidFill>
                <a:latin typeface="Yu Gothic UI"/>
                <a:ea typeface="Yu Gothic UI"/>
                <a:cs typeface="Yu Gothic UI"/>
              </a:defRPr>
            </a:pPr>
            <a:r>
              <a:rPr sz="1350" b="0">
                <a:solidFill>
                  <a:srgbClr val="4472C4"/>
                </a:solidFill>
                <a:latin typeface="Yu Gothic UI"/>
                <a:ea typeface="Yu Gothic UI"/>
                <a:cs typeface="Yu Gothic UI"/>
              </a:rPr>
              <a:t>→</a:t>
            </a:r>
          </a:p>
        </p:txBody>
      </p:sp>
      <p:sp>
        <p:nvSpPr>
          <p:cNvPr id="12" name="">
            <a:extLst xmlns:a="http://schemas.openxmlformats.org/drawingml/2006/main">
              <a:ext uri="{FF2B5EF4-FFF2-40B4-BE49-F238E27FC236}">
                <a16:creationId xmlns:a16="http://schemas.microsoft.com/office/drawing/2014/main" id="{360D7036-D95E-4FBF-9293-A1298336DBF7}"/>
              </a:ext>
            </a:extLst>
          </p:cNvPr>
          <p:cNvSpPr>
            <a:spLocks xmlns:a="http://schemas.openxmlformats.org/drawingml/2006/main" noGrp="1"/>
          </p:cNvSpPr>
          <p:nvPr/>
        </p:nvSpPr>
        <p:spPr>
          <a:xfrm xmlns:a="http://schemas.openxmlformats.org/drawingml/2006/main">
            <a:off x="7975600" y="2628900"/>
            <a:ext cx="3302000" cy="1143000"/>
          </a:xfrm>
          <a:prstGeom xmlns:a="http://schemas.openxmlformats.org/drawingml/2006/main" prst="rect">
            <a:avLst/>
          </a:prstGeom>
          <a:solidFill xmlns:a="http://schemas.openxmlformats.org/drawingml/2006/main">
            <a:srgbClr val="FFFFFF"/>
          </a:solidFill>
          <a:ln xmlns:a="http://schemas.openxmlformats.org/drawingml/2006/main" w="13335">
            <a:solidFill>
              <a:srgbClr val="ED7D31"/>
            </a:solidFill>
            <a:prstDash val="solid"/>
          </a:ln>
        </p:spPr>
      </p:sp>
      <p:sp>
        <p:nvSpPr>
          <p:cNvPr id="13" name="">
            <a:extLst xmlns:a="http://schemas.openxmlformats.org/drawingml/2006/main">
              <a:ext uri="{FF2B5EF4-FFF2-40B4-BE49-F238E27FC236}">
                <a16:creationId xmlns:a16="http://schemas.microsoft.com/office/drawing/2014/main" id="{9D85EAA2-9173-45F9-89DD-B8BDD93E6CCF}"/>
              </a:ext>
            </a:extLst>
          </p:cNvPr>
          <p:cNvSpPr>
            <a:spLocks xmlns:a="http://schemas.openxmlformats.org/drawingml/2006/main" noGrp="1"/>
          </p:cNvSpPr>
          <p:nvPr/>
        </p:nvSpPr>
        <p:spPr>
          <a:xfrm xmlns:a="http://schemas.openxmlformats.org/drawingml/2006/main">
            <a:off x="8070850" y="2819400"/>
            <a:ext cx="3111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別サブネット AP/DB などで利用</a:t>
            </a:r>
          </a:p>
        </p:txBody>
      </p:sp>
      <p:sp>
        <p:nvSpPr>
          <p:cNvPr id="14" name="">
            <a:extLst xmlns:a="http://schemas.openxmlformats.org/drawingml/2006/main">
              <a:ext uri="{FF2B5EF4-FFF2-40B4-BE49-F238E27FC236}">
                <a16:creationId xmlns:a16="http://schemas.microsoft.com/office/drawing/2014/main" id="{B24EAD92-50DC-4C34-85C8-E5C95726880A}"/>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10 / 46</a:t>
            </a:r>
          </a:p>
        </p:txBody>
      </p:sp>
    </p:spTree>
    <p:extLst>
      <p:ext uri="{BB962C8B-B14F-4D97-AF65-F5344CB8AC3E}">
        <p14:creationId xmlns:p14="http://schemas.microsoft.com/office/powerpoint/2010/main" val="118607714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FCCB82-901B-4A79-B643-4760DF8CC772}"/>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NSG</a:t>
            </a:r>
          </a:p>
        </p:txBody>
      </p:sp>
      <p:sp>
        <p:nvSpPr>
          <p:cNvPr id="2" name="">
            <a:extLst xmlns:a="http://schemas.openxmlformats.org/drawingml/2006/main">
              <a:ext uri="{FF2B5EF4-FFF2-40B4-BE49-F238E27FC236}">
                <a16:creationId xmlns:a16="http://schemas.microsoft.com/office/drawing/2014/main" id="{BAF035C1-2215-4758-9D4D-BE572DAE656B}"/>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14A34E4A-2AA9-4A77-9EDB-B47392E361C6}"/>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11</a:t>
            </a:r>
          </a:p>
        </p:txBody>
      </p:sp>
      <p:sp>
        <p:nvSpPr>
          <p:cNvPr id="4" name="">
            <a:extLst xmlns:a="http://schemas.openxmlformats.org/drawingml/2006/main">
              <a:ext uri="{FF2B5EF4-FFF2-40B4-BE49-F238E27FC236}">
                <a16:creationId xmlns:a16="http://schemas.microsoft.com/office/drawing/2014/main" id="{407197A0-4A3B-4EAA-A254-16A3BCB8A6F4}"/>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2903B28-8C1B-4C9A-AC72-3BC17B6B681B}"/>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NSG は、どの通信を通すかを制御するルールです。本回ではブラウザーから NGINX を表示するため、HTTP の受信を許可します。</a:t>
            </a:r>
          </a:p>
        </p:txBody>
      </p:sp>
      <p:sp>
        <p:nvSpPr>
          <p:cNvPr id="6" name="">
            <a:extLst xmlns:a="http://schemas.openxmlformats.org/drawingml/2006/main">
              <a:ext uri="{FF2B5EF4-FFF2-40B4-BE49-F238E27FC236}">
                <a16:creationId xmlns:a16="http://schemas.microsoft.com/office/drawing/2014/main" id="{6FD150C4-7332-49C1-9E46-713F667D7AED}"/>
              </a:ext>
            </a:extLst>
          </p:cNvPr>
          <p:cNvSpPr>
            <a:spLocks xmlns:a="http://schemas.openxmlformats.org/drawingml/2006/main" noGrp="1"/>
          </p:cNvSpPr>
          <p:nvPr/>
        </p:nvSpPr>
        <p:spPr>
          <a:xfrm xmlns:a="http://schemas.openxmlformats.org/drawingml/2006/main">
            <a:off x="876300" y="2400300"/>
            <a:ext cx="32766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B7520D82-8BEE-4B09-8FB9-B103EB212872}"/>
              </a:ext>
            </a:extLst>
          </p:cNvPr>
          <p:cNvSpPr>
            <a:spLocks xmlns:a="http://schemas.openxmlformats.org/drawingml/2006/main" noGrp="1"/>
          </p:cNvSpPr>
          <p:nvPr/>
        </p:nvSpPr>
        <p:spPr>
          <a:xfrm xmlns:a="http://schemas.openxmlformats.org/drawingml/2006/main">
            <a:off x="876300" y="2400300"/>
            <a:ext cx="76200" cy="20002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F2E7394B-4515-4638-A439-3DD15B53E25B}"/>
              </a:ext>
            </a:extLst>
          </p:cNvPr>
          <p:cNvSpPr>
            <a:spLocks xmlns:a="http://schemas.openxmlformats.org/drawingml/2006/main" noGrp="1"/>
          </p:cNvSpPr>
          <p:nvPr/>
        </p:nvSpPr>
        <p:spPr>
          <a:xfrm xmlns:a="http://schemas.openxmlformats.org/drawingml/2006/main">
            <a:off x="1085850" y="2552700"/>
            <a:ext cx="2876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0F766E"/>
                </a:solidFill>
                <a:latin typeface="Yu Gothic UI"/>
                <a:ea typeface="Yu Gothic UI"/>
                <a:cs typeface="Yu Gothic UI"/>
              </a:defRPr>
            </a:pPr>
            <a:r>
              <a:rPr sz="713" b="1">
                <a:solidFill>
                  <a:srgbClr val="0F766E"/>
                </a:solidFill>
                <a:latin typeface="Yu Gothic UI"/>
                <a:ea typeface="Yu Gothic UI"/>
                <a:cs typeface="Yu Gothic UI"/>
              </a:rPr>
              <a:t>Allow</a:t>
            </a:r>
          </a:p>
        </p:txBody>
      </p:sp>
      <p:sp>
        <p:nvSpPr>
          <p:cNvPr id="9" name="">
            <a:extLst xmlns:a="http://schemas.openxmlformats.org/drawingml/2006/main">
              <a:ext uri="{FF2B5EF4-FFF2-40B4-BE49-F238E27FC236}">
                <a16:creationId xmlns:a16="http://schemas.microsoft.com/office/drawing/2014/main" id="{80F4C00A-11A9-489D-AF46-6DFCCA17BCC9}"/>
              </a:ext>
            </a:extLst>
          </p:cNvPr>
          <p:cNvSpPr>
            <a:spLocks xmlns:a="http://schemas.openxmlformats.org/drawingml/2006/main" noGrp="1"/>
          </p:cNvSpPr>
          <p:nvPr/>
        </p:nvSpPr>
        <p:spPr>
          <a:xfrm xmlns:a="http://schemas.openxmlformats.org/drawingml/2006/main">
            <a:off x="1085850" y="28003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HTTP</a:t>
            </a:r>
          </a:p>
        </p:txBody>
      </p:sp>
      <p:sp>
        <p:nvSpPr>
          <p:cNvPr id="10" name="">
            <a:extLst xmlns:a="http://schemas.openxmlformats.org/drawingml/2006/main">
              <a:ext uri="{FF2B5EF4-FFF2-40B4-BE49-F238E27FC236}">
                <a16:creationId xmlns:a16="http://schemas.microsoft.com/office/drawing/2014/main" id="{4C4BCFF6-1141-4139-B1C4-36FCE3A70CEA}"/>
              </a:ext>
            </a:extLst>
          </p:cNvPr>
          <p:cNvSpPr>
            <a:spLocks xmlns:a="http://schemas.openxmlformats.org/drawingml/2006/main" noGrp="1"/>
          </p:cNvSpPr>
          <p:nvPr/>
        </p:nvSpPr>
        <p:spPr>
          <a:xfrm xmlns:a="http://schemas.openxmlformats.org/drawingml/2006/main">
            <a:off x="1085850" y="3200400"/>
            <a:ext cx="28765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Web ページを表示するための受信通信を許可します。</a:t>
            </a:r>
          </a:p>
        </p:txBody>
      </p:sp>
      <p:sp>
        <p:nvSpPr>
          <p:cNvPr id="11" name="">
            <a:extLst xmlns:a="http://schemas.openxmlformats.org/drawingml/2006/main">
              <a:ext uri="{FF2B5EF4-FFF2-40B4-BE49-F238E27FC236}">
                <a16:creationId xmlns:a16="http://schemas.microsoft.com/office/drawing/2014/main" id="{7B635E5A-DE04-4642-BA38-C6D128C997F2}"/>
              </a:ext>
            </a:extLst>
          </p:cNvPr>
          <p:cNvSpPr>
            <a:spLocks xmlns:a="http://schemas.openxmlformats.org/drawingml/2006/main" noGrp="1"/>
          </p:cNvSpPr>
          <p:nvPr/>
        </p:nvSpPr>
        <p:spPr>
          <a:xfrm xmlns:a="http://schemas.openxmlformats.org/drawingml/2006/main">
            <a:off x="4438650" y="2400300"/>
            <a:ext cx="32766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1E438863-0FA3-4E32-82C6-EC9F08C2AB7D}"/>
              </a:ext>
            </a:extLst>
          </p:cNvPr>
          <p:cNvSpPr>
            <a:spLocks xmlns:a="http://schemas.openxmlformats.org/drawingml/2006/main" noGrp="1"/>
          </p:cNvSpPr>
          <p:nvPr/>
        </p:nvSpPr>
        <p:spPr>
          <a:xfrm xmlns:a="http://schemas.openxmlformats.org/drawingml/2006/main">
            <a:off x="4438650" y="2400300"/>
            <a:ext cx="76200" cy="200025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13" name="">
            <a:extLst xmlns:a="http://schemas.openxmlformats.org/drawingml/2006/main">
              <a:ext uri="{FF2B5EF4-FFF2-40B4-BE49-F238E27FC236}">
                <a16:creationId xmlns:a16="http://schemas.microsoft.com/office/drawing/2014/main" id="{45CEC2CF-C870-4F84-AC7C-543AD241F572}"/>
              </a:ext>
            </a:extLst>
          </p:cNvPr>
          <p:cNvSpPr>
            <a:spLocks xmlns:a="http://schemas.openxmlformats.org/drawingml/2006/main" noGrp="1"/>
          </p:cNvSpPr>
          <p:nvPr/>
        </p:nvSpPr>
        <p:spPr>
          <a:xfrm xmlns:a="http://schemas.openxmlformats.org/drawingml/2006/main">
            <a:off x="4648200" y="2552700"/>
            <a:ext cx="2876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Review</a:t>
            </a:r>
          </a:p>
        </p:txBody>
      </p:sp>
      <p:sp>
        <p:nvSpPr>
          <p:cNvPr id="14" name="">
            <a:extLst xmlns:a="http://schemas.openxmlformats.org/drawingml/2006/main">
              <a:ext uri="{FF2B5EF4-FFF2-40B4-BE49-F238E27FC236}">
                <a16:creationId xmlns:a16="http://schemas.microsoft.com/office/drawing/2014/main" id="{33B8267A-3CC2-4119-9CC4-72D78412F9B8}"/>
              </a:ext>
            </a:extLst>
          </p:cNvPr>
          <p:cNvSpPr>
            <a:spLocks xmlns:a="http://schemas.openxmlformats.org/drawingml/2006/main" noGrp="1"/>
          </p:cNvSpPr>
          <p:nvPr/>
        </p:nvSpPr>
        <p:spPr>
          <a:xfrm xmlns:a="http://schemas.openxmlformats.org/drawingml/2006/main">
            <a:off x="4648200" y="28003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SSH</a:t>
            </a:r>
          </a:p>
        </p:txBody>
      </p:sp>
      <p:sp>
        <p:nvSpPr>
          <p:cNvPr id="15" name="">
            <a:extLst xmlns:a="http://schemas.openxmlformats.org/drawingml/2006/main">
              <a:ext uri="{FF2B5EF4-FFF2-40B4-BE49-F238E27FC236}">
                <a16:creationId xmlns:a16="http://schemas.microsoft.com/office/drawing/2014/main" id="{E7DB8257-F322-41CA-82AC-AF720B72905C}"/>
              </a:ext>
            </a:extLst>
          </p:cNvPr>
          <p:cNvSpPr>
            <a:spLocks xmlns:a="http://schemas.openxmlformats.org/drawingml/2006/main" noGrp="1"/>
          </p:cNvSpPr>
          <p:nvPr/>
        </p:nvSpPr>
        <p:spPr>
          <a:xfrm xmlns:a="http://schemas.openxmlformats.org/drawingml/2006/main">
            <a:off x="4648200" y="3200400"/>
            <a:ext cx="28765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管理用ポートは講座の主目的ではないため、必要性を確認して扱います。</a:t>
            </a:r>
          </a:p>
        </p:txBody>
      </p:sp>
      <p:sp>
        <p:nvSpPr>
          <p:cNvPr id="16" name="">
            <a:extLst xmlns:a="http://schemas.openxmlformats.org/drawingml/2006/main">
              <a:ext uri="{FF2B5EF4-FFF2-40B4-BE49-F238E27FC236}">
                <a16:creationId xmlns:a16="http://schemas.microsoft.com/office/drawing/2014/main" id="{1E123C16-5ECB-44DE-A66B-0CC38932DDEF}"/>
              </a:ext>
            </a:extLst>
          </p:cNvPr>
          <p:cNvSpPr>
            <a:spLocks xmlns:a="http://schemas.openxmlformats.org/drawingml/2006/main" noGrp="1"/>
          </p:cNvSpPr>
          <p:nvPr/>
        </p:nvSpPr>
        <p:spPr>
          <a:xfrm xmlns:a="http://schemas.openxmlformats.org/drawingml/2006/main">
            <a:off x="8001000" y="2400300"/>
            <a:ext cx="32766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984C7A07-CF71-4AA2-BD33-E77D3E0DAC89}"/>
              </a:ext>
            </a:extLst>
          </p:cNvPr>
          <p:cNvSpPr>
            <a:spLocks xmlns:a="http://schemas.openxmlformats.org/drawingml/2006/main" noGrp="1"/>
          </p:cNvSpPr>
          <p:nvPr/>
        </p:nvSpPr>
        <p:spPr>
          <a:xfrm xmlns:a="http://schemas.openxmlformats.org/drawingml/2006/main">
            <a:off x="8001000" y="2400300"/>
            <a:ext cx="76200" cy="2000250"/>
          </a:xfrm>
          <a:prstGeom xmlns:a="http://schemas.openxmlformats.org/drawingml/2006/main" prst="rect">
            <a:avLst/>
          </a:prstGeom>
          <a:solidFill xmlns:a="http://schemas.openxmlformats.org/drawingml/2006/main">
            <a:srgbClr val="ED7D31"/>
          </a:solidFill>
          <a:ln xmlns:a="http://schemas.openxmlformats.org/drawingml/2006/main" w="0">
            <a:solidFill>
              <a:srgbClr val="ED7D31"/>
            </a:solidFill>
            <a:prstDash val="solid"/>
          </a:ln>
        </p:spPr>
      </p:sp>
      <p:sp>
        <p:nvSpPr>
          <p:cNvPr id="18" name="">
            <a:extLst xmlns:a="http://schemas.openxmlformats.org/drawingml/2006/main">
              <a:ext uri="{FF2B5EF4-FFF2-40B4-BE49-F238E27FC236}">
                <a16:creationId xmlns:a16="http://schemas.microsoft.com/office/drawing/2014/main" id="{0E814686-6B0F-41E9-80F2-B479721C80CC}"/>
              </a:ext>
            </a:extLst>
          </p:cNvPr>
          <p:cNvSpPr>
            <a:spLocks xmlns:a="http://schemas.openxmlformats.org/drawingml/2006/main" noGrp="1"/>
          </p:cNvSpPr>
          <p:nvPr/>
        </p:nvSpPr>
        <p:spPr>
          <a:xfrm xmlns:a="http://schemas.openxmlformats.org/drawingml/2006/main">
            <a:off x="8210550" y="2552700"/>
            <a:ext cx="2876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D7D31"/>
                </a:solidFill>
                <a:latin typeface="Yu Gothic UI"/>
                <a:ea typeface="Yu Gothic UI"/>
                <a:cs typeface="Yu Gothic UI"/>
              </a:defRPr>
            </a:pPr>
            <a:r>
              <a:rPr sz="713" b="1">
                <a:solidFill>
                  <a:srgbClr val="ED7D31"/>
                </a:solidFill>
                <a:latin typeface="Yu Gothic UI"/>
                <a:ea typeface="Yu Gothic UI"/>
                <a:cs typeface="Yu Gothic UI"/>
              </a:rPr>
              <a:t>Production</a:t>
            </a:r>
          </a:p>
        </p:txBody>
      </p:sp>
      <p:sp>
        <p:nvSpPr>
          <p:cNvPr id="19" name="">
            <a:extLst xmlns:a="http://schemas.openxmlformats.org/drawingml/2006/main">
              <a:ext uri="{FF2B5EF4-FFF2-40B4-BE49-F238E27FC236}">
                <a16:creationId xmlns:a16="http://schemas.microsoft.com/office/drawing/2014/main" id="{7FA6FEA0-C6DF-4CB4-A594-D03E8E031C20}"/>
              </a:ext>
            </a:extLst>
          </p:cNvPr>
          <p:cNvSpPr>
            <a:spLocks xmlns:a="http://schemas.openxmlformats.org/drawingml/2006/main" noGrp="1"/>
          </p:cNvSpPr>
          <p:nvPr/>
        </p:nvSpPr>
        <p:spPr>
          <a:xfrm xmlns:a="http://schemas.openxmlformats.org/drawingml/2006/main">
            <a:off x="8210550" y="28003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最小許可</a:t>
            </a:r>
          </a:p>
        </p:txBody>
      </p:sp>
      <p:sp>
        <p:nvSpPr>
          <p:cNvPr id="20" name="">
            <a:extLst xmlns:a="http://schemas.openxmlformats.org/drawingml/2006/main">
              <a:ext uri="{FF2B5EF4-FFF2-40B4-BE49-F238E27FC236}">
                <a16:creationId xmlns:a16="http://schemas.microsoft.com/office/drawing/2014/main" id="{2A90668F-3596-47D5-BF2B-2A089C812692}"/>
              </a:ext>
            </a:extLst>
          </p:cNvPr>
          <p:cNvSpPr>
            <a:spLocks xmlns:a="http://schemas.openxmlformats.org/drawingml/2006/main" noGrp="1"/>
          </p:cNvSpPr>
          <p:nvPr/>
        </p:nvSpPr>
        <p:spPr>
          <a:xfrm xmlns:a="http://schemas.openxmlformats.org/drawingml/2006/main">
            <a:off x="8210550" y="3200400"/>
            <a:ext cx="28765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本番環境では公開範囲、管理経路、監視をより厳密に設計します。</a:t>
            </a:r>
          </a:p>
        </p:txBody>
      </p:sp>
      <p:sp>
        <p:nvSpPr>
          <p:cNvPr id="21" name="">
            <a:extLst xmlns:a="http://schemas.openxmlformats.org/drawingml/2006/main">
              <a:ext uri="{FF2B5EF4-FFF2-40B4-BE49-F238E27FC236}">
                <a16:creationId xmlns:a16="http://schemas.microsoft.com/office/drawing/2014/main" id="{56AA11C8-A728-4C50-9975-F909EBCDEC66}"/>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11 / 46</a:t>
            </a:r>
          </a:p>
        </p:txBody>
      </p:sp>
    </p:spTree>
    <p:extLst>
      <p:ext uri="{BB962C8B-B14F-4D97-AF65-F5344CB8AC3E}">
        <p14:creationId xmlns:p14="http://schemas.microsoft.com/office/powerpoint/2010/main" val="118607714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F092921-800D-4528-8B41-238E689F2EB0}"/>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Route Table/UDR</a:t>
            </a:r>
          </a:p>
        </p:txBody>
      </p:sp>
      <p:sp>
        <p:nvSpPr>
          <p:cNvPr id="2" name="">
            <a:extLst xmlns:a="http://schemas.openxmlformats.org/drawingml/2006/main">
              <a:ext uri="{FF2B5EF4-FFF2-40B4-BE49-F238E27FC236}">
                <a16:creationId xmlns:a16="http://schemas.microsoft.com/office/drawing/2014/main" id="{5024702F-DE36-47F5-B405-3738177270A2}"/>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69453E24-7CED-4A22-AB6A-718B067FA39F}"/>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12</a:t>
            </a:r>
          </a:p>
        </p:txBody>
      </p:sp>
      <p:sp>
        <p:nvSpPr>
          <p:cNvPr id="4" name="">
            <a:extLst xmlns:a="http://schemas.openxmlformats.org/drawingml/2006/main">
              <a:ext uri="{FF2B5EF4-FFF2-40B4-BE49-F238E27FC236}">
                <a16:creationId xmlns:a16="http://schemas.microsoft.com/office/drawing/2014/main" id="{B8765F84-4599-4ED3-8658-4D8C75CB3BFE}"/>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BD84E17-4E0A-48C4-AB13-601EB9946CF3}"/>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Route Table は通信の通り道を明示的に制御したい場合に使います。本回では作成せず、後続のネットワーク回への入口として存在だけ押さえます。</a:t>
            </a:r>
          </a:p>
        </p:txBody>
      </p:sp>
      <p:sp>
        <p:nvSpPr>
          <p:cNvPr id="6" name="">
            <a:extLst xmlns:a="http://schemas.openxmlformats.org/drawingml/2006/main">
              <a:ext uri="{FF2B5EF4-FFF2-40B4-BE49-F238E27FC236}">
                <a16:creationId xmlns:a16="http://schemas.microsoft.com/office/drawing/2014/main" id="{34BC70DA-1F4C-4A8D-BB49-59FE29F090A6}"/>
              </a:ext>
            </a:extLst>
          </p:cNvPr>
          <p:cNvSpPr>
            <a:spLocks xmlns:a="http://schemas.openxmlformats.org/drawingml/2006/main" noGrp="1"/>
          </p:cNvSpPr>
          <p:nvPr/>
        </p:nvSpPr>
        <p:spPr>
          <a:xfrm xmlns:a="http://schemas.openxmlformats.org/drawingml/2006/main">
            <a:off x="895350" y="21145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E5E0323B-FFAD-452D-BE94-3941155DC801}"/>
              </a:ext>
            </a:extLst>
          </p:cNvPr>
          <p:cNvSpPr>
            <a:spLocks xmlns:a="http://schemas.openxmlformats.org/drawingml/2006/main" noGrp="1"/>
          </p:cNvSpPr>
          <p:nvPr/>
        </p:nvSpPr>
        <p:spPr>
          <a:xfrm xmlns:a="http://schemas.openxmlformats.org/drawingml/2006/main">
            <a:off x="895350" y="2114550"/>
            <a:ext cx="76200" cy="12954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C2814EFE-E7D1-47BB-9727-7B31CC11E1A1}"/>
              </a:ext>
            </a:extLst>
          </p:cNvPr>
          <p:cNvSpPr>
            <a:spLocks xmlns:a="http://schemas.openxmlformats.org/drawingml/2006/main" noGrp="1"/>
          </p:cNvSpPr>
          <p:nvPr/>
        </p:nvSpPr>
        <p:spPr>
          <a:xfrm xmlns:a="http://schemas.openxmlformats.org/drawingml/2006/main">
            <a:off x="1104900" y="22669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0F766E"/>
                </a:solidFill>
                <a:latin typeface="Yu Gothic UI"/>
                <a:ea typeface="Yu Gothic UI"/>
                <a:cs typeface="Yu Gothic UI"/>
              </a:defRPr>
            </a:pPr>
            <a:r>
              <a:rPr sz="713" b="1">
                <a:solidFill>
                  <a:srgbClr val="0F766E"/>
                </a:solidFill>
                <a:latin typeface="Yu Gothic UI"/>
                <a:ea typeface="Yu Gothic UI"/>
                <a:cs typeface="Yu Gothic UI"/>
              </a:rPr>
              <a:t>Default</a:t>
            </a:r>
          </a:p>
        </p:txBody>
      </p:sp>
      <p:sp>
        <p:nvSpPr>
          <p:cNvPr id="9" name="">
            <a:extLst xmlns:a="http://schemas.openxmlformats.org/drawingml/2006/main">
              <a:ext uri="{FF2B5EF4-FFF2-40B4-BE49-F238E27FC236}">
                <a16:creationId xmlns:a16="http://schemas.microsoft.com/office/drawing/2014/main" id="{B7E3EDD6-10E7-473D-B43F-713F895D24A5}"/>
              </a:ext>
            </a:extLst>
          </p:cNvPr>
          <p:cNvSpPr>
            <a:spLocks xmlns:a="http://schemas.openxmlformats.org/drawingml/2006/main" noGrp="1"/>
          </p:cNvSpPr>
          <p:nvPr/>
        </p:nvSpPr>
        <p:spPr>
          <a:xfrm xmlns:a="http://schemas.openxmlformats.org/drawingml/2006/main">
            <a:off x="1104900" y="25146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既定の経路</a:t>
            </a:r>
          </a:p>
        </p:txBody>
      </p:sp>
      <p:sp>
        <p:nvSpPr>
          <p:cNvPr id="10" name="">
            <a:extLst xmlns:a="http://schemas.openxmlformats.org/drawingml/2006/main">
              <a:ext uri="{FF2B5EF4-FFF2-40B4-BE49-F238E27FC236}">
                <a16:creationId xmlns:a16="http://schemas.microsoft.com/office/drawing/2014/main" id="{92743BD9-6EC9-4C10-A1E9-1FD89E39B8C9}"/>
              </a:ext>
            </a:extLst>
          </p:cNvPr>
          <p:cNvSpPr>
            <a:spLocks xmlns:a="http://schemas.openxmlformats.org/drawingml/2006/main" noGrp="1"/>
          </p:cNvSpPr>
          <p:nvPr/>
        </p:nvSpPr>
        <p:spPr>
          <a:xfrm xmlns:a="http://schemas.openxmlformats.org/drawingml/2006/main">
            <a:off x="1104900" y="29146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今回の単純な Web サーバ公開では、Portal の既定値で通信を確認します。</a:t>
            </a:r>
          </a:p>
        </p:txBody>
      </p:sp>
      <p:sp>
        <p:nvSpPr>
          <p:cNvPr id="11" name="">
            <a:extLst xmlns:a="http://schemas.openxmlformats.org/drawingml/2006/main">
              <a:ext uri="{FF2B5EF4-FFF2-40B4-BE49-F238E27FC236}">
                <a16:creationId xmlns:a16="http://schemas.microsoft.com/office/drawing/2014/main" id="{8DF21633-117F-4D7A-B598-20F11BE4F7D7}"/>
              </a:ext>
            </a:extLst>
          </p:cNvPr>
          <p:cNvSpPr>
            <a:spLocks xmlns:a="http://schemas.openxmlformats.org/drawingml/2006/main" noGrp="1"/>
          </p:cNvSpPr>
          <p:nvPr/>
        </p:nvSpPr>
        <p:spPr>
          <a:xfrm xmlns:a="http://schemas.openxmlformats.org/drawingml/2006/main">
            <a:off x="6115050" y="21145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431FD820-F6A2-4A85-9736-D0F6CDA00A32}"/>
              </a:ext>
            </a:extLst>
          </p:cNvPr>
          <p:cNvSpPr>
            <a:spLocks xmlns:a="http://schemas.openxmlformats.org/drawingml/2006/main" noGrp="1"/>
          </p:cNvSpPr>
          <p:nvPr/>
        </p:nvSpPr>
        <p:spPr>
          <a:xfrm xmlns:a="http://schemas.openxmlformats.org/drawingml/2006/main">
            <a:off x="6115050" y="2114550"/>
            <a:ext cx="76200" cy="129540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13" name="">
            <a:extLst xmlns:a="http://schemas.openxmlformats.org/drawingml/2006/main">
              <a:ext uri="{FF2B5EF4-FFF2-40B4-BE49-F238E27FC236}">
                <a16:creationId xmlns:a16="http://schemas.microsoft.com/office/drawing/2014/main" id="{8BBEE109-222E-42FF-90DD-B155257DC841}"/>
              </a:ext>
            </a:extLst>
          </p:cNvPr>
          <p:cNvSpPr>
            <a:spLocks xmlns:a="http://schemas.openxmlformats.org/drawingml/2006/main" noGrp="1"/>
          </p:cNvSpPr>
          <p:nvPr/>
        </p:nvSpPr>
        <p:spPr>
          <a:xfrm xmlns:a="http://schemas.openxmlformats.org/drawingml/2006/main">
            <a:off x="6324600" y="22669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UDR</a:t>
            </a:r>
          </a:p>
        </p:txBody>
      </p:sp>
      <p:sp>
        <p:nvSpPr>
          <p:cNvPr id="14" name="">
            <a:extLst xmlns:a="http://schemas.openxmlformats.org/drawingml/2006/main">
              <a:ext uri="{FF2B5EF4-FFF2-40B4-BE49-F238E27FC236}">
                <a16:creationId xmlns:a16="http://schemas.microsoft.com/office/drawing/2014/main" id="{F0C5618A-A12A-4D89-BDE2-7913B0B5107D}"/>
              </a:ext>
            </a:extLst>
          </p:cNvPr>
          <p:cNvSpPr>
            <a:spLocks xmlns:a="http://schemas.openxmlformats.org/drawingml/2006/main" noGrp="1"/>
          </p:cNvSpPr>
          <p:nvPr/>
        </p:nvSpPr>
        <p:spPr>
          <a:xfrm xmlns:a="http://schemas.openxmlformats.org/drawingml/2006/main">
            <a:off x="6324600" y="25146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経路を指定</a:t>
            </a:r>
          </a:p>
        </p:txBody>
      </p:sp>
      <p:sp>
        <p:nvSpPr>
          <p:cNvPr id="15" name="">
            <a:extLst xmlns:a="http://schemas.openxmlformats.org/drawingml/2006/main">
              <a:ext uri="{FF2B5EF4-FFF2-40B4-BE49-F238E27FC236}">
                <a16:creationId xmlns:a16="http://schemas.microsoft.com/office/drawing/2014/main" id="{06CF0384-E0BD-449E-AB9D-223ABE05D80D}"/>
              </a:ext>
            </a:extLst>
          </p:cNvPr>
          <p:cNvSpPr>
            <a:spLocks xmlns:a="http://schemas.openxmlformats.org/drawingml/2006/main" noGrp="1"/>
          </p:cNvSpPr>
          <p:nvPr/>
        </p:nvSpPr>
        <p:spPr>
          <a:xfrm xmlns:a="http://schemas.openxmlformats.org/drawingml/2006/main">
            <a:off x="6324600" y="29146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Firewall や Gateway を通すなど、明示的な経路制御が必要な場合に利用します。</a:t>
            </a:r>
          </a:p>
        </p:txBody>
      </p:sp>
      <p:sp>
        <p:nvSpPr>
          <p:cNvPr id="16" name="">
            <a:extLst xmlns:a="http://schemas.openxmlformats.org/drawingml/2006/main">
              <a:ext uri="{FF2B5EF4-FFF2-40B4-BE49-F238E27FC236}">
                <a16:creationId xmlns:a16="http://schemas.microsoft.com/office/drawing/2014/main" id="{2E4FC041-AF0C-44E1-8EFB-1EA44634BE16}"/>
              </a:ext>
            </a:extLst>
          </p:cNvPr>
          <p:cNvSpPr>
            <a:spLocks xmlns:a="http://schemas.openxmlformats.org/drawingml/2006/main" noGrp="1"/>
          </p:cNvSpPr>
          <p:nvPr/>
        </p:nvSpPr>
        <p:spPr>
          <a:xfrm xmlns:a="http://schemas.openxmlformats.org/drawingml/2006/main">
            <a:off x="895350" y="37147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5B358841-A4E4-4BF9-A2EE-9535E02E9275}"/>
              </a:ext>
            </a:extLst>
          </p:cNvPr>
          <p:cNvSpPr>
            <a:spLocks xmlns:a="http://schemas.openxmlformats.org/drawingml/2006/main" noGrp="1"/>
          </p:cNvSpPr>
          <p:nvPr/>
        </p:nvSpPr>
        <p:spPr>
          <a:xfrm xmlns:a="http://schemas.openxmlformats.org/drawingml/2006/main">
            <a:off x="895350" y="3714750"/>
            <a:ext cx="76200" cy="1295400"/>
          </a:xfrm>
          <a:prstGeom xmlns:a="http://schemas.openxmlformats.org/drawingml/2006/main" prst="rect">
            <a:avLst/>
          </a:prstGeom>
          <a:solidFill xmlns:a="http://schemas.openxmlformats.org/drawingml/2006/main">
            <a:srgbClr val="ED7D31"/>
          </a:solidFill>
          <a:ln xmlns:a="http://schemas.openxmlformats.org/drawingml/2006/main" w="0">
            <a:solidFill>
              <a:srgbClr val="ED7D31"/>
            </a:solidFill>
            <a:prstDash val="solid"/>
          </a:ln>
        </p:spPr>
      </p:sp>
      <p:sp>
        <p:nvSpPr>
          <p:cNvPr id="18" name="">
            <a:extLst xmlns:a="http://schemas.openxmlformats.org/drawingml/2006/main">
              <a:ext uri="{FF2B5EF4-FFF2-40B4-BE49-F238E27FC236}">
                <a16:creationId xmlns:a16="http://schemas.microsoft.com/office/drawing/2014/main" id="{03E847C6-7129-4196-8220-BFECE30AB73E}"/>
              </a:ext>
            </a:extLst>
          </p:cNvPr>
          <p:cNvSpPr>
            <a:spLocks xmlns:a="http://schemas.openxmlformats.org/drawingml/2006/main" noGrp="1"/>
          </p:cNvSpPr>
          <p:nvPr/>
        </p:nvSpPr>
        <p:spPr>
          <a:xfrm xmlns:a="http://schemas.openxmlformats.org/drawingml/2006/main">
            <a:off x="1104900" y="38671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D7D31"/>
                </a:solidFill>
                <a:latin typeface="Yu Gothic UI"/>
                <a:ea typeface="Yu Gothic UI"/>
                <a:cs typeface="Yu Gothic UI"/>
              </a:defRPr>
            </a:pPr>
            <a:r>
              <a:rPr sz="713" b="1">
                <a:solidFill>
                  <a:srgbClr val="ED7D31"/>
                </a:solidFill>
                <a:latin typeface="Yu Gothic UI"/>
                <a:ea typeface="Yu Gothic UI"/>
                <a:cs typeface="Yu Gothic UI"/>
              </a:rPr>
              <a:t>Later</a:t>
            </a:r>
          </a:p>
        </p:txBody>
      </p:sp>
      <p:sp>
        <p:nvSpPr>
          <p:cNvPr id="19" name="">
            <a:extLst xmlns:a="http://schemas.openxmlformats.org/drawingml/2006/main">
              <a:ext uri="{FF2B5EF4-FFF2-40B4-BE49-F238E27FC236}">
                <a16:creationId xmlns:a16="http://schemas.microsoft.com/office/drawing/2014/main" id="{E67400B8-241F-4B2B-98F0-96EC19938DCF}"/>
              </a:ext>
            </a:extLst>
          </p:cNvPr>
          <p:cNvSpPr>
            <a:spLocks xmlns:a="http://schemas.openxmlformats.org/drawingml/2006/main" noGrp="1"/>
          </p:cNvSpPr>
          <p:nvPr/>
        </p:nvSpPr>
        <p:spPr>
          <a:xfrm xmlns:a="http://schemas.openxmlformats.org/drawingml/2006/main">
            <a:off x="1104900" y="41148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第7回へ接続</a:t>
            </a:r>
          </a:p>
        </p:txBody>
      </p:sp>
      <p:sp>
        <p:nvSpPr>
          <p:cNvPr id="20" name="">
            <a:extLst xmlns:a="http://schemas.openxmlformats.org/drawingml/2006/main">
              <a:ext uri="{FF2B5EF4-FFF2-40B4-BE49-F238E27FC236}">
                <a16:creationId xmlns:a16="http://schemas.microsoft.com/office/drawing/2014/main" id="{58ECD69C-3E88-4E8C-93EF-E3E22ED96C86}"/>
              </a:ext>
            </a:extLst>
          </p:cNvPr>
          <p:cNvSpPr>
            <a:spLocks xmlns:a="http://schemas.openxmlformats.org/drawingml/2006/main" noGrp="1"/>
          </p:cNvSpPr>
          <p:nvPr/>
        </p:nvSpPr>
        <p:spPr>
          <a:xfrm xmlns:a="http://schemas.openxmlformats.org/drawingml/2006/main">
            <a:off x="1104900" y="45148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ネットワーク設計の回で、VNet、サブネット、経路、DNS を整理します。</a:t>
            </a:r>
          </a:p>
        </p:txBody>
      </p:sp>
      <p:sp>
        <p:nvSpPr>
          <p:cNvPr id="21" name="">
            <a:extLst xmlns:a="http://schemas.openxmlformats.org/drawingml/2006/main">
              <a:ext uri="{FF2B5EF4-FFF2-40B4-BE49-F238E27FC236}">
                <a16:creationId xmlns:a16="http://schemas.microsoft.com/office/drawing/2014/main" id="{FF0BC58F-67C6-4754-B085-6FB5404C5CDF}"/>
              </a:ext>
            </a:extLst>
          </p:cNvPr>
          <p:cNvSpPr>
            <a:spLocks xmlns:a="http://schemas.openxmlformats.org/drawingml/2006/main" noGrp="1"/>
          </p:cNvSpPr>
          <p:nvPr/>
        </p:nvSpPr>
        <p:spPr>
          <a:xfrm xmlns:a="http://schemas.openxmlformats.org/drawingml/2006/main">
            <a:off x="6115050" y="3714750"/>
            <a:ext cx="49530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2147570B-0D72-490F-8E42-7060C0AAE62F}"/>
              </a:ext>
            </a:extLst>
          </p:cNvPr>
          <p:cNvSpPr>
            <a:spLocks xmlns:a="http://schemas.openxmlformats.org/drawingml/2006/main" noGrp="1"/>
          </p:cNvSpPr>
          <p:nvPr/>
        </p:nvSpPr>
        <p:spPr>
          <a:xfrm xmlns:a="http://schemas.openxmlformats.org/drawingml/2006/main">
            <a:off x="6115050" y="3714750"/>
            <a:ext cx="76200" cy="12954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23" name="">
            <a:extLst xmlns:a="http://schemas.openxmlformats.org/drawingml/2006/main">
              <a:ext uri="{FF2B5EF4-FFF2-40B4-BE49-F238E27FC236}">
                <a16:creationId xmlns:a16="http://schemas.microsoft.com/office/drawing/2014/main" id="{B6B9A709-84FF-4713-83D1-840D4AA647FD}"/>
              </a:ext>
            </a:extLst>
          </p:cNvPr>
          <p:cNvSpPr>
            <a:spLocks xmlns:a="http://schemas.openxmlformats.org/drawingml/2006/main" noGrp="1"/>
          </p:cNvSpPr>
          <p:nvPr/>
        </p:nvSpPr>
        <p:spPr>
          <a:xfrm xmlns:a="http://schemas.openxmlformats.org/drawingml/2006/main">
            <a:off x="6324600" y="38671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4472C4"/>
                </a:solidFill>
                <a:latin typeface="Yu Gothic UI"/>
                <a:ea typeface="Yu Gothic UI"/>
                <a:cs typeface="Yu Gothic UI"/>
              </a:defRPr>
            </a:pPr>
            <a:r>
              <a:rPr sz="713" b="1">
                <a:solidFill>
                  <a:srgbClr val="4472C4"/>
                </a:solidFill>
                <a:latin typeface="Yu Gothic UI"/>
                <a:ea typeface="Yu Gothic UI"/>
                <a:cs typeface="Yu Gothic UI"/>
              </a:rPr>
              <a:t>Today</a:t>
            </a:r>
          </a:p>
        </p:txBody>
      </p:sp>
      <p:sp>
        <p:nvSpPr>
          <p:cNvPr id="24" name="">
            <a:extLst xmlns:a="http://schemas.openxmlformats.org/drawingml/2006/main">
              <a:ext uri="{FF2B5EF4-FFF2-40B4-BE49-F238E27FC236}">
                <a16:creationId xmlns:a16="http://schemas.microsoft.com/office/drawing/2014/main" id="{5B7E30DA-4F33-4298-9306-92B12EC68790}"/>
              </a:ext>
            </a:extLst>
          </p:cNvPr>
          <p:cNvSpPr>
            <a:spLocks xmlns:a="http://schemas.openxmlformats.org/drawingml/2006/main" noGrp="1"/>
          </p:cNvSpPr>
          <p:nvPr/>
        </p:nvSpPr>
        <p:spPr>
          <a:xfrm xmlns:a="http://schemas.openxmlformats.org/drawingml/2006/main">
            <a:off x="6324600" y="41148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作成しない</a:t>
            </a:r>
          </a:p>
        </p:txBody>
      </p:sp>
      <p:sp>
        <p:nvSpPr>
          <p:cNvPr id="25" name="">
            <a:extLst xmlns:a="http://schemas.openxmlformats.org/drawingml/2006/main">
              <a:ext uri="{FF2B5EF4-FFF2-40B4-BE49-F238E27FC236}">
                <a16:creationId xmlns:a16="http://schemas.microsoft.com/office/drawing/2014/main" id="{E8C4447E-079F-4235-8EAA-885E77397B6F}"/>
              </a:ext>
            </a:extLst>
          </p:cNvPr>
          <p:cNvSpPr>
            <a:spLocks xmlns:a="http://schemas.openxmlformats.org/drawingml/2006/main" noGrp="1"/>
          </p:cNvSpPr>
          <p:nvPr/>
        </p:nvSpPr>
        <p:spPr>
          <a:xfrm xmlns:a="http://schemas.openxmlformats.org/drawingml/2006/main">
            <a:off x="6324600" y="4514850"/>
            <a:ext cx="4552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まず VM と HTTP 到達の基本に集中します。</a:t>
            </a:r>
          </a:p>
        </p:txBody>
      </p:sp>
      <p:sp>
        <p:nvSpPr>
          <p:cNvPr id="26" name="">
            <a:extLst xmlns:a="http://schemas.openxmlformats.org/drawingml/2006/main">
              <a:ext uri="{FF2B5EF4-FFF2-40B4-BE49-F238E27FC236}">
                <a16:creationId xmlns:a16="http://schemas.microsoft.com/office/drawing/2014/main" id="{C3C831D4-D12C-478D-A800-547429B128D2}"/>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12 / 46</a:t>
            </a:r>
          </a:p>
        </p:txBody>
      </p:sp>
    </p:spTree>
    <p:extLst>
      <p:ext uri="{BB962C8B-B14F-4D97-AF65-F5344CB8AC3E}">
        <p14:creationId xmlns:p14="http://schemas.microsoft.com/office/powerpoint/2010/main" val="118607714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C575922-0694-4C77-B7C0-A514F76326D4}"/>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今日作るアーキテクチャ</a:t>
            </a:r>
          </a:p>
        </p:txBody>
      </p:sp>
      <p:sp>
        <p:nvSpPr>
          <p:cNvPr id="2" name="">
            <a:extLst xmlns:a="http://schemas.openxmlformats.org/drawingml/2006/main">
              <a:ext uri="{FF2B5EF4-FFF2-40B4-BE49-F238E27FC236}">
                <a16:creationId xmlns:a16="http://schemas.microsoft.com/office/drawing/2014/main" id="{DCB7A17B-CC55-4CDB-BC2A-DBA5815FE483}"/>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5CB72CF8-38DC-4B99-A833-A5098C2E964D}"/>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13</a:t>
            </a:r>
          </a:p>
        </p:txBody>
      </p:sp>
      <p:sp>
        <p:nvSpPr>
          <p:cNvPr id="4" name="">
            <a:extLst xmlns:a="http://schemas.openxmlformats.org/drawingml/2006/main">
              <a:ext uri="{FF2B5EF4-FFF2-40B4-BE49-F238E27FC236}">
                <a16:creationId xmlns:a16="http://schemas.microsoft.com/office/drawing/2014/main" id="{CE7B73D4-8E99-4BF9-A654-4ED9AD146130}"/>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3A17E18-80AB-4E34-B7EA-AD14574813AE}"/>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ブラウザーから Public IP へアクセスし、NSG で許可された HTTP 通信が Azure VM 上の NGINX に届く構成を作ります。</a:t>
            </a:r>
          </a:p>
        </p:txBody>
      </p:sp>
      <p:sp>
        <p:nvSpPr>
          <p:cNvPr id="6" name="">
            <a:extLst xmlns:a="http://schemas.openxmlformats.org/drawingml/2006/main">
              <a:ext uri="{FF2B5EF4-FFF2-40B4-BE49-F238E27FC236}">
                <a16:creationId xmlns:a16="http://schemas.microsoft.com/office/drawing/2014/main" id="{1542875D-4C5F-4228-884C-9BC89D912D43}"/>
              </a:ext>
            </a:extLst>
          </p:cNvPr>
          <p:cNvSpPr>
            <a:spLocks xmlns:a="http://schemas.openxmlformats.org/drawingml/2006/main" noGrp="1"/>
          </p:cNvSpPr>
          <p:nvPr/>
        </p:nvSpPr>
        <p:spPr>
          <a:xfrm xmlns:a="http://schemas.openxmlformats.org/drawingml/2006/main">
            <a:off x="685800" y="2038350"/>
            <a:ext cx="1082040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b45819b2bb54368"/>
          <a:stretch xmlns:a="http://schemas.openxmlformats.org/drawingml/2006/main"/>
        </p:blipFill>
        <p:spPr>
          <a:xfrm xmlns:a="http://schemas.openxmlformats.org/drawingml/2006/main">
            <a:off x="857250" y="2190750"/>
            <a:ext cx="10477500" cy="3505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75F8B79-FB21-4E15-8676-B8B666AFDC47}"/>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13 / 46</a:t>
            </a:r>
          </a:p>
        </p:txBody>
      </p:sp>
    </p:spTree>
    <p:extLst>
      <p:ext uri="{BB962C8B-B14F-4D97-AF65-F5344CB8AC3E}">
        <p14:creationId xmlns:p14="http://schemas.microsoft.com/office/powerpoint/2010/main" val="118607714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544B6B-F6D0-4B53-A68E-B0DB5D2431A0}"/>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ハンズオンで使う値</a:t>
            </a:r>
          </a:p>
        </p:txBody>
      </p:sp>
      <p:sp>
        <p:nvSpPr>
          <p:cNvPr id="2" name="">
            <a:extLst xmlns:a="http://schemas.openxmlformats.org/drawingml/2006/main">
              <a:ext uri="{FF2B5EF4-FFF2-40B4-BE49-F238E27FC236}">
                <a16:creationId xmlns:a16="http://schemas.microsoft.com/office/drawing/2014/main" id="{F1E8E005-8F5D-4A67-BE72-E9297EEE16B5}"/>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353810B6-F56C-4055-8D9F-A6AB5312E898}"/>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14</a:t>
            </a:r>
          </a:p>
        </p:txBody>
      </p:sp>
      <p:sp>
        <p:nvSpPr>
          <p:cNvPr id="4" name="">
            <a:extLst xmlns:a="http://schemas.openxmlformats.org/drawingml/2006/main">
              <a:ext uri="{FF2B5EF4-FFF2-40B4-BE49-F238E27FC236}">
                <a16:creationId xmlns:a16="http://schemas.microsoft.com/office/drawing/2014/main" id="{2A18F5A6-5149-452C-926F-0634C73220C2}"/>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5850CB4-3CBA-40D4-B098-B08002DD9FAE}"/>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入力値をそろえると、講師が状況を確認しやすく、最後に削除対象も迷いにくくなります。受講者番号は自分の番号に置き換えます。</a:t>
            </a:r>
          </a:p>
        </p:txBody>
      </p:sp>
      <p:sp>
        <p:nvSpPr>
          <p:cNvPr id="6" name="">
            <a:extLst xmlns:a="http://schemas.openxmlformats.org/drawingml/2006/main">
              <a:ext uri="{FF2B5EF4-FFF2-40B4-BE49-F238E27FC236}">
                <a16:creationId xmlns:a16="http://schemas.microsoft.com/office/drawing/2014/main" id="{28DC68F8-8723-4375-B0A4-714BEAC90A63}"/>
              </a:ext>
            </a:extLst>
          </p:cNvPr>
          <p:cNvSpPr>
            <a:spLocks xmlns:a="http://schemas.openxmlformats.org/drawingml/2006/main" noGrp="1"/>
          </p:cNvSpPr>
          <p:nvPr/>
        </p:nvSpPr>
        <p:spPr>
          <a:xfrm xmlns:a="http://schemas.openxmlformats.org/drawingml/2006/main">
            <a:off x="876300" y="2038350"/>
            <a:ext cx="347980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7" name="">
            <a:extLst xmlns:a="http://schemas.openxmlformats.org/drawingml/2006/main">
              <a:ext uri="{FF2B5EF4-FFF2-40B4-BE49-F238E27FC236}">
                <a16:creationId xmlns:a16="http://schemas.microsoft.com/office/drawing/2014/main" id="{45C116D1-6830-41F3-B672-AB32E1557A1D}"/>
              </a:ext>
            </a:extLst>
          </p:cNvPr>
          <p:cNvSpPr>
            <a:spLocks xmlns:a="http://schemas.openxmlformats.org/drawingml/2006/main" noGrp="1"/>
          </p:cNvSpPr>
          <p:nvPr/>
        </p:nvSpPr>
        <p:spPr>
          <a:xfrm xmlns:a="http://schemas.openxmlformats.org/drawingml/2006/main">
            <a:off x="952500" y="2085975"/>
            <a:ext cx="332740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項目</a:t>
            </a:r>
          </a:p>
        </p:txBody>
      </p:sp>
      <p:sp>
        <p:nvSpPr>
          <p:cNvPr id="8" name="">
            <a:extLst xmlns:a="http://schemas.openxmlformats.org/drawingml/2006/main">
              <a:ext uri="{FF2B5EF4-FFF2-40B4-BE49-F238E27FC236}">
                <a16:creationId xmlns:a16="http://schemas.microsoft.com/office/drawing/2014/main" id="{AC1977D8-3799-4C20-B65E-E1D70E9BC4B8}"/>
              </a:ext>
            </a:extLst>
          </p:cNvPr>
          <p:cNvSpPr>
            <a:spLocks xmlns:a="http://schemas.openxmlformats.org/drawingml/2006/main" noGrp="1"/>
          </p:cNvSpPr>
          <p:nvPr/>
        </p:nvSpPr>
        <p:spPr>
          <a:xfrm xmlns:a="http://schemas.openxmlformats.org/drawingml/2006/main">
            <a:off x="4356100" y="2038350"/>
            <a:ext cx="347980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9" name="">
            <a:extLst xmlns:a="http://schemas.openxmlformats.org/drawingml/2006/main">
              <a:ext uri="{FF2B5EF4-FFF2-40B4-BE49-F238E27FC236}">
                <a16:creationId xmlns:a16="http://schemas.microsoft.com/office/drawing/2014/main" id="{221796C5-A48B-4078-A815-C7740115E7FA}"/>
              </a:ext>
            </a:extLst>
          </p:cNvPr>
          <p:cNvSpPr>
            <a:spLocks xmlns:a="http://schemas.openxmlformats.org/drawingml/2006/main" noGrp="1"/>
          </p:cNvSpPr>
          <p:nvPr/>
        </p:nvSpPr>
        <p:spPr>
          <a:xfrm xmlns:a="http://schemas.openxmlformats.org/drawingml/2006/main">
            <a:off x="4432300" y="2085975"/>
            <a:ext cx="332740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値の例</a:t>
            </a:r>
          </a:p>
        </p:txBody>
      </p:sp>
      <p:sp>
        <p:nvSpPr>
          <p:cNvPr id="10" name="">
            <a:extLst xmlns:a="http://schemas.openxmlformats.org/drawingml/2006/main">
              <a:ext uri="{FF2B5EF4-FFF2-40B4-BE49-F238E27FC236}">
                <a16:creationId xmlns:a16="http://schemas.microsoft.com/office/drawing/2014/main" id="{BB1F20D0-8890-4C17-B4DB-21623370D9CD}"/>
              </a:ext>
            </a:extLst>
          </p:cNvPr>
          <p:cNvSpPr>
            <a:spLocks xmlns:a="http://schemas.openxmlformats.org/drawingml/2006/main" noGrp="1"/>
          </p:cNvSpPr>
          <p:nvPr/>
        </p:nvSpPr>
        <p:spPr>
          <a:xfrm xmlns:a="http://schemas.openxmlformats.org/drawingml/2006/main">
            <a:off x="7835900" y="2038350"/>
            <a:ext cx="347980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11" name="">
            <a:extLst xmlns:a="http://schemas.openxmlformats.org/drawingml/2006/main">
              <a:ext uri="{FF2B5EF4-FFF2-40B4-BE49-F238E27FC236}">
                <a16:creationId xmlns:a16="http://schemas.microsoft.com/office/drawing/2014/main" id="{7BDDD818-5804-4700-8028-101759531B05}"/>
              </a:ext>
            </a:extLst>
          </p:cNvPr>
          <p:cNvSpPr>
            <a:spLocks xmlns:a="http://schemas.openxmlformats.org/drawingml/2006/main" noGrp="1"/>
          </p:cNvSpPr>
          <p:nvPr/>
        </p:nvSpPr>
        <p:spPr>
          <a:xfrm xmlns:a="http://schemas.openxmlformats.org/drawingml/2006/main">
            <a:off x="7912100" y="2085975"/>
            <a:ext cx="332740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補足</a:t>
            </a:r>
          </a:p>
        </p:txBody>
      </p:sp>
      <p:sp>
        <p:nvSpPr>
          <p:cNvPr id="12" name="">
            <a:extLst xmlns:a="http://schemas.openxmlformats.org/drawingml/2006/main">
              <a:ext uri="{FF2B5EF4-FFF2-40B4-BE49-F238E27FC236}">
                <a16:creationId xmlns:a16="http://schemas.microsoft.com/office/drawing/2014/main" id="{BADBF0F0-5371-4A41-A2B3-8DCD0DFF7193}"/>
              </a:ext>
            </a:extLst>
          </p:cNvPr>
          <p:cNvSpPr>
            <a:spLocks xmlns:a="http://schemas.openxmlformats.org/drawingml/2006/main" noGrp="1"/>
          </p:cNvSpPr>
          <p:nvPr/>
        </p:nvSpPr>
        <p:spPr>
          <a:xfrm xmlns:a="http://schemas.openxmlformats.org/drawingml/2006/main">
            <a:off x="876300" y="2447925"/>
            <a:ext cx="3479800" cy="598488"/>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13" name="">
            <a:extLst xmlns:a="http://schemas.openxmlformats.org/drawingml/2006/main">
              <a:ext uri="{FF2B5EF4-FFF2-40B4-BE49-F238E27FC236}">
                <a16:creationId xmlns:a16="http://schemas.microsoft.com/office/drawing/2014/main" id="{5477CEAF-4D7C-4D76-B853-31BA3FB7E265}"/>
              </a:ext>
            </a:extLst>
          </p:cNvPr>
          <p:cNvSpPr>
            <a:spLocks xmlns:a="http://schemas.openxmlformats.org/drawingml/2006/main" noGrp="1"/>
          </p:cNvSpPr>
          <p:nvPr/>
        </p:nvSpPr>
        <p:spPr>
          <a:xfrm xmlns:a="http://schemas.openxmlformats.org/drawingml/2006/main">
            <a:off x="952500" y="2495550"/>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1">
                <a:solidFill>
                  <a:srgbClr val="344054"/>
                </a:solidFill>
                <a:latin typeface="Yu Gothic UI"/>
                <a:ea typeface="Yu Gothic UI"/>
                <a:cs typeface="Yu Gothic UI"/>
              </a:defRPr>
            </a:pPr>
            <a:r>
              <a:rPr sz="705" b="1">
                <a:solidFill>
                  <a:srgbClr val="344054"/>
                </a:solidFill>
                <a:latin typeface="Yu Gothic UI"/>
                <a:ea typeface="Yu Gothic UI"/>
                <a:cs typeface="Yu Gothic UI"/>
              </a:rPr>
              <a:t>リージョン</a:t>
            </a:r>
          </a:p>
        </p:txBody>
      </p:sp>
      <p:sp>
        <p:nvSpPr>
          <p:cNvPr id="14" name="">
            <a:extLst xmlns:a="http://schemas.openxmlformats.org/drawingml/2006/main">
              <a:ext uri="{FF2B5EF4-FFF2-40B4-BE49-F238E27FC236}">
                <a16:creationId xmlns:a16="http://schemas.microsoft.com/office/drawing/2014/main" id="{E6C01154-3D94-4BFE-A39D-FF40A8D1EC4B}"/>
              </a:ext>
            </a:extLst>
          </p:cNvPr>
          <p:cNvSpPr>
            <a:spLocks xmlns:a="http://schemas.openxmlformats.org/drawingml/2006/main" noGrp="1"/>
          </p:cNvSpPr>
          <p:nvPr/>
        </p:nvSpPr>
        <p:spPr>
          <a:xfrm xmlns:a="http://schemas.openxmlformats.org/drawingml/2006/main">
            <a:off x="4356100" y="2447925"/>
            <a:ext cx="3479800" cy="598488"/>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15" name="">
            <a:extLst xmlns:a="http://schemas.openxmlformats.org/drawingml/2006/main">
              <a:ext uri="{FF2B5EF4-FFF2-40B4-BE49-F238E27FC236}">
                <a16:creationId xmlns:a16="http://schemas.microsoft.com/office/drawing/2014/main" id="{9344D116-8F10-4A45-846A-2B055D36B174}"/>
              </a:ext>
            </a:extLst>
          </p:cNvPr>
          <p:cNvSpPr>
            <a:spLocks xmlns:a="http://schemas.openxmlformats.org/drawingml/2006/main" noGrp="1"/>
          </p:cNvSpPr>
          <p:nvPr/>
        </p:nvSpPr>
        <p:spPr>
          <a:xfrm xmlns:a="http://schemas.openxmlformats.org/drawingml/2006/main">
            <a:off x="4432300" y="2495550"/>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0">
                <a:solidFill>
                  <a:srgbClr val="344054"/>
                </a:solidFill>
                <a:latin typeface="Yu Gothic UI"/>
                <a:ea typeface="Yu Gothic UI"/>
                <a:cs typeface="Yu Gothic UI"/>
              </a:defRPr>
            </a:pPr>
            <a:r>
              <a:rPr sz="705" b="0">
                <a:solidFill>
                  <a:srgbClr val="344054"/>
                </a:solidFill>
                <a:latin typeface="Yu Gothic UI"/>
                <a:ea typeface="Yu Gothic UI"/>
                <a:cs typeface="Yu Gothic UI"/>
              </a:rPr>
              <a:t>Japan East</a:t>
            </a:r>
          </a:p>
        </p:txBody>
      </p:sp>
      <p:sp>
        <p:nvSpPr>
          <p:cNvPr id="16" name="">
            <a:extLst xmlns:a="http://schemas.openxmlformats.org/drawingml/2006/main">
              <a:ext uri="{FF2B5EF4-FFF2-40B4-BE49-F238E27FC236}">
                <a16:creationId xmlns:a16="http://schemas.microsoft.com/office/drawing/2014/main" id="{8BD9EB7C-80DC-4D88-A84F-759749192151}"/>
              </a:ext>
            </a:extLst>
          </p:cNvPr>
          <p:cNvSpPr>
            <a:spLocks xmlns:a="http://schemas.openxmlformats.org/drawingml/2006/main" noGrp="1"/>
          </p:cNvSpPr>
          <p:nvPr/>
        </p:nvSpPr>
        <p:spPr>
          <a:xfrm xmlns:a="http://schemas.openxmlformats.org/drawingml/2006/main">
            <a:off x="7835900" y="2447925"/>
            <a:ext cx="3479800" cy="598488"/>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17" name="">
            <a:extLst xmlns:a="http://schemas.openxmlformats.org/drawingml/2006/main">
              <a:ext uri="{FF2B5EF4-FFF2-40B4-BE49-F238E27FC236}">
                <a16:creationId xmlns:a16="http://schemas.microsoft.com/office/drawing/2014/main" id="{9BC02E0A-92F7-41A0-9AF8-3D56403D2BFA}"/>
              </a:ext>
            </a:extLst>
          </p:cNvPr>
          <p:cNvSpPr>
            <a:spLocks xmlns:a="http://schemas.openxmlformats.org/drawingml/2006/main" noGrp="1"/>
          </p:cNvSpPr>
          <p:nvPr/>
        </p:nvSpPr>
        <p:spPr>
          <a:xfrm xmlns:a="http://schemas.openxmlformats.org/drawingml/2006/main">
            <a:off x="7912100" y="2495550"/>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0">
                <a:solidFill>
                  <a:srgbClr val="344054"/>
                </a:solidFill>
                <a:latin typeface="Yu Gothic UI"/>
                <a:ea typeface="Yu Gothic UI"/>
                <a:cs typeface="Yu Gothic UI"/>
              </a:defRPr>
            </a:pPr>
            <a:r>
              <a:rPr sz="705" b="0">
                <a:solidFill>
                  <a:srgbClr val="344054"/>
                </a:solidFill>
                <a:latin typeface="Yu Gothic UI"/>
                <a:ea typeface="Yu Gothic UI"/>
                <a:cs typeface="Yu Gothic UI"/>
              </a:rPr>
              <a:t>利用できない場合は講師が代替を指定します。</a:t>
            </a:r>
          </a:p>
        </p:txBody>
      </p:sp>
      <p:sp>
        <p:nvSpPr>
          <p:cNvPr id="18" name="">
            <a:extLst xmlns:a="http://schemas.openxmlformats.org/drawingml/2006/main">
              <a:ext uri="{FF2B5EF4-FFF2-40B4-BE49-F238E27FC236}">
                <a16:creationId xmlns:a16="http://schemas.microsoft.com/office/drawing/2014/main" id="{1D6ABBE5-958D-4E48-8145-BB19D88A30AD}"/>
              </a:ext>
            </a:extLst>
          </p:cNvPr>
          <p:cNvSpPr>
            <a:spLocks xmlns:a="http://schemas.openxmlformats.org/drawingml/2006/main" noGrp="1"/>
          </p:cNvSpPr>
          <p:nvPr/>
        </p:nvSpPr>
        <p:spPr>
          <a:xfrm xmlns:a="http://schemas.openxmlformats.org/drawingml/2006/main">
            <a:off x="876300" y="3046413"/>
            <a:ext cx="3479800" cy="598488"/>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19" name="">
            <a:extLst xmlns:a="http://schemas.openxmlformats.org/drawingml/2006/main">
              <a:ext uri="{FF2B5EF4-FFF2-40B4-BE49-F238E27FC236}">
                <a16:creationId xmlns:a16="http://schemas.microsoft.com/office/drawing/2014/main" id="{1903B3FF-D9AC-4F03-A66C-42AC864DA401}"/>
              </a:ext>
            </a:extLst>
          </p:cNvPr>
          <p:cNvSpPr>
            <a:spLocks xmlns:a="http://schemas.openxmlformats.org/drawingml/2006/main" noGrp="1"/>
          </p:cNvSpPr>
          <p:nvPr/>
        </p:nvSpPr>
        <p:spPr>
          <a:xfrm xmlns:a="http://schemas.openxmlformats.org/drawingml/2006/main">
            <a:off x="952500" y="3094038"/>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1">
                <a:solidFill>
                  <a:srgbClr val="344054"/>
                </a:solidFill>
                <a:latin typeface="Yu Gothic UI"/>
                <a:ea typeface="Yu Gothic UI"/>
                <a:cs typeface="Yu Gothic UI"/>
              </a:defRPr>
            </a:pPr>
            <a:r>
              <a:rPr sz="705" b="1">
                <a:solidFill>
                  <a:srgbClr val="344054"/>
                </a:solidFill>
                <a:latin typeface="Yu Gothic UI"/>
                <a:ea typeface="Yu Gothic UI"/>
                <a:cs typeface="Yu Gothic UI"/>
              </a:rPr>
              <a:t>受講者番号</a:t>
            </a:r>
          </a:p>
        </p:txBody>
      </p:sp>
      <p:sp>
        <p:nvSpPr>
          <p:cNvPr id="20" name="">
            <a:extLst xmlns:a="http://schemas.openxmlformats.org/drawingml/2006/main">
              <a:ext uri="{FF2B5EF4-FFF2-40B4-BE49-F238E27FC236}">
                <a16:creationId xmlns:a16="http://schemas.microsoft.com/office/drawing/2014/main" id="{DA815DFF-047F-4565-95C6-6751F5BE01F2}"/>
              </a:ext>
            </a:extLst>
          </p:cNvPr>
          <p:cNvSpPr>
            <a:spLocks xmlns:a="http://schemas.openxmlformats.org/drawingml/2006/main" noGrp="1"/>
          </p:cNvSpPr>
          <p:nvPr/>
        </p:nvSpPr>
        <p:spPr>
          <a:xfrm xmlns:a="http://schemas.openxmlformats.org/drawingml/2006/main">
            <a:off x="4356100" y="3046413"/>
            <a:ext cx="3479800" cy="598488"/>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1" name="">
            <a:extLst xmlns:a="http://schemas.openxmlformats.org/drawingml/2006/main">
              <a:ext uri="{FF2B5EF4-FFF2-40B4-BE49-F238E27FC236}">
                <a16:creationId xmlns:a16="http://schemas.microsoft.com/office/drawing/2014/main" id="{A761810A-2F8C-4D4D-A9BB-8B405925DBF5}"/>
              </a:ext>
            </a:extLst>
          </p:cNvPr>
          <p:cNvSpPr>
            <a:spLocks xmlns:a="http://schemas.openxmlformats.org/drawingml/2006/main" noGrp="1"/>
          </p:cNvSpPr>
          <p:nvPr/>
        </p:nvSpPr>
        <p:spPr>
          <a:xfrm xmlns:a="http://schemas.openxmlformats.org/drawingml/2006/main">
            <a:off x="4432300" y="3094038"/>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0">
                <a:solidFill>
                  <a:srgbClr val="344054"/>
                </a:solidFill>
                <a:latin typeface="Yu Gothic UI"/>
                <a:ea typeface="Yu Gothic UI"/>
                <a:cs typeface="Yu Gothic UI"/>
              </a:defRPr>
            </a:pPr>
            <a:r>
              <a:rPr sz="705" b="0">
                <a:solidFill>
                  <a:srgbClr val="344054"/>
                </a:solidFill>
                <a:latin typeface="Yu Gothic UI"/>
                <a:ea typeface="Yu Gothic UI"/>
                <a:cs typeface="Yu Gothic UI"/>
              </a:rPr>
              <a:t>s01</a:t>
            </a:r>
          </a:p>
        </p:txBody>
      </p:sp>
      <p:sp>
        <p:nvSpPr>
          <p:cNvPr id="22" name="">
            <a:extLst xmlns:a="http://schemas.openxmlformats.org/drawingml/2006/main">
              <a:ext uri="{FF2B5EF4-FFF2-40B4-BE49-F238E27FC236}">
                <a16:creationId xmlns:a16="http://schemas.microsoft.com/office/drawing/2014/main" id="{B27292F2-85D2-4038-BF0E-4FA608674650}"/>
              </a:ext>
            </a:extLst>
          </p:cNvPr>
          <p:cNvSpPr>
            <a:spLocks xmlns:a="http://schemas.openxmlformats.org/drawingml/2006/main" noGrp="1"/>
          </p:cNvSpPr>
          <p:nvPr/>
        </p:nvSpPr>
        <p:spPr>
          <a:xfrm xmlns:a="http://schemas.openxmlformats.org/drawingml/2006/main">
            <a:off x="7835900" y="3046413"/>
            <a:ext cx="3479800" cy="598488"/>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3" name="">
            <a:extLst xmlns:a="http://schemas.openxmlformats.org/drawingml/2006/main">
              <a:ext uri="{FF2B5EF4-FFF2-40B4-BE49-F238E27FC236}">
                <a16:creationId xmlns:a16="http://schemas.microsoft.com/office/drawing/2014/main" id="{62505249-1232-42A8-B93B-290F6FD8661C}"/>
              </a:ext>
            </a:extLst>
          </p:cNvPr>
          <p:cNvSpPr>
            <a:spLocks xmlns:a="http://schemas.openxmlformats.org/drawingml/2006/main" noGrp="1"/>
          </p:cNvSpPr>
          <p:nvPr/>
        </p:nvSpPr>
        <p:spPr>
          <a:xfrm xmlns:a="http://schemas.openxmlformats.org/drawingml/2006/main">
            <a:off x="7912100" y="3094038"/>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0">
                <a:solidFill>
                  <a:srgbClr val="344054"/>
                </a:solidFill>
                <a:latin typeface="Yu Gothic UI"/>
                <a:ea typeface="Yu Gothic UI"/>
                <a:cs typeface="Yu Gothic UI"/>
              </a:defRPr>
            </a:pPr>
            <a:r>
              <a:rPr sz="705" b="0">
                <a:solidFill>
                  <a:srgbClr val="344054"/>
                </a:solidFill>
                <a:latin typeface="Yu Gothic UI"/>
                <a:ea typeface="Yu Gothic UI"/>
                <a:cs typeface="Yu Gothic UI"/>
              </a:rPr>
              <a:t>講師から案内された番号を使います。</a:t>
            </a:r>
          </a:p>
        </p:txBody>
      </p:sp>
      <p:sp>
        <p:nvSpPr>
          <p:cNvPr id="24" name="">
            <a:extLst xmlns:a="http://schemas.openxmlformats.org/drawingml/2006/main">
              <a:ext uri="{FF2B5EF4-FFF2-40B4-BE49-F238E27FC236}">
                <a16:creationId xmlns:a16="http://schemas.microsoft.com/office/drawing/2014/main" id="{6D3A2817-9E10-42E3-9AF5-EA7999E49210}"/>
              </a:ext>
            </a:extLst>
          </p:cNvPr>
          <p:cNvSpPr>
            <a:spLocks xmlns:a="http://schemas.openxmlformats.org/drawingml/2006/main" noGrp="1"/>
          </p:cNvSpPr>
          <p:nvPr/>
        </p:nvSpPr>
        <p:spPr>
          <a:xfrm xmlns:a="http://schemas.openxmlformats.org/drawingml/2006/main">
            <a:off x="876300" y="3644900"/>
            <a:ext cx="3479800" cy="598488"/>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25" name="">
            <a:extLst xmlns:a="http://schemas.openxmlformats.org/drawingml/2006/main">
              <a:ext uri="{FF2B5EF4-FFF2-40B4-BE49-F238E27FC236}">
                <a16:creationId xmlns:a16="http://schemas.microsoft.com/office/drawing/2014/main" id="{49AE2F72-BEC1-49F5-85F6-FD101C22AF5A}"/>
              </a:ext>
            </a:extLst>
          </p:cNvPr>
          <p:cNvSpPr>
            <a:spLocks xmlns:a="http://schemas.openxmlformats.org/drawingml/2006/main" noGrp="1"/>
          </p:cNvSpPr>
          <p:nvPr/>
        </p:nvSpPr>
        <p:spPr>
          <a:xfrm xmlns:a="http://schemas.openxmlformats.org/drawingml/2006/main">
            <a:off x="952500" y="3692525"/>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1">
                <a:solidFill>
                  <a:srgbClr val="344054"/>
                </a:solidFill>
                <a:latin typeface="Yu Gothic UI"/>
                <a:ea typeface="Yu Gothic UI"/>
                <a:cs typeface="Yu Gothic UI"/>
              </a:defRPr>
            </a:pPr>
            <a:r>
              <a:rPr sz="705" b="1">
                <a:solidFill>
                  <a:srgbClr val="344054"/>
                </a:solidFill>
                <a:latin typeface="Yu Gothic UI"/>
                <a:ea typeface="Yu Gothic UI"/>
                <a:cs typeface="Yu Gothic UI"/>
              </a:rPr>
              <a:t>リソースグループ名</a:t>
            </a:r>
          </a:p>
        </p:txBody>
      </p:sp>
      <p:sp>
        <p:nvSpPr>
          <p:cNvPr id="26" name="">
            <a:extLst xmlns:a="http://schemas.openxmlformats.org/drawingml/2006/main">
              <a:ext uri="{FF2B5EF4-FFF2-40B4-BE49-F238E27FC236}">
                <a16:creationId xmlns:a16="http://schemas.microsoft.com/office/drawing/2014/main" id="{8467E1EF-978F-488E-8E5E-894FB766EA2E}"/>
              </a:ext>
            </a:extLst>
          </p:cNvPr>
          <p:cNvSpPr>
            <a:spLocks xmlns:a="http://schemas.openxmlformats.org/drawingml/2006/main" noGrp="1"/>
          </p:cNvSpPr>
          <p:nvPr/>
        </p:nvSpPr>
        <p:spPr>
          <a:xfrm xmlns:a="http://schemas.openxmlformats.org/drawingml/2006/main">
            <a:off x="4356100" y="3644900"/>
            <a:ext cx="3479800" cy="598488"/>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7" name="">
            <a:extLst xmlns:a="http://schemas.openxmlformats.org/drawingml/2006/main">
              <a:ext uri="{FF2B5EF4-FFF2-40B4-BE49-F238E27FC236}">
                <a16:creationId xmlns:a16="http://schemas.microsoft.com/office/drawing/2014/main" id="{95D99DE0-1908-4669-AA5D-960FE0720710}"/>
              </a:ext>
            </a:extLst>
          </p:cNvPr>
          <p:cNvSpPr>
            <a:spLocks xmlns:a="http://schemas.openxmlformats.org/drawingml/2006/main" noGrp="1"/>
          </p:cNvSpPr>
          <p:nvPr/>
        </p:nvSpPr>
        <p:spPr>
          <a:xfrm xmlns:a="http://schemas.openxmlformats.org/drawingml/2006/main">
            <a:off x="4432300" y="3692525"/>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0">
                <a:solidFill>
                  <a:srgbClr val="344054"/>
                </a:solidFill>
                <a:latin typeface="Yu Gothic UI"/>
                <a:ea typeface="Yu Gothic UI"/>
                <a:cs typeface="Yu Gothic UI"/>
              </a:defRPr>
            </a:pPr>
            <a:r>
              <a:rPr sz="705" b="0">
                <a:solidFill>
                  <a:srgbClr val="344054"/>
                </a:solidFill>
                <a:latin typeface="Yu Gothic UI"/>
                <a:ea typeface="Yu Gothic UI"/>
                <a:cs typeface="Yu Gothic UI"/>
              </a:rPr>
              <a:t>rg-azbeg-l03-s01</a:t>
            </a:r>
          </a:p>
        </p:txBody>
      </p:sp>
      <p:sp>
        <p:nvSpPr>
          <p:cNvPr id="28" name="">
            <a:extLst xmlns:a="http://schemas.openxmlformats.org/drawingml/2006/main">
              <a:ext uri="{FF2B5EF4-FFF2-40B4-BE49-F238E27FC236}">
                <a16:creationId xmlns:a16="http://schemas.microsoft.com/office/drawing/2014/main" id="{CA50CDF6-4624-4DDE-8455-AADADD02BB15}"/>
              </a:ext>
            </a:extLst>
          </p:cNvPr>
          <p:cNvSpPr>
            <a:spLocks xmlns:a="http://schemas.openxmlformats.org/drawingml/2006/main" noGrp="1"/>
          </p:cNvSpPr>
          <p:nvPr/>
        </p:nvSpPr>
        <p:spPr>
          <a:xfrm xmlns:a="http://schemas.openxmlformats.org/drawingml/2006/main">
            <a:off x="7835900" y="3644900"/>
            <a:ext cx="3479800" cy="598488"/>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9" name="">
            <a:extLst xmlns:a="http://schemas.openxmlformats.org/drawingml/2006/main">
              <a:ext uri="{FF2B5EF4-FFF2-40B4-BE49-F238E27FC236}">
                <a16:creationId xmlns:a16="http://schemas.microsoft.com/office/drawing/2014/main" id="{BAC47C95-04F4-42B6-85EC-1E64C614FDCB}"/>
              </a:ext>
            </a:extLst>
          </p:cNvPr>
          <p:cNvSpPr>
            <a:spLocks xmlns:a="http://schemas.openxmlformats.org/drawingml/2006/main" noGrp="1"/>
          </p:cNvSpPr>
          <p:nvPr/>
        </p:nvSpPr>
        <p:spPr>
          <a:xfrm xmlns:a="http://schemas.openxmlformats.org/drawingml/2006/main">
            <a:off x="7912100" y="3692525"/>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0">
                <a:solidFill>
                  <a:srgbClr val="344054"/>
                </a:solidFill>
                <a:latin typeface="Yu Gothic UI"/>
                <a:ea typeface="Yu Gothic UI"/>
                <a:cs typeface="Yu Gothic UI"/>
              </a:defRPr>
            </a:pPr>
            <a:r>
              <a:rPr sz="705" b="0">
                <a:solidFill>
                  <a:srgbClr val="344054"/>
                </a:solidFill>
                <a:latin typeface="Yu Gothic UI"/>
                <a:ea typeface="Yu Gothic UI"/>
                <a:cs typeface="Yu Gothic UI"/>
              </a:rPr>
              <a:t>s01 は自分の番号に置き換えます。</a:t>
            </a:r>
          </a:p>
        </p:txBody>
      </p:sp>
      <p:sp>
        <p:nvSpPr>
          <p:cNvPr id="30" name="">
            <a:extLst xmlns:a="http://schemas.openxmlformats.org/drawingml/2006/main">
              <a:ext uri="{FF2B5EF4-FFF2-40B4-BE49-F238E27FC236}">
                <a16:creationId xmlns:a16="http://schemas.microsoft.com/office/drawing/2014/main" id="{668B34F4-B82D-45C3-AB92-F3AE4F9711B1}"/>
              </a:ext>
            </a:extLst>
          </p:cNvPr>
          <p:cNvSpPr>
            <a:spLocks xmlns:a="http://schemas.openxmlformats.org/drawingml/2006/main" noGrp="1"/>
          </p:cNvSpPr>
          <p:nvPr/>
        </p:nvSpPr>
        <p:spPr>
          <a:xfrm xmlns:a="http://schemas.openxmlformats.org/drawingml/2006/main">
            <a:off x="876300" y="4243388"/>
            <a:ext cx="3479800" cy="598488"/>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31" name="">
            <a:extLst xmlns:a="http://schemas.openxmlformats.org/drawingml/2006/main">
              <a:ext uri="{FF2B5EF4-FFF2-40B4-BE49-F238E27FC236}">
                <a16:creationId xmlns:a16="http://schemas.microsoft.com/office/drawing/2014/main" id="{9DB601D5-958B-42A6-A6B8-2CE81199DCE9}"/>
              </a:ext>
            </a:extLst>
          </p:cNvPr>
          <p:cNvSpPr>
            <a:spLocks xmlns:a="http://schemas.openxmlformats.org/drawingml/2006/main" noGrp="1"/>
          </p:cNvSpPr>
          <p:nvPr/>
        </p:nvSpPr>
        <p:spPr>
          <a:xfrm xmlns:a="http://schemas.openxmlformats.org/drawingml/2006/main">
            <a:off x="952500" y="4291013"/>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1">
                <a:solidFill>
                  <a:srgbClr val="344054"/>
                </a:solidFill>
                <a:latin typeface="Yu Gothic UI"/>
                <a:ea typeface="Yu Gothic UI"/>
                <a:cs typeface="Yu Gothic UI"/>
              </a:defRPr>
            </a:pPr>
            <a:r>
              <a:rPr sz="705" b="1">
                <a:solidFill>
                  <a:srgbClr val="344054"/>
                </a:solidFill>
                <a:latin typeface="Yu Gothic UI"/>
                <a:ea typeface="Yu Gothic UI"/>
                <a:cs typeface="Yu Gothic UI"/>
              </a:rPr>
              <a:t>VM 名</a:t>
            </a:r>
          </a:p>
        </p:txBody>
      </p:sp>
      <p:sp>
        <p:nvSpPr>
          <p:cNvPr id="32" name="">
            <a:extLst xmlns:a="http://schemas.openxmlformats.org/drawingml/2006/main">
              <a:ext uri="{FF2B5EF4-FFF2-40B4-BE49-F238E27FC236}">
                <a16:creationId xmlns:a16="http://schemas.microsoft.com/office/drawing/2014/main" id="{1BEAD71A-4025-49E2-97CC-D5D1FAF274DD}"/>
              </a:ext>
            </a:extLst>
          </p:cNvPr>
          <p:cNvSpPr>
            <a:spLocks xmlns:a="http://schemas.openxmlformats.org/drawingml/2006/main" noGrp="1"/>
          </p:cNvSpPr>
          <p:nvPr/>
        </p:nvSpPr>
        <p:spPr>
          <a:xfrm xmlns:a="http://schemas.openxmlformats.org/drawingml/2006/main">
            <a:off x="4356100" y="4243388"/>
            <a:ext cx="3479800" cy="598488"/>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33" name="">
            <a:extLst xmlns:a="http://schemas.openxmlformats.org/drawingml/2006/main">
              <a:ext uri="{FF2B5EF4-FFF2-40B4-BE49-F238E27FC236}">
                <a16:creationId xmlns:a16="http://schemas.microsoft.com/office/drawing/2014/main" id="{CB9A3F35-5242-49B4-88F3-A458ABFCC691}"/>
              </a:ext>
            </a:extLst>
          </p:cNvPr>
          <p:cNvSpPr>
            <a:spLocks xmlns:a="http://schemas.openxmlformats.org/drawingml/2006/main" noGrp="1"/>
          </p:cNvSpPr>
          <p:nvPr/>
        </p:nvSpPr>
        <p:spPr>
          <a:xfrm xmlns:a="http://schemas.openxmlformats.org/drawingml/2006/main">
            <a:off x="4432300" y="4291013"/>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0">
                <a:solidFill>
                  <a:srgbClr val="344054"/>
                </a:solidFill>
                <a:latin typeface="Yu Gothic UI"/>
                <a:ea typeface="Yu Gothic UI"/>
                <a:cs typeface="Yu Gothic UI"/>
              </a:defRPr>
            </a:pPr>
            <a:r>
              <a:rPr sz="705" b="0">
                <a:solidFill>
                  <a:srgbClr val="344054"/>
                </a:solidFill>
                <a:latin typeface="Yu Gothic UI"/>
                <a:ea typeface="Yu Gothic UI"/>
                <a:cs typeface="Yu Gothic UI"/>
              </a:rPr>
              <a:t>vm-azbeg-l03-s01</a:t>
            </a:r>
          </a:p>
        </p:txBody>
      </p:sp>
      <p:sp>
        <p:nvSpPr>
          <p:cNvPr id="34" name="">
            <a:extLst xmlns:a="http://schemas.openxmlformats.org/drawingml/2006/main">
              <a:ext uri="{FF2B5EF4-FFF2-40B4-BE49-F238E27FC236}">
                <a16:creationId xmlns:a16="http://schemas.microsoft.com/office/drawing/2014/main" id="{BE5832E4-9E9F-4428-8315-57BDDCBBCE8D}"/>
              </a:ext>
            </a:extLst>
          </p:cNvPr>
          <p:cNvSpPr>
            <a:spLocks xmlns:a="http://schemas.openxmlformats.org/drawingml/2006/main" noGrp="1"/>
          </p:cNvSpPr>
          <p:nvPr/>
        </p:nvSpPr>
        <p:spPr>
          <a:xfrm xmlns:a="http://schemas.openxmlformats.org/drawingml/2006/main">
            <a:off x="7835900" y="4243388"/>
            <a:ext cx="3479800" cy="598488"/>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35" name="">
            <a:extLst xmlns:a="http://schemas.openxmlformats.org/drawingml/2006/main">
              <a:ext uri="{FF2B5EF4-FFF2-40B4-BE49-F238E27FC236}">
                <a16:creationId xmlns:a16="http://schemas.microsoft.com/office/drawing/2014/main" id="{F52EB7AC-061A-40A7-96B8-24530DAE34D1}"/>
              </a:ext>
            </a:extLst>
          </p:cNvPr>
          <p:cNvSpPr>
            <a:spLocks xmlns:a="http://schemas.openxmlformats.org/drawingml/2006/main" noGrp="1"/>
          </p:cNvSpPr>
          <p:nvPr/>
        </p:nvSpPr>
        <p:spPr>
          <a:xfrm xmlns:a="http://schemas.openxmlformats.org/drawingml/2006/main">
            <a:off x="7912100" y="4291013"/>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0">
                <a:solidFill>
                  <a:srgbClr val="344054"/>
                </a:solidFill>
                <a:latin typeface="Yu Gothic UI"/>
                <a:ea typeface="Yu Gothic UI"/>
                <a:cs typeface="Yu Gothic UI"/>
              </a:defRPr>
            </a:pPr>
            <a:r>
              <a:rPr sz="705" b="0">
                <a:solidFill>
                  <a:srgbClr val="344054"/>
                </a:solidFill>
                <a:latin typeface="Yu Gothic UI"/>
                <a:ea typeface="Yu Gothic UI"/>
                <a:cs typeface="Yu Gothic UI"/>
              </a:rPr>
              <a:t>後から見分けられる名前にします。</a:t>
            </a:r>
          </a:p>
        </p:txBody>
      </p:sp>
      <p:sp>
        <p:nvSpPr>
          <p:cNvPr id="36" name="">
            <a:extLst xmlns:a="http://schemas.openxmlformats.org/drawingml/2006/main">
              <a:ext uri="{FF2B5EF4-FFF2-40B4-BE49-F238E27FC236}">
                <a16:creationId xmlns:a16="http://schemas.microsoft.com/office/drawing/2014/main" id="{46983B1E-C45B-48CB-A4C3-C2821223F67E}"/>
              </a:ext>
            </a:extLst>
          </p:cNvPr>
          <p:cNvSpPr>
            <a:spLocks xmlns:a="http://schemas.openxmlformats.org/drawingml/2006/main" noGrp="1"/>
          </p:cNvSpPr>
          <p:nvPr/>
        </p:nvSpPr>
        <p:spPr>
          <a:xfrm xmlns:a="http://schemas.openxmlformats.org/drawingml/2006/main">
            <a:off x="876300" y="4841875"/>
            <a:ext cx="3479800" cy="598488"/>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37" name="">
            <a:extLst xmlns:a="http://schemas.openxmlformats.org/drawingml/2006/main">
              <a:ext uri="{FF2B5EF4-FFF2-40B4-BE49-F238E27FC236}">
                <a16:creationId xmlns:a16="http://schemas.microsoft.com/office/drawing/2014/main" id="{087A2E6C-D68B-4DAC-9843-E9C3D620384A}"/>
              </a:ext>
            </a:extLst>
          </p:cNvPr>
          <p:cNvSpPr>
            <a:spLocks xmlns:a="http://schemas.openxmlformats.org/drawingml/2006/main" noGrp="1"/>
          </p:cNvSpPr>
          <p:nvPr/>
        </p:nvSpPr>
        <p:spPr>
          <a:xfrm xmlns:a="http://schemas.openxmlformats.org/drawingml/2006/main">
            <a:off x="952500" y="4889500"/>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1">
                <a:solidFill>
                  <a:srgbClr val="344054"/>
                </a:solidFill>
                <a:latin typeface="Yu Gothic UI"/>
                <a:ea typeface="Yu Gothic UI"/>
                <a:cs typeface="Yu Gothic UI"/>
              </a:defRPr>
            </a:pPr>
            <a:r>
              <a:rPr sz="705" b="1">
                <a:solidFill>
                  <a:srgbClr val="344054"/>
                </a:solidFill>
                <a:latin typeface="Yu Gothic UI"/>
                <a:ea typeface="Yu Gothic UI"/>
                <a:cs typeface="Yu Gothic UI"/>
              </a:rPr>
              <a:t>管理者ユーザー</a:t>
            </a:r>
          </a:p>
        </p:txBody>
      </p:sp>
      <p:sp>
        <p:nvSpPr>
          <p:cNvPr id="38" name="">
            <a:extLst xmlns:a="http://schemas.openxmlformats.org/drawingml/2006/main">
              <a:ext uri="{FF2B5EF4-FFF2-40B4-BE49-F238E27FC236}">
                <a16:creationId xmlns:a16="http://schemas.microsoft.com/office/drawing/2014/main" id="{F1BDCA45-6CA9-47C8-9EEF-80626F5A6B88}"/>
              </a:ext>
            </a:extLst>
          </p:cNvPr>
          <p:cNvSpPr>
            <a:spLocks xmlns:a="http://schemas.openxmlformats.org/drawingml/2006/main" noGrp="1"/>
          </p:cNvSpPr>
          <p:nvPr/>
        </p:nvSpPr>
        <p:spPr>
          <a:xfrm xmlns:a="http://schemas.openxmlformats.org/drawingml/2006/main">
            <a:off x="4356100" y="4841875"/>
            <a:ext cx="3479800" cy="598488"/>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39" name="">
            <a:extLst xmlns:a="http://schemas.openxmlformats.org/drawingml/2006/main">
              <a:ext uri="{FF2B5EF4-FFF2-40B4-BE49-F238E27FC236}">
                <a16:creationId xmlns:a16="http://schemas.microsoft.com/office/drawing/2014/main" id="{975C7936-9E55-4FCF-BC16-00A342366BC7}"/>
              </a:ext>
            </a:extLst>
          </p:cNvPr>
          <p:cNvSpPr>
            <a:spLocks xmlns:a="http://schemas.openxmlformats.org/drawingml/2006/main" noGrp="1"/>
          </p:cNvSpPr>
          <p:nvPr/>
        </p:nvSpPr>
        <p:spPr>
          <a:xfrm xmlns:a="http://schemas.openxmlformats.org/drawingml/2006/main">
            <a:off x="4432300" y="4889500"/>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0">
                <a:solidFill>
                  <a:srgbClr val="344054"/>
                </a:solidFill>
                <a:latin typeface="Yu Gothic UI"/>
                <a:ea typeface="Yu Gothic UI"/>
                <a:cs typeface="Yu Gothic UI"/>
              </a:defRPr>
            </a:pPr>
            <a:r>
              <a:rPr sz="705" b="0">
                <a:solidFill>
                  <a:srgbClr val="344054"/>
                </a:solidFill>
                <a:latin typeface="Yu Gothic UI"/>
                <a:ea typeface="Yu Gothic UI"/>
                <a:cs typeface="Yu Gothic UI"/>
              </a:rPr>
              <a:t>azureuser</a:t>
            </a:r>
          </a:p>
        </p:txBody>
      </p:sp>
      <p:sp>
        <p:nvSpPr>
          <p:cNvPr id="40" name="">
            <a:extLst xmlns:a="http://schemas.openxmlformats.org/drawingml/2006/main">
              <a:ext uri="{FF2B5EF4-FFF2-40B4-BE49-F238E27FC236}">
                <a16:creationId xmlns:a16="http://schemas.microsoft.com/office/drawing/2014/main" id="{003FD709-6C74-40F3-93FD-A308B794F5AD}"/>
              </a:ext>
            </a:extLst>
          </p:cNvPr>
          <p:cNvSpPr>
            <a:spLocks xmlns:a="http://schemas.openxmlformats.org/drawingml/2006/main" noGrp="1"/>
          </p:cNvSpPr>
          <p:nvPr/>
        </p:nvSpPr>
        <p:spPr>
          <a:xfrm xmlns:a="http://schemas.openxmlformats.org/drawingml/2006/main">
            <a:off x="7835900" y="4841875"/>
            <a:ext cx="3479800" cy="598488"/>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41" name="">
            <a:extLst xmlns:a="http://schemas.openxmlformats.org/drawingml/2006/main">
              <a:ext uri="{FF2B5EF4-FFF2-40B4-BE49-F238E27FC236}">
                <a16:creationId xmlns:a16="http://schemas.microsoft.com/office/drawing/2014/main" id="{F5087C6F-3400-4CC8-ABC8-E13D71F132A7}"/>
              </a:ext>
            </a:extLst>
          </p:cNvPr>
          <p:cNvSpPr>
            <a:spLocks xmlns:a="http://schemas.openxmlformats.org/drawingml/2006/main" noGrp="1"/>
          </p:cNvSpPr>
          <p:nvPr/>
        </p:nvSpPr>
        <p:spPr>
          <a:xfrm xmlns:a="http://schemas.openxmlformats.org/drawingml/2006/main">
            <a:off x="7912100" y="4889500"/>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0">
                <a:solidFill>
                  <a:srgbClr val="344054"/>
                </a:solidFill>
                <a:latin typeface="Yu Gothic UI"/>
                <a:ea typeface="Yu Gothic UI"/>
                <a:cs typeface="Yu Gothic UI"/>
              </a:defRPr>
            </a:pPr>
            <a:r>
              <a:rPr sz="705" b="0">
                <a:solidFill>
                  <a:srgbClr val="344054"/>
                </a:solidFill>
                <a:latin typeface="Yu Gothic UI"/>
                <a:ea typeface="Yu Gothic UI"/>
                <a:cs typeface="Yu Gothic UI"/>
              </a:rPr>
              <a:t>秘密鍵は公開資料に残しません。</a:t>
            </a:r>
          </a:p>
        </p:txBody>
      </p:sp>
      <p:sp>
        <p:nvSpPr>
          <p:cNvPr id="42" name="">
            <a:extLst xmlns:a="http://schemas.openxmlformats.org/drawingml/2006/main">
              <a:ext uri="{FF2B5EF4-FFF2-40B4-BE49-F238E27FC236}">
                <a16:creationId xmlns:a16="http://schemas.microsoft.com/office/drawing/2014/main" id="{1DBFEDEE-B398-4DF9-9048-2F8A8BEBB25A}"/>
              </a:ext>
            </a:extLst>
          </p:cNvPr>
          <p:cNvSpPr>
            <a:spLocks xmlns:a="http://schemas.openxmlformats.org/drawingml/2006/main" noGrp="1"/>
          </p:cNvSpPr>
          <p:nvPr/>
        </p:nvSpPr>
        <p:spPr>
          <a:xfrm xmlns:a="http://schemas.openxmlformats.org/drawingml/2006/main">
            <a:off x="876300" y="5440363"/>
            <a:ext cx="3479800" cy="598488"/>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43" name="">
            <a:extLst xmlns:a="http://schemas.openxmlformats.org/drawingml/2006/main">
              <a:ext uri="{FF2B5EF4-FFF2-40B4-BE49-F238E27FC236}">
                <a16:creationId xmlns:a16="http://schemas.microsoft.com/office/drawing/2014/main" id="{185DB0DC-6063-41C2-B568-37B077CC2C0C}"/>
              </a:ext>
            </a:extLst>
          </p:cNvPr>
          <p:cNvSpPr>
            <a:spLocks xmlns:a="http://schemas.openxmlformats.org/drawingml/2006/main" noGrp="1"/>
          </p:cNvSpPr>
          <p:nvPr/>
        </p:nvSpPr>
        <p:spPr>
          <a:xfrm xmlns:a="http://schemas.openxmlformats.org/drawingml/2006/main">
            <a:off x="952500" y="5487988"/>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1">
                <a:solidFill>
                  <a:srgbClr val="344054"/>
                </a:solidFill>
                <a:latin typeface="Yu Gothic UI"/>
                <a:ea typeface="Yu Gothic UI"/>
                <a:cs typeface="Yu Gothic UI"/>
              </a:defRPr>
            </a:pPr>
            <a:r>
              <a:rPr sz="705" b="1">
                <a:solidFill>
                  <a:srgbClr val="344054"/>
                </a:solidFill>
                <a:latin typeface="Yu Gothic UI"/>
                <a:ea typeface="Yu Gothic UI"/>
                <a:cs typeface="Yu Gothic UI"/>
              </a:rPr>
              <a:t>受信ポート</a:t>
            </a:r>
          </a:p>
        </p:txBody>
      </p:sp>
      <p:sp>
        <p:nvSpPr>
          <p:cNvPr id="44" name="">
            <a:extLst xmlns:a="http://schemas.openxmlformats.org/drawingml/2006/main">
              <a:ext uri="{FF2B5EF4-FFF2-40B4-BE49-F238E27FC236}">
                <a16:creationId xmlns:a16="http://schemas.microsoft.com/office/drawing/2014/main" id="{E4D5F1F0-C416-4788-A474-322647A8A4E8}"/>
              </a:ext>
            </a:extLst>
          </p:cNvPr>
          <p:cNvSpPr>
            <a:spLocks xmlns:a="http://schemas.openxmlformats.org/drawingml/2006/main" noGrp="1"/>
          </p:cNvSpPr>
          <p:nvPr/>
        </p:nvSpPr>
        <p:spPr>
          <a:xfrm xmlns:a="http://schemas.openxmlformats.org/drawingml/2006/main">
            <a:off x="4356100" y="5440363"/>
            <a:ext cx="3479800" cy="598488"/>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45" name="">
            <a:extLst xmlns:a="http://schemas.openxmlformats.org/drawingml/2006/main">
              <a:ext uri="{FF2B5EF4-FFF2-40B4-BE49-F238E27FC236}">
                <a16:creationId xmlns:a16="http://schemas.microsoft.com/office/drawing/2014/main" id="{8AC666B1-DD90-46F3-9417-5C6117C86E3D}"/>
              </a:ext>
            </a:extLst>
          </p:cNvPr>
          <p:cNvSpPr>
            <a:spLocks xmlns:a="http://schemas.openxmlformats.org/drawingml/2006/main" noGrp="1"/>
          </p:cNvSpPr>
          <p:nvPr/>
        </p:nvSpPr>
        <p:spPr>
          <a:xfrm xmlns:a="http://schemas.openxmlformats.org/drawingml/2006/main">
            <a:off x="4432300" y="5487988"/>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0">
                <a:solidFill>
                  <a:srgbClr val="344054"/>
                </a:solidFill>
                <a:latin typeface="Yu Gothic UI"/>
                <a:ea typeface="Yu Gothic UI"/>
                <a:cs typeface="Yu Gothic UI"/>
              </a:defRPr>
            </a:pPr>
            <a:r>
              <a:rPr sz="705" b="0">
                <a:solidFill>
                  <a:srgbClr val="344054"/>
                </a:solidFill>
                <a:latin typeface="Yu Gothic UI"/>
                <a:ea typeface="Yu Gothic UI"/>
                <a:cs typeface="Yu Gothic UI"/>
              </a:rPr>
              <a:t>HTTP</a:t>
            </a:r>
          </a:p>
        </p:txBody>
      </p:sp>
      <p:sp>
        <p:nvSpPr>
          <p:cNvPr id="46" name="">
            <a:extLst xmlns:a="http://schemas.openxmlformats.org/drawingml/2006/main">
              <a:ext uri="{FF2B5EF4-FFF2-40B4-BE49-F238E27FC236}">
                <a16:creationId xmlns:a16="http://schemas.microsoft.com/office/drawing/2014/main" id="{B783B976-DA63-4D9A-82EA-797B322D44B1}"/>
              </a:ext>
            </a:extLst>
          </p:cNvPr>
          <p:cNvSpPr>
            <a:spLocks xmlns:a="http://schemas.openxmlformats.org/drawingml/2006/main" noGrp="1"/>
          </p:cNvSpPr>
          <p:nvPr/>
        </p:nvSpPr>
        <p:spPr>
          <a:xfrm xmlns:a="http://schemas.openxmlformats.org/drawingml/2006/main">
            <a:off x="7835900" y="5440363"/>
            <a:ext cx="3479800" cy="598488"/>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47" name="">
            <a:extLst xmlns:a="http://schemas.openxmlformats.org/drawingml/2006/main">
              <a:ext uri="{FF2B5EF4-FFF2-40B4-BE49-F238E27FC236}">
                <a16:creationId xmlns:a16="http://schemas.microsoft.com/office/drawing/2014/main" id="{5A012821-5604-4264-A540-4FE9F4720EDA}"/>
              </a:ext>
            </a:extLst>
          </p:cNvPr>
          <p:cNvSpPr>
            <a:spLocks xmlns:a="http://schemas.openxmlformats.org/drawingml/2006/main" noGrp="1"/>
          </p:cNvSpPr>
          <p:nvPr/>
        </p:nvSpPr>
        <p:spPr>
          <a:xfrm xmlns:a="http://schemas.openxmlformats.org/drawingml/2006/main">
            <a:off x="7912100" y="5487988"/>
            <a:ext cx="3327400" cy="50323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05" b="0">
                <a:solidFill>
                  <a:srgbClr val="344054"/>
                </a:solidFill>
                <a:latin typeface="Yu Gothic UI"/>
                <a:ea typeface="Yu Gothic UI"/>
                <a:cs typeface="Yu Gothic UI"/>
              </a:defRPr>
            </a:pPr>
            <a:r>
              <a:rPr sz="705" b="0">
                <a:solidFill>
                  <a:srgbClr val="344054"/>
                </a:solidFill>
                <a:latin typeface="Yu Gothic UI"/>
                <a:ea typeface="Yu Gothic UI"/>
                <a:cs typeface="Yu Gothic UI"/>
              </a:rPr>
              <a:t>NGINX 表示確認に使います。</a:t>
            </a:r>
          </a:p>
        </p:txBody>
      </p:sp>
      <p:sp>
        <p:nvSpPr>
          <p:cNvPr id="48" name="">
            <a:extLst xmlns:a="http://schemas.openxmlformats.org/drawingml/2006/main">
              <a:ext uri="{FF2B5EF4-FFF2-40B4-BE49-F238E27FC236}">
                <a16:creationId xmlns:a16="http://schemas.microsoft.com/office/drawing/2014/main" id="{5A09ECE5-12AF-4BF5-B81E-56BCA3639459}"/>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14 / 46</a:t>
            </a:r>
          </a:p>
        </p:txBody>
      </p:sp>
    </p:spTree>
    <p:extLst>
      <p:ext uri="{BB962C8B-B14F-4D97-AF65-F5344CB8AC3E}">
        <p14:creationId xmlns:p14="http://schemas.microsoft.com/office/powerpoint/2010/main" val="118607714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FFCA77-907A-4D09-B2C9-00F4D7FC2BD8}"/>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ハンズオンの流れ</a:t>
            </a:r>
          </a:p>
        </p:txBody>
      </p:sp>
      <p:sp>
        <p:nvSpPr>
          <p:cNvPr id="2" name="">
            <a:extLst xmlns:a="http://schemas.openxmlformats.org/drawingml/2006/main">
              <a:ext uri="{FF2B5EF4-FFF2-40B4-BE49-F238E27FC236}">
                <a16:creationId xmlns:a16="http://schemas.microsoft.com/office/drawing/2014/main" id="{9B639622-4B96-433E-BEF1-936B694F1718}"/>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5A77844F-0647-47E3-B1F5-A888DC96CC3A}"/>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15</a:t>
            </a:r>
          </a:p>
        </p:txBody>
      </p:sp>
      <p:sp>
        <p:nvSpPr>
          <p:cNvPr id="4" name="">
            <a:extLst xmlns:a="http://schemas.openxmlformats.org/drawingml/2006/main">
              <a:ext uri="{FF2B5EF4-FFF2-40B4-BE49-F238E27FC236}">
                <a16:creationId xmlns:a16="http://schemas.microsoft.com/office/drawing/2014/main" id="{5E3B147E-C355-4441-92EA-1504C2E6D5C8}"/>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46730B0-F782-4201-9373-DE45D4B1B474}"/>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まずリソースをまとめる外枠を作り、その中に VM と関連リソースを作成します。最後は作成したリソースグループを削除します。</a:t>
            </a:r>
          </a:p>
        </p:txBody>
      </p:sp>
      <p:sp>
        <p:nvSpPr>
          <p:cNvPr id="6" name="">
            <a:extLst xmlns:a="http://schemas.openxmlformats.org/drawingml/2006/main">
              <a:ext uri="{FF2B5EF4-FFF2-40B4-BE49-F238E27FC236}">
                <a16:creationId xmlns:a16="http://schemas.microsoft.com/office/drawing/2014/main" id="{498F44A6-A71B-4E94-8DE4-26C07ABA5459}"/>
              </a:ext>
            </a:extLst>
          </p:cNvPr>
          <p:cNvSpPr>
            <a:spLocks xmlns:a="http://schemas.openxmlformats.org/drawingml/2006/main" noGrp="1"/>
          </p:cNvSpPr>
          <p:nvPr/>
        </p:nvSpPr>
        <p:spPr>
          <a:xfrm xmlns:a="http://schemas.openxmlformats.org/drawingml/2006/main">
            <a:off x="685800" y="2038350"/>
            <a:ext cx="1082040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17f384ef1904fc3"/>
          <a:stretch xmlns:a="http://schemas.openxmlformats.org/drawingml/2006/main"/>
        </p:blipFill>
        <p:spPr>
          <a:xfrm xmlns:a="http://schemas.openxmlformats.org/drawingml/2006/main">
            <a:off x="857250" y="2190750"/>
            <a:ext cx="10477500" cy="3505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D3D666E-0FA2-4EF3-922F-03D4856B9363}"/>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15 / 46</a:t>
            </a:r>
          </a:p>
        </p:txBody>
      </p:sp>
    </p:spTree>
    <p:extLst>
      <p:ext uri="{BB962C8B-B14F-4D97-AF65-F5344CB8AC3E}">
        <p14:creationId xmlns:p14="http://schemas.microsoft.com/office/powerpoint/2010/main" val="118607714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5591E4-770E-4748-930A-0E31984EDF60}"/>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Azure Portal にサインイン</a:t>
            </a:r>
          </a:p>
        </p:txBody>
      </p:sp>
      <p:sp>
        <p:nvSpPr>
          <p:cNvPr id="2" name="">
            <a:extLst xmlns:a="http://schemas.openxmlformats.org/drawingml/2006/main">
              <a:ext uri="{FF2B5EF4-FFF2-40B4-BE49-F238E27FC236}">
                <a16:creationId xmlns:a16="http://schemas.microsoft.com/office/drawing/2014/main" id="{4E697273-563A-4C13-8F02-BB3C14935077}"/>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D85EA643-2FEF-4851-93F6-E3C0A62DBF27}"/>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16</a:t>
            </a:r>
          </a:p>
        </p:txBody>
      </p:sp>
      <p:sp>
        <p:nvSpPr>
          <p:cNvPr id="4" name="">
            <a:extLst xmlns:a="http://schemas.openxmlformats.org/drawingml/2006/main">
              <a:ext uri="{FF2B5EF4-FFF2-40B4-BE49-F238E27FC236}">
                <a16:creationId xmlns:a16="http://schemas.microsoft.com/office/drawing/2014/main" id="{725B2634-5E8E-48EE-B135-4DD74DB18CEA}"/>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57CF3C4-8BBF-4986-AE79-73AC6225224B}"/>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講師が案内したアカウントで Azure Portal に入り、対象サブスクリプションが見えることを確認します。</a:t>
            </a:r>
          </a:p>
        </p:txBody>
      </p:sp>
      <p:sp>
        <p:nvSpPr>
          <p:cNvPr id="6" name="">
            <a:extLst xmlns:a="http://schemas.openxmlformats.org/drawingml/2006/main">
              <a:ext uri="{FF2B5EF4-FFF2-40B4-BE49-F238E27FC236}">
                <a16:creationId xmlns:a16="http://schemas.microsoft.com/office/drawing/2014/main" id="{C72C93D0-EA08-4AA8-AFA2-3A98876F3B70}"/>
              </a:ext>
            </a:extLst>
          </p:cNvPr>
          <p:cNvSpPr>
            <a:spLocks xmlns:a="http://schemas.openxmlformats.org/drawingml/2006/main" noGrp="1"/>
          </p:cNvSpPr>
          <p:nvPr/>
        </p:nvSpPr>
        <p:spPr>
          <a:xfrm xmlns:a="http://schemas.openxmlformats.org/drawingml/2006/main">
            <a:off x="781050" y="2781300"/>
            <a:ext cx="4095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1E215199-CA86-454B-A203-B2C0F0375D86}"/>
              </a:ext>
            </a:extLst>
          </p:cNvPr>
          <p:cNvSpPr>
            <a:spLocks xmlns:a="http://schemas.openxmlformats.org/drawingml/2006/main" noGrp="1"/>
          </p:cNvSpPr>
          <p:nvPr/>
        </p:nvSpPr>
        <p:spPr>
          <a:xfrm xmlns:a="http://schemas.openxmlformats.org/drawingml/2006/main">
            <a:off x="781050" y="2781300"/>
            <a:ext cx="76200" cy="142875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8" name="">
            <a:extLst xmlns:a="http://schemas.openxmlformats.org/drawingml/2006/main">
              <a:ext uri="{FF2B5EF4-FFF2-40B4-BE49-F238E27FC236}">
                <a16:creationId xmlns:a16="http://schemas.microsoft.com/office/drawing/2014/main" id="{308AFF01-5E40-4741-A485-9B94431EDD0E}"/>
              </a:ext>
            </a:extLst>
          </p:cNvPr>
          <p:cNvSpPr>
            <a:spLocks xmlns:a="http://schemas.openxmlformats.org/drawingml/2006/main" noGrp="1"/>
          </p:cNvSpPr>
          <p:nvPr/>
        </p:nvSpPr>
        <p:spPr>
          <a:xfrm xmlns:a="http://schemas.openxmlformats.org/drawingml/2006/main">
            <a:off x="990600" y="2933700"/>
            <a:ext cx="3695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確認</a:t>
            </a:r>
          </a:p>
        </p:txBody>
      </p:sp>
      <p:sp>
        <p:nvSpPr>
          <p:cNvPr id="9" name="">
            <a:extLst xmlns:a="http://schemas.openxmlformats.org/drawingml/2006/main">
              <a:ext uri="{FF2B5EF4-FFF2-40B4-BE49-F238E27FC236}">
                <a16:creationId xmlns:a16="http://schemas.microsoft.com/office/drawing/2014/main" id="{595A95CD-5C3C-4C25-999E-EE274F560D4E}"/>
              </a:ext>
            </a:extLst>
          </p:cNvPr>
          <p:cNvSpPr>
            <a:spLocks xmlns:a="http://schemas.openxmlformats.org/drawingml/2006/main" noGrp="1"/>
          </p:cNvSpPr>
          <p:nvPr/>
        </p:nvSpPr>
        <p:spPr>
          <a:xfrm xmlns:a="http://schemas.openxmlformats.org/drawingml/2006/main">
            <a:off x="990600" y="3181350"/>
            <a:ext cx="3695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作業するサブスクリプション</a:t>
            </a:r>
          </a:p>
        </p:txBody>
      </p:sp>
      <p:sp>
        <p:nvSpPr>
          <p:cNvPr id="10" name="">
            <a:extLst xmlns:a="http://schemas.openxmlformats.org/drawingml/2006/main">
              <a:ext uri="{FF2B5EF4-FFF2-40B4-BE49-F238E27FC236}">
                <a16:creationId xmlns:a16="http://schemas.microsoft.com/office/drawing/2014/main" id="{949A56C4-AE95-47B9-97A4-9C2EDED80F71}"/>
              </a:ext>
            </a:extLst>
          </p:cNvPr>
          <p:cNvSpPr>
            <a:spLocks xmlns:a="http://schemas.openxmlformats.org/drawingml/2006/main" noGrp="1"/>
          </p:cNvSpPr>
          <p:nvPr/>
        </p:nvSpPr>
        <p:spPr>
          <a:xfrm xmlns:a="http://schemas.openxmlformats.org/drawingml/2006/main">
            <a:off x="990600" y="3581400"/>
            <a:ext cx="36957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344054"/>
                </a:solidFill>
                <a:latin typeface="Yu Gothic UI"/>
                <a:ea typeface="Yu Gothic UI"/>
                <a:cs typeface="Yu Gothic UI"/>
              </a:defRPr>
            </a:pPr>
            <a:r>
              <a:rPr sz="870" b="0">
                <a:solidFill>
                  <a:srgbClr val="344054"/>
                </a:solidFill>
                <a:latin typeface="Yu Gothic UI"/>
                <a:ea typeface="Yu Gothic UI"/>
                <a:cs typeface="Yu Gothic UI"/>
              </a:rPr>
              <a:t>個人の別アカウントで入っていないか、対象サブスクリプションが表示されているかを先に確認します。</a:t>
            </a:r>
          </a:p>
        </p:txBody>
      </p:sp>
      <p:sp>
        <p:nvSpPr>
          <p:cNvPr id="11" name="">
            <a:extLst xmlns:a="http://schemas.openxmlformats.org/drawingml/2006/main">
              <a:ext uri="{FF2B5EF4-FFF2-40B4-BE49-F238E27FC236}">
                <a16:creationId xmlns:a16="http://schemas.microsoft.com/office/drawing/2014/main" id="{283EE61A-651D-4EAD-BE8A-534116797DE2}"/>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0ff857ecf384f80"/>
          <a:stretch xmlns:a="http://schemas.openxmlformats.org/drawingml/2006/main"/>
        </p:blipFill>
        <p:spPr>
          <a:xfrm xmlns:a="http://schemas.openxmlformats.org/drawingml/2006/main">
            <a:off x="5467350" y="1878806"/>
            <a:ext cx="5715000" cy="3214688"/>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601F41D-4B29-4E0A-B5B5-1A8C2F8A9B33}"/>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Azure Portal で対象サブスクリプションを確認する</a:t>
            </a:r>
          </a:p>
        </p:txBody>
      </p:sp>
      <p:sp>
        <p:nvSpPr>
          <p:cNvPr id="14" name="">
            <a:extLst xmlns:a="http://schemas.openxmlformats.org/drawingml/2006/main">
              <a:ext uri="{FF2B5EF4-FFF2-40B4-BE49-F238E27FC236}">
                <a16:creationId xmlns:a16="http://schemas.microsoft.com/office/drawing/2014/main" id="{78C3A063-FF6B-431C-9713-C36A633D6F5D}"/>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16 / 46</a:t>
            </a:r>
          </a:p>
        </p:txBody>
      </p:sp>
    </p:spTree>
    <p:extLst>
      <p:ext uri="{BB962C8B-B14F-4D97-AF65-F5344CB8AC3E}">
        <p14:creationId xmlns:p14="http://schemas.microsoft.com/office/powerpoint/2010/main" val="118607714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3194F8-0DD0-4B7A-B922-C005CB1C8208}"/>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リソースグループを作成する</a:t>
            </a:r>
          </a:p>
        </p:txBody>
      </p:sp>
      <p:sp>
        <p:nvSpPr>
          <p:cNvPr id="2" name="">
            <a:extLst xmlns:a="http://schemas.openxmlformats.org/drawingml/2006/main">
              <a:ext uri="{FF2B5EF4-FFF2-40B4-BE49-F238E27FC236}">
                <a16:creationId xmlns:a16="http://schemas.microsoft.com/office/drawing/2014/main" id="{F87B6B67-ABBB-4798-AC69-92B461DBCB18}"/>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06BE9B69-387C-4C18-9701-43B5A049B428}"/>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17</a:t>
            </a:r>
          </a:p>
        </p:txBody>
      </p:sp>
      <p:sp>
        <p:nvSpPr>
          <p:cNvPr id="4" name="">
            <a:extLst xmlns:a="http://schemas.openxmlformats.org/drawingml/2006/main">
              <a:ext uri="{FF2B5EF4-FFF2-40B4-BE49-F238E27FC236}">
                <a16:creationId xmlns:a16="http://schemas.microsoft.com/office/drawing/2014/main" id="{B5487F74-9960-4118-8311-06D27235C524}"/>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D9AB093-A099-48EB-A117-0B416510E66A}"/>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本回で作る VM、ネットワーク、ディスクをまとめる入れ物として、受講者ごとのリソースグループを作成します。</a:t>
            </a:r>
          </a:p>
        </p:txBody>
      </p:sp>
      <p:sp>
        <p:nvSpPr>
          <p:cNvPr id="6" name="">
            <a:extLst xmlns:a="http://schemas.openxmlformats.org/drawingml/2006/main">
              <a:ext uri="{FF2B5EF4-FFF2-40B4-BE49-F238E27FC236}">
                <a16:creationId xmlns:a16="http://schemas.microsoft.com/office/drawing/2014/main" id="{5EE44B11-F16C-4881-BF39-6F7565BA1C9B}"/>
              </a:ext>
            </a:extLst>
          </p:cNvPr>
          <p:cNvSpPr>
            <a:spLocks xmlns:a="http://schemas.openxmlformats.org/drawingml/2006/main" noGrp="1"/>
          </p:cNvSpPr>
          <p:nvPr/>
        </p:nvSpPr>
        <p:spPr>
          <a:xfrm xmlns:a="http://schemas.openxmlformats.org/drawingml/2006/main">
            <a:off x="819150" y="2628900"/>
            <a:ext cx="39243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38100" rIns="38100" bIns="38100" anchor="t"/>
          <a:lstStyle xmlns:a="http://schemas.openxmlformats.org/drawingml/2006/main"/>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名前は自分の受講者番号を含めます。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リージョンは講師指定の値を選びます。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最後にこの単位で削除します。</a:t>
            </a:r>
          </a:p>
        </p:txBody>
      </p:sp>
      <p:sp>
        <p:nvSpPr>
          <p:cNvPr id="7" name="">
            <a:extLst xmlns:a="http://schemas.openxmlformats.org/drawingml/2006/main">
              <a:ext uri="{FF2B5EF4-FFF2-40B4-BE49-F238E27FC236}">
                <a16:creationId xmlns:a16="http://schemas.microsoft.com/office/drawing/2014/main" id="{336A7796-7127-43CD-A8F3-16724DAE9F11}"/>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4af30f5ec864fe5"/>
          <a:stretch xmlns:a="http://schemas.openxmlformats.org/drawingml/2006/main"/>
        </p:blipFill>
        <p:spPr>
          <a:xfrm xmlns:a="http://schemas.openxmlformats.org/drawingml/2006/main">
            <a:off x="5642610" y="1809750"/>
            <a:ext cx="5364480" cy="3352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46FF994-9442-459F-8D38-013EBD5D91AA}"/>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リソースグループを作成する</a:t>
            </a:r>
          </a:p>
        </p:txBody>
      </p:sp>
      <p:sp>
        <p:nvSpPr>
          <p:cNvPr id="10" name="">
            <a:extLst xmlns:a="http://schemas.openxmlformats.org/drawingml/2006/main">
              <a:ext uri="{FF2B5EF4-FFF2-40B4-BE49-F238E27FC236}">
                <a16:creationId xmlns:a16="http://schemas.microsoft.com/office/drawing/2014/main" id="{ABC256E3-FC2F-43B7-A674-7E1887A04F22}"/>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17 / 46</a:t>
            </a:r>
          </a:p>
        </p:txBody>
      </p:sp>
    </p:spTree>
    <p:extLst>
      <p:ext uri="{BB962C8B-B14F-4D97-AF65-F5344CB8AC3E}">
        <p14:creationId xmlns:p14="http://schemas.microsoft.com/office/powerpoint/2010/main" val="118607714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55C78B1-14B7-4C5A-93CF-5F19EF7374D1}"/>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リソースグループ作成を確認する</a:t>
            </a:r>
          </a:p>
        </p:txBody>
      </p:sp>
      <p:sp>
        <p:nvSpPr>
          <p:cNvPr id="2" name="">
            <a:extLst xmlns:a="http://schemas.openxmlformats.org/drawingml/2006/main">
              <a:ext uri="{FF2B5EF4-FFF2-40B4-BE49-F238E27FC236}">
                <a16:creationId xmlns:a16="http://schemas.microsoft.com/office/drawing/2014/main" id="{F9EE1852-F29B-4E05-913D-6372838D7E31}"/>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89872A47-62F5-43FA-B267-235F9BFAADBC}"/>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18</a:t>
            </a:r>
          </a:p>
        </p:txBody>
      </p:sp>
      <p:sp>
        <p:nvSpPr>
          <p:cNvPr id="4" name="">
            <a:extLst xmlns:a="http://schemas.openxmlformats.org/drawingml/2006/main">
              <a:ext uri="{FF2B5EF4-FFF2-40B4-BE49-F238E27FC236}">
                <a16:creationId xmlns:a16="http://schemas.microsoft.com/office/drawing/2014/main" id="{339017AB-97B6-4634-B9DA-894B433CAB10}"/>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8425234-AC25-4894-AB2C-ED66DDE65E38}"/>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作成したリソースグループの Overview を開き、場所と名前が講師指定の値になっていることを確認します。</a:t>
            </a:r>
          </a:p>
        </p:txBody>
      </p:sp>
      <p:sp>
        <p:nvSpPr>
          <p:cNvPr id="6" name="">
            <a:extLst xmlns:a="http://schemas.openxmlformats.org/drawingml/2006/main">
              <a:ext uri="{FF2B5EF4-FFF2-40B4-BE49-F238E27FC236}">
                <a16:creationId xmlns:a16="http://schemas.microsoft.com/office/drawing/2014/main" id="{28740068-FAC4-4BD6-B0CC-354B50AC84FF}"/>
              </a:ext>
            </a:extLst>
          </p:cNvPr>
          <p:cNvSpPr>
            <a:spLocks xmlns:a="http://schemas.openxmlformats.org/drawingml/2006/main" noGrp="1"/>
          </p:cNvSpPr>
          <p:nvPr/>
        </p:nvSpPr>
        <p:spPr>
          <a:xfrm xmlns:a="http://schemas.openxmlformats.org/drawingml/2006/main">
            <a:off x="781050" y="2781300"/>
            <a:ext cx="4095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468543DF-0EF0-4D9F-A816-86D60A4B7AF8}"/>
              </a:ext>
            </a:extLst>
          </p:cNvPr>
          <p:cNvSpPr>
            <a:spLocks xmlns:a="http://schemas.openxmlformats.org/drawingml/2006/main" noGrp="1"/>
          </p:cNvSpPr>
          <p:nvPr/>
        </p:nvSpPr>
        <p:spPr>
          <a:xfrm xmlns:a="http://schemas.openxmlformats.org/drawingml/2006/main">
            <a:off x="781050" y="2781300"/>
            <a:ext cx="76200" cy="1428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8" name="">
            <a:extLst xmlns:a="http://schemas.openxmlformats.org/drawingml/2006/main">
              <a:ext uri="{FF2B5EF4-FFF2-40B4-BE49-F238E27FC236}">
                <a16:creationId xmlns:a16="http://schemas.microsoft.com/office/drawing/2014/main" id="{4028EE55-779F-4024-A944-81A359D9A209}"/>
              </a:ext>
            </a:extLst>
          </p:cNvPr>
          <p:cNvSpPr>
            <a:spLocks xmlns:a="http://schemas.openxmlformats.org/drawingml/2006/main" noGrp="1"/>
          </p:cNvSpPr>
          <p:nvPr/>
        </p:nvSpPr>
        <p:spPr>
          <a:xfrm xmlns:a="http://schemas.openxmlformats.org/drawingml/2006/main">
            <a:off x="990600" y="2933700"/>
            <a:ext cx="3695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4472C4"/>
                </a:solidFill>
                <a:latin typeface="Yu Gothic UI"/>
                <a:ea typeface="Yu Gothic UI"/>
                <a:cs typeface="Yu Gothic UI"/>
              </a:defRPr>
            </a:pPr>
            <a:r>
              <a:rPr sz="713" b="1">
                <a:solidFill>
                  <a:srgbClr val="4472C4"/>
                </a:solidFill>
                <a:latin typeface="Yu Gothic UI"/>
                <a:ea typeface="Yu Gothic UI"/>
                <a:cs typeface="Yu Gothic UI"/>
              </a:rPr>
              <a:t>完了条件</a:t>
            </a:r>
          </a:p>
        </p:txBody>
      </p:sp>
      <p:sp>
        <p:nvSpPr>
          <p:cNvPr id="9" name="">
            <a:extLst xmlns:a="http://schemas.openxmlformats.org/drawingml/2006/main">
              <a:ext uri="{FF2B5EF4-FFF2-40B4-BE49-F238E27FC236}">
                <a16:creationId xmlns:a16="http://schemas.microsoft.com/office/drawing/2014/main" id="{FC8C0686-FD62-4170-8800-E6CDE3BFF8A7}"/>
              </a:ext>
            </a:extLst>
          </p:cNvPr>
          <p:cNvSpPr>
            <a:spLocks xmlns:a="http://schemas.openxmlformats.org/drawingml/2006/main" noGrp="1"/>
          </p:cNvSpPr>
          <p:nvPr/>
        </p:nvSpPr>
        <p:spPr>
          <a:xfrm xmlns:a="http://schemas.openxmlformats.org/drawingml/2006/main">
            <a:off x="990600" y="3181350"/>
            <a:ext cx="3695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空の入れ物ができている</a:t>
            </a:r>
          </a:p>
        </p:txBody>
      </p:sp>
      <p:sp>
        <p:nvSpPr>
          <p:cNvPr id="10" name="">
            <a:extLst xmlns:a="http://schemas.openxmlformats.org/drawingml/2006/main">
              <a:ext uri="{FF2B5EF4-FFF2-40B4-BE49-F238E27FC236}">
                <a16:creationId xmlns:a16="http://schemas.microsoft.com/office/drawing/2014/main" id="{A98D067A-B3AF-4A45-BBE4-69362764DA0E}"/>
              </a:ext>
            </a:extLst>
          </p:cNvPr>
          <p:cNvSpPr>
            <a:spLocks xmlns:a="http://schemas.openxmlformats.org/drawingml/2006/main" noGrp="1"/>
          </p:cNvSpPr>
          <p:nvPr/>
        </p:nvSpPr>
        <p:spPr>
          <a:xfrm xmlns:a="http://schemas.openxmlformats.org/drawingml/2006/main">
            <a:off x="990600" y="3581400"/>
            <a:ext cx="36957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344054"/>
                </a:solidFill>
                <a:latin typeface="Yu Gothic UI"/>
                <a:ea typeface="Yu Gothic UI"/>
                <a:cs typeface="Yu Gothic UI"/>
              </a:defRPr>
            </a:pPr>
            <a:r>
              <a:rPr sz="870" b="0">
                <a:solidFill>
                  <a:srgbClr val="344054"/>
                </a:solidFill>
                <a:latin typeface="Yu Gothic UI"/>
                <a:ea typeface="Yu Gothic UI"/>
                <a:cs typeface="Yu Gothic UI"/>
              </a:rPr>
              <a:t>この時点ではまだ VM はありません。ここから VM と関連リソースを追加していきます。</a:t>
            </a:r>
          </a:p>
        </p:txBody>
      </p:sp>
      <p:sp>
        <p:nvSpPr>
          <p:cNvPr id="11" name="">
            <a:extLst xmlns:a="http://schemas.openxmlformats.org/drawingml/2006/main">
              <a:ext uri="{FF2B5EF4-FFF2-40B4-BE49-F238E27FC236}">
                <a16:creationId xmlns:a16="http://schemas.microsoft.com/office/drawing/2014/main" id="{892A2AB6-A213-4A4F-AAAE-DD58912F2A2C}"/>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f1246d18a6944ac"/>
          <a:stretch xmlns:a="http://schemas.openxmlformats.org/drawingml/2006/main"/>
        </p:blipFill>
        <p:spPr>
          <a:xfrm xmlns:a="http://schemas.openxmlformats.org/drawingml/2006/main">
            <a:off x="5467350" y="1878806"/>
            <a:ext cx="5715000" cy="3214688"/>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78207808-1EB1-4AEB-88B0-41E89B9E7319}"/>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作成したリソースグループを確認する</a:t>
            </a:r>
          </a:p>
        </p:txBody>
      </p:sp>
      <p:sp>
        <p:nvSpPr>
          <p:cNvPr id="14" name="">
            <a:extLst xmlns:a="http://schemas.openxmlformats.org/drawingml/2006/main">
              <a:ext uri="{FF2B5EF4-FFF2-40B4-BE49-F238E27FC236}">
                <a16:creationId xmlns:a16="http://schemas.microsoft.com/office/drawing/2014/main" id="{2BC95170-FC60-4906-A136-B5C5DB654332}"/>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18 / 46</a:t>
            </a:r>
          </a:p>
        </p:txBody>
      </p:sp>
    </p:spTree>
    <p:extLst>
      <p:ext uri="{BB962C8B-B14F-4D97-AF65-F5344CB8AC3E}">
        <p14:creationId xmlns:p14="http://schemas.microsoft.com/office/powerpoint/2010/main" val="118607714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8AF7A7-2372-4029-BF07-9ADFEFFB1D90}"/>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VM 作成を開始する</a:t>
            </a:r>
          </a:p>
        </p:txBody>
      </p:sp>
      <p:sp>
        <p:nvSpPr>
          <p:cNvPr id="2" name="">
            <a:extLst xmlns:a="http://schemas.openxmlformats.org/drawingml/2006/main">
              <a:ext uri="{FF2B5EF4-FFF2-40B4-BE49-F238E27FC236}">
                <a16:creationId xmlns:a16="http://schemas.microsoft.com/office/drawing/2014/main" id="{C77BD6E3-4B35-4128-8298-1CBA7EC0598E}"/>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CDF8F547-FBF4-44D6-BE05-6B4CC03164E1}"/>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19</a:t>
            </a:r>
          </a:p>
        </p:txBody>
      </p:sp>
      <p:sp>
        <p:nvSpPr>
          <p:cNvPr id="4" name="">
            <a:extLst xmlns:a="http://schemas.openxmlformats.org/drawingml/2006/main">
              <a:ext uri="{FF2B5EF4-FFF2-40B4-BE49-F238E27FC236}">
                <a16:creationId xmlns:a16="http://schemas.microsoft.com/office/drawing/2014/main" id="{40DAF80F-4901-4483-8F80-5883C2115433}"/>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F985C46-1D69-4FF9-818B-1918F8CF68CE}"/>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リソースグループ内で Linux VM の作成を開始します。作成先のリソースグループを選び間違えないことが大切です。</a:t>
            </a:r>
          </a:p>
        </p:txBody>
      </p:sp>
      <p:sp>
        <p:nvSpPr>
          <p:cNvPr id="6" name="">
            <a:extLst xmlns:a="http://schemas.openxmlformats.org/drawingml/2006/main">
              <a:ext uri="{FF2B5EF4-FFF2-40B4-BE49-F238E27FC236}">
                <a16:creationId xmlns:a16="http://schemas.microsoft.com/office/drawing/2014/main" id="{93B252E5-24E6-4A12-9B35-641729B1AEE0}"/>
              </a:ext>
            </a:extLst>
          </p:cNvPr>
          <p:cNvSpPr>
            <a:spLocks xmlns:a="http://schemas.openxmlformats.org/drawingml/2006/main" noGrp="1"/>
          </p:cNvSpPr>
          <p:nvPr/>
        </p:nvSpPr>
        <p:spPr>
          <a:xfrm xmlns:a="http://schemas.openxmlformats.org/drawingml/2006/main">
            <a:off x="819150" y="2628900"/>
            <a:ext cx="39243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38100" rIns="38100" bIns="38100" anchor="t"/>
          <a:lstStyle xmlns:a="http://schemas.openxmlformats.org/drawingml/2006/main"/>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Create から Virtual machine を選びます。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Basics タブから入力を進めます。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高価な構成を選ばないように講師指定の値を使います。</a:t>
            </a:r>
          </a:p>
        </p:txBody>
      </p:sp>
      <p:sp>
        <p:nvSpPr>
          <p:cNvPr id="7" name="">
            <a:extLst xmlns:a="http://schemas.openxmlformats.org/drawingml/2006/main">
              <a:ext uri="{FF2B5EF4-FFF2-40B4-BE49-F238E27FC236}">
                <a16:creationId xmlns:a16="http://schemas.microsoft.com/office/drawing/2014/main" id="{D5F8F143-1F7D-434B-BA62-F55807280077}"/>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e3193f202b94b94"/>
          <a:stretch xmlns:a="http://schemas.openxmlformats.org/drawingml/2006/main"/>
        </p:blipFill>
        <p:spPr>
          <a:xfrm xmlns:a="http://schemas.openxmlformats.org/drawingml/2006/main">
            <a:off x="5467350" y="1878806"/>
            <a:ext cx="5715000" cy="321468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9CEB5C1-2B58-41E1-B360-A514BAFD13B6}"/>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作成したリソースグループから VM 作成を開始する</a:t>
            </a:r>
          </a:p>
        </p:txBody>
      </p:sp>
      <p:sp>
        <p:nvSpPr>
          <p:cNvPr id="10" name="">
            <a:extLst xmlns:a="http://schemas.openxmlformats.org/drawingml/2006/main">
              <a:ext uri="{FF2B5EF4-FFF2-40B4-BE49-F238E27FC236}">
                <a16:creationId xmlns:a16="http://schemas.microsoft.com/office/drawing/2014/main" id="{C5CEDA0A-0D78-4DA1-8542-5F7B533158A1}"/>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19 / 46</a:t>
            </a:r>
          </a:p>
        </p:txBody>
      </p:sp>
    </p:spTree>
    <p:extLst>
      <p:ext uri="{BB962C8B-B14F-4D97-AF65-F5344CB8AC3E}">
        <p14:creationId xmlns:p14="http://schemas.microsoft.com/office/powerpoint/2010/main" val="118607714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187735-A9E8-4FF9-B624-D2A124E3EC78}"/>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VM の基本情報を入力する</a:t>
            </a:r>
          </a:p>
        </p:txBody>
      </p:sp>
      <p:sp>
        <p:nvSpPr>
          <p:cNvPr id="2" name="">
            <a:extLst xmlns:a="http://schemas.openxmlformats.org/drawingml/2006/main">
              <a:ext uri="{FF2B5EF4-FFF2-40B4-BE49-F238E27FC236}">
                <a16:creationId xmlns:a16="http://schemas.microsoft.com/office/drawing/2014/main" id="{FC375316-9CBB-4064-8BBB-41AA4A41D6CF}"/>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1EF42EB9-513A-46F5-8246-563388FEA681}"/>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20</a:t>
            </a:r>
          </a:p>
        </p:txBody>
      </p:sp>
      <p:sp>
        <p:nvSpPr>
          <p:cNvPr id="4" name="">
            <a:extLst xmlns:a="http://schemas.openxmlformats.org/drawingml/2006/main">
              <a:ext uri="{FF2B5EF4-FFF2-40B4-BE49-F238E27FC236}">
                <a16:creationId xmlns:a16="http://schemas.microsoft.com/office/drawing/2014/main" id="{B01B7808-52F0-4431-8451-AD7B05466C5F}"/>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9C1BD16-4B2C-4782-AE8A-AE6C2273792D}"/>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VM 名、リージョン、OS イメージ、サイズを指定します。ここで選ぶ内容は、作成されるサーバの場所、OS、性能、コストに関係します。</a:t>
            </a:r>
          </a:p>
        </p:txBody>
      </p:sp>
      <p:sp>
        <p:nvSpPr>
          <p:cNvPr id="6" name="">
            <a:extLst xmlns:a="http://schemas.openxmlformats.org/drawingml/2006/main">
              <a:ext uri="{FF2B5EF4-FFF2-40B4-BE49-F238E27FC236}">
                <a16:creationId xmlns:a16="http://schemas.microsoft.com/office/drawing/2014/main" id="{7E9C7730-5D37-45AE-A87F-055ED3A2A699}"/>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0ec1699e121455b"/>
          <a:stretch xmlns:a="http://schemas.openxmlformats.org/drawingml/2006/main"/>
        </p:blipFill>
        <p:spPr>
          <a:xfrm xmlns:a="http://schemas.openxmlformats.org/drawingml/2006/main">
            <a:off x="5642610" y="1809750"/>
            <a:ext cx="5364480" cy="3352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7B9EBC8-B70A-4CDF-A32C-73792FAB90FA}"/>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VM 名、リージョン、イメージ、サイズを入力する</a:t>
            </a:r>
          </a:p>
        </p:txBody>
      </p:sp>
      <p:sp>
        <p:nvSpPr>
          <p:cNvPr id="9" name="">
            <a:extLst xmlns:a="http://schemas.openxmlformats.org/drawingml/2006/main">
              <a:ext uri="{FF2B5EF4-FFF2-40B4-BE49-F238E27FC236}">
                <a16:creationId xmlns:a16="http://schemas.microsoft.com/office/drawing/2014/main" id="{77CAF785-05BF-4B65-AFA8-446E152EE5BB}"/>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20 / 46</a:t>
            </a:r>
          </a:p>
        </p:txBody>
      </p:sp>
    </p:spTree>
    <p:extLst>
      <p:ext uri="{BB962C8B-B14F-4D97-AF65-F5344CB8AC3E}">
        <p14:creationId xmlns:p14="http://schemas.microsoft.com/office/powerpoint/2010/main" val="118607714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24BFB56-5ACC-4D24-98A7-E02901CF6FD1}"/>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管理者アカウントを指定する</a:t>
            </a:r>
          </a:p>
        </p:txBody>
      </p:sp>
      <p:sp>
        <p:nvSpPr>
          <p:cNvPr id="2" name="">
            <a:extLst xmlns:a="http://schemas.openxmlformats.org/drawingml/2006/main">
              <a:ext uri="{FF2B5EF4-FFF2-40B4-BE49-F238E27FC236}">
                <a16:creationId xmlns:a16="http://schemas.microsoft.com/office/drawing/2014/main" id="{EDA39A05-6F87-4AC4-B059-6BB84B8C6E6D}"/>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E25F052A-FFBA-4742-94A5-C1B356A18EAF}"/>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21</a:t>
            </a:r>
          </a:p>
        </p:txBody>
      </p:sp>
      <p:sp>
        <p:nvSpPr>
          <p:cNvPr id="4" name="">
            <a:extLst xmlns:a="http://schemas.openxmlformats.org/drawingml/2006/main">
              <a:ext uri="{FF2B5EF4-FFF2-40B4-BE49-F238E27FC236}">
                <a16:creationId xmlns:a16="http://schemas.microsoft.com/office/drawing/2014/main" id="{B06AE39B-2F8C-4E0C-A390-3F2EE09C4001}"/>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42F3537-9D89-482B-B058-97809BF8F17F}"/>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VM には管理者ユーザーが必要です。本回では SSH 操作を主目的にしないため、秘密鍵を公開資料に残さないことを確認しながら進めます。</a:t>
            </a:r>
          </a:p>
        </p:txBody>
      </p:sp>
      <p:sp>
        <p:nvSpPr>
          <p:cNvPr id="6" name="">
            <a:extLst xmlns:a="http://schemas.openxmlformats.org/drawingml/2006/main">
              <a:ext uri="{FF2B5EF4-FFF2-40B4-BE49-F238E27FC236}">
                <a16:creationId xmlns:a16="http://schemas.microsoft.com/office/drawing/2014/main" id="{59B925CB-05E5-4053-BFC1-4A9760EAD065}"/>
              </a:ext>
            </a:extLst>
          </p:cNvPr>
          <p:cNvSpPr>
            <a:spLocks xmlns:a="http://schemas.openxmlformats.org/drawingml/2006/main" noGrp="1"/>
          </p:cNvSpPr>
          <p:nvPr/>
        </p:nvSpPr>
        <p:spPr>
          <a:xfrm xmlns:a="http://schemas.openxmlformats.org/drawingml/2006/main">
            <a:off x="781050" y="2781300"/>
            <a:ext cx="4095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EDF5E807-8E6F-4803-B66D-7467B191DCC0}"/>
              </a:ext>
            </a:extLst>
          </p:cNvPr>
          <p:cNvSpPr>
            <a:spLocks xmlns:a="http://schemas.openxmlformats.org/drawingml/2006/main" noGrp="1"/>
          </p:cNvSpPr>
          <p:nvPr/>
        </p:nvSpPr>
        <p:spPr>
          <a:xfrm xmlns:a="http://schemas.openxmlformats.org/drawingml/2006/main">
            <a:off x="781050" y="2781300"/>
            <a:ext cx="76200" cy="142875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8" name="">
            <a:extLst xmlns:a="http://schemas.openxmlformats.org/drawingml/2006/main">
              <a:ext uri="{FF2B5EF4-FFF2-40B4-BE49-F238E27FC236}">
                <a16:creationId xmlns:a16="http://schemas.microsoft.com/office/drawing/2014/main" id="{10B7487B-EA23-435E-B23F-32F9AC702250}"/>
              </a:ext>
            </a:extLst>
          </p:cNvPr>
          <p:cNvSpPr>
            <a:spLocks xmlns:a="http://schemas.openxmlformats.org/drawingml/2006/main" noGrp="1"/>
          </p:cNvSpPr>
          <p:nvPr/>
        </p:nvSpPr>
        <p:spPr>
          <a:xfrm xmlns:a="http://schemas.openxmlformats.org/drawingml/2006/main">
            <a:off x="990600" y="2933700"/>
            <a:ext cx="3695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Privacy</a:t>
            </a:r>
          </a:p>
        </p:txBody>
      </p:sp>
      <p:sp>
        <p:nvSpPr>
          <p:cNvPr id="9" name="">
            <a:extLst xmlns:a="http://schemas.openxmlformats.org/drawingml/2006/main">
              <a:ext uri="{FF2B5EF4-FFF2-40B4-BE49-F238E27FC236}">
                <a16:creationId xmlns:a16="http://schemas.microsoft.com/office/drawing/2014/main" id="{7C4D528E-9D08-4EC7-99B3-AB1E04326D77}"/>
              </a:ext>
            </a:extLst>
          </p:cNvPr>
          <p:cNvSpPr>
            <a:spLocks xmlns:a="http://schemas.openxmlformats.org/drawingml/2006/main" noGrp="1"/>
          </p:cNvSpPr>
          <p:nvPr/>
        </p:nvSpPr>
        <p:spPr>
          <a:xfrm xmlns:a="http://schemas.openxmlformats.org/drawingml/2006/main">
            <a:off x="990600" y="3181350"/>
            <a:ext cx="3695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秘密鍵は画面共有や資料に残さない</a:t>
            </a:r>
          </a:p>
        </p:txBody>
      </p:sp>
      <p:sp>
        <p:nvSpPr>
          <p:cNvPr id="10" name="">
            <a:extLst xmlns:a="http://schemas.openxmlformats.org/drawingml/2006/main">
              <a:ext uri="{FF2B5EF4-FFF2-40B4-BE49-F238E27FC236}">
                <a16:creationId xmlns:a16="http://schemas.microsoft.com/office/drawing/2014/main" id="{FAC2C979-B545-4755-B5A1-35D5BF493969}"/>
              </a:ext>
            </a:extLst>
          </p:cNvPr>
          <p:cNvSpPr>
            <a:spLocks xmlns:a="http://schemas.openxmlformats.org/drawingml/2006/main" noGrp="1"/>
          </p:cNvSpPr>
          <p:nvPr/>
        </p:nvSpPr>
        <p:spPr>
          <a:xfrm xmlns:a="http://schemas.openxmlformats.org/drawingml/2006/main">
            <a:off x="990600" y="3581400"/>
            <a:ext cx="36957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344054"/>
                </a:solidFill>
                <a:latin typeface="Yu Gothic UI"/>
                <a:ea typeface="Yu Gothic UI"/>
                <a:cs typeface="Yu Gothic UI"/>
              </a:defRPr>
            </a:pPr>
            <a:r>
              <a:rPr sz="870" b="0">
                <a:solidFill>
                  <a:srgbClr val="344054"/>
                </a:solidFill>
                <a:latin typeface="Yu Gothic UI"/>
                <a:ea typeface="Yu Gothic UI"/>
                <a:cs typeface="Yu Gothic UI"/>
              </a:rPr>
              <a:t>認証情報は復旧や管理に使う重要な情報です。講座中も公開場所へ貼り付けません。</a:t>
            </a:r>
          </a:p>
        </p:txBody>
      </p:sp>
      <p:sp>
        <p:nvSpPr>
          <p:cNvPr id="11" name="">
            <a:extLst xmlns:a="http://schemas.openxmlformats.org/drawingml/2006/main">
              <a:ext uri="{FF2B5EF4-FFF2-40B4-BE49-F238E27FC236}">
                <a16:creationId xmlns:a16="http://schemas.microsoft.com/office/drawing/2014/main" id="{7A628066-565D-4526-825E-EF06DBB1CDE0}"/>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936dbff7af74865"/>
          <a:stretch xmlns:a="http://schemas.openxmlformats.org/drawingml/2006/main"/>
        </p:blipFill>
        <p:spPr>
          <a:xfrm xmlns:a="http://schemas.openxmlformats.org/drawingml/2006/main">
            <a:off x="5642610" y="1809750"/>
            <a:ext cx="5364480" cy="3352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BFF48BF3-52D6-4E88-A43F-087340C452D7}"/>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管理者アカウントと認証方式を指定する</a:t>
            </a:r>
          </a:p>
        </p:txBody>
      </p:sp>
      <p:sp>
        <p:nvSpPr>
          <p:cNvPr id="14" name="">
            <a:extLst xmlns:a="http://schemas.openxmlformats.org/drawingml/2006/main">
              <a:ext uri="{FF2B5EF4-FFF2-40B4-BE49-F238E27FC236}">
                <a16:creationId xmlns:a16="http://schemas.microsoft.com/office/drawing/2014/main" id="{6081BCE5-A1CB-45B9-9A54-703FF85110A2}"/>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21 / 46</a:t>
            </a:r>
          </a:p>
        </p:txBody>
      </p:sp>
    </p:spTree>
    <p:extLst>
      <p:ext uri="{BB962C8B-B14F-4D97-AF65-F5344CB8AC3E}">
        <p14:creationId xmlns:p14="http://schemas.microsoft.com/office/powerpoint/2010/main" val="118607714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B7BE89B-36DA-41AF-B6F5-CD33FF1EBE9B}"/>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HTTP アクセスを許可する</a:t>
            </a:r>
          </a:p>
        </p:txBody>
      </p:sp>
      <p:sp>
        <p:nvSpPr>
          <p:cNvPr id="2" name="">
            <a:extLst xmlns:a="http://schemas.openxmlformats.org/drawingml/2006/main">
              <a:ext uri="{FF2B5EF4-FFF2-40B4-BE49-F238E27FC236}">
                <a16:creationId xmlns:a16="http://schemas.microsoft.com/office/drawing/2014/main" id="{E72AEE64-4A82-44E1-940B-F4F3BA1BFE50}"/>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FB0E8685-04ED-4E72-B9DF-756374B985A8}"/>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22</a:t>
            </a:r>
          </a:p>
        </p:txBody>
      </p:sp>
      <p:sp>
        <p:nvSpPr>
          <p:cNvPr id="4" name="">
            <a:extLst xmlns:a="http://schemas.openxmlformats.org/drawingml/2006/main">
              <a:ext uri="{FF2B5EF4-FFF2-40B4-BE49-F238E27FC236}">
                <a16:creationId xmlns:a16="http://schemas.microsoft.com/office/drawing/2014/main" id="{794776D2-BBFD-4FC7-A1BE-ECF040EAC5FC}"/>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3317634-FE72-42F8-89C2-CE91BA25AA55}"/>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NGINX のページをブラウザーで表示するため、VM への HTTP 受信を許可します。この設定が NSG の受信ルールにつながります。</a:t>
            </a:r>
          </a:p>
        </p:txBody>
      </p:sp>
      <p:sp>
        <p:nvSpPr>
          <p:cNvPr id="6" name="">
            <a:extLst xmlns:a="http://schemas.openxmlformats.org/drawingml/2006/main">
              <a:ext uri="{FF2B5EF4-FFF2-40B4-BE49-F238E27FC236}">
                <a16:creationId xmlns:a16="http://schemas.microsoft.com/office/drawing/2014/main" id="{520E092B-685D-4FBC-9D23-8EBDC875CB09}"/>
              </a:ext>
            </a:extLst>
          </p:cNvPr>
          <p:cNvSpPr>
            <a:spLocks xmlns:a="http://schemas.openxmlformats.org/drawingml/2006/main" noGrp="1"/>
          </p:cNvSpPr>
          <p:nvPr/>
        </p:nvSpPr>
        <p:spPr>
          <a:xfrm xmlns:a="http://schemas.openxmlformats.org/drawingml/2006/main">
            <a:off x="819150" y="2628900"/>
            <a:ext cx="39243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38100" rIns="38100" bIns="38100" anchor="t"/>
          <a:lstStyle xmlns:a="http://schemas.openxmlformats.org/drawingml/2006/main"/>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本回の確認対象は Web ページ表示です。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不要なポートは開けない考え方もあわせて押さえます。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本番では HTTPS や管理経路の制限を設計します。</a:t>
            </a:r>
          </a:p>
        </p:txBody>
      </p:sp>
      <p:sp>
        <p:nvSpPr>
          <p:cNvPr id="7" name="">
            <a:extLst xmlns:a="http://schemas.openxmlformats.org/drawingml/2006/main">
              <a:ext uri="{FF2B5EF4-FFF2-40B4-BE49-F238E27FC236}">
                <a16:creationId xmlns:a16="http://schemas.microsoft.com/office/drawing/2014/main" id="{227D897B-7DA0-43DE-8FAC-98745EC78E3C}"/>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597dd0e310b4cb5"/>
          <a:stretch xmlns:a="http://schemas.openxmlformats.org/drawingml/2006/main"/>
        </p:blipFill>
        <p:spPr>
          <a:xfrm xmlns:a="http://schemas.openxmlformats.org/drawingml/2006/main">
            <a:off x="5642610" y="1809750"/>
            <a:ext cx="5364480" cy="3352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9BF529D-AACE-4094-B307-39873AD23549}"/>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受信ポートの設定欄を確認する</a:t>
            </a:r>
          </a:p>
        </p:txBody>
      </p:sp>
      <p:sp>
        <p:nvSpPr>
          <p:cNvPr id="10" name="">
            <a:extLst xmlns:a="http://schemas.openxmlformats.org/drawingml/2006/main">
              <a:ext uri="{FF2B5EF4-FFF2-40B4-BE49-F238E27FC236}">
                <a16:creationId xmlns:a16="http://schemas.microsoft.com/office/drawing/2014/main" id="{9102A86A-1510-48C0-94BB-757E48E674CF}"/>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22 / 46</a:t>
            </a:r>
          </a:p>
        </p:txBody>
      </p:sp>
    </p:spTree>
    <p:extLst>
      <p:ext uri="{BB962C8B-B14F-4D97-AF65-F5344CB8AC3E}">
        <p14:creationId xmlns:p14="http://schemas.microsoft.com/office/powerpoint/2010/main" val="118607714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50604E-C2E9-4D9E-ACF6-FA41AB021AA3}"/>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ディスク設定を確認する</a:t>
            </a:r>
          </a:p>
        </p:txBody>
      </p:sp>
      <p:sp>
        <p:nvSpPr>
          <p:cNvPr id="2" name="">
            <a:extLst xmlns:a="http://schemas.openxmlformats.org/drawingml/2006/main">
              <a:ext uri="{FF2B5EF4-FFF2-40B4-BE49-F238E27FC236}">
                <a16:creationId xmlns:a16="http://schemas.microsoft.com/office/drawing/2014/main" id="{F20312D5-304D-41CE-BE74-99185B3859E0}"/>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C92BD637-5506-4FF5-BA8D-FA5533F12ED7}"/>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23</a:t>
            </a:r>
          </a:p>
        </p:txBody>
      </p:sp>
      <p:sp>
        <p:nvSpPr>
          <p:cNvPr id="4" name="">
            <a:extLst xmlns:a="http://schemas.openxmlformats.org/drawingml/2006/main">
              <a:ext uri="{FF2B5EF4-FFF2-40B4-BE49-F238E27FC236}">
                <a16:creationId xmlns:a16="http://schemas.microsoft.com/office/drawing/2014/main" id="{24D1B22B-187C-46D3-A9E6-29AF9A1CD444}"/>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FAD7C64-86CC-4F2C-A343-51CE1A1A1FBB}"/>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本回では既定の OS ディスクを利用し、詳細なディスク設計には入りません。ただし、ディスクが課金対象であることは意識します。</a:t>
            </a:r>
          </a:p>
        </p:txBody>
      </p:sp>
      <p:sp>
        <p:nvSpPr>
          <p:cNvPr id="6" name="">
            <a:extLst xmlns:a="http://schemas.openxmlformats.org/drawingml/2006/main">
              <a:ext uri="{FF2B5EF4-FFF2-40B4-BE49-F238E27FC236}">
                <a16:creationId xmlns:a16="http://schemas.microsoft.com/office/drawing/2014/main" id="{A99E8095-D22B-41F0-8D80-5AC30F7842DC}"/>
              </a:ext>
            </a:extLst>
          </p:cNvPr>
          <p:cNvSpPr>
            <a:spLocks xmlns:a="http://schemas.openxmlformats.org/drawingml/2006/main" noGrp="1"/>
          </p:cNvSpPr>
          <p:nvPr/>
        </p:nvSpPr>
        <p:spPr>
          <a:xfrm xmlns:a="http://schemas.openxmlformats.org/drawingml/2006/main">
            <a:off x="781050" y="2781300"/>
            <a:ext cx="4095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4F256700-1AA4-4199-9FAB-062D09C7561A}"/>
              </a:ext>
            </a:extLst>
          </p:cNvPr>
          <p:cNvSpPr>
            <a:spLocks xmlns:a="http://schemas.openxmlformats.org/drawingml/2006/main" noGrp="1"/>
          </p:cNvSpPr>
          <p:nvPr/>
        </p:nvSpPr>
        <p:spPr>
          <a:xfrm xmlns:a="http://schemas.openxmlformats.org/drawingml/2006/main">
            <a:off x="781050" y="2781300"/>
            <a:ext cx="76200" cy="1428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8" name="">
            <a:extLst xmlns:a="http://schemas.openxmlformats.org/drawingml/2006/main">
              <a:ext uri="{FF2B5EF4-FFF2-40B4-BE49-F238E27FC236}">
                <a16:creationId xmlns:a16="http://schemas.microsoft.com/office/drawing/2014/main" id="{B2A3F2ED-849F-4DFF-8542-5241E322B6DC}"/>
              </a:ext>
            </a:extLst>
          </p:cNvPr>
          <p:cNvSpPr>
            <a:spLocks xmlns:a="http://schemas.openxmlformats.org/drawingml/2006/main" noGrp="1"/>
          </p:cNvSpPr>
          <p:nvPr/>
        </p:nvSpPr>
        <p:spPr>
          <a:xfrm xmlns:a="http://schemas.openxmlformats.org/drawingml/2006/main">
            <a:off x="990600" y="2933700"/>
            <a:ext cx="3695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4472C4"/>
                </a:solidFill>
                <a:latin typeface="Yu Gothic UI"/>
                <a:ea typeface="Yu Gothic UI"/>
                <a:cs typeface="Yu Gothic UI"/>
              </a:defRPr>
            </a:pPr>
            <a:r>
              <a:rPr sz="713" b="1">
                <a:solidFill>
                  <a:srgbClr val="4472C4"/>
                </a:solidFill>
                <a:latin typeface="Yu Gothic UI"/>
                <a:ea typeface="Yu Gothic UI"/>
                <a:cs typeface="Yu Gothic UI"/>
              </a:rPr>
              <a:t>見るポイント</a:t>
            </a:r>
          </a:p>
        </p:txBody>
      </p:sp>
      <p:sp>
        <p:nvSpPr>
          <p:cNvPr id="9" name="">
            <a:extLst xmlns:a="http://schemas.openxmlformats.org/drawingml/2006/main">
              <a:ext uri="{FF2B5EF4-FFF2-40B4-BE49-F238E27FC236}">
                <a16:creationId xmlns:a16="http://schemas.microsoft.com/office/drawing/2014/main" id="{7E3C988F-189A-4481-97DF-0CCC74936B74}"/>
              </a:ext>
            </a:extLst>
          </p:cNvPr>
          <p:cNvSpPr>
            <a:spLocks xmlns:a="http://schemas.openxmlformats.org/drawingml/2006/main" noGrp="1"/>
          </p:cNvSpPr>
          <p:nvPr/>
        </p:nvSpPr>
        <p:spPr>
          <a:xfrm xmlns:a="http://schemas.openxmlformats.org/drawingml/2006/main">
            <a:off x="990600" y="3181350"/>
            <a:ext cx="3695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VM の中身はディスクに保存される</a:t>
            </a:r>
          </a:p>
        </p:txBody>
      </p:sp>
      <p:sp>
        <p:nvSpPr>
          <p:cNvPr id="10" name="">
            <a:extLst xmlns:a="http://schemas.openxmlformats.org/drawingml/2006/main">
              <a:ext uri="{FF2B5EF4-FFF2-40B4-BE49-F238E27FC236}">
                <a16:creationId xmlns:a16="http://schemas.microsoft.com/office/drawing/2014/main" id="{D684C05E-08F1-499D-AB31-974B61719197}"/>
              </a:ext>
            </a:extLst>
          </p:cNvPr>
          <p:cNvSpPr>
            <a:spLocks xmlns:a="http://schemas.openxmlformats.org/drawingml/2006/main" noGrp="1"/>
          </p:cNvSpPr>
          <p:nvPr/>
        </p:nvSpPr>
        <p:spPr>
          <a:xfrm xmlns:a="http://schemas.openxmlformats.org/drawingml/2006/main">
            <a:off x="990600" y="3581400"/>
            <a:ext cx="36957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344054"/>
                </a:solidFill>
                <a:latin typeface="Yu Gothic UI"/>
                <a:ea typeface="Yu Gothic UI"/>
                <a:cs typeface="Yu Gothic UI"/>
              </a:defRPr>
            </a:pPr>
            <a:r>
              <a:rPr sz="870" b="0">
                <a:solidFill>
                  <a:srgbClr val="344054"/>
                </a:solidFill>
                <a:latin typeface="Yu Gothic UI"/>
                <a:ea typeface="Yu Gothic UI"/>
                <a:cs typeface="Yu Gothic UI"/>
              </a:rPr>
              <a:t>VM を作ると OS ディスクも作られます。後で関連リソース一覧でも確認します。</a:t>
            </a:r>
          </a:p>
        </p:txBody>
      </p:sp>
      <p:sp>
        <p:nvSpPr>
          <p:cNvPr id="11" name="">
            <a:extLst xmlns:a="http://schemas.openxmlformats.org/drawingml/2006/main">
              <a:ext uri="{FF2B5EF4-FFF2-40B4-BE49-F238E27FC236}">
                <a16:creationId xmlns:a16="http://schemas.microsoft.com/office/drawing/2014/main" id="{01AC75F3-CE98-4BBF-B35B-6CA281750D41}"/>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c6c9f7327d24680"/>
          <a:stretch xmlns:a="http://schemas.openxmlformats.org/drawingml/2006/main"/>
        </p:blipFill>
        <p:spPr>
          <a:xfrm xmlns:a="http://schemas.openxmlformats.org/drawingml/2006/main">
            <a:off x="5642610" y="1809750"/>
            <a:ext cx="5364480" cy="3352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DEC9D68-9338-46DB-A72F-5E7045F98D2C}"/>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OS ディスク設定を確認する</a:t>
            </a:r>
          </a:p>
        </p:txBody>
      </p:sp>
      <p:sp>
        <p:nvSpPr>
          <p:cNvPr id="14" name="">
            <a:extLst xmlns:a="http://schemas.openxmlformats.org/drawingml/2006/main">
              <a:ext uri="{FF2B5EF4-FFF2-40B4-BE49-F238E27FC236}">
                <a16:creationId xmlns:a16="http://schemas.microsoft.com/office/drawing/2014/main" id="{1AE6D7B4-F66C-4ADF-BD86-8E4F661CE823}"/>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23 / 46</a:t>
            </a:r>
          </a:p>
        </p:txBody>
      </p:sp>
    </p:spTree>
    <p:extLst>
      <p:ext uri="{BB962C8B-B14F-4D97-AF65-F5344CB8AC3E}">
        <p14:creationId xmlns:p14="http://schemas.microsoft.com/office/powerpoint/2010/main" val="118607714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602024-68C3-441B-9275-30C16BD455D0}"/>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ネットワーク設定を確認する</a:t>
            </a:r>
          </a:p>
        </p:txBody>
      </p:sp>
      <p:sp>
        <p:nvSpPr>
          <p:cNvPr id="2" name="">
            <a:extLst xmlns:a="http://schemas.openxmlformats.org/drawingml/2006/main">
              <a:ext uri="{FF2B5EF4-FFF2-40B4-BE49-F238E27FC236}">
                <a16:creationId xmlns:a16="http://schemas.microsoft.com/office/drawing/2014/main" id="{91EB2033-7FAB-48A6-97A7-7D2C7708BD45}"/>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F5340A38-FCB6-442B-9B37-2393739A5E51}"/>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24</a:t>
            </a:r>
          </a:p>
        </p:txBody>
      </p:sp>
      <p:sp>
        <p:nvSpPr>
          <p:cNvPr id="4" name="">
            <a:extLst xmlns:a="http://schemas.openxmlformats.org/drawingml/2006/main">
              <a:ext uri="{FF2B5EF4-FFF2-40B4-BE49-F238E27FC236}">
                <a16:creationId xmlns:a16="http://schemas.microsoft.com/office/drawing/2014/main" id="{44F29AD9-38DD-40D4-9685-E3876E2B20EE}"/>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FA0580E-22DF-4257-AA88-6B79B03C87EC}"/>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Portal は VM に必要な VNet、サブネット、NIC、Public IP、NSG をあわせて作成します。ここで Web サーバ公開の入口が決まります。</a:t>
            </a:r>
          </a:p>
        </p:txBody>
      </p:sp>
      <p:sp>
        <p:nvSpPr>
          <p:cNvPr id="6" name="">
            <a:extLst xmlns:a="http://schemas.openxmlformats.org/drawingml/2006/main">
              <a:ext uri="{FF2B5EF4-FFF2-40B4-BE49-F238E27FC236}">
                <a16:creationId xmlns:a16="http://schemas.microsoft.com/office/drawing/2014/main" id="{C0F59C86-D6C5-4DCF-8E1B-CBEB028A5DEF}"/>
              </a:ext>
            </a:extLst>
          </p:cNvPr>
          <p:cNvSpPr>
            <a:spLocks xmlns:a="http://schemas.openxmlformats.org/drawingml/2006/main" noGrp="1"/>
          </p:cNvSpPr>
          <p:nvPr/>
        </p:nvSpPr>
        <p:spPr>
          <a:xfrm xmlns:a="http://schemas.openxmlformats.org/drawingml/2006/main">
            <a:off x="819150" y="2628900"/>
            <a:ext cx="39243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38100" rIns="38100" bIns="38100" anchor="t"/>
          <a:lstStyle xmlns:a="http://schemas.openxmlformats.org/drawingml/2006/main"/>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Public IP が作成されることを確認します。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NSG の受信ルールが HTTP とつながることを意識します。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VNet とサブネットは VM の配置先です。</a:t>
            </a:r>
          </a:p>
        </p:txBody>
      </p:sp>
      <p:sp>
        <p:nvSpPr>
          <p:cNvPr id="7" name="">
            <a:extLst xmlns:a="http://schemas.openxmlformats.org/drawingml/2006/main">
              <a:ext uri="{FF2B5EF4-FFF2-40B4-BE49-F238E27FC236}">
                <a16:creationId xmlns:a16="http://schemas.microsoft.com/office/drawing/2014/main" id="{1B9B66E8-D023-4382-88B6-09B6CB1031E1}"/>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927216e275d4d39"/>
          <a:stretch xmlns:a="http://schemas.openxmlformats.org/drawingml/2006/main"/>
        </p:blipFill>
        <p:spPr>
          <a:xfrm xmlns:a="http://schemas.openxmlformats.org/drawingml/2006/main">
            <a:off x="5642610" y="1809750"/>
            <a:ext cx="5364480" cy="3352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9A32FF1-D372-4A86-B2F0-DFA1622C799C}"/>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ネットワーク設定を確認する</a:t>
            </a:r>
          </a:p>
        </p:txBody>
      </p:sp>
      <p:sp>
        <p:nvSpPr>
          <p:cNvPr id="10" name="">
            <a:extLst xmlns:a="http://schemas.openxmlformats.org/drawingml/2006/main">
              <a:ext uri="{FF2B5EF4-FFF2-40B4-BE49-F238E27FC236}">
                <a16:creationId xmlns:a16="http://schemas.microsoft.com/office/drawing/2014/main" id="{E9FC15B5-9FC7-4CE8-BB76-C6B7E8C0FFF0}"/>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24 / 46</a:t>
            </a:r>
          </a:p>
        </p:txBody>
      </p:sp>
    </p:spTree>
    <p:extLst>
      <p:ext uri="{BB962C8B-B14F-4D97-AF65-F5344CB8AC3E}">
        <p14:creationId xmlns:p14="http://schemas.microsoft.com/office/powerpoint/2010/main" val="118607714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8A482AC-A6C0-40BA-BD87-1C4C7D539F28}"/>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カスタムデータを設定する</a:t>
            </a:r>
          </a:p>
        </p:txBody>
      </p:sp>
      <p:sp>
        <p:nvSpPr>
          <p:cNvPr id="2" name="">
            <a:extLst xmlns:a="http://schemas.openxmlformats.org/drawingml/2006/main">
              <a:ext uri="{FF2B5EF4-FFF2-40B4-BE49-F238E27FC236}">
                <a16:creationId xmlns:a16="http://schemas.microsoft.com/office/drawing/2014/main" id="{24019F0B-C8E9-494F-ACA8-AC4BEA013AF8}"/>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52F32CC4-693F-4AEB-805E-016565D902F0}"/>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25</a:t>
            </a:r>
          </a:p>
        </p:txBody>
      </p:sp>
      <p:sp>
        <p:nvSpPr>
          <p:cNvPr id="4" name="">
            <a:extLst xmlns:a="http://schemas.openxmlformats.org/drawingml/2006/main">
              <a:ext uri="{FF2B5EF4-FFF2-40B4-BE49-F238E27FC236}">
                <a16:creationId xmlns:a16="http://schemas.microsoft.com/office/drawing/2014/main" id="{EE284284-574A-429D-A92F-396A537D9CE1}"/>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982F5D5-EE7E-4F7F-B6DC-CE068860F11A}"/>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VM 起動時の cloud-init で NGINX をインストールし、確認用のページを配置します。貼り付け時は先頭行とインデントを崩さないようにします。</a:t>
            </a:r>
          </a:p>
        </p:txBody>
      </p:sp>
      <p:sp>
        <p:nvSpPr>
          <p:cNvPr id="6" name="">
            <a:extLst xmlns:a="http://schemas.openxmlformats.org/drawingml/2006/main">
              <a:ext uri="{FF2B5EF4-FFF2-40B4-BE49-F238E27FC236}">
                <a16:creationId xmlns:a16="http://schemas.microsoft.com/office/drawing/2014/main" id="{0563E359-7B5B-43AB-8FA8-AA40F3936CDA}"/>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4b87d03621246f7"/>
          <a:stretch xmlns:a="http://schemas.openxmlformats.org/drawingml/2006/main"/>
        </p:blipFill>
        <p:spPr>
          <a:xfrm xmlns:a="http://schemas.openxmlformats.org/drawingml/2006/main">
            <a:off x="7067550" y="1809750"/>
            <a:ext cx="2514600" cy="3352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FB6553E-2190-44EF-9654-203587474AAC}"/>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Custom data に cloud-init を貼り付ける</a:t>
            </a:r>
          </a:p>
        </p:txBody>
      </p:sp>
      <p:sp>
        <p:nvSpPr>
          <p:cNvPr id="9" name="">
            <a:extLst xmlns:a="http://schemas.openxmlformats.org/drawingml/2006/main">
              <a:ext uri="{FF2B5EF4-FFF2-40B4-BE49-F238E27FC236}">
                <a16:creationId xmlns:a16="http://schemas.microsoft.com/office/drawing/2014/main" id="{7D998321-CB7B-4D0E-BFAB-04B545AF3DA6}"/>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25 / 46</a:t>
            </a:r>
          </a:p>
        </p:txBody>
      </p:sp>
    </p:spTree>
    <p:extLst>
      <p:ext uri="{BB962C8B-B14F-4D97-AF65-F5344CB8AC3E}">
        <p14:creationId xmlns:p14="http://schemas.microsoft.com/office/powerpoint/2010/main" val="118607714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E50ED3-D177-4B10-8F47-B222C56CBA87}"/>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タグを設定する</a:t>
            </a:r>
          </a:p>
        </p:txBody>
      </p:sp>
      <p:sp>
        <p:nvSpPr>
          <p:cNvPr id="2" name="">
            <a:extLst xmlns:a="http://schemas.openxmlformats.org/drawingml/2006/main">
              <a:ext uri="{FF2B5EF4-FFF2-40B4-BE49-F238E27FC236}">
                <a16:creationId xmlns:a16="http://schemas.microsoft.com/office/drawing/2014/main" id="{9E6A6FAA-A4FC-47B5-BC25-98E39B9EA911}"/>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3A64B493-4ED4-464B-8D3F-9FD859EAFCCE}"/>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26</a:t>
            </a:r>
          </a:p>
        </p:txBody>
      </p:sp>
      <p:sp>
        <p:nvSpPr>
          <p:cNvPr id="4" name="">
            <a:extLst xmlns:a="http://schemas.openxmlformats.org/drawingml/2006/main">
              <a:ext uri="{FF2B5EF4-FFF2-40B4-BE49-F238E27FC236}">
                <a16:creationId xmlns:a16="http://schemas.microsoft.com/office/drawing/2014/main" id="{5E6B694D-2BE6-424C-BA69-8421D778FD8D}"/>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FD9B11B-CD5E-4B3E-A472-BA5512821D6A}"/>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タグを付けると、講師が講座用リソースを識別しやすくなり、削除対象の確認もしやすくなります。</a:t>
            </a:r>
          </a:p>
        </p:txBody>
      </p:sp>
      <p:sp>
        <p:nvSpPr>
          <p:cNvPr id="6" name="">
            <a:extLst xmlns:a="http://schemas.openxmlformats.org/drawingml/2006/main">
              <a:ext uri="{FF2B5EF4-FFF2-40B4-BE49-F238E27FC236}">
                <a16:creationId xmlns:a16="http://schemas.microsoft.com/office/drawing/2014/main" id="{1886B38F-0D84-4041-AF7C-38A7CF9E034F}"/>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073e8f230f141bc"/>
          <a:stretch xmlns:a="http://schemas.openxmlformats.org/drawingml/2006/main"/>
        </p:blipFill>
        <p:spPr>
          <a:xfrm xmlns:a="http://schemas.openxmlformats.org/drawingml/2006/main">
            <a:off x="5642610" y="1809750"/>
            <a:ext cx="5364480" cy="3352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CE02023-1405-431B-BD20-219D37FF153F}"/>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タグを設定する</a:t>
            </a:r>
          </a:p>
        </p:txBody>
      </p:sp>
      <p:sp>
        <p:nvSpPr>
          <p:cNvPr id="9" name="">
            <a:extLst xmlns:a="http://schemas.openxmlformats.org/drawingml/2006/main">
              <a:ext uri="{FF2B5EF4-FFF2-40B4-BE49-F238E27FC236}">
                <a16:creationId xmlns:a16="http://schemas.microsoft.com/office/drawing/2014/main" id="{0B8BFF73-31C1-4280-88A3-AB3A2C065541}"/>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26 / 46</a:t>
            </a:r>
          </a:p>
        </p:txBody>
      </p:sp>
    </p:spTree>
    <p:extLst>
      <p:ext uri="{BB962C8B-B14F-4D97-AF65-F5344CB8AC3E}">
        <p14:creationId xmlns:p14="http://schemas.microsoft.com/office/powerpoint/2010/main" val="118607714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275A9C-5FD3-45B8-AC03-301B4ADA9C48}"/>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内容を確認して作成する</a:t>
            </a:r>
          </a:p>
        </p:txBody>
      </p:sp>
      <p:sp>
        <p:nvSpPr>
          <p:cNvPr id="2" name="">
            <a:extLst xmlns:a="http://schemas.openxmlformats.org/drawingml/2006/main">
              <a:ext uri="{FF2B5EF4-FFF2-40B4-BE49-F238E27FC236}">
                <a16:creationId xmlns:a16="http://schemas.microsoft.com/office/drawing/2014/main" id="{5614A8A8-5900-412A-B6EC-4FDFA4DDF10F}"/>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2E3D5C1A-B6B8-4886-9D86-B4542CCFD07A}"/>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27</a:t>
            </a:r>
          </a:p>
        </p:txBody>
      </p:sp>
      <p:sp>
        <p:nvSpPr>
          <p:cNvPr id="4" name="">
            <a:extLst xmlns:a="http://schemas.openxmlformats.org/drawingml/2006/main">
              <a:ext uri="{FF2B5EF4-FFF2-40B4-BE49-F238E27FC236}">
                <a16:creationId xmlns:a16="http://schemas.microsoft.com/office/drawing/2014/main" id="{8AA93D0E-9002-49A1-8594-7371BE90EA74}"/>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1F8F1CC-B876-406F-B387-7F0F41AD9910}"/>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作成前に、リソースグループ、VM 名、リージョン、サイズ、HTTP 許可、タグを確認します。Validation が通ったら作成します。</a:t>
            </a:r>
          </a:p>
        </p:txBody>
      </p:sp>
      <p:sp>
        <p:nvSpPr>
          <p:cNvPr id="6" name="">
            <a:extLst xmlns:a="http://schemas.openxmlformats.org/drawingml/2006/main">
              <a:ext uri="{FF2B5EF4-FFF2-40B4-BE49-F238E27FC236}">
                <a16:creationId xmlns:a16="http://schemas.microsoft.com/office/drawing/2014/main" id="{697EA0BA-0137-4742-ADEE-92D9C566A296}"/>
              </a:ext>
            </a:extLst>
          </p:cNvPr>
          <p:cNvSpPr>
            <a:spLocks xmlns:a="http://schemas.openxmlformats.org/drawingml/2006/main" noGrp="1"/>
          </p:cNvSpPr>
          <p:nvPr/>
        </p:nvSpPr>
        <p:spPr>
          <a:xfrm xmlns:a="http://schemas.openxmlformats.org/drawingml/2006/main">
            <a:off x="781050" y="2781300"/>
            <a:ext cx="4095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CCD1D91A-AE96-44D5-8194-616D55D66D0F}"/>
              </a:ext>
            </a:extLst>
          </p:cNvPr>
          <p:cNvSpPr>
            <a:spLocks xmlns:a="http://schemas.openxmlformats.org/drawingml/2006/main" noGrp="1"/>
          </p:cNvSpPr>
          <p:nvPr/>
        </p:nvSpPr>
        <p:spPr>
          <a:xfrm xmlns:a="http://schemas.openxmlformats.org/drawingml/2006/main">
            <a:off x="781050" y="2781300"/>
            <a:ext cx="76200" cy="1428750"/>
          </a:xfrm>
          <a:prstGeom xmlns:a="http://schemas.openxmlformats.org/drawingml/2006/main" prst="rect">
            <a:avLst/>
          </a:prstGeom>
          <a:solidFill xmlns:a="http://schemas.openxmlformats.org/drawingml/2006/main">
            <a:srgbClr val="ED7D31"/>
          </a:solidFill>
          <a:ln xmlns:a="http://schemas.openxmlformats.org/drawingml/2006/main" w="0">
            <a:solidFill>
              <a:srgbClr val="ED7D31"/>
            </a:solidFill>
            <a:prstDash val="solid"/>
          </a:ln>
        </p:spPr>
      </p:sp>
      <p:sp>
        <p:nvSpPr>
          <p:cNvPr id="8" name="">
            <a:extLst xmlns:a="http://schemas.openxmlformats.org/drawingml/2006/main">
              <a:ext uri="{FF2B5EF4-FFF2-40B4-BE49-F238E27FC236}">
                <a16:creationId xmlns:a16="http://schemas.microsoft.com/office/drawing/2014/main" id="{18D4159C-9994-40D1-8CA2-3F4F4393D750}"/>
              </a:ext>
            </a:extLst>
          </p:cNvPr>
          <p:cNvSpPr>
            <a:spLocks xmlns:a="http://schemas.openxmlformats.org/drawingml/2006/main" noGrp="1"/>
          </p:cNvSpPr>
          <p:nvPr/>
        </p:nvSpPr>
        <p:spPr>
          <a:xfrm xmlns:a="http://schemas.openxmlformats.org/drawingml/2006/main">
            <a:off x="990600" y="2933700"/>
            <a:ext cx="3695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D7D31"/>
                </a:solidFill>
                <a:latin typeface="Yu Gothic UI"/>
                <a:ea typeface="Yu Gothic UI"/>
                <a:cs typeface="Yu Gothic UI"/>
              </a:defRPr>
            </a:pPr>
            <a:r>
              <a:rPr sz="713" b="1">
                <a:solidFill>
                  <a:srgbClr val="ED7D31"/>
                </a:solidFill>
                <a:latin typeface="Yu Gothic UI"/>
                <a:ea typeface="Yu Gothic UI"/>
                <a:cs typeface="Yu Gothic UI"/>
              </a:rPr>
              <a:t>作成前チェック</a:t>
            </a:r>
          </a:p>
        </p:txBody>
      </p:sp>
      <p:sp>
        <p:nvSpPr>
          <p:cNvPr id="9" name="">
            <a:extLst xmlns:a="http://schemas.openxmlformats.org/drawingml/2006/main">
              <a:ext uri="{FF2B5EF4-FFF2-40B4-BE49-F238E27FC236}">
                <a16:creationId xmlns:a16="http://schemas.microsoft.com/office/drawing/2014/main" id="{81BAC3BF-5AC4-4334-8A4A-F0EBD1276847}"/>
              </a:ext>
            </a:extLst>
          </p:cNvPr>
          <p:cNvSpPr>
            <a:spLocks xmlns:a="http://schemas.openxmlformats.org/drawingml/2006/main" noGrp="1"/>
          </p:cNvSpPr>
          <p:nvPr/>
        </p:nvSpPr>
        <p:spPr>
          <a:xfrm xmlns:a="http://schemas.openxmlformats.org/drawingml/2006/main">
            <a:off x="990600" y="3181350"/>
            <a:ext cx="3695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名前、場所、サイズ、公開設定</a:t>
            </a:r>
          </a:p>
        </p:txBody>
      </p:sp>
      <p:sp>
        <p:nvSpPr>
          <p:cNvPr id="10" name="">
            <a:extLst xmlns:a="http://schemas.openxmlformats.org/drawingml/2006/main">
              <a:ext uri="{FF2B5EF4-FFF2-40B4-BE49-F238E27FC236}">
                <a16:creationId xmlns:a16="http://schemas.microsoft.com/office/drawing/2014/main" id="{2CAE9A90-78BD-48D4-9BA8-9F9A857FB99C}"/>
              </a:ext>
            </a:extLst>
          </p:cNvPr>
          <p:cNvSpPr>
            <a:spLocks xmlns:a="http://schemas.openxmlformats.org/drawingml/2006/main" noGrp="1"/>
          </p:cNvSpPr>
          <p:nvPr/>
        </p:nvSpPr>
        <p:spPr>
          <a:xfrm xmlns:a="http://schemas.openxmlformats.org/drawingml/2006/main">
            <a:off x="990600" y="3581400"/>
            <a:ext cx="36957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344054"/>
                </a:solidFill>
                <a:latin typeface="Yu Gothic UI"/>
                <a:ea typeface="Yu Gothic UI"/>
                <a:cs typeface="Yu Gothic UI"/>
              </a:defRPr>
            </a:pPr>
            <a:r>
              <a:rPr sz="870" b="0">
                <a:solidFill>
                  <a:srgbClr val="344054"/>
                </a:solidFill>
                <a:latin typeface="Yu Gothic UI"/>
                <a:ea typeface="Yu Gothic UI"/>
                <a:cs typeface="Yu Gothic UI"/>
              </a:rPr>
              <a:t>後から直せるものもありますが、初心者ハンズオンでは作成前の確認を習慣にします。</a:t>
            </a:r>
          </a:p>
        </p:txBody>
      </p:sp>
      <p:sp>
        <p:nvSpPr>
          <p:cNvPr id="11" name="">
            <a:extLst xmlns:a="http://schemas.openxmlformats.org/drawingml/2006/main">
              <a:ext uri="{FF2B5EF4-FFF2-40B4-BE49-F238E27FC236}">
                <a16:creationId xmlns:a16="http://schemas.microsoft.com/office/drawing/2014/main" id="{579E5B2F-552D-455D-99C4-88C1CA77F40E}"/>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213f760aae74c81"/>
          <a:stretch xmlns:a="http://schemas.openxmlformats.org/drawingml/2006/main"/>
        </p:blipFill>
        <p:spPr>
          <a:xfrm xmlns:a="http://schemas.openxmlformats.org/drawingml/2006/main">
            <a:off x="7067550" y="1809750"/>
            <a:ext cx="2514600" cy="3352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38CB54F-21CE-4631-A0CF-DB45B43B266A}"/>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内容を確認して作成する</a:t>
            </a:r>
          </a:p>
        </p:txBody>
      </p:sp>
      <p:sp>
        <p:nvSpPr>
          <p:cNvPr id="14" name="">
            <a:extLst xmlns:a="http://schemas.openxmlformats.org/drawingml/2006/main">
              <a:ext uri="{FF2B5EF4-FFF2-40B4-BE49-F238E27FC236}">
                <a16:creationId xmlns:a16="http://schemas.microsoft.com/office/drawing/2014/main" id="{3E828818-2279-41BA-B50C-4E2A28E01DEA}"/>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27 / 46</a:t>
            </a:r>
          </a:p>
        </p:txBody>
      </p:sp>
    </p:spTree>
    <p:extLst>
      <p:ext uri="{BB962C8B-B14F-4D97-AF65-F5344CB8AC3E}">
        <p14:creationId xmlns:p14="http://schemas.microsoft.com/office/powerpoint/2010/main" val="118607714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032F5C-16D1-427E-A0B1-08B892C60DAE}"/>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デプロイ完了を待つ</a:t>
            </a:r>
          </a:p>
        </p:txBody>
      </p:sp>
      <p:sp>
        <p:nvSpPr>
          <p:cNvPr id="2" name="">
            <a:extLst xmlns:a="http://schemas.openxmlformats.org/drawingml/2006/main">
              <a:ext uri="{FF2B5EF4-FFF2-40B4-BE49-F238E27FC236}">
                <a16:creationId xmlns:a16="http://schemas.microsoft.com/office/drawing/2014/main" id="{56D3B13E-7656-4BF1-A857-684B0E0921DF}"/>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55E18F73-1144-4751-8058-A7DED3627BC2}"/>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28</a:t>
            </a:r>
          </a:p>
        </p:txBody>
      </p:sp>
      <p:sp>
        <p:nvSpPr>
          <p:cNvPr id="4" name="">
            <a:extLst xmlns:a="http://schemas.openxmlformats.org/drawingml/2006/main">
              <a:ext uri="{FF2B5EF4-FFF2-40B4-BE49-F238E27FC236}">
                <a16:creationId xmlns:a16="http://schemas.microsoft.com/office/drawing/2014/main" id="{B1A31E93-B2D4-4381-8C25-5221CDDA7832}"/>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63A46E42-D976-403E-8597-4C1A6718D05F}"/>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VM と関連リソースの作成には数分かかります。完了後は、作成された VM の Overview へ進みます。</a:t>
            </a:r>
          </a:p>
        </p:txBody>
      </p:sp>
      <p:sp>
        <p:nvSpPr>
          <p:cNvPr id="6" name="">
            <a:extLst xmlns:a="http://schemas.openxmlformats.org/drawingml/2006/main">
              <a:ext uri="{FF2B5EF4-FFF2-40B4-BE49-F238E27FC236}">
                <a16:creationId xmlns:a16="http://schemas.microsoft.com/office/drawing/2014/main" id="{5BB6E354-E574-41E6-8582-6BCC79A94775}"/>
              </a:ext>
            </a:extLst>
          </p:cNvPr>
          <p:cNvSpPr>
            <a:spLocks xmlns:a="http://schemas.openxmlformats.org/drawingml/2006/main" noGrp="1"/>
          </p:cNvSpPr>
          <p:nvPr/>
        </p:nvSpPr>
        <p:spPr>
          <a:xfrm xmlns:a="http://schemas.openxmlformats.org/drawingml/2006/main">
            <a:off x="819150" y="2628900"/>
            <a:ext cx="39243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38100" rIns="38100" bIns="38100" anchor="t"/>
          <a:lstStyle xmlns:a="http://schemas.openxmlformats.org/drawingml/2006/main"/>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作成中に画面を閉じても、Portal の Deployments から確認できます。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失敗した場合はエラーメッセージの先頭を講師と確認します。</a:t>
            </a:r>
          </a:p>
        </p:txBody>
      </p:sp>
      <p:sp>
        <p:nvSpPr>
          <p:cNvPr id="7" name="">
            <a:extLst xmlns:a="http://schemas.openxmlformats.org/drawingml/2006/main">
              <a:ext uri="{FF2B5EF4-FFF2-40B4-BE49-F238E27FC236}">
                <a16:creationId xmlns:a16="http://schemas.microsoft.com/office/drawing/2014/main" id="{8BCF8411-5D8E-45A2-A974-B82B30A8EB50}"/>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824a88fbea84219"/>
          <a:stretch xmlns:a="http://schemas.openxmlformats.org/drawingml/2006/main"/>
        </p:blipFill>
        <p:spPr>
          <a:xfrm xmlns:a="http://schemas.openxmlformats.org/drawingml/2006/main">
            <a:off x="5467350" y="1878806"/>
            <a:ext cx="5715000" cy="321468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27F4505-DD02-4B86-9D48-E5A3CC48F927}"/>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デプロイ完了を待つ</a:t>
            </a:r>
          </a:p>
        </p:txBody>
      </p:sp>
      <p:sp>
        <p:nvSpPr>
          <p:cNvPr id="10" name="">
            <a:extLst xmlns:a="http://schemas.openxmlformats.org/drawingml/2006/main">
              <a:ext uri="{FF2B5EF4-FFF2-40B4-BE49-F238E27FC236}">
                <a16:creationId xmlns:a16="http://schemas.microsoft.com/office/drawing/2014/main" id="{147666BE-B37E-477B-AE0A-79CB39D960A2}"/>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28 / 46</a:t>
            </a:r>
          </a:p>
        </p:txBody>
      </p:sp>
    </p:spTree>
    <p:extLst>
      <p:ext uri="{BB962C8B-B14F-4D97-AF65-F5344CB8AC3E}">
        <p14:creationId xmlns:p14="http://schemas.microsoft.com/office/powerpoint/2010/main" val="118607714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AEF9C99-EED7-4FE7-9D2E-FA2EDFC24EBD}"/>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VM の Overview を確認する</a:t>
            </a:r>
          </a:p>
        </p:txBody>
      </p:sp>
      <p:sp>
        <p:nvSpPr>
          <p:cNvPr id="2" name="">
            <a:extLst xmlns:a="http://schemas.openxmlformats.org/drawingml/2006/main">
              <a:ext uri="{FF2B5EF4-FFF2-40B4-BE49-F238E27FC236}">
                <a16:creationId xmlns:a16="http://schemas.microsoft.com/office/drawing/2014/main" id="{98A84348-F4ED-4BFA-AB96-677A15BC21A1}"/>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F853D9C1-AFDD-4E37-85CF-377D59A08E73}"/>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29</a:t>
            </a:r>
          </a:p>
        </p:txBody>
      </p:sp>
      <p:sp>
        <p:nvSpPr>
          <p:cNvPr id="4" name="">
            <a:extLst xmlns:a="http://schemas.openxmlformats.org/drawingml/2006/main">
              <a:ext uri="{FF2B5EF4-FFF2-40B4-BE49-F238E27FC236}">
                <a16:creationId xmlns:a16="http://schemas.microsoft.com/office/drawing/2014/main" id="{A1DDC81E-56E5-4F16-A029-CEDBBB6DE069}"/>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9B775E7-4E64-45DD-8C26-42077C4E906F}"/>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VM が Running になっていることと、Public IP が表示されていることを確認します。ブラウザーからアクセスする宛先は Public IP です。</a:t>
            </a:r>
          </a:p>
        </p:txBody>
      </p:sp>
      <p:sp>
        <p:nvSpPr>
          <p:cNvPr id="6" name="">
            <a:extLst xmlns:a="http://schemas.openxmlformats.org/drawingml/2006/main">
              <a:ext uri="{FF2B5EF4-FFF2-40B4-BE49-F238E27FC236}">
                <a16:creationId xmlns:a16="http://schemas.microsoft.com/office/drawing/2014/main" id="{ACCA819E-45F0-4F31-AF20-E3AC1CA6DF7E}"/>
              </a:ext>
            </a:extLst>
          </p:cNvPr>
          <p:cNvSpPr>
            <a:spLocks xmlns:a="http://schemas.openxmlformats.org/drawingml/2006/main" noGrp="1"/>
          </p:cNvSpPr>
          <p:nvPr/>
        </p:nvSpPr>
        <p:spPr>
          <a:xfrm xmlns:a="http://schemas.openxmlformats.org/drawingml/2006/main">
            <a:off x="781050" y="2781300"/>
            <a:ext cx="4095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67C837FB-4A51-4310-ADBE-1E0F6C23095C}"/>
              </a:ext>
            </a:extLst>
          </p:cNvPr>
          <p:cNvSpPr>
            <a:spLocks xmlns:a="http://schemas.openxmlformats.org/drawingml/2006/main" noGrp="1"/>
          </p:cNvSpPr>
          <p:nvPr/>
        </p:nvSpPr>
        <p:spPr>
          <a:xfrm xmlns:a="http://schemas.openxmlformats.org/drawingml/2006/main">
            <a:off x="781050" y="2781300"/>
            <a:ext cx="76200" cy="1428750"/>
          </a:xfrm>
          <a:prstGeom xmlns:a="http://schemas.openxmlformats.org/drawingml/2006/main" prst="rect">
            <a:avLst/>
          </a:prstGeom>
          <a:solidFill xmlns:a="http://schemas.openxmlformats.org/drawingml/2006/main">
            <a:srgbClr val="A23B72"/>
          </a:solidFill>
          <a:ln xmlns:a="http://schemas.openxmlformats.org/drawingml/2006/main" w="0">
            <a:solidFill>
              <a:srgbClr val="A23B72"/>
            </a:solidFill>
            <a:prstDash val="solid"/>
          </a:ln>
        </p:spPr>
      </p:sp>
      <p:sp>
        <p:nvSpPr>
          <p:cNvPr id="8" name="">
            <a:extLst xmlns:a="http://schemas.openxmlformats.org/drawingml/2006/main">
              <a:ext uri="{FF2B5EF4-FFF2-40B4-BE49-F238E27FC236}">
                <a16:creationId xmlns:a16="http://schemas.microsoft.com/office/drawing/2014/main" id="{1F213581-68F4-49C5-97AD-1CB36E4320A2}"/>
              </a:ext>
            </a:extLst>
          </p:cNvPr>
          <p:cNvSpPr>
            <a:spLocks xmlns:a="http://schemas.openxmlformats.org/drawingml/2006/main" noGrp="1"/>
          </p:cNvSpPr>
          <p:nvPr/>
        </p:nvSpPr>
        <p:spPr>
          <a:xfrm xmlns:a="http://schemas.openxmlformats.org/drawingml/2006/main">
            <a:off x="990600" y="2933700"/>
            <a:ext cx="3695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A23B72"/>
                </a:solidFill>
                <a:latin typeface="Yu Gothic UI"/>
                <a:ea typeface="Yu Gothic UI"/>
                <a:cs typeface="Yu Gothic UI"/>
              </a:defRPr>
            </a:pPr>
            <a:r>
              <a:rPr sz="713" b="1">
                <a:solidFill>
                  <a:srgbClr val="A23B72"/>
                </a:solidFill>
                <a:latin typeface="Yu Gothic UI"/>
                <a:ea typeface="Yu Gothic UI"/>
                <a:cs typeface="Yu Gothic UI"/>
              </a:rPr>
              <a:t>よくある間違い</a:t>
            </a:r>
          </a:p>
        </p:txBody>
      </p:sp>
      <p:sp>
        <p:nvSpPr>
          <p:cNvPr id="9" name="">
            <a:extLst xmlns:a="http://schemas.openxmlformats.org/drawingml/2006/main">
              <a:ext uri="{FF2B5EF4-FFF2-40B4-BE49-F238E27FC236}">
                <a16:creationId xmlns:a16="http://schemas.microsoft.com/office/drawing/2014/main" id="{BE96196F-C900-46B5-85A2-615ADEB3C46D}"/>
              </a:ext>
            </a:extLst>
          </p:cNvPr>
          <p:cNvSpPr>
            <a:spLocks xmlns:a="http://schemas.openxmlformats.org/drawingml/2006/main" noGrp="1"/>
          </p:cNvSpPr>
          <p:nvPr/>
        </p:nvSpPr>
        <p:spPr>
          <a:xfrm xmlns:a="http://schemas.openxmlformats.org/drawingml/2006/main">
            <a:off x="990600" y="3181350"/>
            <a:ext cx="3695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Private IP と Public IP を取り違える</a:t>
            </a:r>
          </a:p>
        </p:txBody>
      </p:sp>
      <p:sp>
        <p:nvSpPr>
          <p:cNvPr id="10" name="">
            <a:extLst xmlns:a="http://schemas.openxmlformats.org/drawingml/2006/main">
              <a:ext uri="{FF2B5EF4-FFF2-40B4-BE49-F238E27FC236}">
                <a16:creationId xmlns:a16="http://schemas.microsoft.com/office/drawing/2014/main" id="{2498050B-D226-45B6-BA7A-0E33C65DC8CF}"/>
              </a:ext>
            </a:extLst>
          </p:cNvPr>
          <p:cNvSpPr>
            <a:spLocks xmlns:a="http://schemas.openxmlformats.org/drawingml/2006/main" noGrp="1"/>
          </p:cNvSpPr>
          <p:nvPr/>
        </p:nvSpPr>
        <p:spPr>
          <a:xfrm xmlns:a="http://schemas.openxmlformats.org/drawingml/2006/main">
            <a:off x="990600" y="3581400"/>
            <a:ext cx="36957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344054"/>
                </a:solidFill>
                <a:latin typeface="Yu Gothic UI"/>
                <a:ea typeface="Yu Gothic UI"/>
                <a:cs typeface="Yu Gothic UI"/>
              </a:defRPr>
            </a:pPr>
            <a:r>
              <a:rPr sz="870" b="0">
                <a:solidFill>
                  <a:srgbClr val="344054"/>
                </a:solidFill>
                <a:latin typeface="Yu Gothic UI"/>
                <a:ea typeface="Yu Gothic UI"/>
                <a:cs typeface="Yu Gothic UI"/>
              </a:rPr>
              <a:t>インターネット側からアクセスするときは、Overview に表示される Public IP を使います。</a:t>
            </a:r>
          </a:p>
        </p:txBody>
      </p:sp>
      <p:sp>
        <p:nvSpPr>
          <p:cNvPr id="11" name="">
            <a:extLst xmlns:a="http://schemas.openxmlformats.org/drawingml/2006/main">
              <a:ext uri="{FF2B5EF4-FFF2-40B4-BE49-F238E27FC236}">
                <a16:creationId xmlns:a16="http://schemas.microsoft.com/office/drawing/2014/main" id="{20571BCD-B458-49B1-B7B6-6D9DC93ECE06}"/>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35db120289a40a5"/>
          <a:stretch xmlns:a="http://schemas.openxmlformats.org/drawingml/2006/main"/>
        </p:blipFill>
        <p:spPr>
          <a:xfrm xmlns:a="http://schemas.openxmlformats.org/drawingml/2006/main">
            <a:off x="5467350" y="1878806"/>
            <a:ext cx="5715000" cy="3214688"/>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BF28EAB-C0C1-41CA-BFB5-6C4BC66D871C}"/>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VM の状態と Public IP を確認する</a:t>
            </a:r>
          </a:p>
        </p:txBody>
      </p:sp>
      <p:sp>
        <p:nvSpPr>
          <p:cNvPr id="14" name="">
            <a:extLst xmlns:a="http://schemas.openxmlformats.org/drawingml/2006/main">
              <a:ext uri="{FF2B5EF4-FFF2-40B4-BE49-F238E27FC236}">
                <a16:creationId xmlns:a16="http://schemas.microsoft.com/office/drawing/2014/main" id="{6AC72753-F23A-4798-B7AC-EA9D29BA9D41}"/>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29 / 46</a:t>
            </a:r>
          </a:p>
        </p:txBody>
      </p:sp>
    </p:spTree>
    <p:extLst>
      <p:ext uri="{BB962C8B-B14F-4D97-AF65-F5344CB8AC3E}">
        <p14:creationId xmlns:p14="http://schemas.microsoft.com/office/powerpoint/2010/main" val="118607714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99F5B9-60AD-4DB1-9460-498CE536C6C2}"/>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作成された関連リソースを見る</a:t>
            </a:r>
          </a:p>
        </p:txBody>
      </p:sp>
      <p:sp>
        <p:nvSpPr>
          <p:cNvPr id="2" name="">
            <a:extLst xmlns:a="http://schemas.openxmlformats.org/drawingml/2006/main">
              <a:ext uri="{FF2B5EF4-FFF2-40B4-BE49-F238E27FC236}">
                <a16:creationId xmlns:a16="http://schemas.microsoft.com/office/drawing/2014/main" id="{6B5E7DB5-084C-4FEF-A405-76BEDFE87A7A}"/>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A4842C63-ECF4-483B-8CE6-3588D2CDF655}"/>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30</a:t>
            </a:r>
          </a:p>
        </p:txBody>
      </p:sp>
      <p:sp>
        <p:nvSpPr>
          <p:cNvPr id="4" name="">
            <a:extLst xmlns:a="http://schemas.openxmlformats.org/drawingml/2006/main">
              <a:ext uri="{FF2B5EF4-FFF2-40B4-BE49-F238E27FC236}">
                <a16:creationId xmlns:a16="http://schemas.microsoft.com/office/drawing/2014/main" id="{E946C238-1E6B-4F87-A9C9-177BF6E5B393}"/>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5CDFFD4-49BB-4EA5-9F2E-A5CA28262B27}"/>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リソースグループ内には VM だけでなく、ディスク、NIC、Public IP、NSG、VNet などが作成されています。</a:t>
            </a:r>
          </a:p>
        </p:txBody>
      </p:sp>
      <p:sp>
        <p:nvSpPr>
          <p:cNvPr id="6" name="">
            <a:extLst xmlns:a="http://schemas.openxmlformats.org/drawingml/2006/main">
              <a:ext uri="{FF2B5EF4-FFF2-40B4-BE49-F238E27FC236}">
                <a16:creationId xmlns:a16="http://schemas.microsoft.com/office/drawing/2014/main" id="{ABA1AB18-57CB-43DF-A62C-288205323814}"/>
              </a:ext>
            </a:extLst>
          </p:cNvPr>
          <p:cNvSpPr>
            <a:spLocks xmlns:a="http://schemas.openxmlformats.org/drawingml/2006/main" noGrp="1"/>
          </p:cNvSpPr>
          <p:nvPr/>
        </p:nvSpPr>
        <p:spPr>
          <a:xfrm xmlns:a="http://schemas.openxmlformats.org/drawingml/2006/main">
            <a:off x="819150" y="2628900"/>
            <a:ext cx="39243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38100" rIns="38100" bIns="38100" anchor="t"/>
          <a:lstStyle xmlns:a="http://schemas.openxmlformats.org/drawingml/2006/main"/>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VM だけを見て終わらないことが重要です。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作成されたものは、あとで削除対象になります。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構成図と照らして役割を確認します。</a:t>
            </a:r>
          </a:p>
        </p:txBody>
      </p:sp>
      <p:sp>
        <p:nvSpPr>
          <p:cNvPr id="7" name="">
            <a:extLst xmlns:a="http://schemas.openxmlformats.org/drawingml/2006/main">
              <a:ext uri="{FF2B5EF4-FFF2-40B4-BE49-F238E27FC236}">
                <a16:creationId xmlns:a16="http://schemas.microsoft.com/office/drawing/2014/main" id="{A36F7BCA-85DE-4B7F-BC0A-D5C868120AB8}"/>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1e66d191ed0477a"/>
          <a:stretch xmlns:a="http://schemas.openxmlformats.org/drawingml/2006/main"/>
        </p:blipFill>
        <p:spPr>
          <a:xfrm xmlns:a="http://schemas.openxmlformats.org/drawingml/2006/main">
            <a:off x="5467350" y="1878806"/>
            <a:ext cx="5715000" cy="321468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690C180-FC3D-45AF-A99E-74A7D690D2F3}"/>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VM 作成で増えた関連リソースを見る</a:t>
            </a:r>
          </a:p>
        </p:txBody>
      </p:sp>
      <p:sp>
        <p:nvSpPr>
          <p:cNvPr id="10" name="">
            <a:extLst xmlns:a="http://schemas.openxmlformats.org/drawingml/2006/main">
              <a:ext uri="{FF2B5EF4-FFF2-40B4-BE49-F238E27FC236}">
                <a16:creationId xmlns:a16="http://schemas.microsoft.com/office/drawing/2014/main" id="{08970A3F-752E-4E33-BF01-84C272C3B13C}"/>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30 / 46</a:t>
            </a:r>
          </a:p>
        </p:txBody>
      </p:sp>
    </p:spTree>
    <p:extLst>
      <p:ext uri="{BB962C8B-B14F-4D97-AF65-F5344CB8AC3E}">
        <p14:creationId xmlns:p14="http://schemas.microsoft.com/office/powerpoint/2010/main" val="1186077149"/>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F5F827-363B-4A4A-A0E4-82A52B654D10}"/>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ブラウザーでアクセスする</a:t>
            </a:r>
          </a:p>
        </p:txBody>
      </p:sp>
      <p:sp>
        <p:nvSpPr>
          <p:cNvPr id="2" name="">
            <a:extLst xmlns:a="http://schemas.openxmlformats.org/drawingml/2006/main">
              <a:ext uri="{FF2B5EF4-FFF2-40B4-BE49-F238E27FC236}">
                <a16:creationId xmlns:a16="http://schemas.microsoft.com/office/drawing/2014/main" id="{C2D64435-5CF9-4A52-BDEE-5AD12F26EDB4}"/>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C1D345B0-B8B6-4A5D-991C-B2B46C5DBCE9}"/>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31</a:t>
            </a:r>
          </a:p>
        </p:txBody>
      </p:sp>
      <p:sp>
        <p:nvSpPr>
          <p:cNvPr id="4" name="">
            <a:extLst xmlns:a="http://schemas.openxmlformats.org/drawingml/2006/main">
              <a:ext uri="{FF2B5EF4-FFF2-40B4-BE49-F238E27FC236}">
                <a16:creationId xmlns:a16="http://schemas.microsoft.com/office/drawing/2014/main" id="{78F6A27B-F5B1-43A8-AAD8-E14BBD923331}"/>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23222F5-E81D-4F4B-AE77-84127C419AA5}"/>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Public IP に HTTP でアクセスし、NGINX のページが表示されることを確認します。表示できれば、入口から VM 上の Web サーバまで到達しています。</a:t>
            </a:r>
          </a:p>
        </p:txBody>
      </p:sp>
      <p:sp>
        <p:nvSpPr>
          <p:cNvPr id="6" name="">
            <a:extLst xmlns:a="http://schemas.openxmlformats.org/drawingml/2006/main">
              <a:ext uri="{FF2B5EF4-FFF2-40B4-BE49-F238E27FC236}">
                <a16:creationId xmlns:a16="http://schemas.microsoft.com/office/drawing/2014/main" id="{EDDF0304-4B2F-4C5D-A194-B2C0D1DF80A5}"/>
              </a:ext>
            </a:extLst>
          </p:cNvPr>
          <p:cNvSpPr>
            <a:spLocks xmlns:a="http://schemas.openxmlformats.org/drawingml/2006/main" noGrp="1"/>
          </p:cNvSpPr>
          <p:nvPr/>
        </p:nvSpPr>
        <p:spPr>
          <a:xfrm xmlns:a="http://schemas.openxmlformats.org/drawingml/2006/main">
            <a:off x="781050" y="2781300"/>
            <a:ext cx="4095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228239B6-C4A8-4A3D-9828-1E9FA4F9A9E2}"/>
              </a:ext>
            </a:extLst>
          </p:cNvPr>
          <p:cNvSpPr>
            <a:spLocks xmlns:a="http://schemas.openxmlformats.org/drawingml/2006/main" noGrp="1"/>
          </p:cNvSpPr>
          <p:nvPr/>
        </p:nvSpPr>
        <p:spPr>
          <a:xfrm xmlns:a="http://schemas.openxmlformats.org/drawingml/2006/main">
            <a:off x="781050" y="2781300"/>
            <a:ext cx="76200" cy="142875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8" name="">
            <a:extLst xmlns:a="http://schemas.openxmlformats.org/drawingml/2006/main">
              <a:ext uri="{FF2B5EF4-FFF2-40B4-BE49-F238E27FC236}">
                <a16:creationId xmlns:a16="http://schemas.microsoft.com/office/drawing/2014/main" id="{56D8D7DA-8CC6-4C32-B313-FC3ADDF92B6B}"/>
              </a:ext>
            </a:extLst>
          </p:cNvPr>
          <p:cNvSpPr>
            <a:spLocks xmlns:a="http://schemas.openxmlformats.org/drawingml/2006/main" noGrp="1"/>
          </p:cNvSpPr>
          <p:nvPr/>
        </p:nvSpPr>
        <p:spPr>
          <a:xfrm xmlns:a="http://schemas.openxmlformats.org/drawingml/2006/main">
            <a:off x="990600" y="2933700"/>
            <a:ext cx="3695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完了条件</a:t>
            </a:r>
          </a:p>
        </p:txBody>
      </p:sp>
      <p:sp>
        <p:nvSpPr>
          <p:cNvPr id="9" name="">
            <a:extLst xmlns:a="http://schemas.openxmlformats.org/drawingml/2006/main">
              <a:ext uri="{FF2B5EF4-FFF2-40B4-BE49-F238E27FC236}">
                <a16:creationId xmlns:a16="http://schemas.microsoft.com/office/drawing/2014/main" id="{312A9198-3D9C-4DCB-B4C0-D141B690E115}"/>
              </a:ext>
            </a:extLst>
          </p:cNvPr>
          <p:cNvSpPr>
            <a:spLocks xmlns:a="http://schemas.openxmlformats.org/drawingml/2006/main" noGrp="1"/>
          </p:cNvSpPr>
          <p:nvPr/>
        </p:nvSpPr>
        <p:spPr>
          <a:xfrm xmlns:a="http://schemas.openxmlformats.org/drawingml/2006/main">
            <a:off x="990600" y="3181350"/>
            <a:ext cx="3695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NGINX のページが表示される</a:t>
            </a:r>
          </a:p>
        </p:txBody>
      </p:sp>
      <p:sp>
        <p:nvSpPr>
          <p:cNvPr id="10" name="">
            <a:extLst xmlns:a="http://schemas.openxmlformats.org/drawingml/2006/main">
              <a:ext uri="{FF2B5EF4-FFF2-40B4-BE49-F238E27FC236}">
                <a16:creationId xmlns:a16="http://schemas.microsoft.com/office/drawing/2014/main" id="{35804FFF-229C-464F-8D61-CEC1DB7E3003}"/>
              </a:ext>
            </a:extLst>
          </p:cNvPr>
          <p:cNvSpPr>
            <a:spLocks xmlns:a="http://schemas.openxmlformats.org/drawingml/2006/main" noGrp="1"/>
          </p:cNvSpPr>
          <p:nvPr/>
        </p:nvSpPr>
        <p:spPr>
          <a:xfrm xmlns:a="http://schemas.openxmlformats.org/drawingml/2006/main">
            <a:off x="990600" y="3581400"/>
            <a:ext cx="36957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344054"/>
                </a:solidFill>
                <a:latin typeface="Yu Gothic UI"/>
                <a:ea typeface="Yu Gothic UI"/>
                <a:cs typeface="Yu Gothic UI"/>
              </a:defRPr>
            </a:pPr>
            <a:r>
              <a:rPr sz="870" b="0">
                <a:solidFill>
                  <a:srgbClr val="344054"/>
                </a:solidFill>
                <a:latin typeface="Yu Gothic UI"/>
                <a:ea typeface="Yu Gothic UI"/>
                <a:cs typeface="Yu Gothic UI"/>
              </a:rPr>
              <a:t>カスタムページではなく既定ページでも、VM とネットワークの到達確認としては大きな前進です。</a:t>
            </a:r>
          </a:p>
        </p:txBody>
      </p:sp>
      <p:sp>
        <p:nvSpPr>
          <p:cNvPr id="11" name="">
            <a:extLst xmlns:a="http://schemas.openxmlformats.org/drawingml/2006/main">
              <a:ext uri="{FF2B5EF4-FFF2-40B4-BE49-F238E27FC236}">
                <a16:creationId xmlns:a16="http://schemas.microsoft.com/office/drawing/2014/main" id="{255B3DE6-F302-4AED-9756-FA20BB5839C0}"/>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79ca11200fa4fa7"/>
          <a:stretch xmlns:a="http://schemas.openxmlformats.org/drawingml/2006/main"/>
        </p:blipFill>
        <p:spPr>
          <a:xfrm xmlns:a="http://schemas.openxmlformats.org/drawingml/2006/main">
            <a:off x="5467350" y="1878806"/>
            <a:ext cx="5715000" cy="3214688"/>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5FCD7C2-873E-4909-9143-A26079F818DD}"/>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ブラウザーで NGINX のページを確認する</a:t>
            </a:r>
          </a:p>
        </p:txBody>
      </p:sp>
      <p:sp>
        <p:nvSpPr>
          <p:cNvPr id="14" name="">
            <a:extLst xmlns:a="http://schemas.openxmlformats.org/drawingml/2006/main">
              <a:ext uri="{FF2B5EF4-FFF2-40B4-BE49-F238E27FC236}">
                <a16:creationId xmlns:a16="http://schemas.microsoft.com/office/drawing/2014/main" id="{08FC65CD-CAD8-4F72-9D37-D348FCF758B7}"/>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31 / 46</a:t>
            </a:r>
          </a:p>
        </p:txBody>
      </p:sp>
    </p:spTree>
    <p:extLst>
      <p:ext uri="{BB962C8B-B14F-4D97-AF65-F5344CB8AC3E}">
        <p14:creationId xmlns:p14="http://schemas.microsoft.com/office/powerpoint/2010/main" val="118607714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7125C4-AC19-4EDA-8F97-C667C2A709ED}"/>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表示されないときの見方</a:t>
            </a:r>
          </a:p>
        </p:txBody>
      </p:sp>
      <p:sp>
        <p:nvSpPr>
          <p:cNvPr id="2" name="">
            <a:extLst xmlns:a="http://schemas.openxmlformats.org/drawingml/2006/main">
              <a:ext uri="{FF2B5EF4-FFF2-40B4-BE49-F238E27FC236}">
                <a16:creationId xmlns:a16="http://schemas.microsoft.com/office/drawing/2014/main" id="{BF180080-0F89-4B0B-BC54-AA33810BC701}"/>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42F32CF1-B246-4BC6-9774-ECD5E2718217}"/>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32</a:t>
            </a:r>
          </a:p>
        </p:txBody>
      </p:sp>
      <p:sp>
        <p:nvSpPr>
          <p:cNvPr id="4" name="">
            <a:extLst xmlns:a="http://schemas.openxmlformats.org/drawingml/2006/main">
              <a:ext uri="{FF2B5EF4-FFF2-40B4-BE49-F238E27FC236}">
                <a16:creationId xmlns:a16="http://schemas.microsoft.com/office/drawing/2014/main" id="{30285382-1D66-4764-AD80-2F628D583058}"/>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A1B9BDA-52E6-4F98-A059-6D03786AC8B3}"/>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画面が出ないときは、焦って設定を増やすのではなく、VM の状態、Public IP、アクセス方法、NSG、起動時スクリプトを順番に確認します。</a:t>
            </a:r>
          </a:p>
        </p:txBody>
      </p:sp>
      <p:sp>
        <p:nvSpPr>
          <p:cNvPr id="6" name="">
            <a:extLst xmlns:a="http://schemas.openxmlformats.org/drawingml/2006/main">
              <a:ext uri="{FF2B5EF4-FFF2-40B4-BE49-F238E27FC236}">
                <a16:creationId xmlns:a16="http://schemas.microsoft.com/office/drawing/2014/main" id="{72B1CD2E-C966-4120-BFD0-FD8C28F0C9B6}"/>
              </a:ext>
            </a:extLst>
          </p:cNvPr>
          <p:cNvSpPr>
            <a:spLocks xmlns:a="http://schemas.openxmlformats.org/drawingml/2006/main" noGrp="1"/>
          </p:cNvSpPr>
          <p:nvPr/>
        </p:nvSpPr>
        <p:spPr>
          <a:xfrm xmlns:a="http://schemas.openxmlformats.org/drawingml/2006/main">
            <a:off x="685800" y="2038350"/>
            <a:ext cx="1082040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3f9f3759b1141b8"/>
          <a:stretch xmlns:a="http://schemas.openxmlformats.org/drawingml/2006/main"/>
        </p:blipFill>
        <p:spPr>
          <a:xfrm xmlns:a="http://schemas.openxmlformats.org/drawingml/2006/main">
            <a:off x="857250" y="2190750"/>
            <a:ext cx="10477500" cy="3505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4ABB281-CCB4-4282-A148-0A6A5D0FE36B}"/>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32 / 46</a:t>
            </a:r>
          </a:p>
        </p:txBody>
      </p:sp>
    </p:spTree>
    <p:extLst>
      <p:ext uri="{BB962C8B-B14F-4D97-AF65-F5344CB8AC3E}">
        <p14:creationId xmlns:p14="http://schemas.microsoft.com/office/powerpoint/2010/main" val="118607714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4BC404-49DD-4199-801F-58F3175A59F7}"/>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NSG の受信ルールを確認する</a:t>
            </a:r>
          </a:p>
        </p:txBody>
      </p:sp>
      <p:sp>
        <p:nvSpPr>
          <p:cNvPr id="2" name="">
            <a:extLst xmlns:a="http://schemas.openxmlformats.org/drawingml/2006/main">
              <a:ext uri="{FF2B5EF4-FFF2-40B4-BE49-F238E27FC236}">
                <a16:creationId xmlns:a16="http://schemas.microsoft.com/office/drawing/2014/main" id="{1E36148D-B0FC-473B-930A-08E006F85AC7}"/>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9622F391-2BD3-44E1-8887-73CC4668661D}"/>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33</a:t>
            </a:r>
          </a:p>
        </p:txBody>
      </p:sp>
      <p:sp>
        <p:nvSpPr>
          <p:cNvPr id="4" name="">
            <a:extLst xmlns:a="http://schemas.openxmlformats.org/drawingml/2006/main">
              <a:ext uri="{FF2B5EF4-FFF2-40B4-BE49-F238E27FC236}">
                <a16:creationId xmlns:a16="http://schemas.microsoft.com/office/drawing/2014/main" id="{C930E6B9-5BB8-4FF5-83E6-C124FF44CED7}"/>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A037233-852B-4C48-8C2E-F82EA7D5F649}"/>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HTTP でアクセスできない場合は、NSG の受信ルールで Web 通信が許可されているかを確認します。</a:t>
            </a:r>
          </a:p>
        </p:txBody>
      </p:sp>
      <p:sp>
        <p:nvSpPr>
          <p:cNvPr id="6" name="">
            <a:extLst xmlns:a="http://schemas.openxmlformats.org/drawingml/2006/main">
              <a:ext uri="{FF2B5EF4-FFF2-40B4-BE49-F238E27FC236}">
                <a16:creationId xmlns:a16="http://schemas.microsoft.com/office/drawing/2014/main" id="{571C2A4D-BCA8-4105-9E5B-E947B91323D9}"/>
              </a:ext>
            </a:extLst>
          </p:cNvPr>
          <p:cNvSpPr>
            <a:spLocks xmlns:a="http://schemas.openxmlformats.org/drawingml/2006/main" noGrp="1"/>
          </p:cNvSpPr>
          <p:nvPr/>
        </p:nvSpPr>
        <p:spPr>
          <a:xfrm xmlns:a="http://schemas.openxmlformats.org/drawingml/2006/main">
            <a:off x="781050" y="2781300"/>
            <a:ext cx="4095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ABAA4DE3-DC3F-447C-BF12-CFC726DCE072}"/>
              </a:ext>
            </a:extLst>
          </p:cNvPr>
          <p:cNvSpPr>
            <a:spLocks xmlns:a="http://schemas.openxmlformats.org/drawingml/2006/main" noGrp="1"/>
          </p:cNvSpPr>
          <p:nvPr/>
        </p:nvSpPr>
        <p:spPr>
          <a:xfrm xmlns:a="http://schemas.openxmlformats.org/drawingml/2006/main">
            <a:off x="781050" y="2781300"/>
            <a:ext cx="76200" cy="1428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8" name="">
            <a:extLst xmlns:a="http://schemas.openxmlformats.org/drawingml/2006/main">
              <a:ext uri="{FF2B5EF4-FFF2-40B4-BE49-F238E27FC236}">
                <a16:creationId xmlns:a16="http://schemas.microsoft.com/office/drawing/2014/main" id="{E65304C3-498B-41ED-AAC9-381CA64D2F29}"/>
              </a:ext>
            </a:extLst>
          </p:cNvPr>
          <p:cNvSpPr>
            <a:spLocks xmlns:a="http://schemas.openxmlformats.org/drawingml/2006/main" noGrp="1"/>
          </p:cNvSpPr>
          <p:nvPr/>
        </p:nvSpPr>
        <p:spPr>
          <a:xfrm xmlns:a="http://schemas.openxmlformats.org/drawingml/2006/main">
            <a:off x="990600" y="2933700"/>
            <a:ext cx="3695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4472C4"/>
                </a:solidFill>
                <a:latin typeface="Yu Gothic UI"/>
                <a:ea typeface="Yu Gothic UI"/>
                <a:cs typeface="Yu Gothic UI"/>
              </a:defRPr>
            </a:pPr>
            <a:r>
              <a:rPr sz="713" b="1">
                <a:solidFill>
                  <a:srgbClr val="4472C4"/>
                </a:solidFill>
                <a:latin typeface="Yu Gothic UI"/>
                <a:ea typeface="Yu Gothic UI"/>
                <a:cs typeface="Yu Gothic UI"/>
              </a:rPr>
              <a:t>見るポイント</a:t>
            </a:r>
          </a:p>
        </p:txBody>
      </p:sp>
      <p:sp>
        <p:nvSpPr>
          <p:cNvPr id="9" name="">
            <a:extLst xmlns:a="http://schemas.openxmlformats.org/drawingml/2006/main">
              <a:ext uri="{FF2B5EF4-FFF2-40B4-BE49-F238E27FC236}">
                <a16:creationId xmlns:a16="http://schemas.microsoft.com/office/drawing/2014/main" id="{1183866B-7EEF-4F11-99D8-C81103F5825E}"/>
              </a:ext>
            </a:extLst>
          </p:cNvPr>
          <p:cNvSpPr>
            <a:spLocks xmlns:a="http://schemas.openxmlformats.org/drawingml/2006/main" noGrp="1"/>
          </p:cNvSpPr>
          <p:nvPr/>
        </p:nvSpPr>
        <p:spPr>
          <a:xfrm xmlns:a="http://schemas.openxmlformats.org/drawingml/2006/main">
            <a:off x="990600" y="3181350"/>
            <a:ext cx="3695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許可、プロトコル、ポート</a:t>
            </a:r>
          </a:p>
        </p:txBody>
      </p:sp>
      <p:sp>
        <p:nvSpPr>
          <p:cNvPr id="10" name="">
            <a:extLst xmlns:a="http://schemas.openxmlformats.org/drawingml/2006/main">
              <a:ext uri="{FF2B5EF4-FFF2-40B4-BE49-F238E27FC236}">
                <a16:creationId xmlns:a16="http://schemas.microsoft.com/office/drawing/2014/main" id="{81BCB34B-604B-478F-9C07-421003EDAED7}"/>
              </a:ext>
            </a:extLst>
          </p:cNvPr>
          <p:cNvSpPr>
            <a:spLocks xmlns:a="http://schemas.openxmlformats.org/drawingml/2006/main" noGrp="1"/>
          </p:cNvSpPr>
          <p:nvPr/>
        </p:nvSpPr>
        <p:spPr>
          <a:xfrm xmlns:a="http://schemas.openxmlformats.org/drawingml/2006/main">
            <a:off x="990600" y="3581400"/>
            <a:ext cx="36957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344054"/>
                </a:solidFill>
                <a:latin typeface="Yu Gothic UI"/>
                <a:ea typeface="Yu Gothic UI"/>
                <a:cs typeface="Yu Gothic UI"/>
              </a:defRPr>
            </a:pPr>
            <a:r>
              <a:rPr sz="870" b="0">
                <a:solidFill>
                  <a:srgbClr val="344054"/>
                </a:solidFill>
                <a:latin typeface="Yu Gothic UI"/>
                <a:ea typeface="Yu Gothic UI"/>
                <a:cs typeface="Yu Gothic UI"/>
              </a:rPr>
              <a:t>Web サーバへ届く通信の入口が開いているかを、ルールとして確認します。</a:t>
            </a:r>
          </a:p>
        </p:txBody>
      </p:sp>
      <p:sp>
        <p:nvSpPr>
          <p:cNvPr id="11" name="">
            <a:extLst xmlns:a="http://schemas.openxmlformats.org/drawingml/2006/main">
              <a:ext uri="{FF2B5EF4-FFF2-40B4-BE49-F238E27FC236}">
                <a16:creationId xmlns:a16="http://schemas.microsoft.com/office/drawing/2014/main" id="{5F18682D-1258-48AE-8BA8-64A55CB92739}"/>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96f33b7037346ab"/>
          <a:stretch xmlns:a="http://schemas.openxmlformats.org/drawingml/2006/main"/>
        </p:blipFill>
        <p:spPr>
          <a:xfrm xmlns:a="http://schemas.openxmlformats.org/drawingml/2006/main">
            <a:off x="5467350" y="1878806"/>
            <a:ext cx="5715000" cy="3214688"/>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95FE3E1C-8982-4AC8-ABC8-B7DCDA0F8F74}"/>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NSG の受信ルールを確認する</a:t>
            </a:r>
          </a:p>
        </p:txBody>
      </p:sp>
      <p:sp>
        <p:nvSpPr>
          <p:cNvPr id="14" name="">
            <a:extLst xmlns:a="http://schemas.openxmlformats.org/drawingml/2006/main">
              <a:ext uri="{FF2B5EF4-FFF2-40B4-BE49-F238E27FC236}">
                <a16:creationId xmlns:a16="http://schemas.microsoft.com/office/drawing/2014/main" id="{318B8EF7-5C58-43AF-A3A5-2824F80B659D}"/>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33 / 46</a:t>
            </a:r>
          </a:p>
        </p:txBody>
      </p:sp>
    </p:spTree>
    <p:extLst>
      <p:ext uri="{BB962C8B-B14F-4D97-AF65-F5344CB8AC3E}">
        <p14:creationId xmlns:p14="http://schemas.microsoft.com/office/powerpoint/2010/main" val="118607714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C6E54A0-BA46-45C7-AFFC-BA6BA6D70DEA}"/>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カスタムデータが失敗した場合</a:t>
            </a:r>
          </a:p>
        </p:txBody>
      </p:sp>
      <p:sp>
        <p:nvSpPr>
          <p:cNvPr id="2" name="">
            <a:extLst xmlns:a="http://schemas.openxmlformats.org/drawingml/2006/main">
              <a:ext uri="{FF2B5EF4-FFF2-40B4-BE49-F238E27FC236}">
                <a16:creationId xmlns:a16="http://schemas.microsoft.com/office/drawing/2014/main" id="{0EA65B93-C2F5-4300-81CE-D911CB47CAA5}"/>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F0249A93-91E4-45E2-9488-14ED38A6BCC2}"/>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34</a:t>
            </a:r>
          </a:p>
        </p:txBody>
      </p:sp>
      <p:sp>
        <p:nvSpPr>
          <p:cNvPr id="4" name="">
            <a:extLst xmlns:a="http://schemas.openxmlformats.org/drawingml/2006/main">
              <a:ext uri="{FF2B5EF4-FFF2-40B4-BE49-F238E27FC236}">
                <a16:creationId xmlns:a16="http://schemas.microsoft.com/office/drawing/2014/main" id="{0DBF84A2-9304-455E-81AF-11793795B8B3}"/>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AA43DB1-3E6D-4306-A746-FEB7FC422735}"/>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NGINX が入っていない場合、講師の判断で Portal の Run command を使って補助できます。ただし通常手順の主役ではありません。</a:t>
            </a:r>
          </a:p>
        </p:txBody>
      </p:sp>
      <p:sp>
        <p:nvSpPr>
          <p:cNvPr id="6" name="">
            <a:extLst xmlns:a="http://schemas.openxmlformats.org/drawingml/2006/main">
              <a:ext uri="{FF2B5EF4-FFF2-40B4-BE49-F238E27FC236}">
                <a16:creationId xmlns:a16="http://schemas.microsoft.com/office/drawing/2014/main" id="{8AAAC317-B027-4D5E-9B1B-C91A0BC0E1CC}"/>
              </a:ext>
            </a:extLst>
          </p:cNvPr>
          <p:cNvSpPr>
            <a:spLocks xmlns:a="http://schemas.openxmlformats.org/drawingml/2006/main" noGrp="1"/>
          </p:cNvSpPr>
          <p:nvPr/>
        </p:nvSpPr>
        <p:spPr>
          <a:xfrm xmlns:a="http://schemas.openxmlformats.org/drawingml/2006/main">
            <a:off x="819150" y="2628900"/>
            <a:ext cx="39243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38100" rIns="38100" bIns="38100" anchor="t"/>
          <a:lstStyle xmlns:a="http://schemas.openxmlformats.org/drawingml/2006/main"/>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本回の主目的は VM と通信経路の理解です。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復旧に時間がかかる場合は講師デモへ切り替えます。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作成途中のリソースの削除だけは忘れずに行います。</a:t>
            </a:r>
          </a:p>
        </p:txBody>
      </p:sp>
      <p:sp>
        <p:nvSpPr>
          <p:cNvPr id="7" name="">
            <a:extLst xmlns:a="http://schemas.openxmlformats.org/drawingml/2006/main">
              <a:ext uri="{FF2B5EF4-FFF2-40B4-BE49-F238E27FC236}">
                <a16:creationId xmlns:a16="http://schemas.microsoft.com/office/drawing/2014/main" id="{24A4CBA0-BB5C-487C-8F16-44F8F0AF4312}"/>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4b49f2c68d74442"/>
          <a:stretch xmlns:a="http://schemas.openxmlformats.org/drawingml/2006/main"/>
        </p:blipFill>
        <p:spPr>
          <a:xfrm xmlns:a="http://schemas.openxmlformats.org/drawingml/2006/main">
            <a:off x="5467350" y="1878806"/>
            <a:ext cx="5715000" cy="321468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AE07988-8358-484B-96C8-540E3C91E35E}"/>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復旧用に Run command を使う場合がある</a:t>
            </a:r>
          </a:p>
        </p:txBody>
      </p:sp>
      <p:sp>
        <p:nvSpPr>
          <p:cNvPr id="10" name="">
            <a:extLst xmlns:a="http://schemas.openxmlformats.org/drawingml/2006/main">
              <a:ext uri="{FF2B5EF4-FFF2-40B4-BE49-F238E27FC236}">
                <a16:creationId xmlns:a16="http://schemas.microsoft.com/office/drawing/2014/main" id="{E1D243DD-F33A-4D71-BCC4-D5C68E31FE3F}"/>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34 / 46</a:t>
            </a:r>
          </a:p>
        </p:txBody>
      </p:sp>
    </p:spTree>
    <p:extLst>
      <p:ext uri="{BB962C8B-B14F-4D97-AF65-F5344CB8AC3E}">
        <p14:creationId xmlns:p14="http://schemas.microsoft.com/office/powerpoint/2010/main" val="118607714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A08BF81-6B03-4D06-AD93-00DE942C60DF}"/>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構築した構成を振り返る</a:t>
            </a:r>
          </a:p>
        </p:txBody>
      </p:sp>
      <p:sp>
        <p:nvSpPr>
          <p:cNvPr id="2" name="">
            <a:extLst xmlns:a="http://schemas.openxmlformats.org/drawingml/2006/main">
              <a:ext uri="{FF2B5EF4-FFF2-40B4-BE49-F238E27FC236}">
                <a16:creationId xmlns:a16="http://schemas.microsoft.com/office/drawing/2014/main" id="{4D483613-5555-4577-B449-F25C8BAC0DE8}"/>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797B0319-05B3-4B46-94F4-876BA39F7CB1}"/>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35</a:t>
            </a:r>
          </a:p>
        </p:txBody>
      </p:sp>
      <p:sp>
        <p:nvSpPr>
          <p:cNvPr id="4" name="">
            <a:extLst xmlns:a="http://schemas.openxmlformats.org/drawingml/2006/main">
              <a:ext uri="{FF2B5EF4-FFF2-40B4-BE49-F238E27FC236}">
                <a16:creationId xmlns:a16="http://schemas.microsoft.com/office/drawing/2014/main" id="{A4DF9560-531C-4475-96E3-90AEDB855502}"/>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613C764-879A-4C75-9EA7-E34BB11E8792}"/>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作成したリソースをアーキテクチャ図に戻して、VM、ディスク、NIC、Public IP、NSG、VNet がそれぞれ何を担当したかを確認します。</a:t>
            </a:r>
          </a:p>
        </p:txBody>
      </p:sp>
      <p:sp>
        <p:nvSpPr>
          <p:cNvPr id="6" name="">
            <a:extLst xmlns:a="http://schemas.openxmlformats.org/drawingml/2006/main">
              <a:ext uri="{FF2B5EF4-FFF2-40B4-BE49-F238E27FC236}">
                <a16:creationId xmlns:a16="http://schemas.microsoft.com/office/drawing/2014/main" id="{E60C745B-5834-4668-95B2-A5889A80884F}"/>
              </a:ext>
            </a:extLst>
          </p:cNvPr>
          <p:cNvSpPr>
            <a:spLocks xmlns:a="http://schemas.openxmlformats.org/drawingml/2006/main" noGrp="1"/>
          </p:cNvSpPr>
          <p:nvPr/>
        </p:nvSpPr>
        <p:spPr>
          <a:xfrm xmlns:a="http://schemas.openxmlformats.org/drawingml/2006/main">
            <a:off x="685800" y="2038350"/>
            <a:ext cx="1082040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1655aa1abd049ea"/>
          <a:stretch xmlns:a="http://schemas.openxmlformats.org/drawingml/2006/main"/>
        </p:blipFill>
        <p:spPr>
          <a:xfrm xmlns:a="http://schemas.openxmlformats.org/drawingml/2006/main">
            <a:off x="857250" y="2190750"/>
            <a:ext cx="10477500" cy="3505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BF10438-3C42-4060-B54F-CDDC260D3D0F}"/>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35 / 46</a:t>
            </a:r>
          </a:p>
        </p:txBody>
      </p:sp>
    </p:spTree>
    <p:extLst>
      <p:ext uri="{BB962C8B-B14F-4D97-AF65-F5344CB8AC3E}">
        <p14:creationId xmlns:p14="http://schemas.microsoft.com/office/powerpoint/2010/main" val="1186077149"/>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F90049-3DA1-4A92-A336-9E4BE334901E}"/>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第2回の Web 層との関係</a:t>
            </a:r>
          </a:p>
        </p:txBody>
      </p:sp>
      <p:sp>
        <p:nvSpPr>
          <p:cNvPr id="2" name="">
            <a:extLst xmlns:a="http://schemas.openxmlformats.org/drawingml/2006/main">
              <a:ext uri="{FF2B5EF4-FFF2-40B4-BE49-F238E27FC236}">
                <a16:creationId xmlns:a16="http://schemas.microsoft.com/office/drawing/2014/main" id="{434E5AB7-4375-41AE-A849-D26E1797EB21}"/>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07E3C5F4-16F5-4CAD-9F39-5B4CE62E79E9}"/>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36</a:t>
            </a:r>
          </a:p>
        </p:txBody>
      </p:sp>
      <p:sp>
        <p:nvSpPr>
          <p:cNvPr id="4" name="">
            <a:extLst xmlns:a="http://schemas.openxmlformats.org/drawingml/2006/main">
              <a:ext uri="{FF2B5EF4-FFF2-40B4-BE49-F238E27FC236}">
                <a16:creationId xmlns:a16="http://schemas.microsoft.com/office/drawing/2014/main" id="{A546DC96-ED7C-4FE7-BA13-0F88E2DE5A54}"/>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24897F7C-6506-47F8-A48B-71D4E80888D8}"/>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今日作った NGINX on VM は、Web 3層の Web 層を単純化して体験したものです。AP 層と DB 層は、後続回で段階的に扱います。</a:t>
            </a:r>
          </a:p>
        </p:txBody>
      </p:sp>
      <p:sp>
        <p:nvSpPr>
          <p:cNvPr id="6" name="">
            <a:extLst xmlns:a="http://schemas.openxmlformats.org/drawingml/2006/main">
              <a:ext uri="{FF2B5EF4-FFF2-40B4-BE49-F238E27FC236}">
                <a16:creationId xmlns:a16="http://schemas.microsoft.com/office/drawing/2014/main" id="{88C44CC4-1BFE-4195-AC82-B7EBE4273DB2}"/>
              </a:ext>
            </a:extLst>
          </p:cNvPr>
          <p:cNvSpPr>
            <a:spLocks xmlns:a="http://schemas.openxmlformats.org/drawingml/2006/main" noGrp="1"/>
          </p:cNvSpPr>
          <p:nvPr/>
        </p:nvSpPr>
        <p:spPr>
          <a:xfrm xmlns:a="http://schemas.openxmlformats.org/drawingml/2006/main">
            <a:off x="914400" y="2628900"/>
            <a:ext cx="3302000" cy="1143000"/>
          </a:xfrm>
          <a:prstGeom xmlns:a="http://schemas.openxmlformats.org/drawingml/2006/main" prst="rect">
            <a:avLst/>
          </a:prstGeom>
          <a:solidFill xmlns:a="http://schemas.openxmlformats.org/drawingml/2006/main">
            <a:srgbClr val="EAF1FB"/>
          </a:solidFill>
          <a:ln xmlns:a="http://schemas.openxmlformats.org/drawingml/2006/main" w="13335">
            <a:solidFill>
              <a:srgbClr val="0F766E"/>
            </a:solidFill>
            <a:prstDash val="solid"/>
          </a:ln>
        </p:spPr>
      </p:sp>
      <p:sp>
        <p:nvSpPr>
          <p:cNvPr id="7" name="">
            <a:extLst xmlns:a="http://schemas.openxmlformats.org/drawingml/2006/main">
              <a:ext uri="{FF2B5EF4-FFF2-40B4-BE49-F238E27FC236}">
                <a16:creationId xmlns:a16="http://schemas.microsoft.com/office/drawing/2014/main" id="{783FE12E-05AD-4B1D-BA4A-84E77C94F089}"/>
              </a:ext>
            </a:extLst>
          </p:cNvPr>
          <p:cNvSpPr>
            <a:spLocks xmlns:a="http://schemas.openxmlformats.org/drawingml/2006/main" noGrp="1"/>
          </p:cNvSpPr>
          <p:nvPr/>
        </p:nvSpPr>
        <p:spPr>
          <a:xfrm xmlns:a="http://schemas.openxmlformats.org/drawingml/2006/main">
            <a:off x="1009650" y="2819400"/>
            <a:ext cx="3111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Web 層 NGINX on Azure VM</a:t>
            </a:r>
          </a:p>
        </p:txBody>
      </p:sp>
      <p:sp>
        <p:nvSpPr>
          <p:cNvPr id="8" name="">
            <a:extLst xmlns:a="http://schemas.openxmlformats.org/drawingml/2006/main">
              <a:ext uri="{FF2B5EF4-FFF2-40B4-BE49-F238E27FC236}">
                <a16:creationId xmlns:a16="http://schemas.microsoft.com/office/drawing/2014/main" id="{0675B820-3AC2-433A-94EE-A355B372A288}"/>
              </a:ext>
            </a:extLst>
          </p:cNvPr>
          <p:cNvSpPr>
            <a:spLocks xmlns:a="http://schemas.openxmlformats.org/drawingml/2006/main" noGrp="1"/>
          </p:cNvSpPr>
          <p:nvPr/>
        </p:nvSpPr>
        <p:spPr>
          <a:xfrm xmlns:a="http://schemas.openxmlformats.org/drawingml/2006/main">
            <a:off x="4216400" y="3076575"/>
            <a:ext cx="228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0">
                <a:solidFill>
                  <a:srgbClr val="4472C4"/>
                </a:solidFill>
                <a:latin typeface="Yu Gothic UI"/>
                <a:ea typeface="Yu Gothic UI"/>
                <a:cs typeface="Yu Gothic UI"/>
              </a:defRPr>
            </a:pPr>
            <a:r>
              <a:rPr sz="1350" b="0">
                <a:solidFill>
                  <a:srgbClr val="4472C4"/>
                </a:solidFill>
                <a:latin typeface="Yu Gothic UI"/>
                <a:ea typeface="Yu Gothic UI"/>
                <a:cs typeface="Yu Gothic UI"/>
              </a:rPr>
              <a:t>→</a:t>
            </a:r>
          </a:p>
        </p:txBody>
      </p:sp>
      <p:sp>
        <p:nvSpPr>
          <p:cNvPr id="9" name="">
            <a:extLst xmlns:a="http://schemas.openxmlformats.org/drawingml/2006/main">
              <a:ext uri="{FF2B5EF4-FFF2-40B4-BE49-F238E27FC236}">
                <a16:creationId xmlns:a16="http://schemas.microsoft.com/office/drawing/2014/main" id="{AEA82494-76D1-4AFF-8DFD-EEDC91B9516C}"/>
              </a:ext>
            </a:extLst>
          </p:cNvPr>
          <p:cNvSpPr>
            <a:spLocks xmlns:a="http://schemas.openxmlformats.org/drawingml/2006/main" noGrp="1"/>
          </p:cNvSpPr>
          <p:nvPr/>
        </p:nvSpPr>
        <p:spPr>
          <a:xfrm xmlns:a="http://schemas.openxmlformats.org/drawingml/2006/main">
            <a:off x="4445000" y="2628900"/>
            <a:ext cx="3302000" cy="1143000"/>
          </a:xfrm>
          <a:prstGeom xmlns:a="http://schemas.openxmlformats.org/drawingml/2006/main" prst="rect">
            <a:avLst/>
          </a:prstGeom>
          <a:solidFill xmlns:a="http://schemas.openxmlformats.org/drawingml/2006/main">
            <a:srgbClr val="FFFFFF"/>
          </a:solidFill>
          <a:ln xmlns:a="http://schemas.openxmlformats.org/drawingml/2006/main" w="13335">
            <a:solidFill>
              <a:srgbClr val="70AD47"/>
            </a:solidFill>
            <a:prstDash val="solid"/>
          </a:ln>
        </p:spPr>
      </p:sp>
      <p:sp>
        <p:nvSpPr>
          <p:cNvPr id="10" name="">
            <a:extLst xmlns:a="http://schemas.openxmlformats.org/drawingml/2006/main">
              <a:ext uri="{FF2B5EF4-FFF2-40B4-BE49-F238E27FC236}">
                <a16:creationId xmlns:a16="http://schemas.microsoft.com/office/drawing/2014/main" id="{29A5512B-9AF4-454A-BB89-14CE7D29367A}"/>
              </a:ext>
            </a:extLst>
          </p:cNvPr>
          <p:cNvSpPr>
            <a:spLocks xmlns:a="http://schemas.openxmlformats.org/drawingml/2006/main" noGrp="1"/>
          </p:cNvSpPr>
          <p:nvPr/>
        </p:nvSpPr>
        <p:spPr>
          <a:xfrm xmlns:a="http://schemas.openxmlformats.org/drawingml/2006/main">
            <a:off x="4540250" y="2819400"/>
            <a:ext cx="3111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AP 層 第5回から第6回で接続</a:t>
            </a:r>
          </a:p>
        </p:txBody>
      </p:sp>
      <p:sp>
        <p:nvSpPr>
          <p:cNvPr id="11" name="">
            <a:extLst xmlns:a="http://schemas.openxmlformats.org/drawingml/2006/main">
              <a:ext uri="{FF2B5EF4-FFF2-40B4-BE49-F238E27FC236}">
                <a16:creationId xmlns:a16="http://schemas.microsoft.com/office/drawing/2014/main" id="{73B9E31D-4561-49D0-A92E-9EA4D19E9A7F}"/>
              </a:ext>
            </a:extLst>
          </p:cNvPr>
          <p:cNvSpPr>
            <a:spLocks xmlns:a="http://schemas.openxmlformats.org/drawingml/2006/main" noGrp="1"/>
          </p:cNvSpPr>
          <p:nvPr/>
        </p:nvSpPr>
        <p:spPr>
          <a:xfrm xmlns:a="http://schemas.openxmlformats.org/drawingml/2006/main">
            <a:off x="7747000" y="3076575"/>
            <a:ext cx="228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0">
                <a:solidFill>
                  <a:srgbClr val="4472C4"/>
                </a:solidFill>
                <a:latin typeface="Yu Gothic UI"/>
                <a:ea typeface="Yu Gothic UI"/>
                <a:cs typeface="Yu Gothic UI"/>
              </a:defRPr>
            </a:pPr>
            <a:r>
              <a:rPr sz="1350" b="0">
                <a:solidFill>
                  <a:srgbClr val="4472C4"/>
                </a:solidFill>
                <a:latin typeface="Yu Gothic UI"/>
                <a:ea typeface="Yu Gothic UI"/>
                <a:cs typeface="Yu Gothic UI"/>
              </a:rPr>
              <a:t>→</a:t>
            </a:r>
          </a:p>
        </p:txBody>
      </p:sp>
      <p:sp>
        <p:nvSpPr>
          <p:cNvPr id="12" name="">
            <a:extLst xmlns:a="http://schemas.openxmlformats.org/drawingml/2006/main">
              <a:ext uri="{FF2B5EF4-FFF2-40B4-BE49-F238E27FC236}">
                <a16:creationId xmlns:a16="http://schemas.microsoft.com/office/drawing/2014/main" id="{57CB9B0D-35EA-4F04-A425-158C56D9457D}"/>
              </a:ext>
            </a:extLst>
          </p:cNvPr>
          <p:cNvSpPr>
            <a:spLocks xmlns:a="http://schemas.openxmlformats.org/drawingml/2006/main" noGrp="1"/>
          </p:cNvSpPr>
          <p:nvPr/>
        </p:nvSpPr>
        <p:spPr>
          <a:xfrm xmlns:a="http://schemas.openxmlformats.org/drawingml/2006/main">
            <a:off x="7975600" y="2628900"/>
            <a:ext cx="3302000" cy="1143000"/>
          </a:xfrm>
          <a:prstGeom xmlns:a="http://schemas.openxmlformats.org/drawingml/2006/main" prst="rect">
            <a:avLst/>
          </a:prstGeom>
          <a:solidFill xmlns:a="http://schemas.openxmlformats.org/drawingml/2006/main">
            <a:srgbClr val="FFFFFF"/>
          </a:solidFill>
          <a:ln xmlns:a="http://schemas.openxmlformats.org/drawingml/2006/main" w="13335">
            <a:solidFill>
              <a:srgbClr val="ED7D31"/>
            </a:solidFill>
            <a:prstDash val="solid"/>
          </a:ln>
        </p:spPr>
      </p:sp>
      <p:sp>
        <p:nvSpPr>
          <p:cNvPr id="13" name="">
            <a:extLst xmlns:a="http://schemas.openxmlformats.org/drawingml/2006/main">
              <a:ext uri="{FF2B5EF4-FFF2-40B4-BE49-F238E27FC236}">
                <a16:creationId xmlns:a16="http://schemas.microsoft.com/office/drawing/2014/main" id="{4C83F9B2-2C51-4A8B-A8E5-4E1E3218B93B}"/>
              </a:ext>
            </a:extLst>
          </p:cNvPr>
          <p:cNvSpPr>
            <a:spLocks xmlns:a="http://schemas.openxmlformats.org/drawingml/2006/main" noGrp="1"/>
          </p:cNvSpPr>
          <p:nvPr/>
        </p:nvSpPr>
        <p:spPr>
          <a:xfrm xmlns:a="http://schemas.openxmlformats.org/drawingml/2006/main">
            <a:off x="8070850" y="2819400"/>
            <a:ext cx="3111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1F2937"/>
                </a:solidFill>
                <a:latin typeface="Yu Gothic UI"/>
                <a:ea typeface="Yu Gothic UI"/>
                <a:cs typeface="Yu Gothic UI"/>
              </a:defRPr>
            </a:pPr>
            <a:r>
              <a:rPr sz="1050" b="1">
                <a:solidFill>
                  <a:srgbClr val="1F2937"/>
                </a:solidFill>
                <a:latin typeface="Yu Gothic UI"/>
                <a:ea typeface="Yu Gothic UI"/>
                <a:cs typeface="Yu Gothic UI"/>
              </a:rPr>
              <a:t>DB 層 PostgreSQL で扱う</a:t>
            </a:r>
          </a:p>
        </p:txBody>
      </p:sp>
      <p:sp>
        <p:nvSpPr>
          <p:cNvPr id="14" name="">
            <a:extLst xmlns:a="http://schemas.openxmlformats.org/drawingml/2006/main">
              <a:ext uri="{FF2B5EF4-FFF2-40B4-BE49-F238E27FC236}">
                <a16:creationId xmlns:a16="http://schemas.microsoft.com/office/drawing/2014/main" id="{277722C7-12A8-43B5-BA06-E763269B9CD4}"/>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36 / 46</a:t>
            </a:r>
          </a:p>
        </p:txBody>
      </p:sp>
    </p:spTree>
    <p:extLst>
      <p:ext uri="{BB962C8B-B14F-4D97-AF65-F5344CB8AC3E}">
        <p14:creationId xmlns:p14="http://schemas.microsoft.com/office/powerpoint/2010/main" val="118607714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130572E-81E6-4C7B-8263-0D12F1291FEA}"/>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コストが発生する場所</a:t>
            </a:r>
          </a:p>
        </p:txBody>
      </p:sp>
      <p:sp>
        <p:nvSpPr>
          <p:cNvPr id="2" name="">
            <a:extLst xmlns:a="http://schemas.openxmlformats.org/drawingml/2006/main">
              <a:ext uri="{FF2B5EF4-FFF2-40B4-BE49-F238E27FC236}">
                <a16:creationId xmlns:a16="http://schemas.microsoft.com/office/drawing/2014/main" id="{58ABC896-2B0C-4A50-B9C3-65B5BF8551DF}"/>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79E4EEDF-6DD5-40A5-ABBE-26E33023C119}"/>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37</a:t>
            </a:r>
          </a:p>
        </p:txBody>
      </p:sp>
      <p:sp>
        <p:nvSpPr>
          <p:cNvPr id="4" name="">
            <a:extLst xmlns:a="http://schemas.openxmlformats.org/drawingml/2006/main">
              <a:ext uri="{FF2B5EF4-FFF2-40B4-BE49-F238E27FC236}">
                <a16:creationId xmlns:a16="http://schemas.microsoft.com/office/drawing/2014/main" id="{C27C15FB-F0CF-4FB9-820E-CD1468CFAB96}"/>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E0A4D46-3CBE-4053-9899-AD2196B1E480}"/>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クラウドでは作ったリソースが課金対象になります。VM を停止するだけでなく、関連リソースが残らないように削除方法を確認します。</a:t>
            </a:r>
          </a:p>
        </p:txBody>
      </p:sp>
      <p:sp>
        <p:nvSpPr>
          <p:cNvPr id="6" name="">
            <a:extLst xmlns:a="http://schemas.openxmlformats.org/drawingml/2006/main">
              <a:ext uri="{FF2B5EF4-FFF2-40B4-BE49-F238E27FC236}">
                <a16:creationId xmlns:a16="http://schemas.microsoft.com/office/drawing/2014/main" id="{60CA6E3B-E24C-4761-933C-425C6FD03AA2}"/>
              </a:ext>
            </a:extLst>
          </p:cNvPr>
          <p:cNvSpPr>
            <a:spLocks xmlns:a="http://schemas.openxmlformats.org/drawingml/2006/main" noGrp="1"/>
          </p:cNvSpPr>
          <p:nvPr/>
        </p:nvSpPr>
        <p:spPr>
          <a:xfrm xmlns:a="http://schemas.openxmlformats.org/drawingml/2006/main">
            <a:off x="876300" y="2038350"/>
            <a:ext cx="347980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7" name="">
            <a:extLst xmlns:a="http://schemas.openxmlformats.org/drawingml/2006/main">
              <a:ext uri="{FF2B5EF4-FFF2-40B4-BE49-F238E27FC236}">
                <a16:creationId xmlns:a16="http://schemas.microsoft.com/office/drawing/2014/main" id="{9D2D13AA-50AE-4B8A-81CD-A9C9518A1C49}"/>
              </a:ext>
            </a:extLst>
          </p:cNvPr>
          <p:cNvSpPr>
            <a:spLocks xmlns:a="http://schemas.openxmlformats.org/drawingml/2006/main" noGrp="1"/>
          </p:cNvSpPr>
          <p:nvPr/>
        </p:nvSpPr>
        <p:spPr>
          <a:xfrm xmlns:a="http://schemas.openxmlformats.org/drawingml/2006/main">
            <a:off x="952500" y="2085975"/>
            <a:ext cx="332740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リソース</a:t>
            </a:r>
          </a:p>
        </p:txBody>
      </p:sp>
      <p:sp>
        <p:nvSpPr>
          <p:cNvPr id="8" name="">
            <a:extLst xmlns:a="http://schemas.openxmlformats.org/drawingml/2006/main">
              <a:ext uri="{FF2B5EF4-FFF2-40B4-BE49-F238E27FC236}">
                <a16:creationId xmlns:a16="http://schemas.microsoft.com/office/drawing/2014/main" id="{5B24662F-5AFF-442B-B0C5-167ED795FEDE}"/>
              </a:ext>
            </a:extLst>
          </p:cNvPr>
          <p:cNvSpPr>
            <a:spLocks xmlns:a="http://schemas.openxmlformats.org/drawingml/2006/main" noGrp="1"/>
          </p:cNvSpPr>
          <p:nvPr/>
        </p:nvSpPr>
        <p:spPr>
          <a:xfrm xmlns:a="http://schemas.openxmlformats.org/drawingml/2006/main">
            <a:off x="4356100" y="2038350"/>
            <a:ext cx="347980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9" name="">
            <a:extLst xmlns:a="http://schemas.openxmlformats.org/drawingml/2006/main">
              <a:ext uri="{FF2B5EF4-FFF2-40B4-BE49-F238E27FC236}">
                <a16:creationId xmlns:a16="http://schemas.microsoft.com/office/drawing/2014/main" id="{002C51B1-7D64-4A3F-A312-F76478BF664C}"/>
              </a:ext>
            </a:extLst>
          </p:cNvPr>
          <p:cNvSpPr>
            <a:spLocks xmlns:a="http://schemas.openxmlformats.org/drawingml/2006/main" noGrp="1"/>
          </p:cNvSpPr>
          <p:nvPr/>
        </p:nvSpPr>
        <p:spPr>
          <a:xfrm xmlns:a="http://schemas.openxmlformats.org/drawingml/2006/main">
            <a:off x="4432300" y="2085975"/>
            <a:ext cx="332740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課金注意</a:t>
            </a:r>
          </a:p>
        </p:txBody>
      </p:sp>
      <p:sp>
        <p:nvSpPr>
          <p:cNvPr id="10" name="">
            <a:extLst xmlns:a="http://schemas.openxmlformats.org/drawingml/2006/main">
              <a:ext uri="{FF2B5EF4-FFF2-40B4-BE49-F238E27FC236}">
                <a16:creationId xmlns:a16="http://schemas.microsoft.com/office/drawing/2014/main" id="{FF96BE9F-BD3A-4E34-B90A-EFC6A56AD4F5}"/>
              </a:ext>
            </a:extLst>
          </p:cNvPr>
          <p:cNvSpPr>
            <a:spLocks xmlns:a="http://schemas.openxmlformats.org/drawingml/2006/main" noGrp="1"/>
          </p:cNvSpPr>
          <p:nvPr/>
        </p:nvSpPr>
        <p:spPr>
          <a:xfrm xmlns:a="http://schemas.openxmlformats.org/drawingml/2006/main">
            <a:off x="7835900" y="2038350"/>
            <a:ext cx="347980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11" name="">
            <a:extLst xmlns:a="http://schemas.openxmlformats.org/drawingml/2006/main">
              <a:ext uri="{FF2B5EF4-FFF2-40B4-BE49-F238E27FC236}">
                <a16:creationId xmlns:a16="http://schemas.microsoft.com/office/drawing/2014/main" id="{37251A17-E55E-41B1-B8C6-33D388A82B72}"/>
              </a:ext>
            </a:extLst>
          </p:cNvPr>
          <p:cNvSpPr>
            <a:spLocks xmlns:a="http://schemas.openxmlformats.org/drawingml/2006/main" noGrp="1"/>
          </p:cNvSpPr>
          <p:nvPr/>
        </p:nvSpPr>
        <p:spPr>
          <a:xfrm xmlns:a="http://schemas.openxmlformats.org/drawingml/2006/main">
            <a:off x="7912100" y="2085975"/>
            <a:ext cx="332740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本回の扱い</a:t>
            </a:r>
          </a:p>
        </p:txBody>
      </p:sp>
      <p:sp>
        <p:nvSpPr>
          <p:cNvPr id="12" name="">
            <a:extLst xmlns:a="http://schemas.openxmlformats.org/drawingml/2006/main">
              <a:ext uri="{FF2B5EF4-FFF2-40B4-BE49-F238E27FC236}">
                <a16:creationId xmlns:a16="http://schemas.microsoft.com/office/drawing/2014/main" id="{01175F0E-4E31-4EAD-AC06-CEC74363B084}"/>
              </a:ext>
            </a:extLst>
          </p:cNvPr>
          <p:cNvSpPr>
            <a:spLocks xmlns:a="http://schemas.openxmlformats.org/drawingml/2006/main" noGrp="1"/>
          </p:cNvSpPr>
          <p:nvPr/>
        </p:nvSpPr>
        <p:spPr>
          <a:xfrm xmlns:a="http://schemas.openxmlformats.org/drawingml/2006/main">
            <a:off x="876300" y="2447925"/>
            <a:ext cx="3479800" cy="754856"/>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13" name="">
            <a:extLst xmlns:a="http://schemas.openxmlformats.org/drawingml/2006/main">
              <a:ext uri="{FF2B5EF4-FFF2-40B4-BE49-F238E27FC236}">
                <a16:creationId xmlns:a16="http://schemas.microsoft.com/office/drawing/2014/main" id="{93F5655D-035E-42B8-90C9-0746D7DFDB3B}"/>
              </a:ext>
            </a:extLst>
          </p:cNvPr>
          <p:cNvSpPr>
            <a:spLocks xmlns:a="http://schemas.openxmlformats.org/drawingml/2006/main" noGrp="1"/>
          </p:cNvSpPr>
          <p:nvPr/>
        </p:nvSpPr>
        <p:spPr>
          <a:xfrm xmlns:a="http://schemas.openxmlformats.org/drawingml/2006/main">
            <a:off x="952500" y="2495550"/>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1">
                <a:solidFill>
                  <a:srgbClr val="344054"/>
                </a:solidFill>
                <a:latin typeface="Yu Gothic UI"/>
                <a:ea typeface="Yu Gothic UI"/>
                <a:cs typeface="Yu Gothic UI"/>
              </a:defRPr>
            </a:pPr>
            <a:r>
              <a:rPr sz="795" b="1">
                <a:solidFill>
                  <a:srgbClr val="344054"/>
                </a:solidFill>
                <a:latin typeface="Yu Gothic UI"/>
                <a:ea typeface="Yu Gothic UI"/>
                <a:cs typeface="Yu Gothic UI"/>
              </a:rPr>
              <a:t>Azure VM</a:t>
            </a:r>
          </a:p>
        </p:txBody>
      </p:sp>
      <p:sp>
        <p:nvSpPr>
          <p:cNvPr id="14" name="">
            <a:extLst xmlns:a="http://schemas.openxmlformats.org/drawingml/2006/main">
              <a:ext uri="{FF2B5EF4-FFF2-40B4-BE49-F238E27FC236}">
                <a16:creationId xmlns:a16="http://schemas.microsoft.com/office/drawing/2014/main" id="{B9ABB64B-84C5-4CF0-975A-9CD00816B36E}"/>
              </a:ext>
            </a:extLst>
          </p:cNvPr>
          <p:cNvSpPr>
            <a:spLocks xmlns:a="http://schemas.openxmlformats.org/drawingml/2006/main" noGrp="1"/>
          </p:cNvSpPr>
          <p:nvPr/>
        </p:nvSpPr>
        <p:spPr>
          <a:xfrm xmlns:a="http://schemas.openxmlformats.org/drawingml/2006/main">
            <a:off x="4356100" y="2447925"/>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15" name="">
            <a:extLst xmlns:a="http://schemas.openxmlformats.org/drawingml/2006/main">
              <a:ext uri="{FF2B5EF4-FFF2-40B4-BE49-F238E27FC236}">
                <a16:creationId xmlns:a16="http://schemas.microsoft.com/office/drawing/2014/main" id="{F8A6DFE0-48AD-495C-840E-D3A767B90F37}"/>
              </a:ext>
            </a:extLst>
          </p:cNvPr>
          <p:cNvSpPr>
            <a:spLocks xmlns:a="http://schemas.openxmlformats.org/drawingml/2006/main" noGrp="1"/>
          </p:cNvSpPr>
          <p:nvPr/>
        </p:nvSpPr>
        <p:spPr>
          <a:xfrm xmlns:a="http://schemas.openxmlformats.org/drawingml/2006/main">
            <a:off x="4432300" y="2495550"/>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実行中はコンピュート課金が発生します。</a:t>
            </a:r>
          </a:p>
        </p:txBody>
      </p:sp>
      <p:sp>
        <p:nvSpPr>
          <p:cNvPr id="16" name="">
            <a:extLst xmlns:a="http://schemas.openxmlformats.org/drawingml/2006/main">
              <a:ext uri="{FF2B5EF4-FFF2-40B4-BE49-F238E27FC236}">
                <a16:creationId xmlns:a16="http://schemas.microsoft.com/office/drawing/2014/main" id="{9D304349-1A29-4D66-B2F8-BB404E11CA74}"/>
              </a:ext>
            </a:extLst>
          </p:cNvPr>
          <p:cNvSpPr>
            <a:spLocks xmlns:a="http://schemas.openxmlformats.org/drawingml/2006/main" noGrp="1"/>
          </p:cNvSpPr>
          <p:nvPr/>
        </p:nvSpPr>
        <p:spPr>
          <a:xfrm xmlns:a="http://schemas.openxmlformats.org/drawingml/2006/main">
            <a:off x="7835900" y="2447925"/>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17" name="">
            <a:extLst xmlns:a="http://schemas.openxmlformats.org/drawingml/2006/main">
              <a:ext uri="{FF2B5EF4-FFF2-40B4-BE49-F238E27FC236}">
                <a16:creationId xmlns:a16="http://schemas.microsoft.com/office/drawing/2014/main" id="{E7705CD2-A476-4F50-996C-E0D159535D7D}"/>
              </a:ext>
            </a:extLst>
          </p:cNvPr>
          <p:cNvSpPr>
            <a:spLocks xmlns:a="http://schemas.openxmlformats.org/drawingml/2006/main" noGrp="1"/>
          </p:cNvSpPr>
          <p:nvPr/>
        </p:nvSpPr>
        <p:spPr>
          <a:xfrm xmlns:a="http://schemas.openxmlformats.org/drawingml/2006/main">
            <a:off x="7912100" y="2495550"/>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最後に削除します。</a:t>
            </a:r>
          </a:p>
        </p:txBody>
      </p:sp>
      <p:sp>
        <p:nvSpPr>
          <p:cNvPr id="18" name="">
            <a:extLst xmlns:a="http://schemas.openxmlformats.org/drawingml/2006/main">
              <a:ext uri="{FF2B5EF4-FFF2-40B4-BE49-F238E27FC236}">
                <a16:creationId xmlns:a16="http://schemas.microsoft.com/office/drawing/2014/main" id="{85C1CBBA-3089-4B3A-8743-B64D01F89B41}"/>
              </a:ext>
            </a:extLst>
          </p:cNvPr>
          <p:cNvSpPr>
            <a:spLocks xmlns:a="http://schemas.openxmlformats.org/drawingml/2006/main" noGrp="1"/>
          </p:cNvSpPr>
          <p:nvPr/>
        </p:nvSpPr>
        <p:spPr>
          <a:xfrm xmlns:a="http://schemas.openxmlformats.org/drawingml/2006/main">
            <a:off x="876300" y="3202781"/>
            <a:ext cx="3479800" cy="754856"/>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19" name="">
            <a:extLst xmlns:a="http://schemas.openxmlformats.org/drawingml/2006/main">
              <a:ext uri="{FF2B5EF4-FFF2-40B4-BE49-F238E27FC236}">
                <a16:creationId xmlns:a16="http://schemas.microsoft.com/office/drawing/2014/main" id="{320E16F7-CCD1-4FEB-A1AC-4E305B8CDE05}"/>
              </a:ext>
            </a:extLst>
          </p:cNvPr>
          <p:cNvSpPr>
            <a:spLocks xmlns:a="http://schemas.openxmlformats.org/drawingml/2006/main" noGrp="1"/>
          </p:cNvSpPr>
          <p:nvPr/>
        </p:nvSpPr>
        <p:spPr>
          <a:xfrm xmlns:a="http://schemas.openxmlformats.org/drawingml/2006/main">
            <a:off x="952500" y="3250406"/>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1">
                <a:solidFill>
                  <a:srgbClr val="344054"/>
                </a:solidFill>
                <a:latin typeface="Yu Gothic UI"/>
                <a:ea typeface="Yu Gothic UI"/>
                <a:cs typeface="Yu Gothic UI"/>
              </a:defRPr>
            </a:pPr>
            <a:r>
              <a:rPr sz="795" b="1">
                <a:solidFill>
                  <a:srgbClr val="344054"/>
                </a:solidFill>
                <a:latin typeface="Yu Gothic UI"/>
                <a:ea typeface="Yu Gothic UI"/>
                <a:cs typeface="Yu Gothic UI"/>
              </a:rPr>
              <a:t>Managed Disk</a:t>
            </a:r>
          </a:p>
        </p:txBody>
      </p:sp>
      <p:sp>
        <p:nvSpPr>
          <p:cNvPr id="20" name="">
            <a:extLst xmlns:a="http://schemas.openxmlformats.org/drawingml/2006/main">
              <a:ext uri="{FF2B5EF4-FFF2-40B4-BE49-F238E27FC236}">
                <a16:creationId xmlns:a16="http://schemas.microsoft.com/office/drawing/2014/main" id="{ACFB3090-862A-4CB4-8528-7994C337C708}"/>
              </a:ext>
            </a:extLst>
          </p:cNvPr>
          <p:cNvSpPr>
            <a:spLocks xmlns:a="http://schemas.openxmlformats.org/drawingml/2006/main" noGrp="1"/>
          </p:cNvSpPr>
          <p:nvPr/>
        </p:nvSpPr>
        <p:spPr>
          <a:xfrm xmlns:a="http://schemas.openxmlformats.org/drawingml/2006/main">
            <a:off x="4356100" y="3202781"/>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1" name="">
            <a:extLst xmlns:a="http://schemas.openxmlformats.org/drawingml/2006/main">
              <a:ext uri="{FF2B5EF4-FFF2-40B4-BE49-F238E27FC236}">
                <a16:creationId xmlns:a16="http://schemas.microsoft.com/office/drawing/2014/main" id="{96C7BC5E-1062-430E-8146-B6EC1FEEAAA0}"/>
              </a:ext>
            </a:extLst>
          </p:cNvPr>
          <p:cNvSpPr>
            <a:spLocks xmlns:a="http://schemas.openxmlformats.org/drawingml/2006/main" noGrp="1"/>
          </p:cNvSpPr>
          <p:nvPr/>
        </p:nvSpPr>
        <p:spPr>
          <a:xfrm xmlns:a="http://schemas.openxmlformats.org/drawingml/2006/main">
            <a:off x="4432300" y="3250406"/>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VM 停止後も残ると課金が続く可能性があります。</a:t>
            </a:r>
          </a:p>
        </p:txBody>
      </p:sp>
      <p:sp>
        <p:nvSpPr>
          <p:cNvPr id="22" name="">
            <a:extLst xmlns:a="http://schemas.openxmlformats.org/drawingml/2006/main">
              <a:ext uri="{FF2B5EF4-FFF2-40B4-BE49-F238E27FC236}">
                <a16:creationId xmlns:a16="http://schemas.microsoft.com/office/drawing/2014/main" id="{90045BF6-8341-4287-B449-D036C2A295CF}"/>
              </a:ext>
            </a:extLst>
          </p:cNvPr>
          <p:cNvSpPr>
            <a:spLocks xmlns:a="http://schemas.openxmlformats.org/drawingml/2006/main" noGrp="1"/>
          </p:cNvSpPr>
          <p:nvPr/>
        </p:nvSpPr>
        <p:spPr>
          <a:xfrm xmlns:a="http://schemas.openxmlformats.org/drawingml/2006/main">
            <a:off x="7835900" y="3202781"/>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3" name="">
            <a:extLst xmlns:a="http://schemas.openxmlformats.org/drawingml/2006/main">
              <a:ext uri="{FF2B5EF4-FFF2-40B4-BE49-F238E27FC236}">
                <a16:creationId xmlns:a16="http://schemas.microsoft.com/office/drawing/2014/main" id="{954A60F6-4B3B-4595-BAA9-ABACA4B9BB64}"/>
              </a:ext>
            </a:extLst>
          </p:cNvPr>
          <p:cNvSpPr>
            <a:spLocks xmlns:a="http://schemas.openxmlformats.org/drawingml/2006/main" noGrp="1"/>
          </p:cNvSpPr>
          <p:nvPr/>
        </p:nvSpPr>
        <p:spPr>
          <a:xfrm xmlns:a="http://schemas.openxmlformats.org/drawingml/2006/main">
            <a:off x="7912100" y="3250406"/>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リソースグループ削除でまとめて消します。</a:t>
            </a:r>
          </a:p>
        </p:txBody>
      </p:sp>
      <p:sp>
        <p:nvSpPr>
          <p:cNvPr id="24" name="">
            <a:extLst xmlns:a="http://schemas.openxmlformats.org/drawingml/2006/main">
              <a:ext uri="{FF2B5EF4-FFF2-40B4-BE49-F238E27FC236}">
                <a16:creationId xmlns:a16="http://schemas.microsoft.com/office/drawing/2014/main" id="{2BC5CA1B-4BB4-43FE-8B82-1685ED4EA672}"/>
              </a:ext>
            </a:extLst>
          </p:cNvPr>
          <p:cNvSpPr>
            <a:spLocks xmlns:a="http://schemas.openxmlformats.org/drawingml/2006/main" noGrp="1"/>
          </p:cNvSpPr>
          <p:nvPr/>
        </p:nvSpPr>
        <p:spPr>
          <a:xfrm xmlns:a="http://schemas.openxmlformats.org/drawingml/2006/main">
            <a:off x="876300" y="3957638"/>
            <a:ext cx="3479800" cy="754856"/>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25" name="">
            <a:extLst xmlns:a="http://schemas.openxmlformats.org/drawingml/2006/main">
              <a:ext uri="{FF2B5EF4-FFF2-40B4-BE49-F238E27FC236}">
                <a16:creationId xmlns:a16="http://schemas.microsoft.com/office/drawing/2014/main" id="{E68461AC-D7C3-424D-802E-1DB01B8FBB60}"/>
              </a:ext>
            </a:extLst>
          </p:cNvPr>
          <p:cNvSpPr>
            <a:spLocks xmlns:a="http://schemas.openxmlformats.org/drawingml/2006/main" noGrp="1"/>
          </p:cNvSpPr>
          <p:nvPr/>
        </p:nvSpPr>
        <p:spPr>
          <a:xfrm xmlns:a="http://schemas.openxmlformats.org/drawingml/2006/main">
            <a:off x="952500" y="4005263"/>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1">
                <a:solidFill>
                  <a:srgbClr val="344054"/>
                </a:solidFill>
                <a:latin typeface="Yu Gothic UI"/>
                <a:ea typeface="Yu Gothic UI"/>
                <a:cs typeface="Yu Gothic UI"/>
              </a:defRPr>
            </a:pPr>
            <a:r>
              <a:rPr sz="795" b="1">
                <a:solidFill>
                  <a:srgbClr val="344054"/>
                </a:solidFill>
                <a:latin typeface="Yu Gothic UI"/>
                <a:ea typeface="Yu Gothic UI"/>
                <a:cs typeface="Yu Gothic UI"/>
              </a:rPr>
              <a:t>Public IP</a:t>
            </a:r>
          </a:p>
        </p:txBody>
      </p:sp>
      <p:sp>
        <p:nvSpPr>
          <p:cNvPr id="26" name="">
            <a:extLst xmlns:a="http://schemas.openxmlformats.org/drawingml/2006/main">
              <a:ext uri="{FF2B5EF4-FFF2-40B4-BE49-F238E27FC236}">
                <a16:creationId xmlns:a16="http://schemas.microsoft.com/office/drawing/2014/main" id="{39BFB2CB-E5EB-482A-AAF5-3CB87C83A715}"/>
              </a:ext>
            </a:extLst>
          </p:cNvPr>
          <p:cNvSpPr>
            <a:spLocks xmlns:a="http://schemas.openxmlformats.org/drawingml/2006/main" noGrp="1"/>
          </p:cNvSpPr>
          <p:nvPr/>
        </p:nvSpPr>
        <p:spPr>
          <a:xfrm xmlns:a="http://schemas.openxmlformats.org/drawingml/2006/main">
            <a:off x="4356100" y="3957638"/>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7" name="">
            <a:extLst xmlns:a="http://schemas.openxmlformats.org/drawingml/2006/main">
              <a:ext uri="{FF2B5EF4-FFF2-40B4-BE49-F238E27FC236}">
                <a16:creationId xmlns:a16="http://schemas.microsoft.com/office/drawing/2014/main" id="{FD50F1DB-E470-4015-9565-D9D99EE247CB}"/>
              </a:ext>
            </a:extLst>
          </p:cNvPr>
          <p:cNvSpPr>
            <a:spLocks xmlns:a="http://schemas.openxmlformats.org/drawingml/2006/main" noGrp="1"/>
          </p:cNvSpPr>
          <p:nvPr/>
        </p:nvSpPr>
        <p:spPr>
          <a:xfrm xmlns:a="http://schemas.openxmlformats.org/drawingml/2006/main">
            <a:off x="4432300" y="4005263"/>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SKU や状態により課金対象になります。</a:t>
            </a:r>
          </a:p>
        </p:txBody>
      </p:sp>
      <p:sp>
        <p:nvSpPr>
          <p:cNvPr id="28" name="">
            <a:extLst xmlns:a="http://schemas.openxmlformats.org/drawingml/2006/main">
              <a:ext uri="{FF2B5EF4-FFF2-40B4-BE49-F238E27FC236}">
                <a16:creationId xmlns:a16="http://schemas.microsoft.com/office/drawing/2014/main" id="{399BCD77-37B5-4E7C-B20E-4BC4A3493C48}"/>
              </a:ext>
            </a:extLst>
          </p:cNvPr>
          <p:cNvSpPr>
            <a:spLocks xmlns:a="http://schemas.openxmlformats.org/drawingml/2006/main" noGrp="1"/>
          </p:cNvSpPr>
          <p:nvPr/>
        </p:nvSpPr>
        <p:spPr>
          <a:xfrm xmlns:a="http://schemas.openxmlformats.org/drawingml/2006/main">
            <a:off x="7835900" y="3957638"/>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9" name="">
            <a:extLst xmlns:a="http://schemas.openxmlformats.org/drawingml/2006/main">
              <a:ext uri="{FF2B5EF4-FFF2-40B4-BE49-F238E27FC236}">
                <a16:creationId xmlns:a16="http://schemas.microsoft.com/office/drawing/2014/main" id="{B11720A7-E9AD-453E-95BE-DA842325BEEF}"/>
              </a:ext>
            </a:extLst>
          </p:cNvPr>
          <p:cNvSpPr>
            <a:spLocks xmlns:a="http://schemas.openxmlformats.org/drawingml/2006/main" noGrp="1"/>
          </p:cNvSpPr>
          <p:nvPr/>
        </p:nvSpPr>
        <p:spPr>
          <a:xfrm xmlns:a="http://schemas.openxmlformats.org/drawingml/2006/main">
            <a:off x="7912100" y="4005263"/>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リソースグループ削除でまとめて消します。</a:t>
            </a:r>
          </a:p>
        </p:txBody>
      </p:sp>
      <p:sp>
        <p:nvSpPr>
          <p:cNvPr id="30" name="">
            <a:extLst xmlns:a="http://schemas.openxmlformats.org/drawingml/2006/main">
              <a:ext uri="{FF2B5EF4-FFF2-40B4-BE49-F238E27FC236}">
                <a16:creationId xmlns:a16="http://schemas.microsoft.com/office/drawing/2014/main" id="{F0E0EFEC-4EF2-4A79-B202-5C97D4E6BF4E}"/>
              </a:ext>
            </a:extLst>
          </p:cNvPr>
          <p:cNvSpPr>
            <a:spLocks xmlns:a="http://schemas.openxmlformats.org/drawingml/2006/main" noGrp="1"/>
          </p:cNvSpPr>
          <p:nvPr/>
        </p:nvSpPr>
        <p:spPr>
          <a:xfrm xmlns:a="http://schemas.openxmlformats.org/drawingml/2006/main">
            <a:off x="876300" y="4712494"/>
            <a:ext cx="3479800" cy="754856"/>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31" name="">
            <a:extLst xmlns:a="http://schemas.openxmlformats.org/drawingml/2006/main">
              <a:ext uri="{FF2B5EF4-FFF2-40B4-BE49-F238E27FC236}">
                <a16:creationId xmlns:a16="http://schemas.microsoft.com/office/drawing/2014/main" id="{1CEBE5A3-561B-4FA8-8B4B-55E6EDBDCA81}"/>
              </a:ext>
            </a:extLst>
          </p:cNvPr>
          <p:cNvSpPr>
            <a:spLocks xmlns:a="http://schemas.openxmlformats.org/drawingml/2006/main" noGrp="1"/>
          </p:cNvSpPr>
          <p:nvPr/>
        </p:nvSpPr>
        <p:spPr>
          <a:xfrm xmlns:a="http://schemas.openxmlformats.org/drawingml/2006/main">
            <a:off x="952500" y="4760119"/>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1">
                <a:solidFill>
                  <a:srgbClr val="344054"/>
                </a:solidFill>
                <a:latin typeface="Yu Gothic UI"/>
                <a:ea typeface="Yu Gothic UI"/>
                <a:cs typeface="Yu Gothic UI"/>
              </a:defRPr>
            </a:pPr>
            <a:r>
              <a:rPr sz="795" b="1">
                <a:solidFill>
                  <a:srgbClr val="344054"/>
                </a:solidFill>
                <a:latin typeface="Yu Gothic UI"/>
                <a:ea typeface="Yu Gothic UI"/>
                <a:cs typeface="Yu Gothic UI"/>
              </a:rPr>
              <a:t>診断/ログ関連</a:t>
            </a:r>
          </a:p>
        </p:txBody>
      </p:sp>
      <p:sp>
        <p:nvSpPr>
          <p:cNvPr id="32" name="">
            <a:extLst xmlns:a="http://schemas.openxmlformats.org/drawingml/2006/main">
              <a:ext uri="{FF2B5EF4-FFF2-40B4-BE49-F238E27FC236}">
                <a16:creationId xmlns:a16="http://schemas.microsoft.com/office/drawing/2014/main" id="{C3E570E4-3DFD-4F1D-891E-0F0A16C2AC2E}"/>
              </a:ext>
            </a:extLst>
          </p:cNvPr>
          <p:cNvSpPr>
            <a:spLocks xmlns:a="http://schemas.openxmlformats.org/drawingml/2006/main" noGrp="1"/>
          </p:cNvSpPr>
          <p:nvPr/>
        </p:nvSpPr>
        <p:spPr>
          <a:xfrm xmlns:a="http://schemas.openxmlformats.org/drawingml/2006/main">
            <a:off x="4356100" y="4712494"/>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33" name="">
            <a:extLst xmlns:a="http://schemas.openxmlformats.org/drawingml/2006/main">
              <a:ext uri="{FF2B5EF4-FFF2-40B4-BE49-F238E27FC236}">
                <a16:creationId xmlns:a16="http://schemas.microsoft.com/office/drawing/2014/main" id="{10790305-3A8B-45B8-9D3E-C00D777A3BCD}"/>
              </a:ext>
            </a:extLst>
          </p:cNvPr>
          <p:cNvSpPr>
            <a:spLocks xmlns:a="http://schemas.openxmlformats.org/drawingml/2006/main" noGrp="1"/>
          </p:cNvSpPr>
          <p:nvPr/>
        </p:nvSpPr>
        <p:spPr>
          <a:xfrm xmlns:a="http://schemas.openxmlformats.org/drawingml/2006/main">
            <a:off x="4432300" y="4760119"/>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有効化した場合に課金が発生することがあります。</a:t>
            </a:r>
          </a:p>
        </p:txBody>
      </p:sp>
      <p:sp>
        <p:nvSpPr>
          <p:cNvPr id="34" name="">
            <a:extLst xmlns:a="http://schemas.openxmlformats.org/drawingml/2006/main">
              <a:ext uri="{FF2B5EF4-FFF2-40B4-BE49-F238E27FC236}">
                <a16:creationId xmlns:a16="http://schemas.microsoft.com/office/drawing/2014/main" id="{81804DBA-ECCB-4BF2-937D-DE1F209F4B1D}"/>
              </a:ext>
            </a:extLst>
          </p:cNvPr>
          <p:cNvSpPr>
            <a:spLocks xmlns:a="http://schemas.openxmlformats.org/drawingml/2006/main" noGrp="1"/>
          </p:cNvSpPr>
          <p:nvPr/>
        </p:nvSpPr>
        <p:spPr>
          <a:xfrm xmlns:a="http://schemas.openxmlformats.org/drawingml/2006/main">
            <a:off x="7835900" y="4712494"/>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35" name="">
            <a:extLst xmlns:a="http://schemas.openxmlformats.org/drawingml/2006/main">
              <a:ext uri="{FF2B5EF4-FFF2-40B4-BE49-F238E27FC236}">
                <a16:creationId xmlns:a16="http://schemas.microsoft.com/office/drawing/2014/main" id="{D824A26A-DCCD-403E-A818-FA796DB71746}"/>
              </a:ext>
            </a:extLst>
          </p:cNvPr>
          <p:cNvSpPr>
            <a:spLocks xmlns:a="http://schemas.openxmlformats.org/drawingml/2006/main" noGrp="1"/>
          </p:cNvSpPr>
          <p:nvPr/>
        </p:nvSpPr>
        <p:spPr>
          <a:xfrm xmlns:a="http://schemas.openxmlformats.org/drawingml/2006/main">
            <a:off x="7912100" y="4760119"/>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本回では詳細に扱いません。</a:t>
            </a:r>
          </a:p>
        </p:txBody>
      </p:sp>
      <p:sp>
        <p:nvSpPr>
          <p:cNvPr id="36" name="">
            <a:extLst xmlns:a="http://schemas.openxmlformats.org/drawingml/2006/main">
              <a:ext uri="{FF2B5EF4-FFF2-40B4-BE49-F238E27FC236}">
                <a16:creationId xmlns:a16="http://schemas.microsoft.com/office/drawing/2014/main" id="{46BC9BC1-F16F-45C3-B318-BB3427FB41D6}"/>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37 / 46</a:t>
            </a:r>
          </a:p>
        </p:txBody>
      </p:sp>
    </p:spTree>
    <p:extLst>
      <p:ext uri="{BB962C8B-B14F-4D97-AF65-F5344CB8AC3E}">
        <p14:creationId xmlns:p14="http://schemas.microsoft.com/office/powerpoint/2010/main" val="118607714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8451626-6822-440B-874E-19994E80F0D8}"/>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リソースグループを削除する</a:t>
            </a:r>
          </a:p>
        </p:txBody>
      </p:sp>
      <p:sp>
        <p:nvSpPr>
          <p:cNvPr id="2" name="">
            <a:extLst xmlns:a="http://schemas.openxmlformats.org/drawingml/2006/main">
              <a:ext uri="{FF2B5EF4-FFF2-40B4-BE49-F238E27FC236}">
                <a16:creationId xmlns:a16="http://schemas.microsoft.com/office/drawing/2014/main" id="{23BFD9D3-4BFC-4629-B190-8190A81F2A03}"/>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C2F7880D-1F18-4EA0-93FF-55F9FE4D8C40}"/>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38</a:t>
            </a:r>
          </a:p>
        </p:txBody>
      </p:sp>
      <p:sp>
        <p:nvSpPr>
          <p:cNvPr id="4" name="">
            <a:extLst xmlns:a="http://schemas.openxmlformats.org/drawingml/2006/main">
              <a:ext uri="{FF2B5EF4-FFF2-40B4-BE49-F238E27FC236}">
                <a16:creationId xmlns:a16="http://schemas.microsoft.com/office/drawing/2014/main" id="{CA7E7B0E-55F4-4EB2-8295-7AA576A8FC35}"/>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96BFD74-662D-4E4A-8909-BFF6A710FE4A}"/>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本回のリソースは、受講者ごとのリソースグループごと削除します。削除対象が本回のリソースだけであることを確認してから実行します。</a:t>
            </a:r>
          </a:p>
        </p:txBody>
      </p:sp>
      <p:sp>
        <p:nvSpPr>
          <p:cNvPr id="6" name="">
            <a:extLst xmlns:a="http://schemas.openxmlformats.org/drawingml/2006/main">
              <a:ext uri="{FF2B5EF4-FFF2-40B4-BE49-F238E27FC236}">
                <a16:creationId xmlns:a16="http://schemas.microsoft.com/office/drawing/2014/main" id="{486966BA-32E6-4E05-9F34-BE52AF9B2417}"/>
              </a:ext>
            </a:extLst>
          </p:cNvPr>
          <p:cNvSpPr>
            <a:spLocks xmlns:a="http://schemas.openxmlformats.org/drawingml/2006/main" noGrp="1"/>
          </p:cNvSpPr>
          <p:nvPr/>
        </p:nvSpPr>
        <p:spPr>
          <a:xfrm xmlns:a="http://schemas.openxmlformats.org/drawingml/2006/main">
            <a:off x="781050" y="2781300"/>
            <a:ext cx="40957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C6F87276-1C35-40D7-992A-411A20672D75}"/>
              </a:ext>
            </a:extLst>
          </p:cNvPr>
          <p:cNvSpPr>
            <a:spLocks xmlns:a="http://schemas.openxmlformats.org/drawingml/2006/main" noGrp="1"/>
          </p:cNvSpPr>
          <p:nvPr/>
        </p:nvSpPr>
        <p:spPr>
          <a:xfrm xmlns:a="http://schemas.openxmlformats.org/drawingml/2006/main">
            <a:off x="781050" y="2781300"/>
            <a:ext cx="76200" cy="1428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8" name="">
            <a:extLst xmlns:a="http://schemas.openxmlformats.org/drawingml/2006/main">
              <a:ext uri="{FF2B5EF4-FFF2-40B4-BE49-F238E27FC236}">
                <a16:creationId xmlns:a16="http://schemas.microsoft.com/office/drawing/2014/main" id="{C2EEFF70-17C6-43AB-8500-B443870D73EC}"/>
              </a:ext>
            </a:extLst>
          </p:cNvPr>
          <p:cNvSpPr>
            <a:spLocks xmlns:a="http://schemas.openxmlformats.org/drawingml/2006/main" noGrp="1"/>
          </p:cNvSpPr>
          <p:nvPr/>
        </p:nvSpPr>
        <p:spPr>
          <a:xfrm xmlns:a="http://schemas.openxmlformats.org/drawingml/2006/main">
            <a:off x="990600" y="2933700"/>
            <a:ext cx="3695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4472C4"/>
                </a:solidFill>
                <a:latin typeface="Yu Gothic UI"/>
                <a:ea typeface="Yu Gothic UI"/>
                <a:cs typeface="Yu Gothic UI"/>
              </a:defRPr>
            </a:pPr>
            <a:r>
              <a:rPr sz="713" b="1">
                <a:solidFill>
                  <a:srgbClr val="4472C4"/>
                </a:solidFill>
                <a:latin typeface="Yu Gothic UI"/>
                <a:ea typeface="Yu Gothic UI"/>
                <a:cs typeface="Yu Gothic UI"/>
              </a:rPr>
              <a:t>重要</a:t>
            </a:r>
          </a:p>
        </p:txBody>
      </p:sp>
      <p:sp>
        <p:nvSpPr>
          <p:cNvPr id="9" name="">
            <a:extLst xmlns:a="http://schemas.openxmlformats.org/drawingml/2006/main">
              <a:ext uri="{FF2B5EF4-FFF2-40B4-BE49-F238E27FC236}">
                <a16:creationId xmlns:a16="http://schemas.microsoft.com/office/drawing/2014/main" id="{E51C1738-315A-4EC8-9C2F-2C29FB29EEFF}"/>
              </a:ext>
            </a:extLst>
          </p:cNvPr>
          <p:cNvSpPr>
            <a:spLocks xmlns:a="http://schemas.openxmlformats.org/drawingml/2006/main" noGrp="1"/>
          </p:cNvSpPr>
          <p:nvPr/>
        </p:nvSpPr>
        <p:spPr>
          <a:xfrm xmlns:a="http://schemas.openxmlformats.org/drawingml/2006/main">
            <a:off x="990600" y="3181350"/>
            <a:ext cx="3695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VM 停止ではなく削除まで行う</a:t>
            </a:r>
          </a:p>
        </p:txBody>
      </p:sp>
      <p:sp>
        <p:nvSpPr>
          <p:cNvPr id="10" name="">
            <a:extLst xmlns:a="http://schemas.openxmlformats.org/drawingml/2006/main">
              <a:ext uri="{FF2B5EF4-FFF2-40B4-BE49-F238E27FC236}">
                <a16:creationId xmlns:a16="http://schemas.microsoft.com/office/drawing/2014/main" id="{98C9F2CE-4DCF-47D5-B2E1-8D8EFF24FEF5}"/>
              </a:ext>
            </a:extLst>
          </p:cNvPr>
          <p:cNvSpPr>
            <a:spLocks xmlns:a="http://schemas.openxmlformats.org/drawingml/2006/main" noGrp="1"/>
          </p:cNvSpPr>
          <p:nvPr/>
        </p:nvSpPr>
        <p:spPr>
          <a:xfrm xmlns:a="http://schemas.openxmlformats.org/drawingml/2006/main">
            <a:off x="990600" y="3581400"/>
            <a:ext cx="36957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344054"/>
                </a:solidFill>
                <a:latin typeface="Yu Gothic UI"/>
                <a:ea typeface="Yu Gothic UI"/>
                <a:cs typeface="Yu Gothic UI"/>
              </a:defRPr>
            </a:pPr>
            <a:r>
              <a:rPr sz="870" b="0">
                <a:solidFill>
                  <a:srgbClr val="344054"/>
                </a:solidFill>
                <a:latin typeface="Yu Gothic UI"/>
                <a:ea typeface="Yu Gothic UI"/>
                <a:cs typeface="Yu Gothic UI"/>
              </a:rPr>
              <a:t>停止だけでは Managed Disk や Public IP などが残る可能性があります。</a:t>
            </a:r>
          </a:p>
        </p:txBody>
      </p:sp>
      <p:sp>
        <p:nvSpPr>
          <p:cNvPr id="11" name="">
            <a:extLst xmlns:a="http://schemas.openxmlformats.org/drawingml/2006/main">
              <a:ext uri="{FF2B5EF4-FFF2-40B4-BE49-F238E27FC236}">
                <a16:creationId xmlns:a16="http://schemas.microsoft.com/office/drawing/2014/main" id="{9D74FE33-FD11-43FC-8FF1-9A99F2521C83}"/>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8bf427658174c76"/>
          <a:stretch xmlns:a="http://schemas.openxmlformats.org/drawingml/2006/main"/>
        </p:blipFill>
        <p:spPr>
          <a:xfrm xmlns:a="http://schemas.openxmlformats.org/drawingml/2006/main">
            <a:off x="5467350" y="1878806"/>
            <a:ext cx="5715000" cy="3214688"/>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11EFD4C-E83C-4BFD-98E8-5C988A194FB3}"/>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リソースグループを削除する</a:t>
            </a:r>
          </a:p>
        </p:txBody>
      </p:sp>
      <p:sp>
        <p:nvSpPr>
          <p:cNvPr id="14" name="">
            <a:extLst xmlns:a="http://schemas.openxmlformats.org/drawingml/2006/main">
              <a:ext uri="{FF2B5EF4-FFF2-40B4-BE49-F238E27FC236}">
                <a16:creationId xmlns:a16="http://schemas.microsoft.com/office/drawing/2014/main" id="{17FB3660-7A33-4B48-90B7-50808A633C13}"/>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38 / 46</a:t>
            </a:r>
          </a:p>
        </p:txBody>
      </p:sp>
    </p:spTree>
    <p:extLst>
      <p:ext uri="{BB962C8B-B14F-4D97-AF65-F5344CB8AC3E}">
        <p14:creationId xmlns:p14="http://schemas.microsoft.com/office/powerpoint/2010/main" val="118607714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AF566A-0B99-4FD1-912A-F16D38EAFB85}"/>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削除完了を確認する</a:t>
            </a:r>
          </a:p>
        </p:txBody>
      </p:sp>
      <p:sp>
        <p:nvSpPr>
          <p:cNvPr id="2" name="">
            <a:extLst xmlns:a="http://schemas.openxmlformats.org/drawingml/2006/main">
              <a:ext uri="{FF2B5EF4-FFF2-40B4-BE49-F238E27FC236}">
                <a16:creationId xmlns:a16="http://schemas.microsoft.com/office/drawing/2014/main" id="{7AA8B054-9656-44A8-9C56-EEAB977034CA}"/>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6148D0A0-8914-43CF-8BA3-B0C1F4D2B12A}"/>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39</a:t>
            </a:r>
          </a:p>
        </p:txBody>
      </p:sp>
      <p:sp>
        <p:nvSpPr>
          <p:cNvPr id="4" name="">
            <a:extLst xmlns:a="http://schemas.openxmlformats.org/drawingml/2006/main">
              <a:ext uri="{FF2B5EF4-FFF2-40B4-BE49-F238E27FC236}">
                <a16:creationId xmlns:a16="http://schemas.microsoft.com/office/drawing/2014/main" id="{17149F1A-8FE8-465D-9371-BBC412B50470}"/>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EFB1C61-F991-4662-8BE2-B0E02F42A7AB}"/>
              </a:ext>
            </a:extLst>
          </p:cNvPr>
          <p:cNvSpPr>
            <a:spLocks xmlns:a="http://schemas.openxmlformats.org/drawingml/2006/main" noGrp="1"/>
          </p:cNvSpPr>
          <p:nvPr/>
        </p:nvSpPr>
        <p:spPr>
          <a:xfrm xmlns:a="http://schemas.openxmlformats.org/drawingml/2006/main">
            <a:off x="685800" y="1390650"/>
            <a:ext cx="4210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10" b="0">
                <a:solidFill>
                  <a:srgbClr val="344054"/>
                </a:solidFill>
                <a:latin typeface="Yu Gothic UI"/>
                <a:ea typeface="Yu Gothic UI"/>
                <a:cs typeface="Yu Gothic UI"/>
              </a:defRPr>
            </a:pPr>
            <a:r>
              <a:rPr sz="1110" b="0">
                <a:solidFill>
                  <a:srgbClr val="344054"/>
                </a:solidFill>
                <a:latin typeface="Yu Gothic UI"/>
                <a:ea typeface="Yu Gothic UI"/>
                <a:cs typeface="Yu Gothic UI"/>
              </a:rPr>
              <a:t>対象リソースグループが一覧から消えたこと、または削除中になっていることを確認します。ここまでが本回のハンズオン完了です。</a:t>
            </a:r>
          </a:p>
        </p:txBody>
      </p:sp>
      <p:sp>
        <p:nvSpPr>
          <p:cNvPr id="6" name="">
            <a:extLst xmlns:a="http://schemas.openxmlformats.org/drawingml/2006/main">
              <a:ext uri="{FF2B5EF4-FFF2-40B4-BE49-F238E27FC236}">
                <a16:creationId xmlns:a16="http://schemas.microsoft.com/office/drawing/2014/main" id="{B8BC910C-42C7-4B3E-AB2C-30076B1763E2}"/>
              </a:ext>
            </a:extLst>
          </p:cNvPr>
          <p:cNvSpPr>
            <a:spLocks xmlns:a="http://schemas.openxmlformats.org/drawingml/2006/main" noGrp="1"/>
          </p:cNvSpPr>
          <p:nvPr/>
        </p:nvSpPr>
        <p:spPr>
          <a:xfrm xmlns:a="http://schemas.openxmlformats.org/drawingml/2006/main">
            <a:off x="819150" y="2628900"/>
            <a:ext cx="39243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38100" rIns="38100" bIns="38100" anchor="t"/>
          <a:lstStyle xmlns:a="http://schemas.openxmlformats.org/drawingml/2006/main"/>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削除には反映待ちが発生する場合があります。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別のリソースグループを削除しないよう名前を確認します。</a:t>
            </a:r>
          </a:p>
          <a:p xmlns:a="http://schemas.openxmlformats.org/drawingml/2006/main">
            <a:pPr algn="l">
              <a:defRPr sz="990" b="0">
                <a:solidFill>
                  <a:srgbClr val="344054"/>
                </a:solidFill>
                <a:latin typeface="Yu Gothic UI"/>
                <a:ea typeface="Yu Gothic UI"/>
                <a:cs typeface="Yu Gothic UI"/>
              </a:defRPr>
            </a:pPr>
            <a:r>
              <a:rPr sz="990" b="0">
                <a:solidFill>
                  <a:srgbClr val="344054"/>
                </a:solidFill>
                <a:latin typeface="Yu Gothic UI"/>
                <a:ea typeface="Yu Gothic UI"/>
                <a:cs typeface="Yu Gothic UI"/>
              </a:rPr>
              <a:t>• 講師は最後に全員の削除状況を確認します。</a:t>
            </a:r>
          </a:p>
        </p:txBody>
      </p:sp>
      <p:sp>
        <p:nvSpPr>
          <p:cNvPr id="7" name="">
            <a:extLst xmlns:a="http://schemas.openxmlformats.org/drawingml/2006/main">
              <a:ext uri="{FF2B5EF4-FFF2-40B4-BE49-F238E27FC236}">
                <a16:creationId xmlns:a16="http://schemas.microsoft.com/office/drawing/2014/main" id="{440BE9F9-9FEB-4D2C-B05A-5B6E98EA8BE7}"/>
              </a:ext>
            </a:extLst>
          </p:cNvPr>
          <p:cNvSpPr>
            <a:spLocks xmlns:a="http://schemas.openxmlformats.org/drawingml/2006/main" noGrp="1"/>
          </p:cNvSpPr>
          <p:nvPr/>
        </p:nvSpPr>
        <p:spPr>
          <a:xfrm xmlns:a="http://schemas.openxmlformats.org/drawingml/2006/main">
            <a:off x="5334000" y="1676400"/>
            <a:ext cx="598170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819cf8cae874c91"/>
          <a:stretch xmlns:a="http://schemas.openxmlformats.org/drawingml/2006/main"/>
        </p:blipFill>
        <p:spPr>
          <a:xfrm xmlns:a="http://schemas.openxmlformats.org/drawingml/2006/main">
            <a:off x="5467350" y="1878806"/>
            <a:ext cx="5715000" cy="321468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CB17285-C2C0-41EA-B915-2FC5B0BB3E16}"/>
              </a:ext>
            </a:extLst>
          </p:cNvPr>
          <p:cNvSpPr>
            <a:spLocks xmlns:a="http://schemas.openxmlformats.org/drawingml/2006/main" noGrp="1"/>
          </p:cNvSpPr>
          <p:nvPr/>
        </p:nvSpPr>
        <p:spPr>
          <a:xfrm xmlns:a="http://schemas.openxmlformats.org/drawingml/2006/main">
            <a:off x="5524500" y="5219700"/>
            <a:ext cx="5600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削除完了または削除中であることを確認する</a:t>
            </a:r>
          </a:p>
        </p:txBody>
      </p:sp>
      <p:sp>
        <p:nvSpPr>
          <p:cNvPr id="10" name="">
            <a:extLst xmlns:a="http://schemas.openxmlformats.org/drawingml/2006/main">
              <a:ext uri="{FF2B5EF4-FFF2-40B4-BE49-F238E27FC236}">
                <a16:creationId xmlns:a16="http://schemas.microsoft.com/office/drawing/2014/main" id="{DB5C6651-A7E2-48D8-8B45-895E848DA4CC}"/>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39 / 46</a:t>
            </a:r>
          </a:p>
        </p:txBody>
      </p:sp>
    </p:spTree>
    <p:extLst>
      <p:ext uri="{BB962C8B-B14F-4D97-AF65-F5344CB8AC3E}">
        <p14:creationId xmlns:p14="http://schemas.microsoft.com/office/powerpoint/2010/main" val="118607714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154B83-3DFE-46D5-AE3C-1EC1BB26DEF1}"/>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早く終えた人向け</a:t>
            </a:r>
          </a:p>
        </p:txBody>
      </p:sp>
      <p:sp>
        <p:nvSpPr>
          <p:cNvPr id="2" name="">
            <a:extLst xmlns:a="http://schemas.openxmlformats.org/drawingml/2006/main">
              <a:ext uri="{FF2B5EF4-FFF2-40B4-BE49-F238E27FC236}">
                <a16:creationId xmlns:a16="http://schemas.microsoft.com/office/drawing/2014/main" id="{251D3ECE-5D06-4A92-980D-49DA8EE2EC62}"/>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F3E2A4AB-4741-4BD9-95D8-D1883BDCB706}"/>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40</a:t>
            </a:r>
          </a:p>
        </p:txBody>
      </p:sp>
      <p:sp>
        <p:nvSpPr>
          <p:cNvPr id="4" name="">
            <a:extLst xmlns:a="http://schemas.openxmlformats.org/drawingml/2006/main">
              <a:ext uri="{FF2B5EF4-FFF2-40B4-BE49-F238E27FC236}">
                <a16:creationId xmlns:a16="http://schemas.microsoft.com/office/drawing/2014/main" id="{18C58789-0634-4FE6-BEDC-69B79B31E12C}"/>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BC86E81-87A2-4A0F-83AE-3E9BF2BC88EE}"/>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時間に余裕がある人は、追加で別の Web サーバを試すか、カスタムデータの内容を読み、何が自動実行されたかを確認します。</a:t>
            </a:r>
          </a:p>
        </p:txBody>
      </p:sp>
      <p:sp>
        <p:nvSpPr>
          <p:cNvPr id="6" name="">
            <a:extLst xmlns:a="http://schemas.openxmlformats.org/drawingml/2006/main">
              <a:ext uri="{FF2B5EF4-FFF2-40B4-BE49-F238E27FC236}">
                <a16:creationId xmlns:a16="http://schemas.microsoft.com/office/drawing/2014/main" id="{F84A13AA-6390-48CF-BE84-DBBB0120BB20}"/>
              </a:ext>
            </a:extLst>
          </p:cNvPr>
          <p:cNvSpPr>
            <a:spLocks xmlns:a="http://schemas.openxmlformats.org/drawingml/2006/main" noGrp="1"/>
          </p:cNvSpPr>
          <p:nvPr/>
        </p:nvSpPr>
        <p:spPr>
          <a:xfrm xmlns:a="http://schemas.openxmlformats.org/drawingml/2006/main">
            <a:off x="876300" y="2381250"/>
            <a:ext cx="4953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229D5E8E-26D3-42D1-B70C-E0E8FA68EAED}"/>
              </a:ext>
            </a:extLst>
          </p:cNvPr>
          <p:cNvSpPr>
            <a:spLocks xmlns:a="http://schemas.openxmlformats.org/drawingml/2006/main" noGrp="1"/>
          </p:cNvSpPr>
          <p:nvPr/>
        </p:nvSpPr>
        <p:spPr>
          <a:xfrm xmlns:a="http://schemas.openxmlformats.org/drawingml/2006/main">
            <a:off x="876300" y="2381250"/>
            <a:ext cx="76200" cy="20002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F9811866-9B5F-41EB-BF7A-F654C85F1B97}"/>
              </a:ext>
            </a:extLst>
          </p:cNvPr>
          <p:cNvSpPr>
            <a:spLocks xmlns:a="http://schemas.openxmlformats.org/drawingml/2006/main" noGrp="1"/>
          </p:cNvSpPr>
          <p:nvPr/>
        </p:nvSpPr>
        <p:spPr>
          <a:xfrm xmlns:a="http://schemas.openxmlformats.org/drawingml/2006/main">
            <a:off x="1085850" y="25336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0F766E"/>
                </a:solidFill>
                <a:latin typeface="Yu Gothic UI"/>
                <a:ea typeface="Yu Gothic UI"/>
                <a:cs typeface="Yu Gothic UI"/>
              </a:defRPr>
            </a:pPr>
            <a:r>
              <a:rPr sz="713" b="1">
                <a:solidFill>
                  <a:srgbClr val="0F766E"/>
                </a:solidFill>
                <a:latin typeface="Yu Gothic UI"/>
                <a:ea typeface="Yu Gothic UI"/>
                <a:cs typeface="Yu Gothic UI"/>
              </a:rPr>
              <a:t>Option</a:t>
            </a:r>
          </a:p>
        </p:txBody>
      </p:sp>
      <p:sp>
        <p:nvSpPr>
          <p:cNvPr id="9" name="">
            <a:extLst xmlns:a="http://schemas.openxmlformats.org/drawingml/2006/main">
              <a:ext uri="{FF2B5EF4-FFF2-40B4-BE49-F238E27FC236}">
                <a16:creationId xmlns:a16="http://schemas.microsoft.com/office/drawing/2014/main" id="{5E44B286-6C99-4AF5-B529-AD058B8D1250}"/>
              </a:ext>
            </a:extLst>
          </p:cNvPr>
          <p:cNvSpPr>
            <a:spLocks xmlns:a="http://schemas.openxmlformats.org/drawingml/2006/main" noGrp="1"/>
          </p:cNvSpPr>
          <p:nvPr/>
        </p:nvSpPr>
        <p:spPr>
          <a:xfrm xmlns:a="http://schemas.openxmlformats.org/drawingml/2006/main">
            <a:off x="1085850" y="27813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Apache 版を考える</a:t>
            </a:r>
          </a:p>
        </p:txBody>
      </p:sp>
      <p:sp>
        <p:nvSpPr>
          <p:cNvPr id="10" name="">
            <a:extLst xmlns:a="http://schemas.openxmlformats.org/drawingml/2006/main">
              <a:ext uri="{FF2B5EF4-FFF2-40B4-BE49-F238E27FC236}">
                <a16:creationId xmlns:a16="http://schemas.microsoft.com/office/drawing/2014/main" id="{A4021A7E-FB41-41D2-8812-2659E711852C}"/>
              </a:ext>
            </a:extLst>
          </p:cNvPr>
          <p:cNvSpPr>
            <a:spLocks xmlns:a="http://schemas.openxmlformats.org/drawingml/2006/main" noGrp="1"/>
          </p:cNvSpPr>
          <p:nvPr/>
        </p:nvSpPr>
        <p:spPr>
          <a:xfrm xmlns:a="http://schemas.openxmlformats.org/drawingml/2006/main">
            <a:off x="1085850" y="3181350"/>
            <a:ext cx="45529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NGINX の代わりに Apache HTTP Server を使うと、インストールするパッケージや表示ページが変わります。</a:t>
            </a:r>
          </a:p>
        </p:txBody>
      </p:sp>
      <p:sp>
        <p:nvSpPr>
          <p:cNvPr id="11" name="">
            <a:extLst xmlns:a="http://schemas.openxmlformats.org/drawingml/2006/main">
              <a:ext uri="{FF2B5EF4-FFF2-40B4-BE49-F238E27FC236}">
                <a16:creationId xmlns:a16="http://schemas.microsoft.com/office/drawing/2014/main" id="{6401AFE4-C49C-4AA5-BEC7-284D7100E1B9}"/>
              </a:ext>
            </a:extLst>
          </p:cNvPr>
          <p:cNvSpPr>
            <a:spLocks xmlns:a="http://schemas.openxmlformats.org/drawingml/2006/main" noGrp="1"/>
          </p:cNvSpPr>
          <p:nvPr/>
        </p:nvSpPr>
        <p:spPr>
          <a:xfrm xmlns:a="http://schemas.openxmlformats.org/drawingml/2006/main">
            <a:off x="6191250" y="2381250"/>
            <a:ext cx="4953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7E7C5B3F-98E5-418B-845B-922FA0603018}"/>
              </a:ext>
            </a:extLst>
          </p:cNvPr>
          <p:cNvSpPr>
            <a:spLocks xmlns:a="http://schemas.openxmlformats.org/drawingml/2006/main" noGrp="1"/>
          </p:cNvSpPr>
          <p:nvPr/>
        </p:nvSpPr>
        <p:spPr>
          <a:xfrm xmlns:a="http://schemas.openxmlformats.org/drawingml/2006/main">
            <a:off x="6191250" y="2381250"/>
            <a:ext cx="76200" cy="200025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13" name="">
            <a:extLst xmlns:a="http://schemas.openxmlformats.org/drawingml/2006/main">
              <a:ext uri="{FF2B5EF4-FFF2-40B4-BE49-F238E27FC236}">
                <a16:creationId xmlns:a16="http://schemas.microsoft.com/office/drawing/2014/main" id="{E03F4147-076F-4255-A51B-EAA7155448B0}"/>
              </a:ext>
            </a:extLst>
          </p:cNvPr>
          <p:cNvSpPr>
            <a:spLocks xmlns:a="http://schemas.openxmlformats.org/drawingml/2006/main" noGrp="1"/>
          </p:cNvSpPr>
          <p:nvPr/>
        </p:nvSpPr>
        <p:spPr>
          <a:xfrm xmlns:a="http://schemas.openxmlformats.org/drawingml/2006/main">
            <a:off x="6400800" y="2533650"/>
            <a:ext cx="4552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Read</a:t>
            </a:r>
          </a:p>
        </p:txBody>
      </p:sp>
      <p:sp>
        <p:nvSpPr>
          <p:cNvPr id="14" name="">
            <a:extLst xmlns:a="http://schemas.openxmlformats.org/drawingml/2006/main">
              <a:ext uri="{FF2B5EF4-FFF2-40B4-BE49-F238E27FC236}">
                <a16:creationId xmlns:a16="http://schemas.microsoft.com/office/drawing/2014/main" id="{B3DB0984-DC18-483C-845C-1941A21A4954}"/>
              </a:ext>
            </a:extLst>
          </p:cNvPr>
          <p:cNvSpPr>
            <a:spLocks xmlns:a="http://schemas.openxmlformats.org/drawingml/2006/main" noGrp="1"/>
          </p:cNvSpPr>
          <p:nvPr/>
        </p:nvSpPr>
        <p:spPr>
          <a:xfrm xmlns:a="http://schemas.openxmlformats.org/drawingml/2006/main">
            <a:off x="6400800" y="2781300"/>
            <a:ext cx="4552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cloud-init を読む</a:t>
            </a:r>
          </a:p>
        </p:txBody>
      </p:sp>
      <p:sp>
        <p:nvSpPr>
          <p:cNvPr id="15" name="">
            <a:extLst xmlns:a="http://schemas.openxmlformats.org/drawingml/2006/main">
              <a:ext uri="{FF2B5EF4-FFF2-40B4-BE49-F238E27FC236}">
                <a16:creationId xmlns:a16="http://schemas.microsoft.com/office/drawing/2014/main" id="{934F1931-727D-4039-8E2A-6A11A333402A}"/>
              </a:ext>
            </a:extLst>
          </p:cNvPr>
          <p:cNvSpPr>
            <a:spLocks xmlns:a="http://schemas.openxmlformats.org/drawingml/2006/main" noGrp="1"/>
          </p:cNvSpPr>
          <p:nvPr/>
        </p:nvSpPr>
        <p:spPr>
          <a:xfrm xmlns:a="http://schemas.openxmlformats.org/drawingml/2006/main">
            <a:off x="6400800" y="3181350"/>
            <a:ext cx="45529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44054"/>
                </a:solidFill>
                <a:latin typeface="Yu Gothic UI"/>
                <a:ea typeface="Yu Gothic UI"/>
                <a:cs typeface="Yu Gothic UI"/>
              </a:defRPr>
            </a:pPr>
            <a:r>
              <a:rPr sz="975" b="0">
                <a:solidFill>
                  <a:srgbClr val="344054"/>
                </a:solidFill>
                <a:latin typeface="Yu Gothic UI"/>
                <a:ea typeface="Yu Gothic UI"/>
                <a:cs typeface="Yu Gothic UI"/>
              </a:rPr>
              <a:t>package_update、packages、write_files、runcmd がどの順に動いたかを確認します。</a:t>
            </a:r>
          </a:p>
        </p:txBody>
      </p:sp>
      <p:sp>
        <p:nvSpPr>
          <p:cNvPr id="16" name="">
            <a:extLst xmlns:a="http://schemas.openxmlformats.org/drawingml/2006/main">
              <a:ext uri="{FF2B5EF4-FFF2-40B4-BE49-F238E27FC236}">
                <a16:creationId xmlns:a16="http://schemas.microsoft.com/office/drawing/2014/main" id="{9F188784-6C8C-48EE-B772-21A12DAC543D}"/>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40 / 46</a:t>
            </a:r>
          </a:p>
        </p:txBody>
      </p:sp>
    </p:spTree>
    <p:extLst>
      <p:ext uri="{BB962C8B-B14F-4D97-AF65-F5344CB8AC3E}">
        <p14:creationId xmlns:p14="http://schemas.microsoft.com/office/powerpoint/2010/main" val="1186077149"/>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6CBF54-F7EB-4BB8-B497-62DE51E0E6EF}"/>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よくある失敗</a:t>
            </a:r>
          </a:p>
        </p:txBody>
      </p:sp>
      <p:sp>
        <p:nvSpPr>
          <p:cNvPr id="2" name="">
            <a:extLst xmlns:a="http://schemas.openxmlformats.org/drawingml/2006/main">
              <a:ext uri="{FF2B5EF4-FFF2-40B4-BE49-F238E27FC236}">
                <a16:creationId xmlns:a16="http://schemas.microsoft.com/office/drawing/2014/main" id="{38E20858-4B70-46DB-BD48-645E8E9AFEEE}"/>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6C4B9510-1288-4238-81A9-25B24592A3A8}"/>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41</a:t>
            </a:r>
          </a:p>
        </p:txBody>
      </p:sp>
      <p:sp>
        <p:nvSpPr>
          <p:cNvPr id="4" name="">
            <a:extLst xmlns:a="http://schemas.openxmlformats.org/drawingml/2006/main">
              <a:ext uri="{FF2B5EF4-FFF2-40B4-BE49-F238E27FC236}">
                <a16:creationId xmlns:a16="http://schemas.microsoft.com/office/drawing/2014/main" id="{67F12709-F498-4983-9972-84F3F200634B}"/>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C7D4D36-E08A-454E-AD2C-689196053497}"/>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ハンズオンでは、リージョン、名前、クォータ、NSG、Public IP、削除漏れがつまずきやすいポイントです。原因候補を短く切り分けます。</a:t>
            </a:r>
          </a:p>
        </p:txBody>
      </p:sp>
      <p:sp>
        <p:nvSpPr>
          <p:cNvPr id="6" name="">
            <a:extLst xmlns:a="http://schemas.openxmlformats.org/drawingml/2006/main">
              <a:ext uri="{FF2B5EF4-FFF2-40B4-BE49-F238E27FC236}">
                <a16:creationId xmlns:a16="http://schemas.microsoft.com/office/drawing/2014/main" id="{00D98CB2-3B91-42DA-8EA5-3B65DA9043F7}"/>
              </a:ext>
            </a:extLst>
          </p:cNvPr>
          <p:cNvSpPr>
            <a:spLocks xmlns:a="http://schemas.openxmlformats.org/drawingml/2006/main" noGrp="1"/>
          </p:cNvSpPr>
          <p:nvPr/>
        </p:nvSpPr>
        <p:spPr>
          <a:xfrm xmlns:a="http://schemas.openxmlformats.org/drawingml/2006/main">
            <a:off x="876300" y="2038350"/>
            <a:ext cx="347980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7" name="">
            <a:extLst xmlns:a="http://schemas.openxmlformats.org/drawingml/2006/main">
              <a:ext uri="{FF2B5EF4-FFF2-40B4-BE49-F238E27FC236}">
                <a16:creationId xmlns:a16="http://schemas.microsoft.com/office/drawing/2014/main" id="{BBAE8281-B426-4C29-B91C-43B6F8925A4F}"/>
              </a:ext>
            </a:extLst>
          </p:cNvPr>
          <p:cNvSpPr>
            <a:spLocks xmlns:a="http://schemas.openxmlformats.org/drawingml/2006/main" noGrp="1"/>
          </p:cNvSpPr>
          <p:nvPr/>
        </p:nvSpPr>
        <p:spPr>
          <a:xfrm xmlns:a="http://schemas.openxmlformats.org/drawingml/2006/main">
            <a:off x="952500" y="2085975"/>
            <a:ext cx="332740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症状</a:t>
            </a:r>
          </a:p>
        </p:txBody>
      </p:sp>
      <p:sp>
        <p:nvSpPr>
          <p:cNvPr id="8" name="">
            <a:extLst xmlns:a="http://schemas.openxmlformats.org/drawingml/2006/main">
              <a:ext uri="{FF2B5EF4-FFF2-40B4-BE49-F238E27FC236}">
                <a16:creationId xmlns:a16="http://schemas.microsoft.com/office/drawing/2014/main" id="{F3D40361-6203-4146-B693-AB377F4B1045}"/>
              </a:ext>
            </a:extLst>
          </p:cNvPr>
          <p:cNvSpPr>
            <a:spLocks xmlns:a="http://schemas.openxmlformats.org/drawingml/2006/main" noGrp="1"/>
          </p:cNvSpPr>
          <p:nvPr/>
        </p:nvSpPr>
        <p:spPr>
          <a:xfrm xmlns:a="http://schemas.openxmlformats.org/drawingml/2006/main">
            <a:off x="4356100" y="2038350"/>
            <a:ext cx="347980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9" name="">
            <a:extLst xmlns:a="http://schemas.openxmlformats.org/drawingml/2006/main">
              <a:ext uri="{FF2B5EF4-FFF2-40B4-BE49-F238E27FC236}">
                <a16:creationId xmlns:a16="http://schemas.microsoft.com/office/drawing/2014/main" id="{DF5F012D-B2DA-4B9A-A356-4CD11EC3EC4C}"/>
              </a:ext>
            </a:extLst>
          </p:cNvPr>
          <p:cNvSpPr>
            <a:spLocks xmlns:a="http://schemas.openxmlformats.org/drawingml/2006/main" noGrp="1"/>
          </p:cNvSpPr>
          <p:nvPr/>
        </p:nvSpPr>
        <p:spPr>
          <a:xfrm xmlns:a="http://schemas.openxmlformats.org/drawingml/2006/main">
            <a:off x="4432300" y="2085975"/>
            <a:ext cx="332740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原因候補</a:t>
            </a:r>
          </a:p>
        </p:txBody>
      </p:sp>
      <p:sp>
        <p:nvSpPr>
          <p:cNvPr id="10" name="">
            <a:extLst xmlns:a="http://schemas.openxmlformats.org/drawingml/2006/main">
              <a:ext uri="{FF2B5EF4-FFF2-40B4-BE49-F238E27FC236}">
                <a16:creationId xmlns:a16="http://schemas.microsoft.com/office/drawing/2014/main" id="{3A55D769-26DE-4719-846F-E6BFCE0F1331}"/>
              </a:ext>
            </a:extLst>
          </p:cNvPr>
          <p:cNvSpPr>
            <a:spLocks xmlns:a="http://schemas.openxmlformats.org/drawingml/2006/main" noGrp="1"/>
          </p:cNvSpPr>
          <p:nvPr/>
        </p:nvSpPr>
        <p:spPr>
          <a:xfrm xmlns:a="http://schemas.openxmlformats.org/drawingml/2006/main">
            <a:off x="7835900" y="2038350"/>
            <a:ext cx="3479800" cy="409575"/>
          </a:xfrm>
          <a:prstGeom xmlns:a="http://schemas.openxmlformats.org/drawingml/2006/main" prst="rect">
            <a:avLst/>
          </a:prstGeom>
          <a:solidFill xmlns:a="http://schemas.openxmlformats.org/drawingml/2006/main">
            <a:srgbClr val="244A8F"/>
          </a:solidFill>
          <a:ln xmlns:a="http://schemas.openxmlformats.org/drawingml/2006/main" w="11430">
            <a:solidFill>
              <a:srgbClr val="FFFFFF"/>
            </a:solidFill>
            <a:prstDash val="solid"/>
          </a:ln>
        </p:spPr>
      </p:sp>
      <p:sp>
        <p:nvSpPr>
          <p:cNvPr id="11" name="">
            <a:extLst xmlns:a="http://schemas.openxmlformats.org/drawingml/2006/main">
              <a:ext uri="{FF2B5EF4-FFF2-40B4-BE49-F238E27FC236}">
                <a16:creationId xmlns:a16="http://schemas.microsoft.com/office/drawing/2014/main" id="{8A4CECB8-CBBD-4731-932F-7AE1652EA912}"/>
              </a:ext>
            </a:extLst>
          </p:cNvPr>
          <p:cNvSpPr>
            <a:spLocks xmlns:a="http://schemas.openxmlformats.org/drawingml/2006/main" noGrp="1"/>
          </p:cNvSpPr>
          <p:nvPr/>
        </p:nvSpPr>
        <p:spPr>
          <a:xfrm xmlns:a="http://schemas.openxmlformats.org/drawingml/2006/main">
            <a:off x="7912100" y="2085975"/>
            <a:ext cx="332740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863" b="1">
                <a:solidFill>
                  <a:srgbClr val="FFFFFF"/>
                </a:solidFill>
                <a:latin typeface="Yu Gothic UI"/>
                <a:ea typeface="Yu Gothic UI"/>
                <a:cs typeface="Yu Gothic UI"/>
              </a:defRPr>
            </a:pPr>
            <a:r>
              <a:rPr sz="863" b="1">
                <a:solidFill>
                  <a:srgbClr val="FFFFFF"/>
                </a:solidFill>
                <a:latin typeface="Yu Gothic UI"/>
                <a:ea typeface="Yu Gothic UI"/>
                <a:cs typeface="Yu Gothic UI"/>
              </a:rPr>
              <a:t>確認箇所</a:t>
            </a:r>
          </a:p>
        </p:txBody>
      </p:sp>
      <p:sp>
        <p:nvSpPr>
          <p:cNvPr id="12" name="">
            <a:extLst xmlns:a="http://schemas.openxmlformats.org/drawingml/2006/main">
              <a:ext uri="{FF2B5EF4-FFF2-40B4-BE49-F238E27FC236}">
                <a16:creationId xmlns:a16="http://schemas.microsoft.com/office/drawing/2014/main" id="{CC6DD3CC-20E9-4DE6-9492-71ABF5124AE1}"/>
              </a:ext>
            </a:extLst>
          </p:cNvPr>
          <p:cNvSpPr>
            <a:spLocks xmlns:a="http://schemas.openxmlformats.org/drawingml/2006/main" noGrp="1"/>
          </p:cNvSpPr>
          <p:nvPr/>
        </p:nvSpPr>
        <p:spPr>
          <a:xfrm xmlns:a="http://schemas.openxmlformats.org/drawingml/2006/main">
            <a:off x="876300" y="2447925"/>
            <a:ext cx="3479800" cy="754856"/>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13" name="">
            <a:extLst xmlns:a="http://schemas.openxmlformats.org/drawingml/2006/main">
              <a:ext uri="{FF2B5EF4-FFF2-40B4-BE49-F238E27FC236}">
                <a16:creationId xmlns:a16="http://schemas.microsoft.com/office/drawing/2014/main" id="{69CF2A2C-03B4-4434-B7D4-614272DD2A94}"/>
              </a:ext>
            </a:extLst>
          </p:cNvPr>
          <p:cNvSpPr>
            <a:spLocks xmlns:a="http://schemas.openxmlformats.org/drawingml/2006/main" noGrp="1"/>
          </p:cNvSpPr>
          <p:nvPr/>
        </p:nvSpPr>
        <p:spPr>
          <a:xfrm xmlns:a="http://schemas.openxmlformats.org/drawingml/2006/main">
            <a:off x="952500" y="2495550"/>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1">
                <a:solidFill>
                  <a:srgbClr val="344054"/>
                </a:solidFill>
                <a:latin typeface="Yu Gothic UI"/>
                <a:ea typeface="Yu Gothic UI"/>
                <a:cs typeface="Yu Gothic UI"/>
              </a:defRPr>
            </a:pPr>
            <a:r>
              <a:rPr sz="795" b="1">
                <a:solidFill>
                  <a:srgbClr val="344054"/>
                </a:solidFill>
                <a:latin typeface="Yu Gothic UI"/>
                <a:ea typeface="Yu Gothic UI"/>
                <a:cs typeface="Yu Gothic UI"/>
              </a:rPr>
              <a:t>サイズが選べない</a:t>
            </a:r>
          </a:p>
        </p:txBody>
      </p:sp>
      <p:sp>
        <p:nvSpPr>
          <p:cNvPr id="14" name="">
            <a:extLst xmlns:a="http://schemas.openxmlformats.org/drawingml/2006/main">
              <a:ext uri="{FF2B5EF4-FFF2-40B4-BE49-F238E27FC236}">
                <a16:creationId xmlns:a16="http://schemas.microsoft.com/office/drawing/2014/main" id="{6CA303FE-F592-4020-8C35-AB8FCA1CA406}"/>
              </a:ext>
            </a:extLst>
          </p:cNvPr>
          <p:cNvSpPr>
            <a:spLocks xmlns:a="http://schemas.openxmlformats.org/drawingml/2006/main" noGrp="1"/>
          </p:cNvSpPr>
          <p:nvPr/>
        </p:nvSpPr>
        <p:spPr>
          <a:xfrm xmlns:a="http://schemas.openxmlformats.org/drawingml/2006/main">
            <a:off x="4356100" y="2447925"/>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15" name="">
            <a:extLst xmlns:a="http://schemas.openxmlformats.org/drawingml/2006/main">
              <a:ext uri="{FF2B5EF4-FFF2-40B4-BE49-F238E27FC236}">
                <a16:creationId xmlns:a16="http://schemas.microsoft.com/office/drawing/2014/main" id="{5994F763-B28C-41DA-8EF0-67E319421078}"/>
              </a:ext>
            </a:extLst>
          </p:cNvPr>
          <p:cNvSpPr>
            <a:spLocks xmlns:a="http://schemas.openxmlformats.org/drawingml/2006/main" noGrp="1"/>
          </p:cNvSpPr>
          <p:nvPr/>
        </p:nvSpPr>
        <p:spPr>
          <a:xfrm xmlns:a="http://schemas.openxmlformats.org/drawingml/2006/main">
            <a:off x="4432300" y="2495550"/>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リージョン制約またはクォータ不足</a:t>
            </a:r>
          </a:p>
        </p:txBody>
      </p:sp>
      <p:sp>
        <p:nvSpPr>
          <p:cNvPr id="16" name="">
            <a:extLst xmlns:a="http://schemas.openxmlformats.org/drawingml/2006/main">
              <a:ext uri="{FF2B5EF4-FFF2-40B4-BE49-F238E27FC236}">
                <a16:creationId xmlns:a16="http://schemas.microsoft.com/office/drawing/2014/main" id="{33282060-63D0-4448-B1F2-64AFB486AC32}"/>
              </a:ext>
            </a:extLst>
          </p:cNvPr>
          <p:cNvSpPr>
            <a:spLocks xmlns:a="http://schemas.openxmlformats.org/drawingml/2006/main" noGrp="1"/>
          </p:cNvSpPr>
          <p:nvPr/>
        </p:nvSpPr>
        <p:spPr>
          <a:xfrm xmlns:a="http://schemas.openxmlformats.org/drawingml/2006/main">
            <a:off x="7835900" y="2447925"/>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17" name="">
            <a:extLst xmlns:a="http://schemas.openxmlformats.org/drawingml/2006/main">
              <a:ext uri="{FF2B5EF4-FFF2-40B4-BE49-F238E27FC236}">
                <a16:creationId xmlns:a16="http://schemas.microsoft.com/office/drawing/2014/main" id="{B4E1213B-B0E1-4BB6-8DF0-CF8957A98186}"/>
              </a:ext>
            </a:extLst>
          </p:cNvPr>
          <p:cNvSpPr>
            <a:spLocks xmlns:a="http://schemas.openxmlformats.org/drawingml/2006/main" noGrp="1"/>
          </p:cNvSpPr>
          <p:nvPr/>
        </p:nvSpPr>
        <p:spPr>
          <a:xfrm xmlns:a="http://schemas.openxmlformats.org/drawingml/2006/main">
            <a:off x="7912100" y="2495550"/>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講師指定の SKU と代替リージョン</a:t>
            </a:r>
          </a:p>
        </p:txBody>
      </p:sp>
      <p:sp>
        <p:nvSpPr>
          <p:cNvPr id="18" name="">
            <a:extLst xmlns:a="http://schemas.openxmlformats.org/drawingml/2006/main">
              <a:ext uri="{FF2B5EF4-FFF2-40B4-BE49-F238E27FC236}">
                <a16:creationId xmlns:a16="http://schemas.microsoft.com/office/drawing/2014/main" id="{EC4871A5-95D8-4641-B046-C7E88EAB879D}"/>
              </a:ext>
            </a:extLst>
          </p:cNvPr>
          <p:cNvSpPr>
            <a:spLocks xmlns:a="http://schemas.openxmlformats.org/drawingml/2006/main" noGrp="1"/>
          </p:cNvSpPr>
          <p:nvPr/>
        </p:nvSpPr>
        <p:spPr>
          <a:xfrm xmlns:a="http://schemas.openxmlformats.org/drawingml/2006/main">
            <a:off x="876300" y="3202781"/>
            <a:ext cx="3479800" cy="754856"/>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19" name="">
            <a:extLst xmlns:a="http://schemas.openxmlformats.org/drawingml/2006/main">
              <a:ext uri="{FF2B5EF4-FFF2-40B4-BE49-F238E27FC236}">
                <a16:creationId xmlns:a16="http://schemas.microsoft.com/office/drawing/2014/main" id="{BBA85386-E52C-4232-9BD3-0E224ED46553}"/>
              </a:ext>
            </a:extLst>
          </p:cNvPr>
          <p:cNvSpPr>
            <a:spLocks xmlns:a="http://schemas.openxmlformats.org/drawingml/2006/main" noGrp="1"/>
          </p:cNvSpPr>
          <p:nvPr/>
        </p:nvSpPr>
        <p:spPr>
          <a:xfrm xmlns:a="http://schemas.openxmlformats.org/drawingml/2006/main">
            <a:off x="952500" y="3250406"/>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1">
                <a:solidFill>
                  <a:srgbClr val="344054"/>
                </a:solidFill>
                <a:latin typeface="Yu Gothic UI"/>
                <a:ea typeface="Yu Gothic UI"/>
                <a:cs typeface="Yu Gothic UI"/>
              </a:defRPr>
            </a:pPr>
            <a:r>
              <a:rPr sz="795" b="1">
                <a:solidFill>
                  <a:srgbClr val="344054"/>
                </a:solidFill>
                <a:latin typeface="Yu Gothic UI"/>
                <a:ea typeface="Yu Gothic UI"/>
                <a:cs typeface="Yu Gothic UI"/>
              </a:rPr>
              <a:t>VM 作成で失敗</a:t>
            </a:r>
          </a:p>
        </p:txBody>
      </p:sp>
      <p:sp>
        <p:nvSpPr>
          <p:cNvPr id="20" name="">
            <a:extLst xmlns:a="http://schemas.openxmlformats.org/drawingml/2006/main">
              <a:ext uri="{FF2B5EF4-FFF2-40B4-BE49-F238E27FC236}">
                <a16:creationId xmlns:a16="http://schemas.microsoft.com/office/drawing/2014/main" id="{0B1B5225-7FBB-4432-9144-73B40B76B69F}"/>
              </a:ext>
            </a:extLst>
          </p:cNvPr>
          <p:cNvSpPr>
            <a:spLocks xmlns:a="http://schemas.openxmlformats.org/drawingml/2006/main" noGrp="1"/>
          </p:cNvSpPr>
          <p:nvPr/>
        </p:nvSpPr>
        <p:spPr>
          <a:xfrm xmlns:a="http://schemas.openxmlformats.org/drawingml/2006/main">
            <a:off x="4356100" y="3202781"/>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1" name="">
            <a:extLst xmlns:a="http://schemas.openxmlformats.org/drawingml/2006/main">
              <a:ext uri="{FF2B5EF4-FFF2-40B4-BE49-F238E27FC236}">
                <a16:creationId xmlns:a16="http://schemas.microsoft.com/office/drawing/2014/main" id="{94E3DE2F-175F-4659-813E-DCC098C596B6}"/>
              </a:ext>
            </a:extLst>
          </p:cNvPr>
          <p:cNvSpPr>
            <a:spLocks xmlns:a="http://schemas.openxmlformats.org/drawingml/2006/main" noGrp="1"/>
          </p:cNvSpPr>
          <p:nvPr/>
        </p:nvSpPr>
        <p:spPr>
          <a:xfrm xmlns:a="http://schemas.openxmlformats.org/drawingml/2006/main">
            <a:off x="4432300" y="3250406"/>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名前、権限、必須項目の不足</a:t>
            </a:r>
          </a:p>
        </p:txBody>
      </p:sp>
      <p:sp>
        <p:nvSpPr>
          <p:cNvPr id="22" name="">
            <a:extLst xmlns:a="http://schemas.openxmlformats.org/drawingml/2006/main">
              <a:ext uri="{FF2B5EF4-FFF2-40B4-BE49-F238E27FC236}">
                <a16:creationId xmlns:a16="http://schemas.microsoft.com/office/drawing/2014/main" id="{F795DEE9-54BC-430A-8CF2-E9B925E7C303}"/>
              </a:ext>
            </a:extLst>
          </p:cNvPr>
          <p:cNvSpPr>
            <a:spLocks xmlns:a="http://schemas.openxmlformats.org/drawingml/2006/main" noGrp="1"/>
          </p:cNvSpPr>
          <p:nvPr/>
        </p:nvSpPr>
        <p:spPr>
          <a:xfrm xmlns:a="http://schemas.openxmlformats.org/drawingml/2006/main">
            <a:off x="7835900" y="3202781"/>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3" name="">
            <a:extLst xmlns:a="http://schemas.openxmlformats.org/drawingml/2006/main">
              <a:ext uri="{FF2B5EF4-FFF2-40B4-BE49-F238E27FC236}">
                <a16:creationId xmlns:a16="http://schemas.microsoft.com/office/drawing/2014/main" id="{911A58DE-D387-454D-A5DE-3F196577FF60}"/>
              </a:ext>
            </a:extLst>
          </p:cNvPr>
          <p:cNvSpPr>
            <a:spLocks xmlns:a="http://schemas.openxmlformats.org/drawingml/2006/main" noGrp="1"/>
          </p:cNvSpPr>
          <p:nvPr/>
        </p:nvSpPr>
        <p:spPr>
          <a:xfrm xmlns:a="http://schemas.openxmlformats.org/drawingml/2006/main">
            <a:off x="7912100" y="3250406"/>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Validation エラーの先頭</a:t>
            </a:r>
          </a:p>
        </p:txBody>
      </p:sp>
      <p:sp>
        <p:nvSpPr>
          <p:cNvPr id="24" name="">
            <a:extLst xmlns:a="http://schemas.openxmlformats.org/drawingml/2006/main">
              <a:ext uri="{FF2B5EF4-FFF2-40B4-BE49-F238E27FC236}">
                <a16:creationId xmlns:a16="http://schemas.microsoft.com/office/drawing/2014/main" id="{A660C1F1-DF32-4058-9E73-2F2D70B36CD0}"/>
              </a:ext>
            </a:extLst>
          </p:cNvPr>
          <p:cNvSpPr>
            <a:spLocks xmlns:a="http://schemas.openxmlformats.org/drawingml/2006/main" noGrp="1"/>
          </p:cNvSpPr>
          <p:nvPr/>
        </p:nvSpPr>
        <p:spPr>
          <a:xfrm xmlns:a="http://schemas.openxmlformats.org/drawingml/2006/main">
            <a:off x="876300" y="3957638"/>
            <a:ext cx="3479800" cy="754856"/>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25" name="">
            <a:extLst xmlns:a="http://schemas.openxmlformats.org/drawingml/2006/main">
              <a:ext uri="{FF2B5EF4-FFF2-40B4-BE49-F238E27FC236}">
                <a16:creationId xmlns:a16="http://schemas.microsoft.com/office/drawing/2014/main" id="{3029F47F-944E-4798-8DBF-3B6CB4CEB9B6}"/>
              </a:ext>
            </a:extLst>
          </p:cNvPr>
          <p:cNvSpPr>
            <a:spLocks xmlns:a="http://schemas.openxmlformats.org/drawingml/2006/main" noGrp="1"/>
          </p:cNvSpPr>
          <p:nvPr/>
        </p:nvSpPr>
        <p:spPr>
          <a:xfrm xmlns:a="http://schemas.openxmlformats.org/drawingml/2006/main">
            <a:off x="952500" y="4005263"/>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1">
                <a:solidFill>
                  <a:srgbClr val="344054"/>
                </a:solidFill>
                <a:latin typeface="Yu Gothic UI"/>
                <a:ea typeface="Yu Gothic UI"/>
                <a:cs typeface="Yu Gothic UI"/>
              </a:defRPr>
            </a:pPr>
            <a:r>
              <a:rPr sz="795" b="1">
                <a:solidFill>
                  <a:srgbClr val="344054"/>
                </a:solidFill>
                <a:latin typeface="Yu Gothic UI"/>
                <a:ea typeface="Yu Gothic UI"/>
                <a:cs typeface="Yu Gothic UI"/>
              </a:rPr>
              <a:t>NGINX が表示されない</a:t>
            </a:r>
          </a:p>
        </p:txBody>
      </p:sp>
      <p:sp>
        <p:nvSpPr>
          <p:cNvPr id="26" name="">
            <a:extLst xmlns:a="http://schemas.openxmlformats.org/drawingml/2006/main">
              <a:ext uri="{FF2B5EF4-FFF2-40B4-BE49-F238E27FC236}">
                <a16:creationId xmlns:a16="http://schemas.microsoft.com/office/drawing/2014/main" id="{3B995656-339E-4C8A-85B9-143BF6C65FD9}"/>
              </a:ext>
            </a:extLst>
          </p:cNvPr>
          <p:cNvSpPr>
            <a:spLocks xmlns:a="http://schemas.openxmlformats.org/drawingml/2006/main" noGrp="1"/>
          </p:cNvSpPr>
          <p:nvPr/>
        </p:nvSpPr>
        <p:spPr>
          <a:xfrm xmlns:a="http://schemas.openxmlformats.org/drawingml/2006/main">
            <a:off x="4356100" y="3957638"/>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7" name="">
            <a:extLst xmlns:a="http://schemas.openxmlformats.org/drawingml/2006/main">
              <a:ext uri="{FF2B5EF4-FFF2-40B4-BE49-F238E27FC236}">
                <a16:creationId xmlns:a16="http://schemas.microsoft.com/office/drawing/2014/main" id="{70D458F9-9901-4944-B2F2-34F6A411EB4B}"/>
              </a:ext>
            </a:extLst>
          </p:cNvPr>
          <p:cNvSpPr>
            <a:spLocks xmlns:a="http://schemas.openxmlformats.org/drawingml/2006/main" noGrp="1"/>
          </p:cNvSpPr>
          <p:nvPr/>
        </p:nvSpPr>
        <p:spPr>
          <a:xfrm xmlns:a="http://schemas.openxmlformats.org/drawingml/2006/main">
            <a:off x="4432300" y="4005263"/>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Public IP 誤り、NSG、起動待ち、cloud-init 失敗</a:t>
            </a:r>
          </a:p>
        </p:txBody>
      </p:sp>
      <p:sp>
        <p:nvSpPr>
          <p:cNvPr id="28" name="">
            <a:extLst xmlns:a="http://schemas.openxmlformats.org/drawingml/2006/main">
              <a:ext uri="{FF2B5EF4-FFF2-40B4-BE49-F238E27FC236}">
                <a16:creationId xmlns:a16="http://schemas.microsoft.com/office/drawing/2014/main" id="{7D130565-8F31-4B6B-AF2A-5F6C18D7AE33}"/>
              </a:ext>
            </a:extLst>
          </p:cNvPr>
          <p:cNvSpPr>
            <a:spLocks xmlns:a="http://schemas.openxmlformats.org/drawingml/2006/main" noGrp="1"/>
          </p:cNvSpPr>
          <p:nvPr/>
        </p:nvSpPr>
        <p:spPr>
          <a:xfrm xmlns:a="http://schemas.openxmlformats.org/drawingml/2006/main">
            <a:off x="7835900" y="3957638"/>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29" name="">
            <a:extLst xmlns:a="http://schemas.openxmlformats.org/drawingml/2006/main">
              <a:ext uri="{FF2B5EF4-FFF2-40B4-BE49-F238E27FC236}">
                <a16:creationId xmlns:a16="http://schemas.microsoft.com/office/drawing/2014/main" id="{31C9E5DF-E6F3-44A4-9B2D-D6525C8779C2}"/>
              </a:ext>
            </a:extLst>
          </p:cNvPr>
          <p:cNvSpPr>
            <a:spLocks xmlns:a="http://schemas.openxmlformats.org/drawingml/2006/main" noGrp="1"/>
          </p:cNvSpPr>
          <p:nvPr/>
        </p:nvSpPr>
        <p:spPr>
          <a:xfrm xmlns:a="http://schemas.openxmlformats.org/drawingml/2006/main">
            <a:off x="7912100" y="4005263"/>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VM Overview、NSG、ブラウザーのアドレス</a:t>
            </a:r>
          </a:p>
        </p:txBody>
      </p:sp>
      <p:sp>
        <p:nvSpPr>
          <p:cNvPr id="30" name="">
            <a:extLst xmlns:a="http://schemas.openxmlformats.org/drawingml/2006/main">
              <a:ext uri="{FF2B5EF4-FFF2-40B4-BE49-F238E27FC236}">
                <a16:creationId xmlns:a16="http://schemas.microsoft.com/office/drawing/2014/main" id="{B65C3B34-9C82-4EE0-8148-35860FFD8E39}"/>
              </a:ext>
            </a:extLst>
          </p:cNvPr>
          <p:cNvSpPr>
            <a:spLocks xmlns:a="http://schemas.openxmlformats.org/drawingml/2006/main" noGrp="1"/>
          </p:cNvSpPr>
          <p:nvPr/>
        </p:nvSpPr>
        <p:spPr>
          <a:xfrm xmlns:a="http://schemas.openxmlformats.org/drawingml/2006/main">
            <a:off x="876300" y="4712494"/>
            <a:ext cx="3479800" cy="754856"/>
          </a:xfrm>
          <a:prstGeom xmlns:a="http://schemas.openxmlformats.org/drawingml/2006/main" prst="rect">
            <a:avLst/>
          </a:prstGeom>
          <a:solidFill xmlns:a="http://schemas.openxmlformats.org/drawingml/2006/main">
            <a:srgbClr val="EAF1FB"/>
          </a:solidFill>
          <a:ln xmlns:a="http://schemas.openxmlformats.org/drawingml/2006/main" w="11430">
            <a:solidFill>
              <a:srgbClr val="FFFFFF"/>
            </a:solidFill>
            <a:prstDash val="solid"/>
          </a:ln>
        </p:spPr>
      </p:sp>
      <p:sp>
        <p:nvSpPr>
          <p:cNvPr id="31" name="">
            <a:extLst xmlns:a="http://schemas.openxmlformats.org/drawingml/2006/main">
              <a:ext uri="{FF2B5EF4-FFF2-40B4-BE49-F238E27FC236}">
                <a16:creationId xmlns:a16="http://schemas.microsoft.com/office/drawing/2014/main" id="{7BA9AA8F-A4DE-44B8-96FB-B498C2C0325D}"/>
              </a:ext>
            </a:extLst>
          </p:cNvPr>
          <p:cNvSpPr>
            <a:spLocks xmlns:a="http://schemas.openxmlformats.org/drawingml/2006/main" noGrp="1"/>
          </p:cNvSpPr>
          <p:nvPr/>
        </p:nvSpPr>
        <p:spPr>
          <a:xfrm xmlns:a="http://schemas.openxmlformats.org/drawingml/2006/main">
            <a:off x="952500" y="4760119"/>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1">
                <a:solidFill>
                  <a:srgbClr val="344054"/>
                </a:solidFill>
                <a:latin typeface="Yu Gothic UI"/>
                <a:ea typeface="Yu Gothic UI"/>
                <a:cs typeface="Yu Gothic UI"/>
              </a:defRPr>
            </a:pPr>
            <a:r>
              <a:rPr sz="795" b="1">
                <a:solidFill>
                  <a:srgbClr val="344054"/>
                </a:solidFill>
                <a:latin typeface="Yu Gothic UI"/>
                <a:ea typeface="Yu Gothic UI"/>
                <a:cs typeface="Yu Gothic UI"/>
              </a:rPr>
              <a:t>課金が残る</a:t>
            </a:r>
          </a:p>
        </p:txBody>
      </p:sp>
      <p:sp>
        <p:nvSpPr>
          <p:cNvPr id="32" name="">
            <a:extLst xmlns:a="http://schemas.openxmlformats.org/drawingml/2006/main">
              <a:ext uri="{FF2B5EF4-FFF2-40B4-BE49-F238E27FC236}">
                <a16:creationId xmlns:a16="http://schemas.microsoft.com/office/drawing/2014/main" id="{189AFEEB-21FF-466A-B496-A4FE645771AB}"/>
              </a:ext>
            </a:extLst>
          </p:cNvPr>
          <p:cNvSpPr>
            <a:spLocks xmlns:a="http://schemas.openxmlformats.org/drawingml/2006/main" noGrp="1"/>
          </p:cNvSpPr>
          <p:nvPr/>
        </p:nvSpPr>
        <p:spPr>
          <a:xfrm xmlns:a="http://schemas.openxmlformats.org/drawingml/2006/main">
            <a:off x="4356100" y="4712494"/>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33" name="">
            <a:extLst xmlns:a="http://schemas.openxmlformats.org/drawingml/2006/main">
              <a:ext uri="{FF2B5EF4-FFF2-40B4-BE49-F238E27FC236}">
                <a16:creationId xmlns:a16="http://schemas.microsoft.com/office/drawing/2014/main" id="{2EB7F428-9FCB-4253-99AF-6C142F775090}"/>
              </a:ext>
            </a:extLst>
          </p:cNvPr>
          <p:cNvSpPr>
            <a:spLocks xmlns:a="http://schemas.openxmlformats.org/drawingml/2006/main" noGrp="1"/>
          </p:cNvSpPr>
          <p:nvPr/>
        </p:nvSpPr>
        <p:spPr>
          <a:xfrm xmlns:a="http://schemas.openxmlformats.org/drawingml/2006/main">
            <a:off x="4432300" y="4760119"/>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VM 停止だけで削除していない</a:t>
            </a:r>
          </a:p>
        </p:txBody>
      </p:sp>
      <p:sp>
        <p:nvSpPr>
          <p:cNvPr id="34" name="">
            <a:extLst xmlns:a="http://schemas.openxmlformats.org/drawingml/2006/main">
              <a:ext uri="{FF2B5EF4-FFF2-40B4-BE49-F238E27FC236}">
                <a16:creationId xmlns:a16="http://schemas.microsoft.com/office/drawing/2014/main" id="{088306C4-D472-495C-A0FE-6B54734D2527}"/>
              </a:ext>
            </a:extLst>
          </p:cNvPr>
          <p:cNvSpPr>
            <a:spLocks xmlns:a="http://schemas.openxmlformats.org/drawingml/2006/main" noGrp="1"/>
          </p:cNvSpPr>
          <p:nvPr/>
        </p:nvSpPr>
        <p:spPr>
          <a:xfrm xmlns:a="http://schemas.openxmlformats.org/drawingml/2006/main">
            <a:off x="7835900" y="4712494"/>
            <a:ext cx="3479800" cy="754856"/>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35" name="">
            <a:extLst xmlns:a="http://schemas.openxmlformats.org/drawingml/2006/main">
              <a:ext uri="{FF2B5EF4-FFF2-40B4-BE49-F238E27FC236}">
                <a16:creationId xmlns:a16="http://schemas.microsoft.com/office/drawing/2014/main" id="{9286323D-FC05-44E7-9B3D-18DBE935F286}"/>
              </a:ext>
            </a:extLst>
          </p:cNvPr>
          <p:cNvSpPr>
            <a:spLocks xmlns:a="http://schemas.openxmlformats.org/drawingml/2006/main" noGrp="1"/>
          </p:cNvSpPr>
          <p:nvPr/>
        </p:nvSpPr>
        <p:spPr>
          <a:xfrm xmlns:a="http://schemas.openxmlformats.org/drawingml/2006/main">
            <a:off x="7912100" y="4760119"/>
            <a:ext cx="3327400" cy="65960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38100" tIns="19050" rIns="38100" bIns="19050" anchor="ctr"/>
          <a:lstStyle xmlns:a="http://schemas.openxmlformats.org/drawingml/2006/main"/>
          <a:p xmlns:a="http://schemas.openxmlformats.org/drawingml/2006/main">
            <a:pPr algn="l">
              <a:defRPr sz="795" b="0">
                <a:solidFill>
                  <a:srgbClr val="344054"/>
                </a:solidFill>
                <a:latin typeface="Yu Gothic UI"/>
                <a:ea typeface="Yu Gothic UI"/>
                <a:cs typeface="Yu Gothic UI"/>
              </a:defRPr>
            </a:pPr>
            <a:r>
              <a:rPr sz="795" b="0">
                <a:solidFill>
                  <a:srgbClr val="344054"/>
                </a:solidFill>
                <a:latin typeface="Yu Gothic UI"/>
                <a:ea typeface="Yu Gothic UI"/>
                <a:cs typeface="Yu Gothic UI"/>
              </a:rPr>
              <a:t>リソースグループ一覧</a:t>
            </a:r>
          </a:p>
        </p:txBody>
      </p:sp>
      <p:sp>
        <p:nvSpPr>
          <p:cNvPr id="36" name="">
            <a:extLst xmlns:a="http://schemas.openxmlformats.org/drawingml/2006/main">
              <a:ext uri="{FF2B5EF4-FFF2-40B4-BE49-F238E27FC236}">
                <a16:creationId xmlns:a16="http://schemas.microsoft.com/office/drawing/2014/main" id="{0D714D59-47B3-401A-833F-166548CACFD3}"/>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41 / 46</a:t>
            </a:r>
          </a:p>
        </p:txBody>
      </p:sp>
    </p:spTree>
    <p:extLst>
      <p:ext uri="{BB962C8B-B14F-4D97-AF65-F5344CB8AC3E}">
        <p14:creationId xmlns:p14="http://schemas.microsoft.com/office/powerpoint/2010/main" val="1186077149"/>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7E777E-DF75-46A2-9C96-8767934652E4}"/>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復旧できない場合</a:t>
            </a:r>
          </a:p>
        </p:txBody>
      </p:sp>
      <p:sp>
        <p:nvSpPr>
          <p:cNvPr id="2" name="">
            <a:extLst xmlns:a="http://schemas.openxmlformats.org/drawingml/2006/main">
              <a:ext uri="{FF2B5EF4-FFF2-40B4-BE49-F238E27FC236}">
                <a16:creationId xmlns:a16="http://schemas.microsoft.com/office/drawing/2014/main" id="{776EFCFB-F654-4A5B-9D5B-C6C9A21775E7}"/>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AA273F33-13EF-4988-886C-F0D613B3EA66}"/>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42</a:t>
            </a:r>
          </a:p>
        </p:txBody>
      </p:sp>
      <p:sp>
        <p:nvSpPr>
          <p:cNvPr id="4" name="">
            <a:extLst xmlns:a="http://schemas.openxmlformats.org/drawingml/2006/main">
              <a:ext uri="{FF2B5EF4-FFF2-40B4-BE49-F238E27FC236}">
                <a16:creationId xmlns:a16="http://schemas.microsoft.com/office/drawing/2014/main" id="{547EA872-23F5-4373-A50F-B4ABB9F551B9}"/>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509A3B5C-82EC-4941-8994-1BDDD1F72938}"/>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時間内に直せない場合は、手順の完了よりも構成理解を優先します。講師デモで完成状態を見ながら、どのリソースが関係するかを確認します。</a:t>
            </a:r>
          </a:p>
        </p:txBody>
      </p:sp>
      <p:sp>
        <p:nvSpPr>
          <p:cNvPr id="6" name="">
            <a:extLst xmlns:a="http://schemas.openxmlformats.org/drawingml/2006/main">
              <a:ext uri="{FF2B5EF4-FFF2-40B4-BE49-F238E27FC236}">
                <a16:creationId xmlns:a16="http://schemas.microsoft.com/office/drawing/2014/main" id="{976476EF-0D2D-46D3-BFB5-5134B50E07F4}"/>
              </a:ext>
            </a:extLst>
          </p:cNvPr>
          <p:cNvSpPr>
            <a:spLocks xmlns:a="http://schemas.openxmlformats.org/drawingml/2006/main" noGrp="1"/>
          </p:cNvSpPr>
          <p:nvPr/>
        </p:nvSpPr>
        <p:spPr>
          <a:xfrm xmlns:a="http://schemas.openxmlformats.org/drawingml/2006/main">
            <a:off x="876300" y="2400300"/>
            <a:ext cx="32766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9A585D78-F979-4109-AE36-1275F5E4155C}"/>
              </a:ext>
            </a:extLst>
          </p:cNvPr>
          <p:cNvSpPr>
            <a:spLocks xmlns:a="http://schemas.openxmlformats.org/drawingml/2006/main" noGrp="1"/>
          </p:cNvSpPr>
          <p:nvPr/>
        </p:nvSpPr>
        <p:spPr>
          <a:xfrm xmlns:a="http://schemas.openxmlformats.org/drawingml/2006/main">
            <a:off x="876300" y="2400300"/>
            <a:ext cx="76200" cy="20002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CC9B0F8F-A198-48B6-87D9-EDCF3B94F7F6}"/>
              </a:ext>
            </a:extLst>
          </p:cNvPr>
          <p:cNvSpPr>
            <a:spLocks xmlns:a="http://schemas.openxmlformats.org/drawingml/2006/main" noGrp="1"/>
          </p:cNvSpPr>
          <p:nvPr/>
        </p:nvSpPr>
        <p:spPr>
          <a:xfrm xmlns:a="http://schemas.openxmlformats.org/drawingml/2006/main">
            <a:off x="1085850" y="2552700"/>
            <a:ext cx="2876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0F766E"/>
                </a:solidFill>
                <a:latin typeface="Yu Gothic UI"/>
                <a:ea typeface="Yu Gothic UI"/>
                <a:cs typeface="Yu Gothic UI"/>
              </a:defRPr>
            </a:pPr>
            <a:r>
              <a:rPr sz="713" b="1">
                <a:solidFill>
                  <a:srgbClr val="0F766E"/>
                </a:solidFill>
                <a:latin typeface="Yu Gothic UI"/>
                <a:ea typeface="Yu Gothic UI"/>
                <a:cs typeface="Yu Gothic UI"/>
              </a:rPr>
              <a:t>VM 作成失敗</a:t>
            </a:r>
          </a:p>
        </p:txBody>
      </p:sp>
      <p:sp>
        <p:nvSpPr>
          <p:cNvPr id="9" name="">
            <a:extLst xmlns:a="http://schemas.openxmlformats.org/drawingml/2006/main">
              <a:ext uri="{FF2B5EF4-FFF2-40B4-BE49-F238E27FC236}">
                <a16:creationId xmlns:a16="http://schemas.microsoft.com/office/drawing/2014/main" id="{C6DC72BF-9D67-49C4-908F-B73653C3EE15}"/>
              </a:ext>
            </a:extLst>
          </p:cNvPr>
          <p:cNvSpPr>
            <a:spLocks xmlns:a="http://schemas.openxmlformats.org/drawingml/2006/main" noGrp="1"/>
          </p:cNvSpPr>
          <p:nvPr/>
        </p:nvSpPr>
        <p:spPr>
          <a:xfrm xmlns:a="http://schemas.openxmlformats.org/drawingml/2006/main">
            <a:off x="1085850" y="28003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原因を切り分ける</a:t>
            </a:r>
          </a:p>
        </p:txBody>
      </p:sp>
      <p:sp>
        <p:nvSpPr>
          <p:cNvPr id="10" name="">
            <a:extLst xmlns:a="http://schemas.openxmlformats.org/drawingml/2006/main">
              <a:ext uri="{FF2B5EF4-FFF2-40B4-BE49-F238E27FC236}">
                <a16:creationId xmlns:a16="http://schemas.microsoft.com/office/drawing/2014/main" id="{52CDAB9D-D417-47C1-AC32-AC92B42C1C82}"/>
              </a:ext>
            </a:extLst>
          </p:cNvPr>
          <p:cNvSpPr>
            <a:spLocks xmlns:a="http://schemas.openxmlformats.org/drawingml/2006/main" noGrp="1"/>
          </p:cNvSpPr>
          <p:nvPr/>
        </p:nvSpPr>
        <p:spPr>
          <a:xfrm xmlns:a="http://schemas.openxmlformats.org/drawingml/2006/main">
            <a:off x="1085850" y="3200400"/>
            <a:ext cx="28765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名前、リージョン、サイズ、権限を講師と確認します。</a:t>
            </a:r>
          </a:p>
        </p:txBody>
      </p:sp>
      <p:sp>
        <p:nvSpPr>
          <p:cNvPr id="11" name="">
            <a:extLst xmlns:a="http://schemas.openxmlformats.org/drawingml/2006/main">
              <a:ext uri="{FF2B5EF4-FFF2-40B4-BE49-F238E27FC236}">
                <a16:creationId xmlns:a16="http://schemas.microsoft.com/office/drawing/2014/main" id="{4081A7A9-57EC-47B9-AF93-64F48041635B}"/>
              </a:ext>
            </a:extLst>
          </p:cNvPr>
          <p:cNvSpPr>
            <a:spLocks xmlns:a="http://schemas.openxmlformats.org/drawingml/2006/main" noGrp="1"/>
          </p:cNvSpPr>
          <p:nvPr/>
        </p:nvSpPr>
        <p:spPr>
          <a:xfrm xmlns:a="http://schemas.openxmlformats.org/drawingml/2006/main">
            <a:off x="4438650" y="2400300"/>
            <a:ext cx="32766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ABAF7361-1A82-4DAB-9FFD-E2A98687DFE8}"/>
              </a:ext>
            </a:extLst>
          </p:cNvPr>
          <p:cNvSpPr>
            <a:spLocks xmlns:a="http://schemas.openxmlformats.org/drawingml/2006/main" noGrp="1"/>
          </p:cNvSpPr>
          <p:nvPr/>
        </p:nvSpPr>
        <p:spPr>
          <a:xfrm xmlns:a="http://schemas.openxmlformats.org/drawingml/2006/main">
            <a:off x="4438650" y="2400300"/>
            <a:ext cx="76200" cy="200025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13" name="">
            <a:extLst xmlns:a="http://schemas.openxmlformats.org/drawingml/2006/main">
              <a:ext uri="{FF2B5EF4-FFF2-40B4-BE49-F238E27FC236}">
                <a16:creationId xmlns:a16="http://schemas.microsoft.com/office/drawing/2014/main" id="{89FE0F9D-1186-44BD-AE34-D541690BB81D}"/>
              </a:ext>
            </a:extLst>
          </p:cNvPr>
          <p:cNvSpPr>
            <a:spLocks xmlns:a="http://schemas.openxmlformats.org/drawingml/2006/main" noGrp="1"/>
          </p:cNvSpPr>
          <p:nvPr/>
        </p:nvSpPr>
        <p:spPr>
          <a:xfrm xmlns:a="http://schemas.openxmlformats.org/drawingml/2006/main">
            <a:off x="4648200" y="2552700"/>
            <a:ext cx="2876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HTTP 表示失敗</a:t>
            </a:r>
          </a:p>
        </p:txBody>
      </p:sp>
      <p:sp>
        <p:nvSpPr>
          <p:cNvPr id="14" name="">
            <a:extLst xmlns:a="http://schemas.openxmlformats.org/drawingml/2006/main">
              <a:ext uri="{FF2B5EF4-FFF2-40B4-BE49-F238E27FC236}">
                <a16:creationId xmlns:a16="http://schemas.microsoft.com/office/drawing/2014/main" id="{FE52AEBE-6298-457C-A248-302F49225F2F}"/>
              </a:ext>
            </a:extLst>
          </p:cNvPr>
          <p:cNvSpPr>
            <a:spLocks xmlns:a="http://schemas.openxmlformats.org/drawingml/2006/main" noGrp="1"/>
          </p:cNvSpPr>
          <p:nvPr/>
        </p:nvSpPr>
        <p:spPr>
          <a:xfrm xmlns:a="http://schemas.openxmlformats.org/drawingml/2006/main">
            <a:off x="4648200" y="28003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構成図に戻る</a:t>
            </a:r>
          </a:p>
        </p:txBody>
      </p:sp>
      <p:sp>
        <p:nvSpPr>
          <p:cNvPr id="15" name="">
            <a:extLst xmlns:a="http://schemas.openxmlformats.org/drawingml/2006/main">
              <a:ext uri="{FF2B5EF4-FFF2-40B4-BE49-F238E27FC236}">
                <a16:creationId xmlns:a16="http://schemas.microsoft.com/office/drawing/2014/main" id="{2CF4E8FC-313C-4E25-A218-A35FDAA7217F}"/>
              </a:ext>
            </a:extLst>
          </p:cNvPr>
          <p:cNvSpPr>
            <a:spLocks xmlns:a="http://schemas.openxmlformats.org/drawingml/2006/main" noGrp="1"/>
          </p:cNvSpPr>
          <p:nvPr/>
        </p:nvSpPr>
        <p:spPr>
          <a:xfrm xmlns:a="http://schemas.openxmlformats.org/drawingml/2006/main">
            <a:off x="4648200" y="3200400"/>
            <a:ext cx="28765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Public IP、NSG、VM、NGINX の順に確認します。</a:t>
            </a:r>
          </a:p>
        </p:txBody>
      </p:sp>
      <p:sp>
        <p:nvSpPr>
          <p:cNvPr id="16" name="">
            <a:extLst xmlns:a="http://schemas.openxmlformats.org/drawingml/2006/main">
              <a:ext uri="{FF2B5EF4-FFF2-40B4-BE49-F238E27FC236}">
                <a16:creationId xmlns:a16="http://schemas.microsoft.com/office/drawing/2014/main" id="{3412BA5C-5DB0-4851-B32C-CB7B9F29C68C}"/>
              </a:ext>
            </a:extLst>
          </p:cNvPr>
          <p:cNvSpPr>
            <a:spLocks xmlns:a="http://schemas.openxmlformats.org/drawingml/2006/main" noGrp="1"/>
          </p:cNvSpPr>
          <p:nvPr/>
        </p:nvSpPr>
        <p:spPr>
          <a:xfrm xmlns:a="http://schemas.openxmlformats.org/drawingml/2006/main">
            <a:off x="8001000" y="2400300"/>
            <a:ext cx="32766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EAB95B50-1F37-4BAE-B5C3-F0B8628C989A}"/>
              </a:ext>
            </a:extLst>
          </p:cNvPr>
          <p:cNvSpPr>
            <a:spLocks xmlns:a="http://schemas.openxmlformats.org/drawingml/2006/main" noGrp="1"/>
          </p:cNvSpPr>
          <p:nvPr/>
        </p:nvSpPr>
        <p:spPr>
          <a:xfrm xmlns:a="http://schemas.openxmlformats.org/drawingml/2006/main">
            <a:off x="8001000" y="2400300"/>
            <a:ext cx="76200" cy="2000250"/>
          </a:xfrm>
          <a:prstGeom xmlns:a="http://schemas.openxmlformats.org/drawingml/2006/main" prst="rect">
            <a:avLst/>
          </a:prstGeom>
          <a:solidFill xmlns:a="http://schemas.openxmlformats.org/drawingml/2006/main">
            <a:srgbClr val="ED7D31"/>
          </a:solidFill>
          <a:ln xmlns:a="http://schemas.openxmlformats.org/drawingml/2006/main" w="0">
            <a:solidFill>
              <a:srgbClr val="ED7D31"/>
            </a:solidFill>
            <a:prstDash val="solid"/>
          </a:ln>
        </p:spPr>
      </p:sp>
      <p:sp>
        <p:nvSpPr>
          <p:cNvPr id="18" name="">
            <a:extLst xmlns:a="http://schemas.openxmlformats.org/drawingml/2006/main">
              <a:ext uri="{FF2B5EF4-FFF2-40B4-BE49-F238E27FC236}">
                <a16:creationId xmlns:a16="http://schemas.microsoft.com/office/drawing/2014/main" id="{2AD255A8-EE27-43C2-8815-77BF284B9C15}"/>
              </a:ext>
            </a:extLst>
          </p:cNvPr>
          <p:cNvSpPr>
            <a:spLocks xmlns:a="http://schemas.openxmlformats.org/drawingml/2006/main" noGrp="1"/>
          </p:cNvSpPr>
          <p:nvPr/>
        </p:nvSpPr>
        <p:spPr>
          <a:xfrm xmlns:a="http://schemas.openxmlformats.org/drawingml/2006/main">
            <a:off x="8210550" y="2552700"/>
            <a:ext cx="2876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D7D31"/>
                </a:solidFill>
                <a:latin typeface="Yu Gothic UI"/>
                <a:ea typeface="Yu Gothic UI"/>
                <a:cs typeface="Yu Gothic UI"/>
              </a:defRPr>
            </a:pPr>
            <a:r>
              <a:rPr sz="713" b="1">
                <a:solidFill>
                  <a:srgbClr val="ED7D31"/>
                </a:solidFill>
                <a:latin typeface="Yu Gothic UI"/>
                <a:ea typeface="Yu Gothic UI"/>
                <a:cs typeface="Yu Gothic UI"/>
              </a:rPr>
              <a:t>最後に必ず</a:t>
            </a:r>
          </a:p>
        </p:txBody>
      </p:sp>
      <p:sp>
        <p:nvSpPr>
          <p:cNvPr id="19" name="">
            <a:extLst xmlns:a="http://schemas.openxmlformats.org/drawingml/2006/main">
              <a:ext uri="{FF2B5EF4-FFF2-40B4-BE49-F238E27FC236}">
                <a16:creationId xmlns:a16="http://schemas.microsoft.com/office/drawing/2014/main" id="{EFC58B2B-711E-45FE-9FE4-430DBF2DD815}"/>
              </a:ext>
            </a:extLst>
          </p:cNvPr>
          <p:cNvSpPr>
            <a:spLocks xmlns:a="http://schemas.openxmlformats.org/drawingml/2006/main" noGrp="1"/>
          </p:cNvSpPr>
          <p:nvPr/>
        </p:nvSpPr>
        <p:spPr>
          <a:xfrm xmlns:a="http://schemas.openxmlformats.org/drawingml/2006/main">
            <a:off x="8210550" y="28003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削除を完了</a:t>
            </a:r>
          </a:p>
        </p:txBody>
      </p:sp>
      <p:sp>
        <p:nvSpPr>
          <p:cNvPr id="20" name="">
            <a:extLst xmlns:a="http://schemas.openxmlformats.org/drawingml/2006/main">
              <a:ext uri="{FF2B5EF4-FFF2-40B4-BE49-F238E27FC236}">
                <a16:creationId xmlns:a16="http://schemas.microsoft.com/office/drawing/2014/main" id="{6BB6542B-65BF-481E-B401-B8B0E6A97574}"/>
              </a:ext>
            </a:extLst>
          </p:cNvPr>
          <p:cNvSpPr>
            <a:spLocks xmlns:a="http://schemas.openxmlformats.org/drawingml/2006/main" noGrp="1"/>
          </p:cNvSpPr>
          <p:nvPr/>
        </p:nvSpPr>
        <p:spPr>
          <a:xfrm xmlns:a="http://schemas.openxmlformats.org/drawingml/2006/main">
            <a:off x="8210550" y="3200400"/>
            <a:ext cx="28765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作成途中のリソースがある場合も削除だけは完了させます。</a:t>
            </a:r>
          </a:p>
        </p:txBody>
      </p:sp>
      <p:sp>
        <p:nvSpPr>
          <p:cNvPr id="21" name="">
            <a:extLst xmlns:a="http://schemas.openxmlformats.org/drawingml/2006/main">
              <a:ext uri="{FF2B5EF4-FFF2-40B4-BE49-F238E27FC236}">
                <a16:creationId xmlns:a16="http://schemas.microsoft.com/office/drawing/2014/main" id="{697C8031-77B4-4567-ABC2-E3D1A253F715}"/>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42 / 46</a:t>
            </a:r>
          </a:p>
        </p:txBody>
      </p:sp>
    </p:spTree>
    <p:extLst>
      <p:ext uri="{BB962C8B-B14F-4D97-AF65-F5344CB8AC3E}">
        <p14:creationId xmlns:p14="http://schemas.microsoft.com/office/powerpoint/2010/main" val="1186077149"/>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867DAF-0B3A-4AF7-BEAE-F5765ED10D5F}"/>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今日のまとめ</a:t>
            </a:r>
          </a:p>
        </p:txBody>
      </p:sp>
      <p:sp>
        <p:nvSpPr>
          <p:cNvPr id="2" name="">
            <a:extLst xmlns:a="http://schemas.openxmlformats.org/drawingml/2006/main">
              <a:ext uri="{FF2B5EF4-FFF2-40B4-BE49-F238E27FC236}">
                <a16:creationId xmlns:a16="http://schemas.microsoft.com/office/drawing/2014/main" id="{78432246-0305-49D0-BF13-34AD954D15D9}"/>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63E0CDF9-168F-45D7-A59B-8B382035E0C4}"/>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43</a:t>
            </a:r>
          </a:p>
        </p:txBody>
      </p:sp>
      <p:sp>
        <p:nvSpPr>
          <p:cNvPr id="4" name="">
            <a:extLst xmlns:a="http://schemas.openxmlformats.org/drawingml/2006/main">
              <a:ext uri="{FF2B5EF4-FFF2-40B4-BE49-F238E27FC236}">
                <a16:creationId xmlns:a16="http://schemas.microsoft.com/office/drawing/2014/main" id="{6A38852A-7783-4F97-AFBD-17CD4C9EE1BA}"/>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EEC3CE4-EEFF-4A6B-AEEB-14816977104D}"/>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Azure VM はサーバの実行場所であり、ネットワークとストレージと組み合わせて初めて Web サーバとして動きます。作ったものは最後に削除します。</a:t>
            </a:r>
          </a:p>
        </p:txBody>
      </p:sp>
      <p:sp>
        <p:nvSpPr>
          <p:cNvPr id="6" name="">
            <a:extLst xmlns:a="http://schemas.openxmlformats.org/drawingml/2006/main">
              <a:ext uri="{FF2B5EF4-FFF2-40B4-BE49-F238E27FC236}">
                <a16:creationId xmlns:a16="http://schemas.microsoft.com/office/drawing/2014/main" id="{CC3BD9C7-9D20-4989-9029-842B5F1EC3A3}"/>
              </a:ext>
            </a:extLst>
          </p:cNvPr>
          <p:cNvSpPr>
            <a:spLocks xmlns:a="http://schemas.openxmlformats.org/drawingml/2006/main" noGrp="1"/>
          </p:cNvSpPr>
          <p:nvPr/>
        </p:nvSpPr>
        <p:spPr>
          <a:xfrm xmlns:a="http://schemas.openxmlformats.org/drawingml/2006/main">
            <a:off x="876300" y="2400300"/>
            <a:ext cx="32766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08E486BE-1789-4B07-89D4-A54C189948B8}"/>
              </a:ext>
            </a:extLst>
          </p:cNvPr>
          <p:cNvSpPr>
            <a:spLocks xmlns:a="http://schemas.openxmlformats.org/drawingml/2006/main" noGrp="1"/>
          </p:cNvSpPr>
          <p:nvPr/>
        </p:nvSpPr>
        <p:spPr>
          <a:xfrm xmlns:a="http://schemas.openxmlformats.org/drawingml/2006/main">
            <a:off x="876300" y="2400300"/>
            <a:ext cx="76200" cy="20002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7634D262-FEA6-48D2-912B-8119EAC529B6}"/>
              </a:ext>
            </a:extLst>
          </p:cNvPr>
          <p:cNvSpPr>
            <a:spLocks xmlns:a="http://schemas.openxmlformats.org/drawingml/2006/main" noGrp="1"/>
          </p:cNvSpPr>
          <p:nvPr/>
        </p:nvSpPr>
        <p:spPr>
          <a:xfrm xmlns:a="http://schemas.openxmlformats.org/drawingml/2006/main">
            <a:off x="1085850" y="2552700"/>
            <a:ext cx="2876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0F766E"/>
                </a:solidFill>
                <a:latin typeface="Yu Gothic UI"/>
                <a:ea typeface="Yu Gothic UI"/>
                <a:cs typeface="Yu Gothic UI"/>
              </a:defRPr>
            </a:pPr>
            <a:r>
              <a:rPr sz="713" b="1">
                <a:solidFill>
                  <a:srgbClr val="0F766E"/>
                </a:solidFill>
                <a:latin typeface="Yu Gothic UI"/>
                <a:ea typeface="Yu Gothic UI"/>
                <a:cs typeface="Yu Gothic UI"/>
              </a:rPr>
              <a:t>1</a:t>
            </a:r>
          </a:p>
        </p:txBody>
      </p:sp>
      <p:sp>
        <p:nvSpPr>
          <p:cNvPr id="9" name="">
            <a:extLst xmlns:a="http://schemas.openxmlformats.org/drawingml/2006/main">
              <a:ext uri="{FF2B5EF4-FFF2-40B4-BE49-F238E27FC236}">
                <a16:creationId xmlns:a16="http://schemas.microsoft.com/office/drawing/2014/main" id="{1F8E785D-87EC-445B-8CB4-D86AE14927AF}"/>
              </a:ext>
            </a:extLst>
          </p:cNvPr>
          <p:cNvSpPr>
            <a:spLocks xmlns:a="http://schemas.openxmlformats.org/drawingml/2006/main" noGrp="1"/>
          </p:cNvSpPr>
          <p:nvPr/>
        </p:nvSpPr>
        <p:spPr>
          <a:xfrm xmlns:a="http://schemas.openxmlformats.org/drawingml/2006/main">
            <a:off x="1085850" y="28003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VM は実行場所</a:t>
            </a:r>
          </a:p>
        </p:txBody>
      </p:sp>
      <p:sp>
        <p:nvSpPr>
          <p:cNvPr id="10" name="">
            <a:extLst xmlns:a="http://schemas.openxmlformats.org/drawingml/2006/main">
              <a:ext uri="{FF2B5EF4-FFF2-40B4-BE49-F238E27FC236}">
                <a16:creationId xmlns:a16="http://schemas.microsoft.com/office/drawing/2014/main" id="{AB198E17-5EB8-4FA9-BD69-BDC8B323A788}"/>
              </a:ext>
            </a:extLst>
          </p:cNvPr>
          <p:cNvSpPr>
            <a:spLocks xmlns:a="http://schemas.openxmlformats.org/drawingml/2006/main" noGrp="1"/>
          </p:cNvSpPr>
          <p:nvPr/>
        </p:nvSpPr>
        <p:spPr>
          <a:xfrm xmlns:a="http://schemas.openxmlformats.org/drawingml/2006/main">
            <a:off x="1085850" y="3200400"/>
            <a:ext cx="28765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OS と NGINX が動くサーバとして Azure VM を作りました。</a:t>
            </a:r>
          </a:p>
        </p:txBody>
      </p:sp>
      <p:sp>
        <p:nvSpPr>
          <p:cNvPr id="11" name="">
            <a:extLst xmlns:a="http://schemas.openxmlformats.org/drawingml/2006/main">
              <a:ext uri="{FF2B5EF4-FFF2-40B4-BE49-F238E27FC236}">
                <a16:creationId xmlns:a16="http://schemas.microsoft.com/office/drawing/2014/main" id="{434AF9BF-7DEB-4DFE-9BA7-89F5FB6E7459}"/>
              </a:ext>
            </a:extLst>
          </p:cNvPr>
          <p:cNvSpPr>
            <a:spLocks xmlns:a="http://schemas.openxmlformats.org/drawingml/2006/main" noGrp="1"/>
          </p:cNvSpPr>
          <p:nvPr/>
        </p:nvSpPr>
        <p:spPr>
          <a:xfrm xmlns:a="http://schemas.openxmlformats.org/drawingml/2006/main">
            <a:off x="4438650" y="2400300"/>
            <a:ext cx="32766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1425825A-D254-4171-84AF-0E489301ED0C}"/>
              </a:ext>
            </a:extLst>
          </p:cNvPr>
          <p:cNvSpPr>
            <a:spLocks xmlns:a="http://schemas.openxmlformats.org/drawingml/2006/main" noGrp="1"/>
          </p:cNvSpPr>
          <p:nvPr/>
        </p:nvSpPr>
        <p:spPr>
          <a:xfrm xmlns:a="http://schemas.openxmlformats.org/drawingml/2006/main">
            <a:off x="4438650" y="2400300"/>
            <a:ext cx="76200" cy="200025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13" name="">
            <a:extLst xmlns:a="http://schemas.openxmlformats.org/drawingml/2006/main">
              <a:ext uri="{FF2B5EF4-FFF2-40B4-BE49-F238E27FC236}">
                <a16:creationId xmlns:a16="http://schemas.microsoft.com/office/drawing/2014/main" id="{4A916180-E5E1-4691-BDF1-1684E4CE79CC}"/>
              </a:ext>
            </a:extLst>
          </p:cNvPr>
          <p:cNvSpPr>
            <a:spLocks xmlns:a="http://schemas.openxmlformats.org/drawingml/2006/main" noGrp="1"/>
          </p:cNvSpPr>
          <p:nvPr/>
        </p:nvSpPr>
        <p:spPr>
          <a:xfrm xmlns:a="http://schemas.openxmlformats.org/drawingml/2006/main">
            <a:off x="4648200" y="2552700"/>
            <a:ext cx="2876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2</a:t>
            </a:r>
          </a:p>
        </p:txBody>
      </p:sp>
      <p:sp>
        <p:nvSpPr>
          <p:cNvPr id="14" name="">
            <a:extLst xmlns:a="http://schemas.openxmlformats.org/drawingml/2006/main">
              <a:ext uri="{FF2B5EF4-FFF2-40B4-BE49-F238E27FC236}">
                <a16:creationId xmlns:a16="http://schemas.microsoft.com/office/drawing/2014/main" id="{C1F8857E-9BCD-40D5-A386-79E4EEC67128}"/>
              </a:ext>
            </a:extLst>
          </p:cNvPr>
          <p:cNvSpPr>
            <a:spLocks xmlns:a="http://schemas.openxmlformats.org/drawingml/2006/main" noGrp="1"/>
          </p:cNvSpPr>
          <p:nvPr/>
        </p:nvSpPr>
        <p:spPr>
          <a:xfrm xmlns:a="http://schemas.openxmlformats.org/drawingml/2006/main">
            <a:off x="4648200" y="28003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周辺リソースが必要</a:t>
            </a:r>
          </a:p>
        </p:txBody>
      </p:sp>
      <p:sp>
        <p:nvSpPr>
          <p:cNvPr id="15" name="">
            <a:extLst xmlns:a="http://schemas.openxmlformats.org/drawingml/2006/main">
              <a:ext uri="{FF2B5EF4-FFF2-40B4-BE49-F238E27FC236}">
                <a16:creationId xmlns:a16="http://schemas.microsoft.com/office/drawing/2014/main" id="{F9C14513-CD7D-4119-9C0E-CC0349788E45}"/>
              </a:ext>
            </a:extLst>
          </p:cNvPr>
          <p:cNvSpPr>
            <a:spLocks xmlns:a="http://schemas.openxmlformats.org/drawingml/2006/main" noGrp="1"/>
          </p:cNvSpPr>
          <p:nvPr/>
        </p:nvSpPr>
        <p:spPr>
          <a:xfrm xmlns:a="http://schemas.openxmlformats.org/drawingml/2006/main">
            <a:off x="4648200" y="3200400"/>
            <a:ext cx="28765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Disk、NIC、VNet、Public IP、NSG が通信と保存を支えます。</a:t>
            </a:r>
          </a:p>
        </p:txBody>
      </p:sp>
      <p:sp>
        <p:nvSpPr>
          <p:cNvPr id="16" name="">
            <a:extLst xmlns:a="http://schemas.openxmlformats.org/drawingml/2006/main">
              <a:ext uri="{FF2B5EF4-FFF2-40B4-BE49-F238E27FC236}">
                <a16:creationId xmlns:a16="http://schemas.microsoft.com/office/drawing/2014/main" id="{C75D90A0-9BBB-4BA9-81AA-5099DB843988}"/>
              </a:ext>
            </a:extLst>
          </p:cNvPr>
          <p:cNvSpPr>
            <a:spLocks xmlns:a="http://schemas.openxmlformats.org/drawingml/2006/main" noGrp="1"/>
          </p:cNvSpPr>
          <p:nvPr/>
        </p:nvSpPr>
        <p:spPr>
          <a:xfrm xmlns:a="http://schemas.openxmlformats.org/drawingml/2006/main">
            <a:off x="8001000" y="2400300"/>
            <a:ext cx="32766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55FB72CD-97EB-4C23-BC30-3B0E565A5AC1}"/>
              </a:ext>
            </a:extLst>
          </p:cNvPr>
          <p:cNvSpPr>
            <a:spLocks xmlns:a="http://schemas.openxmlformats.org/drawingml/2006/main" noGrp="1"/>
          </p:cNvSpPr>
          <p:nvPr/>
        </p:nvSpPr>
        <p:spPr>
          <a:xfrm xmlns:a="http://schemas.openxmlformats.org/drawingml/2006/main">
            <a:off x="8001000" y="2400300"/>
            <a:ext cx="76200" cy="2000250"/>
          </a:xfrm>
          <a:prstGeom xmlns:a="http://schemas.openxmlformats.org/drawingml/2006/main" prst="rect">
            <a:avLst/>
          </a:prstGeom>
          <a:solidFill xmlns:a="http://schemas.openxmlformats.org/drawingml/2006/main">
            <a:srgbClr val="ED7D31"/>
          </a:solidFill>
          <a:ln xmlns:a="http://schemas.openxmlformats.org/drawingml/2006/main" w="0">
            <a:solidFill>
              <a:srgbClr val="ED7D31"/>
            </a:solidFill>
            <a:prstDash val="solid"/>
          </a:ln>
        </p:spPr>
      </p:sp>
      <p:sp>
        <p:nvSpPr>
          <p:cNvPr id="18" name="">
            <a:extLst xmlns:a="http://schemas.openxmlformats.org/drawingml/2006/main">
              <a:ext uri="{FF2B5EF4-FFF2-40B4-BE49-F238E27FC236}">
                <a16:creationId xmlns:a16="http://schemas.microsoft.com/office/drawing/2014/main" id="{5B8A2899-AD3D-4574-9D74-011231E2E342}"/>
              </a:ext>
            </a:extLst>
          </p:cNvPr>
          <p:cNvSpPr>
            <a:spLocks xmlns:a="http://schemas.openxmlformats.org/drawingml/2006/main" noGrp="1"/>
          </p:cNvSpPr>
          <p:nvPr/>
        </p:nvSpPr>
        <p:spPr>
          <a:xfrm xmlns:a="http://schemas.openxmlformats.org/drawingml/2006/main">
            <a:off x="8210550" y="2552700"/>
            <a:ext cx="2876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D7D31"/>
                </a:solidFill>
                <a:latin typeface="Yu Gothic UI"/>
                <a:ea typeface="Yu Gothic UI"/>
                <a:cs typeface="Yu Gothic UI"/>
              </a:defRPr>
            </a:pPr>
            <a:r>
              <a:rPr sz="713" b="1">
                <a:solidFill>
                  <a:srgbClr val="ED7D31"/>
                </a:solidFill>
                <a:latin typeface="Yu Gothic UI"/>
                <a:ea typeface="Yu Gothic UI"/>
                <a:cs typeface="Yu Gothic UI"/>
              </a:rPr>
              <a:t>3</a:t>
            </a:r>
          </a:p>
        </p:txBody>
      </p:sp>
      <p:sp>
        <p:nvSpPr>
          <p:cNvPr id="19" name="">
            <a:extLst xmlns:a="http://schemas.openxmlformats.org/drawingml/2006/main">
              <a:ext uri="{FF2B5EF4-FFF2-40B4-BE49-F238E27FC236}">
                <a16:creationId xmlns:a16="http://schemas.microsoft.com/office/drawing/2014/main" id="{CAB96B28-4F65-461E-9B2F-59EC3AB4224E}"/>
              </a:ext>
            </a:extLst>
          </p:cNvPr>
          <p:cNvSpPr>
            <a:spLocks xmlns:a="http://schemas.openxmlformats.org/drawingml/2006/main" noGrp="1"/>
          </p:cNvSpPr>
          <p:nvPr/>
        </p:nvSpPr>
        <p:spPr>
          <a:xfrm xmlns:a="http://schemas.openxmlformats.org/drawingml/2006/main">
            <a:off x="8210550" y="28003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削除までが完了</a:t>
            </a:r>
          </a:p>
        </p:txBody>
      </p:sp>
      <p:sp>
        <p:nvSpPr>
          <p:cNvPr id="20" name="">
            <a:extLst xmlns:a="http://schemas.openxmlformats.org/drawingml/2006/main">
              <a:ext uri="{FF2B5EF4-FFF2-40B4-BE49-F238E27FC236}">
                <a16:creationId xmlns:a16="http://schemas.microsoft.com/office/drawing/2014/main" id="{8581C3CE-8CE8-4A7F-8947-C772A344F687}"/>
              </a:ext>
            </a:extLst>
          </p:cNvPr>
          <p:cNvSpPr>
            <a:spLocks xmlns:a="http://schemas.openxmlformats.org/drawingml/2006/main" noGrp="1"/>
          </p:cNvSpPr>
          <p:nvPr/>
        </p:nvSpPr>
        <p:spPr>
          <a:xfrm xmlns:a="http://schemas.openxmlformats.org/drawingml/2006/main">
            <a:off x="8210550" y="3200400"/>
            <a:ext cx="28765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リソースグループ削除で不要な課金対象を残さないようにします。</a:t>
            </a:r>
          </a:p>
        </p:txBody>
      </p:sp>
      <p:sp>
        <p:nvSpPr>
          <p:cNvPr id="21" name="">
            <a:extLst xmlns:a="http://schemas.openxmlformats.org/drawingml/2006/main">
              <a:ext uri="{FF2B5EF4-FFF2-40B4-BE49-F238E27FC236}">
                <a16:creationId xmlns:a16="http://schemas.microsoft.com/office/drawing/2014/main" id="{CCAEF288-FC47-471D-BBCE-F188CA2551BC}"/>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43 / 46</a:t>
            </a:r>
          </a:p>
        </p:txBody>
      </p:sp>
    </p:spTree>
    <p:extLst>
      <p:ext uri="{BB962C8B-B14F-4D97-AF65-F5344CB8AC3E}">
        <p14:creationId xmlns:p14="http://schemas.microsoft.com/office/powerpoint/2010/main" val="1186077149"/>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FA5419-9E9B-4D91-AD71-793BCAE862E4}"/>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確認クイズ</a:t>
            </a:r>
          </a:p>
        </p:txBody>
      </p:sp>
      <p:sp>
        <p:nvSpPr>
          <p:cNvPr id="2" name="">
            <a:extLst xmlns:a="http://schemas.openxmlformats.org/drawingml/2006/main">
              <a:ext uri="{FF2B5EF4-FFF2-40B4-BE49-F238E27FC236}">
                <a16:creationId xmlns:a16="http://schemas.microsoft.com/office/drawing/2014/main" id="{1AE6A02C-11DA-430C-989E-BBF897DA1801}"/>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0780A6C7-2DBC-441A-9988-9654B25BF2E7}"/>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44</a:t>
            </a:r>
          </a:p>
        </p:txBody>
      </p:sp>
      <p:sp>
        <p:nvSpPr>
          <p:cNvPr id="4" name="">
            <a:extLst xmlns:a="http://schemas.openxmlformats.org/drawingml/2006/main">
              <a:ext uri="{FF2B5EF4-FFF2-40B4-BE49-F238E27FC236}">
                <a16:creationId xmlns:a16="http://schemas.microsoft.com/office/drawing/2014/main" id="{0A55E663-28F9-4ECB-943E-EEF10D3EBAB5}"/>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AC8BEAC-D93B-4E47-BE94-585FA794BF02}"/>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自分の言葉で、VM と周辺リソースの関係、HTTP アクセス、削除方法を説明できるか確認します。</a:t>
            </a:r>
          </a:p>
        </p:txBody>
      </p:sp>
      <p:sp>
        <p:nvSpPr>
          <p:cNvPr id="6" name="">
            <a:extLst xmlns:a="http://schemas.openxmlformats.org/drawingml/2006/main">
              <a:ext uri="{FF2B5EF4-FFF2-40B4-BE49-F238E27FC236}">
                <a16:creationId xmlns:a16="http://schemas.microsoft.com/office/drawing/2014/main" id="{1C793B2A-8B5A-4CEC-9CE9-0E5E57307C1D}"/>
              </a:ext>
            </a:extLst>
          </p:cNvPr>
          <p:cNvSpPr>
            <a:spLocks xmlns:a="http://schemas.openxmlformats.org/drawingml/2006/main" noGrp="1"/>
          </p:cNvSpPr>
          <p:nvPr/>
        </p:nvSpPr>
        <p:spPr>
          <a:xfrm xmlns:a="http://schemas.openxmlformats.org/drawingml/2006/main">
            <a:off x="685800" y="2247900"/>
            <a:ext cx="51054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8107311C-1B0A-4F3B-B327-77D8B02F262D}"/>
              </a:ext>
            </a:extLst>
          </p:cNvPr>
          <p:cNvSpPr>
            <a:spLocks xmlns:a="http://schemas.openxmlformats.org/drawingml/2006/main" noGrp="1"/>
          </p:cNvSpPr>
          <p:nvPr/>
        </p:nvSpPr>
        <p:spPr>
          <a:xfrm xmlns:a="http://schemas.openxmlformats.org/drawingml/2006/main">
            <a:off x="685800" y="2247900"/>
            <a:ext cx="76200" cy="16192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FB523E74-9620-4632-95F2-18482D95DF3F}"/>
              </a:ext>
            </a:extLst>
          </p:cNvPr>
          <p:cNvSpPr>
            <a:spLocks xmlns:a="http://schemas.openxmlformats.org/drawingml/2006/main" noGrp="1"/>
          </p:cNvSpPr>
          <p:nvPr/>
        </p:nvSpPr>
        <p:spPr>
          <a:xfrm xmlns:a="http://schemas.openxmlformats.org/drawingml/2006/main">
            <a:off x="895350" y="241935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0F766E"/>
                </a:solidFill>
                <a:latin typeface="Yu Gothic UI"/>
                <a:ea typeface="Yu Gothic UI"/>
                <a:cs typeface="Yu Gothic UI"/>
              </a:defRPr>
            </a:pPr>
            <a:r>
              <a:rPr sz="750" b="1">
                <a:solidFill>
                  <a:srgbClr val="0F766E"/>
                </a:solidFill>
                <a:latin typeface="Yu Gothic UI"/>
                <a:ea typeface="Yu Gothic UI"/>
                <a:cs typeface="Yu Gothic UI"/>
              </a:rPr>
              <a:t>問1</a:t>
            </a:r>
          </a:p>
        </p:txBody>
      </p:sp>
      <p:sp>
        <p:nvSpPr>
          <p:cNvPr id="9" name="">
            <a:extLst xmlns:a="http://schemas.openxmlformats.org/drawingml/2006/main">
              <a:ext uri="{FF2B5EF4-FFF2-40B4-BE49-F238E27FC236}">
                <a16:creationId xmlns:a16="http://schemas.microsoft.com/office/drawing/2014/main" id="{CAB8EC05-9DB4-4345-860E-1F93F1FEBFDB}"/>
              </a:ext>
            </a:extLst>
          </p:cNvPr>
          <p:cNvSpPr>
            <a:spLocks xmlns:a="http://schemas.openxmlformats.org/drawingml/2006/main" noGrp="1"/>
          </p:cNvSpPr>
          <p:nvPr/>
        </p:nvSpPr>
        <p:spPr>
          <a:xfrm xmlns:a="http://schemas.openxmlformats.org/drawingml/2006/main">
            <a:off x="895350" y="2705100"/>
            <a:ext cx="4476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F2937"/>
                </a:solidFill>
                <a:latin typeface="Yu Gothic UI"/>
                <a:ea typeface="Yu Gothic UI"/>
                <a:cs typeface="Yu Gothic UI"/>
              </a:defRPr>
            </a:pPr>
            <a:r>
              <a:rPr sz="990" b="1">
                <a:solidFill>
                  <a:srgbClr val="1F2937"/>
                </a:solidFill>
                <a:latin typeface="Yu Gothic UI"/>
                <a:ea typeface="Yu Gothic UI"/>
                <a:cs typeface="Yu Gothic UI"/>
              </a:rPr>
              <a:t>VM がネットワークに接続するために必要な代表的リソースはどれですか。</a:t>
            </a:r>
          </a:p>
        </p:txBody>
      </p:sp>
      <p:sp>
        <p:nvSpPr>
          <p:cNvPr id="10" name="">
            <a:extLst xmlns:a="http://schemas.openxmlformats.org/drawingml/2006/main">
              <a:ext uri="{FF2B5EF4-FFF2-40B4-BE49-F238E27FC236}">
                <a16:creationId xmlns:a16="http://schemas.microsoft.com/office/drawing/2014/main" id="{A0622449-E929-4455-8466-C4103AD25903}"/>
              </a:ext>
            </a:extLst>
          </p:cNvPr>
          <p:cNvSpPr>
            <a:spLocks xmlns:a="http://schemas.openxmlformats.org/drawingml/2006/main" noGrp="1"/>
          </p:cNvSpPr>
          <p:nvPr/>
        </p:nvSpPr>
        <p:spPr>
          <a:xfrm xmlns:a="http://schemas.openxmlformats.org/drawingml/2006/main">
            <a:off x="895350" y="3314700"/>
            <a:ext cx="447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Yu Gothic UI"/>
                <a:ea typeface="Yu Gothic UI"/>
                <a:cs typeface="Yu Gothic UI"/>
              </a:defRPr>
            </a:pPr>
            <a:r>
              <a:rPr sz="900" b="1">
                <a:solidFill>
                  <a:srgbClr val="0F766E"/>
                </a:solidFill>
                <a:latin typeface="Yu Gothic UI"/>
                <a:ea typeface="Yu Gothic UI"/>
                <a:cs typeface="Yu Gothic UI"/>
              </a:rPr>
              <a:t>正解: NIC</a:t>
            </a:r>
          </a:p>
        </p:txBody>
      </p:sp>
      <p:sp>
        <p:nvSpPr>
          <p:cNvPr id="11" name="">
            <a:extLst xmlns:a="http://schemas.openxmlformats.org/drawingml/2006/main">
              <a:ext uri="{FF2B5EF4-FFF2-40B4-BE49-F238E27FC236}">
                <a16:creationId xmlns:a16="http://schemas.microsoft.com/office/drawing/2014/main" id="{E5BF6935-8C59-4723-A6DF-852AAAA0BD29}"/>
              </a:ext>
            </a:extLst>
          </p:cNvPr>
          <p:cNvSpPr>
            <a:spLocks xmlns:a="http://schemas.openxmlformats.org/drawingml/2006/main" noGrp="1"/>
          </p:cNvSpPr>
          <p:nvPr/>
        </p:nvSpPr>
        <p:spPr>
          <a:xfrm xmlns:a="http://schemas.openxmlformats.org/drawingml/2006/main">
            <a:off x="6210300" y="2247900"/>
            <a:ext cx="51054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566D47C2-F4CA-4C1C-903E-6647AD97C084}"/>
              </a:ext>
            </a:extLst>
          </p:cNvPr>
          <p:cNvSpPr>
            <a:spLocks xmlns:a="http://schemas.openxmlformats.org/drawingml/2006/main" noGrp="1"/>
          </p:cNvSpPr>
          <p:nvPr/>
        </p:nvSpPr>
        <p:spPr>
          <a:xfrm xmlns:a="http://schemas.openxmlformats.org/drawingml/2006/main">
            <a:off x="6210300" y="2247900"/>
            <a:ext cx="76200" cy="161925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13" name="">
            <a:extLst xmlns:a="http://schemas.openxmlformats.org/drawingml/2006/main">
              <a:ext uri="{FF2B5EF4-FFF2-40B4-BE49-F238E27FC236}">
                <a16:creationId xmlns:a16="http://schemas.microsoft.com/office/drawing/2014/main" id="{F6173B24-335C-4C64-8739-323BBFA5A725}"/>
              </a:ext>
            </a:extLst>
          </p:cNvPr>
          <p:cNvSpPr>
            <a:spLocks xmlns:a="http://schemas.openxmlformats.org/drawingml/2006/main" noGrp="1"/>
          </p:cNvSpPr>
          <p:nvPr/>
        </p:nvSpPr>
        <p:spPr>
          <a:xfrm xmlns:a="http://schemas.openxmlformats.org/drawingml/2006/main">
            <a:off x="6419850" y="241935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70AD47"/>
                </a:solidFill>
                <a:latin typeface="Yu Gothic UI"/>
                <a:ea typeface="Yu Gothic UI"/>
                <a:cs typeface="Yu Gothic UI"/>
              </a:defRPr>
            </a:pPr>
            <a:r>
              <a:rPr sz="750" b="1">
                <a:solidFill>
                  <a:srgbClr val="70AD47"/>
                </a:solidFill>
                <a:latin typeface="Yu Gothic UI"/>
                <a:ea typeface="Yu Gothic UI"/>
                <a:cs typeface="Yu Gothic UI"/>
              </a:rPr>
              <a:t>問2</a:t>
            </a:r>
          </a:p>
        </p:txBody>
      </p:sp>
      <p:sp>
        <p:nvSpPr>
          <p:cNvPr id="14" name="">
            <a:extLst xmlns:a="http://schemas.openxmlformats.org/drawingml/2006/main">
              <a:ext uri="{FF2B5EF4-FFF2-40B4-BE49-F238E27FC236}">
                <a16:creationId xmlns:a16="http://schemas.microsoft.com/office/drawing/2014/main" id="{B292A65B-87E2-4711-982E-553F52B1AC55}"/>
              </a:ext>
            </a:extLst>
          </p:cNvPr>
          <p:cNvSpPr>
            <a:spLocks xmlns:a="http://schemas.openxmlformats.org/drawingml/2006/main" noGrp="1"/>
          </p:cNvSpPr>
          <p:nvPr/>
        </p:nvSpPr>
        <p:spPr>
          <a:xfrm xmlns:a="http://schemas.openxmlformats.org/drawingml/2006/main">
            <a:off x="6419850" y="2705100"/>
            <a:ext cx="4476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F2937"/>
                </a:solidFill>
                <a:latin typeface="Yu Gothic UI"/>
                <a:ea typeface="Yu Gothic UI"/>
                <a:cs typeface="Yu Gothic UI"/>
              </a:defRPr>
            </a:pPr>
            <a:r>
              <a:rPr sz="990" b="1">
                <a:solidFill>
                  <a:srgbClr val="1F2937"/>
                </a:solidFill>
                <a:latin typeface="Yu Gothic UI"/>
                <a:ea typeface="Yu Gothic UI"/>
                <a:cs typeface="Yu Gothic UI"/>
              </a:rPr>
              <a:t>ブラウザーから NGINX にアクセスするため、本回で許可した通信はどれですか。</a:t>
            </a:r>
          </a:p>
        </p:txBody>
      </p:sp>
      <p:sp>
        <p:nvSpPr>
          <p:cNvPr id="15" name="">
            <a:extLst xmlns:a="http://schemas.openxmlformats.org/drawingml/2006/main">
              <a:ext uri="{FF2B5EF4-FFF2-40B4-BE49-F238E27FC236}">
                <a16:creationId xmlns:a16="http://schemas.microsoft.com/office/drawing/2014/main" id="{C1E32171-128D-4B83-BF11-803BD917E099}"/>
              </a:ext>
            </a:extLst>
          </p:cNvPr>
          <p:cNvSpPr>
            <a:spLocks xmlns:a="http://schemas.openxmlformats.org/drawingml/2006/main" noGrp="1"/>
          </p:cNvSpPr>
          <p:nvPr/>
        </p:nvSpPr>
        <p:spPr>
          <a:xfrm xmlns:a="http://schemas.openxmlformats.org/drawingml/2006/main">
            <a:off x="6419850" y="3314700"/>
            <a:ext cx="447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0AD47"/>
                </a:solidFill>
                <a:latin typeface="Yu Gothic UI"/>
                <a:ea typeface="Yu Gothic UI"/>
                <a:cs typeface="Yu Gothic UI"/>
              </a:defRPr>
            </a:pPr>
            <a:r>
              <a:rPr sz="900" b="1">
                <a:solidFill>
                  <a:srgbClr val="70AD47"/>
                </a:solidFill>
                <a:latin typeface="Yu Gothic UI"/>
                <a:ea typeface="Yu Gothic UI"/>
                <a:cs typeface="Yu Gothic UI"/>
              </a:rPr>
              <a:t>正解: HTTP</a:t>
            </a:r>
          </a:p>
        </p:txBody>
      </p:sp>
      <p:sp>
        <p:nvSpPr>
          <p:cNvPr id="16" name="">
            <a:extLst xmlns:a="http://schemas.openxmlformats.org/drawingml/2006/main">
              <a:ext uri="{FF2B5EF4-FFF2-40B4-BE49-F238E27FC236}">
                <a16:creationId xmlns:a16="http://schemas.microsoft.com/office/drawing/2014/main" id="{C2F96937-9A39-4291-A263-E552D7DF7A81}"/>
              </a:ext>
            </a:extLst>
          </p:cNvPr>
          <p:cNvSpPr>
            <a:spLocks xmlns:a="http://schemas.openxmlformats.org/drawingml/2006/main" noGrp="1"/>
          </p:cNvSpPr>
          <p:nvPr/>
        </p:nvSpPr>
        <p:spPr>
          <a:xfrm xmlns:a="http://schemas.openxmlformats.org/drawingml/2006/main">
            <a:off x="685800" y="4419600"/>
            <a:ext cx="51054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DD03329F-415B-4C7E-BD0C-6A9A392D8FF3}"/>
              </a:ext>
            </a:extLst>
          </p:cNvPr>
          <p:cNvSpPr>
            <a:spLocks xmlns:a="http://schemas.openxmlformats.org/drawingml/2006/main" noGrp="1"/>
          </p:cNvSpPr>
          <p:nvPr/>
        </p:nvSpPr>
        <p:spPr>
          <a:xfrm xmlns:a="http://schemas.openxmlformats.org/drawingml/2006/main">
            <a:off x="685800" y="4419600"/>
            <a:ext cx="76200" cy="1619250"/>
          </a:xfrm>
          <a:prstGeom xmlns:a="http://schemas.openxmlformats.org/drawingml/2006/main" prst="rect">
            <a:avLst/>
          </a:prstGeom>
          <a:solidFill xmlns:a="http://schemas.openxmlformats.org/drawingml/2006/main">
            <a:srgbClr val="ED7D31"/>
          </a:solidFill>
          <a:ln xmlns:a="http://schemas.openxmlformats.org/drawingml/2006/main" w="0">
            <a:solidFill>
              <a:srgbClr val="ED7D31"/>
            </a:solidFill>
            <a:prstDash val="solid"/>
          </a:ln>
        </p:spPr>
      </p:sp>
      <p:sp>
        <p:nvSpPr>
          <p:cNvPr id="18" name="">
            <a:extLst xmlns:a="http://schemas.openxmlformats.org/drawingml/2006/main">
              <a:ext uri="{FF2B5EF4-FFF2-40B4-BE49-F238E27FC236}">
                <a16:creationId xmlns:a16="http://schemas.microsoft.com/office/drawing/2014/main" id="{E0E84EAC-2680-4E26-A672-F852F74F8F0C}"/>
              </a:ext>
            </a:extLst>
          </p:cNvPr>
          <p:cNvSpPr>
            <a:spLocks xmlns:a="http://schemas.openxmlformats.org/drawingml/2006/main" noGrp="1"/>
          </p:cNvSpPr>
          <p:nvPr/>
        </p:nvSpPr>
        <p:spPr>
          <a:xfrm xmlns:a="http://schemas.openxmlformats.org/drawingml/2006/main">
            <a:off x="895350" y="459105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D7D31"/>
                </a:solidFill>
                <a:latin typeface="Yu Gothic UI"/>
                <a:ea typeface="Yu Gothic UI"/>
                <a:cs typeface="Yu Gothic UI"/>
              </a:defRPr>
            </a:pPr>
            <a:r>
              <a:rPr sz="750" b="1">
                <a:solidFill>
                  <a:srgbClr val="ED7D31"/>
                </a:solidFill>
                <a:latin typeface="Yu Gothic UI"/>
                <a:ea typeface="Yu Gothic UI"/>
                <a:cs typeface="Yu Gothic UI"/>
              </a:rPr>
              <a:t>問3</a:t>
            </a:r>
          </a:p>
        </p:txBody>
      </p:sp>
      <p:sp>
        <p:nvSpPr>
          <p:cNvPr id="19" name="">
            <a:extLst xmlns:a="http://schemas.openxmlformats.org/drawingml/2006/main">
              <a:ext uri="{FF2B5EF4-FFF2-40B4-BE49-F238E27FC236}">
                <a16:creationId xmlns:a16="http://schemas.microsoft.com/office/drawing/2014/main" id="{0AA2DE1E-E5D1-40F6-9E00-E30A72F50FC0}"/>
              </a:ext>
            </a:extLst>
          </p:cNvPr>
          <p:cNvSpPr>
            <a:spLocks xmlns:a="http://schemas.openxmlformats.org/drawingml/2006/main" noGrp="1"/>
          </p:cNvSpPr>
          <p:nvPr/>
        </p:nvSpPr>
        <p:spPr>
          <a:xfrm xmlns:a="http://schemas.openxmlformats.org/drawingml/2006/main">
            <a:off x="895350" y="4876800"/>
            <a:ext cx="4476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F2937"/>
                </a:solidFill>
                <a:latin typeface="Yu Gothic UI"/>
                <a:ea typeface="Yu Gothic UI"/>
                <a:cs typeface="Yu Gothic UI"/>
              </a:defRPr>
            </a:pPr>
            <a:r>
              <a:rPr sz="990" b="1">
                <a:solidFill>
                  <a:srgbClr val="1F2937"/>
                </a:solidFill>
                <a:latin typeface="Yu Gothic UI"/>
                <a:ea typeface="Yu Gothic UI"/>
                <a:cs typeface="Yu Gothic UI"/>
              </a:rPr>
              <a:t>VM を停止すれば、Managed Disk や Public IP も必ず削除されますか。</a:t>
            </a:r>
          </a:p>
        </p:txBody>
      </p:sp>
      <p:sp>
        <p:nvSpPr>
          <p:cNvPr id="20" name="">
            <a:extLst xmlns:a="http://schemas.openxmlformats.org/drawingml/2006/main">
              <a:ext uri="{FF2B5EF4-FFF2-40B4-BE49-F238E27FC236}">
                <a16:creationId xmlns:a16="http://schemas.microsoft.com/office/drawing/2014/main" id="{6369F12F-7645-468D-A0BF-49263FE4ABED}"/>
              </a:ext>
            </a:extLst>
          </p:cNvPr>
          <p:cNvSpPr>
            <a:spLocks xmlns:a="http://schemas.openxmlformats.org/drawingml/2006/main" noGrp="1"/>
          </p:cNvSpPr>
          <p:nvPr/>
        </p:nvSpPr>
        <p:spPr>
          <a:xfrm xmlns:a="http://schemas.openxmlformats.org/drawingml/2006/main">
            <a:off x="895350" y="5486400"/>
            <a:ext cx="447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ED7D31"/>
                </a:solidFill>
                <a:latin typeface="Yu Gothic UI"/>
                <a:ea typeface="Yu Gothic UI"/>
                <a:cs typeface="Yu Gothic UI"/>
              </a:defRPr>
            </a:pPr>
            <a:r>
              <a:rPr sz="900" b="1">
                <a:solidFill>
                  <a:srgbClr val="ED7D31"/>
                </a:solidFill>
                <a:latin typeface="Yu Gothic UI"/>
                <a:ea typeface="Yu Gothic UI"/>
                <a:cs typeface="Yu Gothic UI"/>
              </a:rPr>
              <a:t>正解: いいえ</a:t>
            </a:r>
          </a:p>
        </p:txBody>
      </p:sp>
      <p:sp>
        <p:nvSpPr>
          <p:cNvPr id="21" name="">
            <a:extLst xmlns:a="http://schemas.openxmlformats.org/drawingml/2006/main">
              <a:ext uri="{FF2B5EF4-FFF2-40B4-BE49-F238E27FC236}">
                <a16:creationId xmlns:a16="http://schemas.microsoft.com/office/drawing/2014/main" id="{A23C62EB-EDE2-451A-9EB7-AB4571005F9C}"/>
              </a:ext>
            </a:extLst>
          </p:cNvPr>
          <p:cNvSpPr>
            <a:spLocks xmlns:a="http://schemas.openxmlformats.org/drawingml/2006/main" noGrp="1"/>
          </p:cNvSpPr>
          <p:nvPr/>
        </p:nvSpPr>
        <p:spPr>
          <a:xfrm xmlns:a="http://schemas.openxmlformats.org/drawingml/2006/main">
            <a:off x="6210300" y="4419600"/>
            <a:ext cx="51054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520A8E5D-42EE-4435-9F8B-D0DFBD549A34}"/>
              </a:ext>
            </a:extLst>
          </p:cNvPr>
          <p:cNvSpPr>
            <a:spLocks xmlns:a="http://schemas.openxmlformats.org/drawingml/2006/main" noGrp="1"/>
          </p:cNvSpPr>
          <p:nvPr/>
        </p:nvSpPr>
        <p:spPr>
          <a:xfrm xmlns:a="http://schemas.openxmlformats.org/drawingml/2006/main">
            <a:off x="6210300" y="4419600"/>
            <a:ext cx="76200" cy="16192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23" name="">
            <a:extLst xmlns:a="http://schemas.openxmlformats.org/drawingml/2006/main">
              <a:ext uri="{FF2B5EF4-FFF2-40B4-BE49-F238E27FC236}">
                <a16:creationId xmlns:a16="http://schemas.microsoft.com/office/drawing/2014/main" id="{74AD8AB1-D9FC-40A7-8990-573E27894046}"/>
              </a:ext>
            </a:extLst>
          </p:cNvPr>
          <p:cNvSpPr>
            <a:spLocks xmlns:a="http://schemas.openxmlformats.org/drawingml/2006/main" noGrp="1"/>
          </p:cNvSpPr>
          <p:nvPr/>
        </p:nvSpPr>
        <p:spPr>
          <a:xfrm xmlns:a="http://schemas.openxmlformats.org/drawingml/2006/main">
            <a:off x="6419850" y="4591050"/>
            <a:ext cx="571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4472C4"/>
                </a:solidFill>
                <a:latin typeface="Yu Gothic UI"/>
                <a:ea typeface="Yu Gothic UI"/>
                <a:cs typeface="Yu Gothic UI"/>
              </a:defRPr>
            </a:pPr>
            <a:r>
              <a:rPr sz="750" b="1">
                <a:solidFill>
                  <a:srgbClr val="4472C4"/>
                </a:solidFill>
                <a:latin typeface="Yu Gothic UI"/>
                <a:ea typeface="Yu Gothic UI"/>
                <a:cs typeface="Yu Gothic UI"/>
              </a:rPr>
              <a:t>問4</a:t>
            </a:r>
          </a:p>
        </p:txBody>
      </p:sp>
      <p:sp>
        <p:nvSpPr>
          <p:cNvPr id="24" name="">
            <a:extLst xmlns:a="http://schemas.openxmlformats.org/drawingml/2006/main">
              <a:ext uri="{FF2B5EF4-FFF2-40B4-BE49-F238E27FC236}">
                <a16:creationId xmlns:a16="http://schemas.microsoft.com/office/drawing/2014/main" id="{F4BE6604-D767-40DA-B21F-87BFC471217E}"/>
              </a:ext>
            </a:extLst>
          </p:cNvPr>
          <p:cNvSpPr>
            <a:spLocks xmlns:a="http://schemas.openxmlformats.org/drawingml/2006/main" noGrp="1"/>
          </p:cNvSpPr>
          <p:nvPr/>
        </p:nvSpPr>
        <p:spPr>
          <a:xfrm xmlns:a="http://schemas.openxmlformats.org/drawingml/2006/main">
            <a:off x="6419850" y="4876800"/>
            <a:ext cx="4476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F2937"/>
                </a:solidFill>
                <a:latin typeface="Yu Gothic UI"/>
                <a:ea typeface="Yu Gothic UI"/>
                <a:cs typeface="Yu Gothic UI"/>
              </a:defRPr>
            </a:pPr>
            <a:r>
              <a:rPr sz="990" b="1">
                <a:solidFill>
                  <a:srgbClr val="1F2937"/>
                </a:solidFill>
                <a:latin typeface="Yu Gothic UI"/>
                <a:ea typeface="Yu Gothic UI"/>
                <a:cs typeface="Yu Gothic UI"/>
              </a:rPr>
              <a:t>本回の最後に推奨するクリーンアップ方法はどれですか。</a:t>
            </a:r>
          </a:p>
        </p:txBody>
      </p:sp>
      <p:sp>
        <p:nvSpPr>
          <p:cNvPr id="25" name="">
            <a:extLst xmlns:a="http://schemas.openxmlformats.org/drawingml/2006/main">
              <a:ext uri="{FF2B5EF4-FFF2-40B4-BE49-F238E27FC236}">
                <a16:creationId xmlns:a16="http://schemas.microsoft.com/office/drawing/2014/main" id="{9F159CCC-9F70-42DC-A85E-5928EE65959E}"/>
              </a:ext>
            </a:extLst>
          </p:cNvPr>
          <p:cNvSpPr>
            <a:spLocks xmlns:a="http://schemas.openxmlformats.org/drawingml/2006/main" noGrp="1"/>
          </p:cNvSpPr>
          <p:nvPr/>
        </p:nvSpPr>
        <p:spPr>
          <a:xfrm xmlns:a="http://schemas.openxmlformats.org/drawingml/2006/main">
            <a:off x="6419850" y="5486400"/>
            <a:ext cx="4476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4472C4"/>
                </a:solidFill>
                <a:latin typeface="Yu Gothic UI"/>
                <a:ea typeface="Yu Gothic UI"/>
                <a:cs typeface="Yu Gothic UI"/>
              </a:defRPr>
            </a:pPr>
            <a:r>
              <a:rPr sz="900" b="1">
                <a:solidFill>
                  <a:srgbClr val="4472C4"/>
                </a:solidFill>
                <a:latin typeface="Yu Gothic UI"/>
                <a:ea typeface="Yu Gothic UI"/>
                <a:cs typeface="Yu Gothic UI"/>
              </a:rPr>
              <a:t>正解: リソースグループ削除</a:t>
            </a:r>
          </a:p>
        </p:txBody>
      </p:sp>
      <p:sp>
        <p:nvSpPr>
          <p:cNvPr id="26" name="">
            <a:extLst xmlns:a="http://schemas.openxmlformats.org/drawingml/2006/main">
              <a:ext uri="{FF2B5EF4-FFF2-40B4-BE49-F238E27FC236}">
                <a16:creationId xmlns:a16="http://schemas.microsoft.com/office/drawing/2014/main" id="{E21FCEFD-7E0F-4CDD-B0E8-380DC836908A}"/>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44 / 46</a:t>
            </a:r>
          </a:p>
        </p:txBody>
      </p:sp>
    </p:spTree>
    <p:extLst>
      <p:ext uri="{BB962C8B-B14F-4D97-AF65-F5344CB8AC3E}">
        <p14:creationId xmlns:p14="http://schemas.microsoft.com/office/powerpoint/2010/main" val="1186077149"/>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CE0E8E3-420D-4B41-AF97-2F500BFF585E}"/>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次回予告</a:t>
            </a:r>
          </a:p>
        </p:txBody>
      </p:sp>
      <p:sp>
        <p:nvSpPr>
          <p:cNvPr id="2" name="">
            <a:extLst xmlns:a="http://schemas.openxmlformats.org/drawingml/2006/main">
              <a:ext uri="{FF2B5EF4-FFF2-40B4-BE49-F238E27FC236}">
                <a16:creationId xmlns:a16="http://schemas.microsoft.com/office/drawing/2014/main" id="{23AC654C-5D77-4813-B6C3-B1D8EC8615AC}"/>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99405263-F9B6-449F-8894-2A1D77D5220D}"/>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45</a:t>
            </a:r>
          </a:p>
        </p:txBody>
      </p:sp>
      <p:sp>
        <p:nvSpPr>
          <p:cNvPr id="4" name="">
            <a:extLst xmlns:a="http://schemas.openxmlformats.org/drawingml/2006/main">
              <a:ext uri="{FF2B5EF4-FFF2-40B4-BE49-F238E27FC236}">
                <a16:creationId xmlns:a16="http://schemas.microsoft.com/office/drawing/2014/main" id="{6416DD3B-6F27-46E3-8C7F-91C2C6BBAD29}"/>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116679F-E4F5-4BAA-90E9-E27093CE3833}"/>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次回はコンテナを使い、同じ NGINX を VM ではなく Azure Container Instances で動かすと、管理する範囲がどう変わるかを体験します。</a:t>
            </a:r>
          </a:p>
        </p:txBody>
      </p:sp>
      <p:sp>
        <p:nvSpPr>
          <p:cNvPr id="6" name="">
            <a:extLst xmlns:a="http://schemas.openxmlformats.org/drawingml/2006/main">
              <a:ext uri="{FF2B5EF4-FFF2-40B4-BE49-F238E27FC236}">
                <a16:creationId xmlns:a16="http://schemas.microsoft.com/office/drawing/2014/main" id="{BD19655F-3932-4DBA-985D-2FFDB2986FB9}"/>
              </a:ext>
            </a:extLst>
          </p:cNvPr>
          <p:cNvSpPr>
            <a:spLocks xmlns:a="http://schemas.openxmlformats.org/drawingml/2006/main" noGrp="1"/>
          </p:cNvSpPr>
          <p:nvPr/>
        </p:nvSpPr>
        <p:spPr>
          <a:xfrm xmlns:a="http://schemas.openxmlformats.org/drawingml/2006/main">
            <a:off x="685800" y="2038350"/>
            <a:ext cx="1082040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9323fb2ffe34f8f"/>
          <a:stretch xmlns:a="http://schemas.openxmlformats.org/drawingml/2006/main"/>
        </p:blipFill>
        <p:spPr>
          <a:xfrm xmlns:a="http://schemas.openxmlformats.org/drawingml/2006/main">
            <a:off x="857250" y="2190750"/>
            <a:ext cx="10477500" cy="3505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F80111E-48FD-49F6-AF5B-A77DB20185E8}"/>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45 / 46</a:t>
            </a:r>
          </a:p>
        </p:txBody>
      </p:sp>
    </p:spTree>
    <p:extLst>
      <p:ext uri="{BB962C8B-B14F-4D97-AF65-F5344CB8AC3E}">
        <p14:creationId xmlns:p14="http://schemas.microsoft.com/office/powerpoint/2010/main" val="1186077149"/>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A3F015-99E1-49F9-B88B-6957A860BCE2}"/>
              </a:ext>
            </a:extLst>
          </p:cNvPr>
          <p:cNvSpPr>
            <a:spLocks xmlns:a="http://schemas.openxmlformats.org/drawingml/2006/main" noGrp="1"/>
          </p:cNvSpPr>
          <p:nvPr/>
        </p:nvSpPr>
        <p:spPr>
          <a:xfrm xmlns:a="http://schemas.openxmlformats.org/drawingml/2006/main">
            <a:off x="685800" y="400050"/>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F2937"/>
                </a:solidFill>
                <a:latin typeface="Meiryo UI"/>
                <a:ea typeface="Meiryo UI"/>
                <a:cs typeface="Meiryo UI"/>
              </a:defRPr>
            </a:pPr>
            <a:r>
              <a:rPr sz="2100" b="1">
                <a:solidFill>
                  <a:srgbClr val="1F2937"/>
                </a:solidFill>
                <a:latin typeface="Meiryo UI"/>
                <a:ea typeface="Meiryo UI"/>
                <a:cs typeface="Meiryo UI"/>
              </a:rPr>
              <a:t>QA</a:t>
            </a:r>
          </a:p>
        </p:txBody>
      </p:sp>
      <p:sp>
        <p:nvSpPr>
          <p:cNvPr id="2" name="">
            <a:extLst xmlns:a="http://schemas.openxmlformats.org/drawingml/2006/main">
              <a:ext uri="{FF2B5EF4-FFF2-40B4-BE49-F238E27FC236}">
                <a16:creationId xmlns:a16="http://schemas.microsoft.com/office/drawing/2014/main" id="{993A53C2-41C7-4B2F-9388-1807FC67AA78}"/>
              </a:ext>
            </a:extLst>
          </p:cNvPr>
          <p:cNvSpPr>
            <a:spLocks xmlns:a="http://schemas.openxmlformats.org/drawingml/2006/main" noGrp="1"/>
          </p:cNvSpPr>
          <p:nvPr/>
        </p:nvSpPr>
        <p:spPr>
          <a:xfrm xmlns:a="http://schemas.openxmlformats.org/drawingml/2006/main">
            <a:off x="685800" y="876300"/>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67085"/>
                </a:solidFill>
                <a:latin typeface="Yu Gothic UI"/>
                <a:ea typeface="Yu Gothic UI"/>
                <a:cs typeface="Yu Gothic UI"/>
              </a:defRPr>
            </a:pPr>
            <a:r>
              <a:rPr sz="713" b="0">
                <a:solidFill>
                  <a:srgbClr val="667085"/>
                </a:solidFill>
                <a:latin typeface="Yu Gothic UI"/>
                <a:ea typeface="Yu Gothic UI"/>
                <a:cs typeface="Yu Gothic UI"/>
              </a:rPr>
              <a:t>Azure Workshop for Beginners | 第3回</a:t>
            </a:r>
          </a:p>
        </p:txBody>
      </p:sp>
      <p:sp>
        <p:nvSpPr>
          <p:cNvPr id="3" name="">
            <a:extLst xmlns:a="http://schemas.openxmlformats.org/drawingml/2006/main">
              <a:ext uri="{FF2B5EF4-FFF2-40B4-BE49-F238E27FC236}">
                <a16:creationId xmlns:a16="http://schemas.microsoft.com/office/drawing/2014/main" id="{2A43B6EF-B52C-43E1-84A5-C3B085BEF4E8}"/>
              </a:ext>
            </a:extLst>
          </p:cNvPr>
          <p:cNvSpPr>
            <a:spLocks xmlns:a="http://schemas.openxmlformats.org/drawingml/2006/main" noGrp="1"/>
          </p:cNvSpPr>
          <p:nvPr/>
        </p:nvSpPr>
        <p:spPr>
          <a:xfrm xmlns:a="http://schemas.openxmlformats.org/drawingml/2006/main">
            <a:off x="11010900" y="457200"/>
            <a:ext cx="476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244A8F"/>
                </a:solidFill>
                <a:latin typeface="Yu Gothic UI"/>
                <a:ea typeface="Yu Gothic UI"/>
                <a:cs typeface="Yu Gothic UI"/>
              </a:defRPr>
            </a:pPr>
            <a:r>
              <a:rPr sz="900" b="1">
                <a:solidFill>
                  <a:srgbClr val="244A8F"/>
                </a:solidFill>
                <a:latin typeface="Yu Gothic UI"/>
                <a:ea typeface="Yu Gothic UI"/>
                <a:cs typeface="Yu Gothic UI"/>
              </a:rPr>
              <a:t>46</a:t>
            </a:r>
          </a:p>
        </p:txBody>
      </p:sp>
      <p:sp>
        <p:nvSpPr>
          <p:cNvPr id="4" name="">
            <a:extLst xmlns:a="http://schemas.openxmlformats.org/drawingml/2006/main">
              <a:ext uri="{FF2B5EF4-FFF2-40B4-BE49-F238E27FC236}">
                <a16:creationId xmlns:a16="http://schemas.microsoft.com/office/drawing/2014/main" id="{76234CE4-9B73-4787-BB24-7AAC2B10D131}"/>
              </a:ext>
            </a:extLst>
          </p:cNvPr>
          <p:cNvSpPr>
            <a:spLocks xmlns:a="http://schemas.openxmlformats.org/drawingml/2006/main" noGrp="1"/>
          </p:cNvSpPr>
          <p:nvPr/>
        </p:nvSpPr>
        <p:spPr>
          <a:xfrm xmlns:a="http://schemas.openxmlformats.org/drawingml/2006/main">
            <a:off x="685800" y="1200150"/>
            <a:ext cx="10820400" cy="14288"/>
          </a:xfrm>
          <a:prstGeom xmlns:a="http://schemas.openxmlformats.org/drawingml/2006/main" prst="rect">
            <a:avLst/>
          </a:prstGeom>
          <a:solidFill xmlns:a="http://schemas.openxmlformats.org/drawingml/2006/main">
            <a:srgbClr val="D0D5D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C280B4E-A817-4E8D-B3EC-6B3E38256E42}"/>
              </a:ext>
            </a:extLst>
          </p:cNvPr>
          <p:cNvSpPr>
            <a:spLocks xmlns:a="http://schemas.openxmlformats.org/drawingml/2006/main" noGrp="1"/>
          </p:cNvSpPr>
          <p:nvPr/>
        </p:nvSpPr>
        <p:spPr>
          <a:xfrm xmlns:a="http://schemas.openxmlformats.org/drawingml/2006/main">
            <a:off x="685800" y="1352550"/>
            <a:ext cx="108204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1163" b="0">
                <a:solidFill>
                  <a:srgbClr val="344054"/>
                </a:solidFill>
                <a:latin typeface="Yu Gothic UI"/>
                <a:ea typeface="Yu Gothic UI"/>
                <a:cs typeface="Yu Gothic UI"/>
              </a:defRPr>
            </a:pPr>
            <a:r>
              <a:rPr sz="1163" b="0">
                <a:solidFill>
                  <a:srgbClr val="344054"/>
                </a:solidFill>
                <a:latin typeface="Yu Gothic UI"/>
                <a:ea typeface="Yu Gothic UI"/>
                <a:cs typeface="Yu Gothic UI"/>
              </a:rPr>
              <a:t>操作で詰まった点、構成図で分かりにくかった点、VM とネットワークやディスクの関係について確認します。</a:t>
            </a:r>
          </a:p>
        </p:txBody>
      </p:sp>
      <p:sp>
        <p:nvSpPr>
          <p:cNvPr id="6" name="">
            <a:extLst xmlns:a="http://schemas.openxmlformats.org/drawingml/2006/main">
              <a:ext uri="{FF2B5EF4-FFF2-40B4-BE49-F238E27FC236}">
                <a16:creationId xmlns:a16="http://schemas.microsoft.com/office/drawing/2014/main" id="{273540D8-23E8-4282-84A9-B585C67BC802}"/>
              </a:ext>
            </a:extLst>
          </p:cNvPr>
          <p:cNvSpPr>
            <a:spLocks xmlns:a="http://schemas.openxmlformats.org/drawingml/2006/main" noGrp="1"/>
          </p:cNvSpPr>
          <p:nvPr/>
        </p:nvSpPr>
        <p:spPr>
          <a:xfrm xmlns:a="http://schemas.openxmlformats.org/drawingml/2006/main">
            <a:off x="876300" y="2400300"/>
            <a:ext cx="32766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C172C591-0524-4C3C-8490-0D1FD2E3D2AF}"/>
              </a:ext>
            </a:extLst>
          </p:cNvPr>
          <p:cNvSpPr>
            <a:spLocks xmlns:a="http://schemas.openxmlformats.org/drawingml/2006/main" noGrp="1"/>
          </p:cNvSpPr>
          <p:nvPr/>
        </p:nvSpPr>
        <p:spPr>
          <a:xfrm xmlns:a="http://schemas.openxmlformats.org/drawingml/2006/main">
            <a:off x="876300" y="2400300"/>
            <a:ext cx="76200" cy="20002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541DE599-ACCD-4967-A21D-F6C1D3DA52DE}"/>
              </a:ext>
            </a:extLst>
          </p:cNvPr>
          <p:cNvSpPr>
            <a:spLocks xmlns:a="http://schemas.openxmlformats.org/drawingml/2006/main" noGrp="1"/>
          </p:cNvSpPr>
          <p:nvPr/>
        </p:nvSpPr>
        <p:spPr>
          <a:xfrm xmlns:a="http://schemas.openxmlformats.org/drawingml/2006/main">
            <a:off x="1085850" y="2552700"/>
            <a:ext cx="2876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0F766E"/>
                </a:solidFill>
                <a:latin typeface="Yu Gothic UI"/>
                <a:ea typeface="Yu Gothic UI"/>
                <a:cs typeface="Yu Gothic UI"/>
              </a:defRPr>
            </a:pPr>
            <a:r>
              <a:rPr sz="713" b="1">
                <a:solidFill>
                  <a:srgbClr val="0F766E"/>
                </a:solidFill>
                <a:latin typeface="Yu Gothic UI"/>
                <a:ea typeface="Yu Gothic UI"/>
                <a:cs typeface="Yu Gothic UI"/>
              </a:rPr>
              <a:t>Operation</a:t>
            </a:r>
          </a:p>
        </p:txBody>
      </p:sp>
      <p:sp>
        <p:nvSpPr>
          <p:cNvPr id="9" name="">
            <a:extLst xmlns:a="http://schemas.openxmlformats.org/drawingml/2006/main">
              <a:ext uri="{FF2B5EF4-FFF2-40B4-BE49-F238E27FC236}">
                <a16:creationId xmlns:a16="http://schemas.microsoft.com/office/drawing/2014/main" id="{D4242105-113C-48EF-B628-B05D1F71407E}"/>
              </a:ext>
            </a:extLst>
          </p:cNvPr>
          <p:cNvSpPr>
            <a:spLocks xmlns:a="http://schemas.openxmlformats.org/drawingml/2006/main" noGrp="1"/>
          </p:cNvSpPr>
          <p:nvPr/>
        </p:nvSpPr>
        <p:spPr>
          <a:xfrm xmlns:a="http://schemas.openxmlformats.org/drawingml/2006/main">
            <a:off x="1085850" y="28003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Portal 操作</a:t>
            </a:r>
          </a:p>
        </p:txBody>
      </p:sp>
      <p:sp>
        <p:nvSpPr>
          <p:cNvPr id="10" name="">
            <a:extLst xmlns:a="http://schemas.openxmlformats.org/drawingml/2006/main">
              <a:ext uri="{FF2B5EF4-FFF2-40B4-BE49-F238E27FC236}">
                <a16:creationId xmlns:a16="http://schemas.microsoft.com/office/drawing/2014/main" id="{A7D62745-D462-43F3-8E67-F5B9F10FC57F}"/>
              </a:ext>
            </a:extLst>
          </p:cNvPr>
          <p:cNvSpPr>
            <a:spLocks xmlns:a="http://schemas.openxmlformats.org/drawingml/2006/main" noGrp="1"/>
          </p:cNvSpPr>
          <p:nvPr/>
        </p:nvSpPr>
        <p:spPr>
          <a:xfrm xmlns:a="http://schemas.openxmlformats.org/drawingml/2006/main">
            <a:off x="1085850" y="3200400"/>
            <a:ext cx="28765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どの画面で迷ったか、どの入力値が分かりにくかったかを確認します。</a:t>
            </a:r>
          </a:p>
        </p:txBody>
      </p:sp>
      <p:sp>
        <p:nvSpPr>
          <p:cNvPr id="11" name="">
            <a:extLst xmlns:a="http://schemas.openxmlformats.org/drawingml/2006/main">
              <a:ext uri="{FF2B5EF4-FFF2-40B4-BE49-F238E27FC236}">
                <a16:creationId xmlns:a16="http://schemas.microsoft.com/office/drawing/2014/main" id="{4D48C17B-F9BB-4CAA-AEE7-16732C78390E}"/>
              </a:ext>
            </a:extLst>
          </p:cNvPr>
          <p:cNvSpPr>
            <a:spLocks xmlns:a="http://schemas.openxmlformats.org/drawingml/2006/main" noGrp="1"/>
          </p:cNvSpPr>
          <p:nvPr/>
        </p:nvSpPr>
        <p:spPr>
          <a:xfrm xmlns:a="http://schemas.openxmlformats.org/drawingml/2006/main">
            <a:off x="4438650" y="2400300"/>
            <a:ext cx="32766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C7AEA105-B47D-430C-A34A-B54D9EE797F8}"/>
              </a:ext>
            </a:extLst>
          </p:cNvPr>
          <p:cNvSpPr>
            <a:spLocks xmlns:a="http://schemas.openxmlformats.org/drawingml/2006/main" noGrp="1"/>
          </p:cNvSpPr>
          <p:nvPr/>
        </p:nvSpPr>
        <p:spPr>
          <a:xfrm xmlns:a="http://schemas.openxmlformats.org/drawingml/2006/main">
            <a:off x="4438650" y="2400300"/>
            <a:ext cx="76200" cy="2000250"/>
          </a:xfrm>
          <a:prstGeom xmlns:a="http://schemas.openxmlformats.org/drawingml/2006/main" prst="rect">
            <a:avLst/>
          </a:prstGeom>
          <a:solidFill xmlns:a="http://schemas.openxmlformats.org/drawingml/2006/main">
            <a:srgbClr val="70AD47"/>
          </a:solidFill>
          <a:ln xmlns:a="http://schemas.openxmlformats.org/drawingml/2006/main" w="0">
            <a:solidFill>
              <a:srgbClr val="70AD47"/>
            </a:solidFill>
            <a:prstDash val="solid"/>
          </a:ln>
        </p:spPr>
      </p:sp>
      <p:sp>
        <p:nvSpPr>
          <p:cNvPr id="13" name="">
            <a:extLst xmlns:a="http://schemas.openxmlformats.org/drawingml/2006/main">
              <a:ext uri="{FF2B5EF4-FFF2-40B4-BE49-F238E27FC236}">
                <a16:creationId xmlns:a16="http://schemas.microsoft.com/office/drawing/2014/main" id="{27D403FB-23CF-40CB-A8ED-5E5E7607B693}"/>
              </a:ext>
            </a:extLst>
          </p:cNvPr>
          <p:cNvSpPr>
            <a:spLocks xmlns:a="http://schemas.openxmlformats.org/drawingml/2006/main" noGrp="1"/>
          </p:cNvSpPr>
          <p:nvPr/>
        </p:nvSpPr>
        <p:spPr>
          <a:xfrm xmlns:a="http://schemas.openxmlformats.org/drawingml/2006/main">
            <a:off x="4648200" y="2552700"/>
            <a:ext cx="2876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70AD47"/>
                </a:solidFill>
                <a:latin typeface="Yu Gothic UI"/>
                <a:ea typeface="Yu Gothic UI"/>
                <a:cs typeface="Yu Gothic UI"/>
              </a:defRPr>
            </a:pPr>
            <a:r>
              <a:rPr sz="713" b="1">
                <a:solidFill>
                  <a:srgbClr val="70AD47"/>
                </a:solidFill>
                <a:latin typeface="Yu Gothic UI"/>
                <a:ea typeface="Yu Gothic UI"/>
                <a:cs typeface="Yu Gothic UI"/>
              </a:rPr>
              <a:t>Architecture</a:t>
            </a:r>
          </a:p>
        </p:txBody>
      </p:sp>
      <p:sp>
        <p:nvSpPr>
          <p:cNvPr id="14" name="">
            <a:extLst xmlns:a="http://schemas.openxmlformats.org/drawingml/2006/main">
              <a:ext uri="{FF2B5EF4-FFF2-40B4-BE49-F238E27FC236}">
                <a16:creationId xmlns:a16="http://schemas.microsoft.com/office/drawing/2014/main" id="{3B67B197-CA7A-45EE-93D0-89E414DA3BBB}"/>
              </a:ext>
            </a:extLst>
          </p:cNvPr>
          <p:cNvSpPr>
            <a:spLocks xmlns:a="http://schemas.openxmlformats.org/drawingml/2006/main" noGrp="1"/>
          </p:cNvSpPr>
          <p:nvPr/>
        </p:nvSpPr>
        <p:spPr>
          <a:xfrm xmlns:a="http://schemas.openxmlformats.org/drawingml/2006/main">
            <a:off x="4648200" y="28003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構成理解</a:t>
            </a:r>
          </a:p>
        </p:txBody>
      </p:sp>
      <p:sp>
        <p:nvSpPr>
          <p:cNvPr id="15" name="">
            <a:extLst xmlns:a="http://schemas.openxmlformats.org/drawingml/2006/main">
              <a:ext uri="{FF2B5EF4-FFF2-40B4-BE49-F238E27FC236}">
                <a16:creationId xmlns:a16="http://schemas.microsoft.com/office/drawing/2014/main" id="{6E195AD6-FC5D-4D40-8AF3-1AD0ADA088A4}"/>
              </a:ext>
            </a:extLst>
          </p:cNvPr>
          <p:cNvSpPr>
            <a:spLocks xmlns:a="http://schemas.openxmlformats.org/drawingml/2006/main" noGrp="1"/>
          </p:cNvSpPr>
          <p:nvPr/>
        </p:nvSpPr>
        <p:spPr>
          <a:xfrm xmlns:a="http://schemas.openxmlformats.org/drawingml/2006/main">
            <a:off x="4648200" y="3200400"/>
            <a:ext cx="28765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Public IP、NSG、NIC、VNet、Disk の関係をもう一度整理します。</a:t>
            </a:r>
          </a:p>
        </p:txBody>
      </p:sp>
      <p:sp>
        <p:nvSpPr>
          <p:cNvPr id="16" name="">
            <a:extLst xmlns:a="http://schemas.openxmlformats.org/drawingml/2006/main">
              <a:ext uri="{FF2B5EF4-FFF2-40B4-BE49-F238E27FC236}">
                <a16:creationId xmlns:a16="http://schemas.microsoft.com/office/drawing/2014/main" id="{68178892-8A32-4EF6-B852-510D96BC7A5B}"/>
              </a:ext>
            </a:extLst>
          </p:cNvPr>
          <p:cNvSpPr>
            <a:spLocks xmlns:a="http://schemas.openxmlformats.org/drawingml/2006/main" noGrp="1"/>
          </p:cNvSpPr>
          <p:nvPr/>
        </p:nvSpPr>
        <p:spPr>
          <a:xfrm xmlns:a="http://schemas.openxmlformats.org/drawingml/2006/main">
            <a:off x="8001000" y="2400300"/>
            <a:ext cx="32766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D7C932CF-6837-49E0-A59D-5E837751CC85}"/>
              </a:ext>
            </a:extLst>
          </p:cNvPr>
          <p:cNvSpPr>
            <a:spLocks xmlns:a="http://schemas.openxmlformats.org/drawingml/2006/main" noGrp="1"/>
          </p:cNvSpPr>
          <p:nvPr/>
        </p:nvSpPr>
        <p:spPr>
          <a:xfrm xmlns:a="http://schemas.openxmlformats.org/drawingml/2006/main">
            <a:off x="8001000" y="2400300"/>
            <a:ext cx="76200" cy="2000250"/>
          </a:xfrm>
          <a:prstGeom xmlns:a="http://schemas.openxmlformats.org/drawingml/2006/main" prst="rect">
            <a:avLst/>
          </a:prstGeom>
          <a:solidFill xmlns:a="http://schemas.openxmlformats.org/drawingml/2006/main">
            <a:srgbClr val="ED7D31"/>
          </a:solidFill>
          <a:ln xmlns:a="http://schemas.openxmlformats.org/drawingml/2006/main" w="0">
            <a:solidFill>
              <a:srgbClr val="ED7D31"/>
            </a:solidFill>
            <a:prstDash val="solid"/>
          </a:ln>
        </p:spPr>
      </p:sp>
      <p:sp>
        <p:nvSpPr>
          <p:cNvPr id="18" name="">
            <a:extLst xmlns:a="http://schemas.openxmlformats.org/drawingml/2006/main">
              <a:ext uri="{FF2B5EF4-FFF2-40B4-BE49-F238E27FC236}">
                <a16:creationId xmlns:a16="http://schemas.microsoft.com/office/drawing/2014/main" id="{C3B40584-474E-425F-AA02-F02DA56F032B}"/>
              </a:ext>
            </a:extLst>
          </p:cNvPr>
          <p:cNvSpPr>
            <a:spLocks xmlns:a="http://schemas.openxmlformats.org/drawingml/2006/main" noGrp="1"/>
          </p:cNvSpPr>
          <p:nvPr/>
        </p:nvSpPr>
        <p:spPr>
          <a:xfrm xmlns:a="http://schemas.openxmlformats.org/drawingml/2006/main">
            <a:off x="8210550" y="2552700"/>
            <a:ext cx="2876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D7D31"/>
                </a:solidFill>
                <a:latin typeface="Yu Gothic UI"/>
                <a:ea typeface="Yu Gothic UI"/>
                <a:cs typeface="Yu Gothic UI"/>
              </a:defRPr>
            </a:pPr>
            <a:r>
              <a:rPr sz="713" b="1">
                <a:solidFill>
                  <a:srgbClr val="ED7D31"/>
                </a:solidFill>
                <a:latin typeface="Yu Gothic UI"/>
                <a:ea typeface="Yu Gothic UI"/>
                <a:cs typeface="Yu Gothic UI"/>
              </a:rPr>
              <a:t>Cleanup</a:t>
            </a:r>
          </a:p>
        </p:txBody>
      </p:sp>
      <p:sp>
        <p:nvSpPr>
          <p:cNvPr id="19" name="">
            <a:extLst xmlns:a="http://schemas.openxmlformats.org/drawingml/2006/main">
              <a:ext uri="{FF2B5EF4-FFF2-40B4-BE49-F238E27FC236}">
                <a16:creationId xmlns:a16="http://schemas.microsoft.com/office/drawing/2014/main" id="{150F8C37-A1DB-464E-B817-830459111694}"/>
              </a:ext>
            </a:extLst>
          </p:cNvPr>
          <p:cNvSpPr>
            <a:spLocks xmlns:a="http://schemas.openxmlformats.org/drawingml/2006/main" noGrp="1"/>
          </p:cNvSpPr>
          <p:nvPr/>
        </p:nvSpPr>
        <p:spPr>
          <a:xfrm xmlns:a="http://schemas.openxmlformats.org/drawingml/2006/main">
            <a:off x="8210550" y="2800350"/>
            <a:ext cx="2876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1F2937"/>
                </a:solidFill>
                <a:latin typeface="Meiryo UI"/>
                <a:ea typeface="Meiryo UI"/>
                <a:cs typeface="Meiryo UI"/>
              </a:defRPr>
            </a:pPr>
            <a:r>
              <a:rPr sz="1238" b="1">
                <a:solidFill>
                  <a:srgbClr val="1F2937"/>
                </a:solidFill>
                <a:latin typeface="Meiryo UI"/>
                <a:ea typeface="Meiryo UI"/>
                <a:cs typeface="Meiryo UI"/>
              </a:rPr>
              <a:t>削除確認</a:t>
            </a:r>
          </a:p>
        </p:txBody>
      </p:sp>
      <p:sp>
        <p:nvSpPr>
          <p:cNvPr id="20" name="">
            <a:extLst xmlns:a="http://schemas.openxmlformats.org/drawingml/2006/main">
              <a:ext uri="{FF2B5EF4-FFF2-40B4-BE49-F238E27FC236}">
                <a16:creationId xmlns:a16="http://schemas.microsoft.com/office/drawing/2014/main" id="{BE09E186-146B-46BE-8013-E9E971F4015D}"/>
              </a:ext>
            </a:extLst>
          </p:cNvPr>
          <p:cNvSpPr>
            <a:spLocks xmlns:a="http://schemas.openxmlformats.org/drawingml/2006/main" noGrp="1"/>
          </p:cNvSpPr>
          <p:nvPr/>
        </p:nvSpPr>
        <p:spPr>
          <a:xfrm xmlns:a="http://schemas.openxmlformats.org/drawingml/2006/main">
            <a:off x="8210550" y="3200400"/>
            <a:ext cx="28765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0">
                <a:solidFill>
                  <a:srgbClr val="344054"/>
                </a:solidFill>
                <a:latin typeface="Yu Gothic UI"/>
                <a:ea typeface="Yu Gothic UI"/>
                <a:cs typeface="Yu Gothic UI"/>
              </a:defRPr>
            </a:pPr>
            <a:r>
              <a:rPr sz="915" b="0">
                <a:solidFill>
                  <a:srgbClr val="344054"/>
                </a:solidFill>
                <a:latin typeface="Yu Gothic UI"/>
                <a:ea typeface="Yu Gothic UI"/>
                <a:cs typeface="Yu Gothic UI"/>
              </a:rPr>
              <a:t>作成したリソースグループが削除済み、または削除中であることを確認します。</a:t>
            </a:r>
          </a:p>
        </p:txBody>
      </p:sp>
      <p:sp>
        <p:nvSpPr>
          <p:cNvPr id="21" name="">
            <a:extLst xmlns:a="http://schemas.openxmlformats.org/drawingml/2006/main">
              <a:ext uri="{FF2B5EF4-FFF2-40B4-BE49-F238E27FC236}">
                <a16:creationId xmlns:a16="http://schemas.microsoft.com/office/drawing/2014/main" id="{C22BED35-F5BD-4793-9AFF-B67A1C93FA36}"/>
              </a:ext>
            </a:extLst>
          </p:cNvPr>
          <p:cNvSpPr>
            <a:spLocks xmlns:a="http://schemas.openxmlformats.org/drawingml/2006/main" noGrp="1"/>
          </p:cNvSpPr>
          <p:nvPr/>
        </p:nvSpPr>
        <p:spPr>
          <a:xfrm xmlns:a="http://schemas.openxmlformats.org/drawingml/2006/main">
            <a:off x="10744200" y="63627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667085"/>
                </a:solidFill>
                <a:latin typeface="Yu Gothic UI"/>
                <a:ea typeface="Yu Gothic UI"/>
                <a:cs typeface="Yu Gothic UI"/>
              </a:defRPr>
            </a:pPr>
            <a:r>
              <a:rPr sz="638" b="0">
                <a:solidFill>
                  <a:srgbClr val="667085"/>
                </a:solidFill>
                <a:latin typeface="Yu Gothic UI"/>
                <a:ea typeface="Yu Gothic UI"/>
                <a:cs typeface="Yu Gothic UI"/>
              </a:rPr>
              <a:t>46 / 46</a:t>
            </a:r>
          </a:p>
        </p:txBody>
      </p:sp>
    </p:spTree>
    <p:extLst>
      <p:ext uri="{BB962C8B-B14F-4D97-AF65-F5344CB8AC3E}">
        <p14:creationId xmlns:p14="http://schemas.microsoft.com/office/powerpoint/2010/main" val="1186077149"/>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2026-05-27T01:08:11.4630000Z</dcterms:created>
  <dcterms:modified xsi:type="dcterms:W3CDTF">2026-05-27T01:08:11.4630000Z</dcterms:modified>
</coreProperties>
</file>