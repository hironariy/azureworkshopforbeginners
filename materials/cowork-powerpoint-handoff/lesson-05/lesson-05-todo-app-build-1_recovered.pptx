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1: Todo アプリの構築 1</a:t>
            </a:r>
          </a:p>
          <a:p>
            <a:r>
              <a:t>この回では、Azure Container Apps と Azure Database for PostgreSQL を使う Todo アプリの土台を作り、第6回でデプロイするための値を整理します。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2: 今日のゴール</a:t>
            </a:r>
          </a:p>
          <a:p>
            <a:r>
              <a:t>今日はアプリを完成させる日ではありません。完成に必要な Azure リソースを作り、名前、URL、ID、DB の状態を第6回へ引き継げるようにします。</a:t>
            </a:r>
          </a:p>
          <a:p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3: 第3回から第4回の振り返り</a:t>
            </a:r>
          </a:p>
          <a:p>
            <a:r>
              <a:t>これまでは Web サーバ単体を VM と ACI で動かしました。今回は Web だけでなく、API と DB を含む複合アプリへ進みます。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4: 単体 Web サーバから複合アプリへ</a:t>
            </a:r>
          </a:p>
          <a:p>
            <a:r>
              <a:t>Todo アプリでは画面を表示するだけでなく、Todo の保存、更新、削除、サインイン、デプロイの自動化まで複数サービスが連携します。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5: Todo アプリの完成形</a:t>
            </a:r>
          </a:p>
          <a:p>
            <a:r>
              <a:t>完成形では Web と API が Azure Container Apps で動き、コンテナイメージは ACR に置かれ、Todo データは Azure Database for PostgreSQL に保存されます。</a:t>
            </a:r>
          </a:p>
          <a:p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6: 第5回と第6回の分担</a:t>
            </a:r>
          </a:p>
          <a:p>
            <a:r>
              <a:t>2回続きのハンズオンなので、今日は土台を作って引き継ぐ日、第6回は GitHub Actions で実アプリをデプロイして動作確認する日、と分けて考えます。</a:t>
            </a:r>
          </a:p>
          <a:p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7: Web/API/DB と Azure サービス</a:t>
            </a:r>
          </a:p>
          <a:p>
            <a:r>
              <a:t>Web 3層の役割を、今回の Azure サービスに対応付けます。第5回では主に配置先と接続先を作り、第6回で実アプリのイメージに更新します。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8: DBaaS とは</a:t>
            </a:r>
          </a:p>
          <a:p>
            <a:r>
              <a:t>DBaaS は、データベースサーバーの基盤運用をクラウドサービスに任せ、利用者はデータ、接続、認証、コスト管理に集中する考え方です。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9: PostgreSQL の役割</a:t>
            </a:r>
          </a:p>
          <a:p>
            <a:r>
              <a:t>PostgreSQL は、API からの問い合わせに応じて Todo を表として保存し、検索、更新、削除できるリレーショナルデータベースです。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10: Azure Database for PostgreSQL</a:t>
            </a:r>
          </a:p>
          <a:p>
            <a:r>
              <a:t>Azure Database for PostgreSQL Flexible Server は、PostgreSQL エンジンを Azure のマネージドサービスとして使う選択肢です。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11: 停止と削除の違い</a:t>
            </a:r>
          </a:p>
          <a:p>
            <a:r>
              <a:t>第5回の最後はリソースグループを削除しません。第6回で使うため PostgreSQL は残し、コンピュートだけを停止します。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12: Container Apps Environment</a:t>
            </a:r>
          </a:p>
          <a:p>
            <a:r>
              <a:t>Container Apps Environment は、Web と API の Container App を動かす共通の環境です。第5回ではプレースホルダーを作り、第6回で実イメージへ更新します。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13: ACR の役割</a:t>
            </a:r>
          </a:p>
          <a:p>
            <a:r>
              <a:t>第4回では講師共有の ACR からイメージを pull しました。第5回からは受講者ごとの ACR を作り、第6回で GitHub Actions から push 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14: VNet とサブネット</a:t>
            </a:r>
          </a:p>
          <a:p>
            <a:r>
              <a:t>アプリ実行環境と DB 接続を安全に整理するため、VNet の中に用途別のサブネットを用意します。詳細なネットワーク設計は第7回で扱います。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15: Managed Identity</a:t>
            </a:r>
          </a:p>
          <a:p>
            <a:r>
              <a:t>Managed Identity は、アプリや Azure リソースが秘密情報を直接持たずに Azure 上の権限を使うための ID です。</a:t>
            </a:r>
          </a:p>
          <a:p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16: Entra ID アプリ登録</a:t>
            </a:r>
          </a:p>
          <a:p>
            <a:r>
              <a:t>Web サインインでは、Microsoft Entra ID にアプリを登録し、Web Container App の URL を redirect URI として扱います。</a:t>
            </a:r>
          </a:p>
          <a:p>
            <a:r>
              <a:t>補足: Entra ID アプリ登録の Client ID/Tenant ID と GitHub Actions 用 Service Principal は別の値として混同を避ける。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17: 秘密情報の扱い</a:t>
            </a:r>
          </a:p>
          <a:p>
            <a:r>
              <a:t>接続情報の一部は第6回で必要ですが、公開資料やスクリーンショットに残してよい情報とは限りません。記録する値と隠す値を分けます。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18: ハンズオンで使う値</a:t>
            </a:r>
          </a:p>
          <a:p>
            <a:r>
              <a:t>名前をそろえると、講師が状況を確認しやすく、第6回で variables に入れる値も迷いにくくなります。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19: ハンズオンの流れ</a:t>
            </a:r>
          </a:p>
          <a:p>
            <a:r>
              <a:t>リソースを作成し、値を記録し、最後に PostgreSQL を停止します。作成操作が多いので、今どこを作っているかを図で確認しながら進めます。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20: Azure Portal にサインイン</a:t>
            </a:r>
          </a:p>
          <a:p>
            <a:r>
              <a:t>講師が案内したアカウントで Azure Portal に入り、作業対象のサブスクリプションが見えることを確認します。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21: リソースグループを作成する</a:t>
            </a:r>
          </a:p>
          <a:p>
            <a:r>
              <a:t>第5回と第6回で使う Azure リソースは、受講者ごとの同じリソースグループにまとめます。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22: リソースグループ作成を確認する</a:t>
            </a:r>
          </a:p>
          <a:p>
            <a:r>
              <a:t>作成したリソースグループの Overview を開き、名前、リージョン、これから作るリソースの配置先を確認します。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23: VNet を作成する</a:t>
            </a:r>
          </a:p>
          <a:p>
            <a:r>
              <a:t>Container Apps と PostgreSQL の接続を考える土台として、受講者ごとの VNet を作成します。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24: サブネットを作成する</a:t>
            </a:r>
          </a:p>
          <a:p>
            <a:r>
              <a:t>Container Apps、Private Endpoint、PostgreSQL の用途を分けて、後続手順で参照するサブネット名をそろえます。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25: ACR を作成する</a:t>
            </a:r>
          </a:p>
          <a:p>
            <a:r>
              <a:t>第6回で Web/API のコンテナイメージを push するため、受講者ごとの Azure Container Registry を作成します。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26: ACR の Overview を確認する</a:t>
            </a:r>
          </a:p>
          <a:p>
            <a:r>
              <a:t>第6回の GitHub Actions 設定では ACR 名と login server を参照します。画面で確認し、接続情報一覧に記録します。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27: API Container App と Environment を作成する</a:t>
            </a:r>
          </a:p>
          <a:p>
            <a:r>
              <a:t>まず API 側のプレースホルダー Container App を作成し、この操作の中で Container Apps Environment も用意します。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28: API Container App の URL を記録する</a:t>
            </a:r>
          </a:p>
          <a:p>
            <a:r>
              <a:t>API の Application URL は、第6回で Web から API を呼び出す設定に使います。Web URL と取り違えないようにします。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29: Web Container App を作成する</a:t>
            </a:r>
          </a:p>
          <a:p>
            <a:r>
              <a:t>同じ Container Apps Environment に、Web 側のプレースホルダー Container App を作成します。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30: Web Container App の URL を記録する</a:t>
            </a:r>
          </a:p>
          <a:p>
            <a:r>
              <a:t>Web URL は利用者がアクセスする入口であり、Entra ID アプリ登録の redirect URI と第6回の variables に使います。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31: PostgreSQL Flexible Server を作成する</a:t>
            </a:r>
          </a:p>
          <a:p>
            <a:r>
              <a:t>Todo データを保存する DB 層として、Azure Database for PostgreSQL Flexible Server を作成します。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32: PostgreSQL の認証を設定する</a:t>
            </a:r>
          </a:p>
          <a:p>
            <a:r>
              <a:t>元ガイドに合わせ、Microsoft Entra authentication only など講師検証済みの認証設定を選びます。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33: PostgreSQL のネットワークを設定する</a:t>
            </a:r>
          </a:p>
          <a:p>
            <a:r>
              <a:t>Container Apps から PostgreSQL に接続できるよう、Private access、VNet、Private DNS などの設定を手順に合わせます。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34: PostgreSQL の作成内容を確認する</a:t>
            </a:r>
          </a:p>
          <a:p>
            <a:r>
              <a:t>作成前に、リージョン、SKU、認証、ネットワークが講師の案内と一致しているか確認します。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35: PostgreSQL の Overview を確認する</a:t>
            </a:r>
          </a:p>
          <a:p>
            <a:r>
              <a:t>作成後にサーバー名、状態、接続に必要な値を確認し、第6回の接続情報一覧に反映します。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36: Managed Identity を作成する</a:t>
            </a:r>
          </a:p>
          <a:p>
            <a:r>
              <a:t>DB への権限付与と第6回の設定に使う User-assigned Managed Identity を作成します。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37: Managed Identity の値を記録する</a:t>
            </a:r>
          </a:p>
          <a:p>
            <a:r>
              <a:t>Client ID や Resource ID は第6回で variables に使います。公開資料ではマスクしつつ、手元メモには正しく記録します。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  <a:p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38: データベースを作成し権限を付与する</a:t>
            </a:r>
          </a:p>
          <a:p>
            <a:r>
              <a:t>Todo アプリ用の DB を作成し、Managed Identity が DB にアクセスできるように権限を付与します。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39: Entra ID アプリ登録を作成する</a:t>
            </a:r>
          </a:p>
          <a:p>
            <a:r>
              <a:t>Web サインイン用のアプリ登録を作成し、Web Container App URL を SPA redirect URI として設定します。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補足: Entra ID アプリ登録の Client ID/Tenant ID と GitHub Actions 用 Service Principal は別の値として混同を避ける。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40: アプリ登録の ID を記録する</a:t>
            </a:r>
          </a:p>
          <a:p>
            <a:r>
              <a:t>Application client ID と Tenant ID は第6回の Web サインイン設定で使います。GitHub Actions 用 Service Principal の ID とは別物です。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  <a:p>
            <a:r>
              <a:t>補足: Entra ID アプリ登録の Client ID/Tenant ID と GitHub Actions 用 Service Principal は別の値として混同を避ける。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41: 接続情報一覧に記録する</a:t>
            </a:r>
          </a:p>
          <a:p>
            <a:r>
              <a:t>元ガイドのサマリー項目を見ながら、Resource group、ACR、Web/API URL、PostgreSQL、Identity、Entra ID の値をそろえます。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42: 記録すべき値と隠す値</a:t>
            </a:r>
          </a:p>
          <a:p>
            <a:r>
              <a:t>値を記録することと、公開資料に残すことは別です。第6回で使う値ほど、公開時のマスク対象にもなりやすい点に注意します。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43: 作成済みリソースを確認する</a:t>
            </a:r>
          </a:p>
          <a:p>
            <a:r>
              <a:t>リソースグループ内に、VNet、ACR、API/Web Container App、Container Apps Environment、PostgreSQL、Managed Identity がそろっているか確認します。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44: 第5回終了時点のアーキテクチャ</a:t>
            </a:r>
          </a:p>
          <a:p>
            <a:r>
              <a:t>まだ実アプリのコンテナイメージは動いていませんが、デプロイ先、DB、認証、権限、記録すべき値がそろいました。</a:t>
            </a:r>
          </a:p>
          <a:p>
            <a:r>
              <a:t>講師メモ: 第5回は完成アプリのデプロイ日ではなく、第6回へ引き継ぐリソースと値を作る回であることを強調する。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45: PostgreSQL を停止する</a:t>
            </a:r>
          </a:p>
          <a:p>
            <a:r>
              <a:t>第6回までリソースは残しますが、DB のコンピュート課金を抑えるため PostgreSQL Flexible Server を Stop します。</a:t>
            </a:r>
          </a:p>
          <a:p>
            <a:r>
              <a:t>講師メモ: スクリーンショットは Portal 操作の証跡として扱い、マスク済み情報を復元・推測しない。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46: 停止後の課金注意</a:t>
            </a:r>
          </a:p>
          <a:p>
            <a:r>
              <a:t>Stop は削除ではありません。コンピュート課金を抑える目的で使いますが、ストレージなどの課金が残る可能性はあります。</a:t>
            </a:r>
          </a:p>
          <a:p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47: よくある失敗</a:t>
            </a:r>
          </a:p>
          <a:p>
            <a:r>
              <a:t>操作量が多い回なので、名前、権限、ネットワーク、接続情報、停止忘れを短時間で確認できるようにします。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48: 復旧できない場合</a:t>
            </a:r>
          </a:p>
          <a:p>
            <a:r>
              <a:t>時間内にリソース作成を完了できない場合でも、どの値が何に使われるかを理解して第6回へつなげます。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49: 今日のまとめ</a:t>
            </a:r>
          </a:p>
          <a:p>
            <a:r>
              <a:t>Todo アプリの完成には、アプリ実行、イメージ保管、DB、認証、ネットワーク、デプロイ設定がそろう必要があります。第5回では、その土台を作りました。</a:t>
            </a:r>
          </a:p>
          <a:p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50: QA</a:t>
            </a:r>
          </a:p>
          <a:p>
            <a:r>
              <a:t>作成したリソース、接続情報一覧、PostgreSQL の停止状態を確認し、第6回のデプロイに向けて不明点を解消します。</a:t>
            </a:r>
          </a:p>
          <a:p>
            <a:r>
              <a:t>QA 意図: Web/API/DB の対応、第6回へ持ち越す値、Stop と Delete の違いを口頭で確認する。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4907625"/>
          </a:xfrm>
        </p:spPr>
        <p:txBody>
          <a:bodyPr>
            <a:normAutofit/>
          </a:bodyPr>
          <a:lstStyle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スライド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000"/>
            </a:lvl1pPr>
          </a:lstStyle>
          <a:p>
            <a:endParaRPr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633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356" y="5155452"/>
            <a:ext cx="5184775" cy="1221390"/>
          </a:xfrm>
        </p:spPr>
        <p:txBody>
          <a:bodyPr/>
          <a:lstStyle>
            <a:lvl1pPr>
              <a:spcBef>
                <a:spcPts val="400"/>
              </a:spcBef>
              <a:buNone/>
              <a:defRPr sz="2400"/>
            </a:lvl1pPr>
          </a:lstStyle>
          <a:p>
            <a:endParaRPr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282113" y="5919642"/>
            <a:ext cx="2572430" cy="457200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1173825"/>
          </a:xfrm>
        </p:spPr>
        <p:txBody>
          <a:bodyPr>
            <a:noAutofit/>
          </a:bodyPr>
          <a:lstStyle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エンドクレジッ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>
            <a:lvl1pPr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0258E3-ADEE-446E-91DD-EA512031C4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9A6027-461B-4A82-AD12-91E6ABD476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57300" cy="685800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663895-720B-4B21-9392-EF05796393EF}"/>
              </a:ext>
            </a:extLst>
          </p:cNvPr>
          <p:cNvSpPr>
            <a:spLocks noGrp="1"/>
          </p:cNvSpPr>
          <p:nvPr/>
        </p:nvSpPr>
        <p:spPr>
          <a:xfrm>
            <a:off x="1257300" y="0"/>
            <a:ext cx="152400" cy="6858000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5B12E1-07F4-4BCB-9A0C-AC63A29791D0}"/>
              </a:ext>
            </a:extLst>
          </p:cNvPr>
          <p:cNvSpPr>
            <a:spLocks noGrp="1"/>
          </p:cNvSpPr>
          <p:nvPr/>
        </p:nvSpPr>
        <p:spPr>
          <a:xfrm>
            <a:off x="1952625" y="914400"/>
            <a:ext cx="72390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47981E-69F9-4EAC-BCAC-7D708FF89E00}"/>
              </a:ext>
            </a:extLst>
          </p:cNvPr>
          <p:cNvSpPr>
            <a:spLocks noGrp="1"/>
          </p:cNvSpPr>
          <p:nvPr/>
        </p:nvSpPr>
        <p:spPr>
          <a:xfrm>
            <a:off x="1952625" y="1504950"/>
            <a:ext cx="7239000" cy="819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アプリの構築 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2E9D1C7-CCAB-496B-8FE1-C4E1FEC1CB44}"/>
              </a:ext>
            </a:extLst>
          </p:cNvPr>
          <p:cNvSpPr>
            <a:spLocks noGrp="1"/>
          </p:cNvSpPr>
          <p:nvPr/>
        </p:nvSpPr>
        <p:spPr>
          <a:xfrm>
            <a:off x="1981200" y="2524125"/>
            <a:ext cx="8001000" cy="6667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この回では、Azure Container Apps と Azure Database for PostgreSQL を使う Todo アプリの土台を作り、第6回でデプロイするための値を整理します。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BD270DD-B695-4871-8850-3F24B9DE8373}"/>
              </a:ext>
            </a:extLst>
          </p:cNvPr>
          <p:cNvSpPr>
            <a:spLocks noGrp="1"/>
          </p:cNvSpPr>
          <p:nvPr/>
        </p:nvSpPr>
        <p:spPr>
          <a:xfrm>
            <a:off x="1981200" y="3619500"/>
            <a:ext cx="1143000" cy="323850"/>
          </a:xfrm>
          <a:prstGeom prst="rect">
            <a:avLst/>
          </a:prstGeom>
          <a:ln w="9525">
            <a:solidFill>
              <a:srgbClr val="2563EB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249AE2-F413-410C-8A09-365EFB890F0D}"/>
              </a:ext>
            </a:extLst>
          </p:cNvPr>
          <p:cNvSpPr>
            <a:spLocks noGrp="1"/>
          </p:cNvSpPr>
          <p:nvPr/>
        </p:nvSpPr>
        <p:spPr>
          <a:xfrm>
            <a:off x="2095500" y="3686175"/>
            <a:ext cx="9144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FCEAF70-918F-4391-BF10-70DAA48F497A}"/>
              </a:ext>
            </a:extLst>
          </p:cNvPr>
          <p:cNvSpPr>
            <a:spLocks noGrp="1"/>
          </p:cNvSpPr>
          <p:nvPr/>
        </p:nvSpPr>
        <p:spPr>
          <a:xfrm>
            <a:off x="3314700" y="3619500"/>
            <a:ext cx="2381250" cy="323850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41231C-0CC5-428A-BAC6-E17B655314C0}"/>
              </a:ext>
            </a:extLst>
          </p:cNvPr>
          <p:cNvSpPr>
            <a:spLocks noGrp="1"/>
          </p:cNvSpPr>
          <p:nvPr/>
        </p:nvSpPr>
        <p:spPr>
          <a:xfrm>
            <a:off x="3429000" y="3686175"/>
            <a:ext cx="215265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オンライン座学 + ハンズオン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B6D6DAF-77F7-4B51-94FA-B93DA0AB9916}"/>
              </a:ext>
            </a:extLst>
          </p:cNvPr>
          <p:cNvSpPr>
            <a:spLocks noGrp="1"/>
          </p:cNvSpPr>
          <p:nvPr/>
        </p:nvSpPr>
        <p:spPr>
          <a:xfrm>
            <a:off x="5886450" y="3619500"/>
            <a:ext cx="1676400" cy="32385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82DB7B-A5AF-4ABA-9734-3BA46EBDD84B}"/>
              </a:ext>
            </a:extLst>
          </p:cNvPr>
          <p:cNvSpPr>
            <a:spLocks noGrp="1"/>
          </p:cNvSpPr>
          <p:nvPr/>
        </p:nvSpPr>
        <p:spPr>
          <a:xfrm>
            <a:off x="6000750" y="3686175"/>
            <a:ext cx="14478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50分 + 10分 QA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1E4608F-7170-4A23-8678-75565C8ACBCC}"/>
              </a:ext>
            </a:extLst>
          </p:cNvPr>
          <p:cNvSpPr>
            <a:spLocks noGrp="1"/>
          </p:cNvSpPr>
          <p:nvPr/>
        </p:nvSpPr>
        <p:spPr>
          <a:xfrm>
            <a:off x="7753350" y="3619500"/>
            <a:ext cx="1638300" cy="323850"/>
          </a:xfrm>
          <a:prstGeom prst="rect">
            <a:avLst/>
          </a:prstGeom>
          <a:ln w="9525">
            <a:solidFill>
              <a:srgbClr val="15803D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224973D-2366-4F0E-B9ED-9AA6E631F3DB}"/>
              </a:ext>
            </a:extLst>
          </p:cNvPr>
          <p:cNvSpPr>
            <a:spLocks noGrp="1"/>
          </p:cNvSpPr>
          <p:nvPr/>
        </p:nvSpPr>
        <p:spPr>
          <a:xfrm>
            <a:off x="7867650" y="3686175"/>
            <a:ext cx="14097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2026年7月16日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180A1AA-445E-4182-8F7A-E94F77149C86}"/>
              </a:ext>
            </a:extLst>
          </p:cNvPr>
          <p:cNvSpPr>
            <a:spLocks noGrp="1"/>
          </p:cNvSpPr>
          <p:nvPr/>
        </p:nvSpPr>
        <p:spPr>
          <a:xfrm>
            <a:off x="1981200" y="5219700"/>
            <a:ext cx="79057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第6回に渡すリソースと値を作り、PostgreSQL は停止して引き継ぎます。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5DD2E28-D83A-4C11-AA9C-8C56F9B967B1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7B8DC59-5419-45C7-8B58-A8F5A828B8C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今日のゴール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039AEC-7F96-4878-BD39-2D63717653AC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02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3F3FF4-7B05-40EC-946C-D6FCDE7AD256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AD20B5-7EBA-4A00-96DF-3C577F9B1101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今日はアプリを完成させる日ではありません。完成に必要な Azure リソースを作り、名前、URL、ID、DB の状態を第6回へ引き継げるようにします。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69F21B7-BBB6-4514-916C-B3AB187AB996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F2A92D1-161C-4E9F-A2E1-E789C93CF31E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1B18FF3-AAC0-4EC4-AE9E-D542272CB17F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Goal 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A6A0964-B858-4A56-A8B7-4A31146537B1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全体像を持つ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0F94C9-E78A-4821-99CD-C7939A08C892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Web、API、DB が Azure のどのサービスに対応するか説明できる。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4E5403E-A7AC-45A3-ACE6-64542ED8FFF8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50AAE62-DD6D-4EB9-95A3-A0766D93FAF5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DEBCCBC-6FA0-4788-A5CE-99DC3BDA8EA0}"/>
              </a:ext>
            </a:extLst>
          </p:cNvPr>
          <p:cNvSpPr>
            <a:spLocks noGrp="1"/>
          </p:cNvSpPr>
          <p:nvPr/>
        </p:nvSpPr>
        <p:spPr>
          <a:xfrm>
            <a:off x="629602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Goal 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AE2D815-0E93-45AB-ACDF-64235F97C5D8}"/>
              </a:ext>
            </a:extLst>
          </p:cNvPr>
          <p:cNvSpPr>
            <a:spLocks noGrp="1"/>
          </p:cNvSpPr>
          <p:nvPr/>
        </p:nvSpPr>
        <p:spPr>
          <a:xfrm>
            <a:off x="629602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土台を作る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9F813D9-7C14-4D62-B1C8-7FBFDF2D15C4}"/>
              </a:ext>
            </a:extLst>
          </p:cNvPr>
          <p:cNvSpPr>
            <a:spLocks noGrp="1"/>
          </p:cNvSpPr>
          <p:nvPr/>
        </p:nvSpPr>
        <p:spPr>
          <a:xfrm>
            <a:off x="629602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ACR、Container Apps、PostgreSQL、VNet、Identity を作成する。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84E0501-F837-4CB7-93B4-FFF2A0163170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2317F62-5D26-4205-81B9-31435D9D9543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6E8F613-607C-477F-8233-BC76C8069EE2}"/>
              </a:ext>
            </a:extLst>
          </p:cNvPr>
          <p:cNvSpPr>
            <a:spLocks noGrp="1"/>
          </p:cNvSpPr>
          <p:nvPr/>
        </p:nvSpPr>
        <p:spPr>
          <a:xfrm>
            <a:off x="1133475" y="4095750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Goal 3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CB71C9C-B94F-4D64-B17E-2EE2D192E7AA}"/>
              </a:ext>
            </a:extLst>
          </p:cNvPr>
          <p:cNvSpPr>
            <a:spLocks noGrp="1"/>
          </p:cNvSpPr>
          <p:nvPr/>
        </p:nvSpPr>
        <p:spPr>
          <a:xfrm>
            <a:off x="1133475" y="4324350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値を記録する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1156FD7-6623-46CF-AF5B-6CA15125515C}"/>
              </a:ext>
            </a:extLst>
          </p:cNvPr>
          <p:cNvSpPr>
            <a:spLocks noGrp="1"/>
          </p:cNvSpPr>
          <p:nvPr/>
        </p:nvSpPr>
        <p:spPr>
          <a:xfrm>
            <a:off x="1133475" y="4743450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 GitHub Actions に設定する値を一覧に整理する。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53CBBC6-FB2B-48E3-BC9F-3AC3190B7CD7}"/>
              </a:ext>
            </a:extLst>
          </p:cNvPr>
          <p:cNvSpPr>
            <a:spLocks noGrp="1"/>
          </p:cNvSpPr>
          <p:nvPr/>
        </p:nvSpPr>
        <p:spPr>
          <a:xfrm>
            <a:off x="6067425" y="3924300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787B7A4-72A0-4D65-88E0-AD88497CA9D5}"/>
              </a:ext>
            </a:extLst>
          </p:cNvPr>
          <p:cNvSpPr>
            <a:spLocks noGrp="1"/>
          </p:cNvSpPr>
          <p:nvPr/>
        </p:nvSpPr>
        <p:spPr>
          <a:xfrm>
            <a:off x="6067425" y="3924300"/>
            <a:ext cx="76200" cy="17621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AC3DA76-EDD1-4B24-8F23-7C8B66B88E9E}"/>
              </a:ext>
            </a:extLst>
          </p:cNvPr>
          <p:cNvSpPr>
            <a:spLocks noGrp="1"/>
          </p:cNvSpPr>
          <p:nvPr/>
        </p:nvSpPr>
        <p:spPr>
          <a:xfrm>
            <a:off x="6296025" y="4095750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Goal 4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36866D2-CCC1-437A-88A3-1A6B90A01D57}"/>
              </a:ext>
            </a:extLst>
          </p:cNvPr>
          <p:cNvSpPr>
            <a:spLocks noGrp="1"/>
          </p:cNvSpPr>
          <p:nvPr/>
        </p:nvSpPr>
        <p:spPr>
          <a:xfrm>
            <a:off x="6296025" y="4324350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を停止する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15B3B76-D207-4A5D-A16C-0FA75BD0D657}"/>
              </a:ext>
            </a:extLst>
          </p:cNvPr>
          <p:cNvSpPr>
            <a:spLocks noGrp="1"/>
          </p:cNvSpPr>
          <p:nvPr/>
        </p:nvSpPr>
        <p:spPr>
          <a:xfrm>
            <a:off x="6296025" y="4743450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リソースは残しつつ PostgreSQL のコンピュート課金を抑える。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6A58517-A7D7-42A7-BC87-C3F676641CFC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EBB5A87-2880-40F1-ABC0-B6871EE8FB1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第3回から第4回の振り返り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FE1976-79E8-45DD-A214-130B4B9967F3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03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1345D80-4F1E-4C34-82B0-FE749051C7D7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6C0240-03D4-40BB-B2E8-1E4C8F216491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これまでは Web サーバ単体を VM と ACI で動かしました。今回は Web だけでなく、API と DB を含む複合アプリへ進みます。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9CBBBC-03AD-49D3-87C5-22F1B44C6D33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3187700" cy="1428750"/>
          </a:xfrm>
          <a:prstGeom prst="rect">
            <a:avLst/>
          </a:prstGeom>
          <a:ln w="13335">
            <a:solidFill>
              <a:srgbClr val="2563EB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16ED68-1E4E-4495-866E-4F37137D3725}"/>
              </a:ext>
            </a:extLst>
          </p:cNvPr>
          <p:cNvSpPr>
            <a:spLocks noGrp="1"/>
          </p:cNvSpPr>
          <p:nvPr/>
        </p:nvSpPr>
        <p:spPr>
          <a:xfrm>
            <a:off x="1019175" y="2543175"/>
            <a:ext cx="285750" cy="285750"/>
          </a:xfrm>
          <a:prstGeom prst="rect">
            <a:avLst/>
          </a:prstGeom>
          <a:ln w="9525">
            <a:solidFill>
              <a:srgbClr val="2563E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499876-7CD0-463C-9E0D-B8C2DA1EBEF8}"/>
              </a:ext>
            </a:extLst>
          </p:cNvPr>
          <p:cNvSpPr>
            <a:spLocks noGrp="1"/>
          </p:cNvSpPr>
          <p:nvPr/>
        </p:nvSpPr>
        <p:spPr>
          <a:xfrm>
            <a:off x="1381125" y="2600325"/>
            <a:ext cx="2597150" cy="1162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第3回</a:t>
            </a:r>
          </a:p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VM + NGINX</a:t>
            </a:r>
          </a:p>
        </p:txBody>
      </p:sp>
      <p:sp>
        <p:nvSpPr>
          <p:cNvPr id="8" name="直線コネクタ 7">
            <a:extLst>
              <a:ext uri="{FF2B5EF4-FFF2-40B4-BE49-F238E27FC236}">
                <a16:creationId xmlns:a16="http://schemas.microsoft.com/office/drawing/2014/main" id="{20E20F96-30D2-418D-AC34-6D4220D652A0}"/>
              </a:ext>
            </a:extLst>
          </p:cNvPr>
          <p:cNvSpPr>
            <a:spLocks noGrp="1"/>
          </p:cNvSpPr>
          <p:nvPr/>
        </p:nvSpPr>
        <p:spPr>
          <a:xfrm>
            <a:off x="4130675" y="3143250"/>
            <a:ext cx="17145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818072D-5304-434F-AC21-190AAE4331D6}"/>
              </a:ext>
            </a:extLst>
          </p:cNvPr>
          <p:cNvSpPr>
            <a:spLocks noGrp="1"/>
          </p:cNvSpPr>
          <p:nvPr/>
        </p:nvSpPr>
        <p:spPr>
          <a:xfrm>
            <a:off x="4359275" y="2428875"/>
            <a:ext cx="3187700" cy="1428750"/>
          </a:xfrm>
          <a:prstGeom prst="rect">
            <a:avLst/>
          </a:prstGeom>
          <a:ln w="13335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7A8CD6-8A1C-4E11-AFA9-4D66FBA46D84}"/>
              </a:ext>
            </a:extLst>
          </p:cNvPr>
          <p:cNvSpPr>
            <a:spLocks noGrp="1"/>
          </p:cNvSpPr>
          <p:nvPr/>
        </p:nvSpPr>
        <p:spPr>
          <a:xfrm>
            <a:off x="4473575" y="2543175"/>
            <a:ext cx="285750" cy="285750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B718B9C-AFC3-41DB-B674-C665306D3490}"/>
              </a:ext>
            </a:extLst>
          </p:cNvPr>
          <p:cNvSpPr>
            <a:spLocks noGrp="1"/>
          </p:cNvSpPr>
          <p:nvPr/>
        </p:nvSpPr>
        <p:spPr>
          <a:xfrm>
            <a:off x="4835525" y="2600325"/>
            <a:ext cx="2597150" cy="1162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第4回</a:t>
            </a:r>
          </a:p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ACI + NGINX</a:t>
            </a:r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F80F418B-48D0-4428-9371-EF70DF5B824C}"/>
              </a:ext>
            </a:extLst>
          </p:cNvPr>
          <p:cNvSpPr>
            <a:spLocks noGrp="1"/>
          </p:cNvSpPr>
          <p:nvPr/>
        </p:nvSpPr>
        <p:spPr>
          <a:xfrm>
            <a:off x="7585075" y="3143250"/>
            <a:ext cx="17145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46D8393-9564-4772-A2DD-BBD9CF84343F}"/>
              </a:ext>
            </a:extLst>
          </p:cNvPr>
          <p:cNvSpPr>
            <a:spLocks noGrp="1"/>
          </p:cNvSpPr>
          <p:nvPr/>
        </p:nvSpPr>
        <p:spPr>
          <a:xfrm>
            <a:off x="7813675" y="2428875"/>
            <a:ext cx="3187700" cy="1428750"/>
          </a:xfrm>
          <a:prstGeom prst="rect">
            <a:avLst/>
          </a:prstGeom>
          <a:ln w="13335">
            <a:solidFill>
              <a:srgbClr val="EA580C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5F448DA-BA9B-42F8-A33B-6D9A050EA093}"/>
              </a:ext>
            </a:extLst>
          </p:cNvPr>
          <p:cNvSpPr>
            <a:spLocks noGrp="1"/>
          </p:cNvSpPr>
          <p:nvPr/>
        </p:nvSpPr>
        <p:spPr>
          <a:xfrm>
            <a:off x="7927975" y="2543175"/>
            <a:ext cx="285750" cy="28575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5E4B755-0DE6-460D-B80C-4DA550A7D6FC}"/>
              </a:ext>
            </a:extLst>
          </p:cNvPr>
          <p:cNvSpPr>
            <a:spLocks noGrp="1"/>
          </p:cNvSpPr>
          <p:nvPr/>
        </p:nvSpPr>
        <p:spPr>
          <a:xfrm>
            <a:off x="8289925" y="2600325"/>
            <a:ext cx="2597150" cy="1162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第5-6回</a:t>
            </a:r>
          </a:p>
          <a:p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Web/API/DB Todo アプリ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216615A-347A-4CDD-BF28-0F7AA543A86F}"/>
              </a:ext>
            </a:extLst>
          </p:cNvPr>
          <p:cNvSpPr>
            <a:spLocks noGrp="1"/>
          </p:cNvSpPr>
          <p:nvPr/>
        </p:nvSpPr>
        <p:spPr>
          <a:xfrm>
            <a:off x="1428750" y="4305300"/>
            <a:ext cx="8953500" cy="400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単体 Web サーバの体験を、複数サービスが連携するアプリ構成へ拡張します。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4C3CE0C-B468-4609-87C3-2067DB22942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0043581-84FC-4D79-B89D-F983457C04B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単体 Web サーバから複合アプリへ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E316DA-E8EB-4875-8CB8-0A24EF3A69B9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04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15C21E-A33A-4642-A118-36501DD39289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E22CA9-1A15-456B-B29B-582F66361F4D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アプリでは画面を表示するだけでなく、Todo の保存、更新、削除、サインイン、デプロイの自動化まで複数サービスが連携します。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4020DC8-93BE-42F9-A8FC-36891907DF7E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38AB39-0B3D-4B76-9622-7A9BF6D5A27A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4AE820-0177-4642-BC5C-A3F24CBD67D6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Web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EF180FA-C612-40F2-97E0-64323C2A110F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画面と入口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67B1719-777F-4460-9BFC-AC80E3AB7A84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利用者がアクセスする画面を提供します。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4B70288-2972-4A5F-A677-AFED299F8943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F84C19-80AB-4627-AEBF-5A26EA078879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DF8863A-DFD7-4E51-BB32-4B05BB8C358A}"/>
              </a:ext>
            </a:extLst>
          </p:cNvPr>
          <p:cNvSpPr>
            <a:spLocks noGrp="1"/>
          </p:cNvSpPr>
          <p:nvPr/>
        </p:nvSpPr>
        <p:spPr>
          <a:xfrm>
            <a:off x="45751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API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DA307B-DC94-4D31-A052-F30412918829}"/>
              </a:ext>
            </a:extLst>
          </p:cNvPr>
          <p:cNvSpPr>
            <a:spLocks noGrp="1"/>
          </p:cNvSpPr>
          <p:nvPr/>
        </p:nvSpPr>
        <p:spPr>
          <a:xfrm>
            <a:off x="45751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業務処理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328DC53-BAC4-4148-98E0-562290B63988}"/>
              </a:ext>
            </a:extLst>
          </p:cNvPr>
          <p:cNvSpPr>
            <a:spLocks noGrp="1"/>
          </p:cNvSpPr>
          <p:nvPr/>
        </p:nvSpPr>
        <p:spPr>
          <a:xfrm>
            <a:off x="45751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の作成、更新、削除を処理します。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3593BF9-AB94-4392-B987-6CDD16C5D61B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BBA5E79-9AE6-445C-9C29-1D9FBE635089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74F20E6-D836-4598-9435-C4632B994DA9}"/>
              </a:ext>
            </a:extLst>
          </p:cNvPr>
          <p:cNvSpPr>
            <a:spLocks noGrp="1"/>
          </p:cNvSpPr>
          <p:nvPr/>
        </p:nvSpPr>
        <p:spPr>
          <a:xfrm>
            <a:off x="80168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DB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81A0E03-23AD-4A3A-9858-5FF5D5A690F3}"/>
              </a:ext>
            </a:extLst>
          </p:cNvPr>
          <p:cNvSpPr>
            <a:spLocks noGrp="1"/>
          </p:cNvSpPr>
          <p:nvPr/>
        </p:nvSpPr>
        <p:spPr>
          <a:xfrm>
            <a:off x="80168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データ保持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ECB344-9C37-43AB-832C-A9E367FC1E24}"/>
              </a:ext>
            </a:extLst>
          </p:cNvPr>
          <p:cNvSpPr>
            <a:spLocks noGrp="1"/>
          </p:cNvSpPr>
          <p:nvPr/>
        </p:nvSpPr>
        <p:spPr>
          <a:xfrm>
            <a:off x="80168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の状態を PostgreSQL に保存します。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EC2266D-2FF5-4C84-96FD-2133CE2A96A1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7E4687C-D9AC-425A-B167-5C4DBF89D83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アプリの完成形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178A94-A9DA-444A-B789-2197BCB4B620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05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14D32E9-D307-4150-8CFE-ABD0BFFA94CB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B2117E-47CD-4AEE-9CD5-DC72835E5AD8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完成形では Web と API が Azure Container Apps で動き、コンテナイメージは ACR に置かれ、Todo データは Azure Database for PostgreSQL に保存されます。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1B26209-D6C7-4396-BEDF-753B1A5FDBCB}"/>
              </a:ext>
            </a:extLst>
          </p:cNvPr>
          <p:cNvSpPr>
            <a:spLocks noGrp="1"/>
          </p:cNvSpPr>
          <p:nvPr/>
        </p:nvSpPr>
        <p:spPr>
          <a:xfrm>
            <a:off x="2000250" y="1638300"/>
            <a:ext cx="819150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完成形: Web / API / DB とデプロイ・認証の関係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4E1AFC0-5B8F-4BCE-ABD9-F515847AF707}"/>
              </a:ext>
            </a:extLst>
          </p:cNvPr>
          <p:cNvSpPr>
            <a:spLocks noGrp="1"/>
          </p:cNvSpPr>
          <p:nvPr/>
        </p:nvSpPr>
        <p:spPr>
          <a:xfrm>
            <a:off x="2524125" y="2095500"/>
            <a:ext cx="5810250" cy="2590800"/>
          </a:xfrm>
          <a:prstGeom prst="rect">
            <a:avLst/>
          </a:prstGeom>
          <a:ln w="14288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5E769AF-9B55-4FD8-883F-7A8EAA6E11FF}"/>
              </a:ext>
            </a:extLst>
          </p:cNvPr>
          <p:cNvSpPr>
            <a:spLocks noGrp="1"/>
          </p:cNvSpPr>
          <p:nvPr/>
        </p:nvSpPr>
        <p:spPr>
          <a:xfrm>
            <a:off x="2714625" y="2238375"/>
            <a:ext cx="2381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Virtual Network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6288A7-AF1A-471D-8233-3B6C8A6FC065}"/>
              </a:ext>
            </a:extLst>
          </p:cNvPr>
          <p:cNvSpPr>
            <a:spLocks noGrp="1"/>
          </p:cNvSpPr>
          <p:nvPr/>
        </p:nvSpPr>
        <p:spPr>
          <a:xfrm>
            <a:off x="3000375" y="2571750"/>
            <a:ext cx="4762500" cy="1524000"/>
          </a:xfrm>
          <a:prstGeom prst="rect">
            <a:avLst/>
          </a:prstGeom>
          <a:ln w="11430">
            <a:solidFill>
              <a:srgbClr val="0F766E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80F282D-18AE-411D-B27A-973BD80FA713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40957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Apps Environment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EC90B23-DCFA-49E2-9B0D-E423B10148DF}"/>
              </a:ext>
            </a:extLst>
          </p:cNvPr>
          <p:cNvSpPr>
            <a:spLocks noGrp="1"/>
          </p:cNvSpPr>
          <p:nvPr/>
        </p:nvSpPr>
        <p:spPr>
          <a:xfrm>
            <a:off x="3333750" y="3095625"/>
            <a:ext cx="1809750" cy="78105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DE35FDC-95FB-49BB-9587-03058F0B088E}"/>
              </a:ext>
            </a:extLst>
          </p:cNvPr>
          <p:cNvSpPr>
            <a:spLocks noGrp="1"/>
          </p:cNvSpPr>
          <p:nvPr/>
        </p:nvSpPr>
        <p:spPr>
          <a:xfrm>
            <a:off x="3467100" y="3219450"/>
            <a:ext cx="154305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EB1469-4E03-4C34-A85E-C9CBCD0757B6}"/>
              </a:ext>
            </a:extLst>
          </p:cNvPr>
          <p:cNvSpPr>
            <a:spLocks noGrp="1"/>
          </p:cNvSpPr>
          <p:nvPr/>
        </p:nvSpPr>
        <p:spPr>
          <a:xfrm>
            <a:off x="3467100" y="3533775"/>
            <a:ext cx="1543050" cy="2952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画面と入口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B292985-A203-4574-9DA0-4E782BFA4476}"/>
              </a:ext>
            </a:extLst>
          </p:cNvPr>
          <p:cNvSpPr>
            <a:spLocks noGrp="1"/>
          </p:cNvSpPr>
          <p:nvPr/>
        </p:nvSpPr>
        <p:spPr>
          <a:xfrm>
            <a:off x="5619750" y="3095625"/>
            <a:ext cx="1809750" cy="781050"/>
          </a:xfrm>
          <a:prstGeom prst="rect">
            <a:avLst/>
          </a:prstGeom>
          <a:ln w="12383">
            <a:solidFill>
              <a:srgbClr val="0F766E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1B1D641-00C9-4545-A1B1-156BB2A021A0}"/>
              </a:ext>
            </a:extLst>
          </p:cNvPr>
          <p:cNvSpPr>
            <a:spLocks noGrp="1"/>
          </p:cNvSpPr>
          <p:nvPr/>
        </p:nvSpPr>
        <p:spPr>
          <a:xfrm>
            <a:off x="5753100" y="3219450"/>
            <a:ext cx="154305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2CE8EF-53F8-40F8-95BE-B18E0BE27415}"/>
              </a:ext>
            </a:extLst>
          </p:cNvPr>
          <p:cNvSpPr>
            <a:spLocks noGrp="1"/>
          </p:cNvSpPr>
          <p:nvPr/>
        </p:nvSpPr>
        <p:spPr>
          <a:xfrm>
            <a:off x="5753100" y="3533775"/>
            <a:ext cx="1543050" cy="2952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操作を処理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D5F0CBA-2199-46EA-A6C7-900DE01169A2}"/>
              </a:ext>
            </a:extLst>
          </p:cNvPr>
          <p:cNvSpPr>
            <a:spLocks noGrp="1"/>
          </p:cNvSpPr>
          <p:nvPr/>
        </p:nvSpPr>
        <p:spPr>
          <a:xfrm>
            <a:off x="1000125" y="3095625"/>
            <a:ext cx="1381125" cy="72390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A4AD198-5F9B-4C55-B123-9A9013D64347}"/>
              </a:ext>
            </a:extLst>
          </p:cNvPr>
          <p:cNvSpPr>
            <a:spLocks noGrp="1"/>
          </p:cNvSpPr>
          <p:nvPr/>
        </p:nvSpPr>
        <p:spPr>
          <a:xfrm>
            <a:off x="1133475" y="3219450"/>
            <a:ext cx="1114425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利用者ブラウザー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439DA47-B10D-4AEF-8421-F5A53525D979}"/>
              </a:ext>
            </a:extLst>
          </p:cNvPr>
          <p:cNvSpPr>
            <a:spLocks noGrp="1"/>
          </p:cNvSpPr>
          <p:nvPr/>
        </p:nvSpPr>
        <p:spPr>
          <a:xfrm>
            <a:off x="1133475" y="3533775"/>
            <a:ext cx="1114425" cy="238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アクセス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42B34F3-791F-4230-A4D2-5A5719E317A9}"/>
              </a:ext>
            </a:extLst>
          </p:cNvPr>
          <p:cNvSpPr>
            <a:spLocks noGrp="1"/>
          </p:cNvSpPr>
          <p:nvPr/>
        </p:nvSpPr>
        <p:spPr>
          <a:xfrm>
            <a:off x="8858250" y="2809875"/>
            <a:ext cx="2381250" cy="819150"/>
          </a:xfrm>
          <a:prstGeom prst="rect">
            <a:avLst/>
          </a:prstGeom>
          <a:ln w="12383">
            <a:solidFill>
              <a:srgbClr val="EA580C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9DCC70D-C3DD-461A-A022-FEB07BFCC5CF}"/>
              </a:ext>
            </a:extLst>
          </p:cNvPr>
          <p:cNvSpPr>
            <a:spLocks noGrp="1"/>
          </p:cNvSpPr>
          <p:nvPr/>
        </p:nvSpPr>
        <p:spPr>
          <a:xfrm>
            <a:off x="8991600" y="2933700"/>
            <a:ext cx="2114550" cy="3619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Database for PostgreSQL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6B59F72-C9BE-4BD1-95A0-2E80B582B25B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2114550" cy="2190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データを保存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B9CC01C-20EB-4DE7-9356-BDF52A2D4EAE}"/>
              </a:ext>
            </a:extLst>
          </p:cNvPr>
          <p:cNvSpPr>
            <a:spLocks noGrp="1"/>
          </p:cNvSpPr>
          <p:nvPr/>
        </p:nvSpPr>
        <p:spPr>
          <a:xfrm>
            <a:off x="8858250" y="4000500"/>
            <a:ext cx="2381250" cy="742950"/>
          </a:xfrm>
          <a:prstGeom prst="rect">
            <a:avLst/>
          </a:prstGeom>
          <a:ln w="12383">
            <a:solidFill>
              <a:srgbClr val="7C3AED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34CB0DF-E805-40AC-A903-501074897926}"/>
              </a:ext>
            </a:extLst>
          </p:cNvPr>
          <p:cNvSpPr>
            <a:spLocks noGrp="1"/>
          </p:cNvSpPr>
          <p:nvPr/>
        </p:nvSpPr>
        <p:spPr>
          <a:xfrm>
            <a:off x="8991600" y="4124325"/>
            <a:ext cx="211455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Registry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7D1578-C2BB-473D-BE87-440984F4EDAC}"/>
              </a:ext>
            </a:extLst>
          </p:cNvPr>
          <p:cNvSpPr>
            <a:spLocks noGrp="1"/>
          </p:cNvSpPr>
          <p:nvPr/>
        </p:nvSpPr>
        <p:spPr>
          <a:xfrm>
            <a:off x="8991600" y="4438650"/>
            <a:ext cx="2114550" cy="2571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Web/API イメージ保管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5ED20F5-19AE-484E-AD6E-750E8504ADA3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2476500" cy="704850"/>
          </a:xfrm>
          <a:prstGeom prst="rect">
            <a:avLst/>
          </a:prstGeom>
          <a:ln w="12383">
            <a:solidFill>
              <a:srgbClr val="15803D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8BB508-83C9-4A62-B991-31522E4775A7}"/>
              </a:ext>
            </a:extLst>
          </p:cNvPr>
          <p:cNvSpPr>
            <a:spLocks noGrp="1"/>
          </p:cNvSpPr>
          <p:nvPr/>
        </p:nvSpPr>
        <p:spPr>
          <a:xfrm>
            <a:off x="1276350" y="5076825"/>
            <a:ext cx="220980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ED31389-2A19-4246-B207-E5A54129238D}"/>
              </a:ext>
            </a:extLst>
          </p:cNvPr>
          <p:cNvSpPr>
            <a:spLocks noGrp="1"/>
          </p:cNvSpPr>
          <p:nvPr/>
        </p:nvSpPr>
        <p:spPr>
          <a:xfrm>
            <a:off x="1276350" y="5391150"/>
            <a:ext cx="2209800" cy="2190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第6回で build / push / deploy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8E95B03-9AC7-427A-8B88-9641434F6489}"/>
              </a:ext>
            </a:extLst>
          </p:cNvPr>
          <p:cNvSpPr>
            <a:spLocks noGrp="1"/>
          </p:cNvSpPr>
          <p:nvPr/>
        </p:nvSpPr>
        <p:spPr>
          <a:xfrm>
            <a:off x="4333875" y="4953000"/>
            <a:ext cx="2476500" cy="704850"/>
          </a:xfrm>
          <a:prstGeom prst="rect">
            <a:avLst/>
          </a:prstGeom>
          <a:ln w="12383">
            <a:solidFill>
              <a:srgbClr val="BE185D"/>
            </a:solidFill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CCADF39-326D-4752-8DDE-0CF32B018286}"/>
              </a:ext>
            </a:extLst>
          </p:cNvPr>
          <p:cNvSpPr>
            <a:spLocks noGrp="1"/>
          </p:cNvSpPr>
          <p:nvPr/>
        </p:nvSpPr>
        <p:spPr>
          <a:xfrm>
            <a:off x="4467225" y="5076825"/>
            <a:ext cx="220980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7A1AD66-A026-454E-B2AF-4B2C4EF6A3EC}"/>
              </a:ext>
            </a:extLst>
          </p:cNvPr>
          <p:cNvSpPr>
            <a:spLocks noGrp="1"/>
          </p:cNvSpPr>
          <p:nvPr/>
        </p:nvSpPr>
        <p:spPr>
          <a:xfrm>
            <a:off x="4467225" y="5391150"/>
            <a:ext cx="2209800" cy="2190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から DB へ権限付与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784B08E-4B0E-4ED9-8CFB-7672AB795423}"/>
              </a:ext>
            </a:extLst>
          </p:cNvPr>
          <p:cNvSpPr>
            <a:spLocks noGrp="1"/>
          </p:cNvSpPr>
          <p:nvPr/>
        </p:nvSpPr>
        <p:spPr>
          <a:xfrm>
            <a:off x="7429500" y="4953000"/>
            <a:ext cx="2476500" cy="70485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4591855-3B22-409C-A56C-366D104C8568}"/>
              </a:ext>
            </a:extLst>
          </p:cNvPr>
          <p:cNvSpPr>
            <a:spLocks noGrp="1"/>
          </p:cNvSpPr>
          <p:nvPr/>
        </p:nvSpPr>
        <p:spPr>
          <a:xfrm>
            <a:off x="7562850" y="5076825"/>
            <a:ext cx="220980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4B1FC85-3221-410B-87E0-F986D4A3EB1A}"/>
              </a:ext>
            </a:extLst>
          </p:cNvPr>
          <p:cNvSpPr>
            <a:spLocks noGrp="1"/>
          </p:cNvSpPr>
          <p:nvPr/>
        </p:nvSpPr>
        <p:spPr>
          <a:xfrm>
            <a:off x="7562850" y="5391150"/>
            <a:ext cx="2209800" cy="2190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サインインの入口</a:t>
            </a:r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13FBF6E0-6079-47E5-A431-ECD80A095605}"/>
              </a:ext>
            </a:extLst>
          </p:cNvPr>
          <p:cNvSpPr>
            <a:spLocks noGrp="1"/>
          </p:cNvSpPr>
          <p:nvPr/>
        </p:nvSpPr>
        <p:spPr>
          <a:xfrm>
            <a:off x="2381250" y="3457575"/>
            <a:ext cx="95250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592D5359-6ED3-48FB-BB0B-D65BC3E384BC}"/>
              </a:ext>
            </a:extLst>
          </p:cNvPr>
          <p:cNvSpPr>
            <a:spLocks noGrp="1"/>
          </p:cNvSpPr>
          <p:nvPr/>
        </p:nvSpPr>
        <p:spPr>
          <a:xfrm>
            <a:off x="5143500" y="3476625"/>
            <a:ext cx="476250" cy="0"/>
          </a:xfrm>
          <a:prstGeom prst="line">
            <a:avLst/>
          </a:prstGeom>
          <a:ln w="20955">
            <a:solidFill>
              <a:srgbClr val="0F766E"/>
            </a:solidFill>
            <a:prstDash val="solid"/>
          </a:ln>
        </p:spPr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26EC1A12-AABC-4D66-99E5-7D23D26C6378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428750" cy="0"/>
          </a:xfrm>
          <a:prstGeom prst="line">
            <a:avLst/>
          </a:prstGeom>
          <a:ln w="20955">
            <a:solidFill>
              <a:srgbClr val="EA580C"/>
            </a:solidFill>
            <a:prstDash val="solid"/>
          </a:ln>
        </p:spPr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9F1CFA0B-1D56-46C8-B109-3ABE773CFB2D}"/>
              </a:ext>
            </a:extLst>
          </p:cNvPr>
          <p:cNvSpPr>
            <a:spLocks noGrp="1"/>
          </p:cNvSpPr>
          <p:nvPr/>
        </p:nvSpPr>
        <p:spPr>
          <a:xfrm>
            <a:off x="4810125" y="4953000"/>
            <a:ext cx="0" cy="0"/>
          </a:xfrm>
          <a:prstGeom prst="line">
            <a:avLst/>
          </a:prstGeom>
          <a:ln w="20955">
            <a:solidFill>
              <a:srgbClr val="BE185D"/>
            </a:solidFill>
            <a:prstDash val="solid"/>
          </a:ln>
        </p:spPr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8B232D0E-6627-462E-9B10-FEE133A637A0}"/>
              </a:ext>
            </a:extLst>
          </p:cNvPr>
          <p:cNvSpPr>
            <a:spLocks noGrp="1"/>
          </p:cNvSpPr>
          <p:nvPr/>
        </p:nvSpPr>
        <p:spPr>
          <a:xfrm>
            <a:off x="2381250" y="5314950"/>
            <a:ext cx="1952625" cy="0"/>
          </a:xfrm>
          <a:prstGeom prst="line">
            <a:avLst/>
          </a:prstGeom>
          <a:ln w="20955">
            <a:solidFill>
              <a:srgbClr val="15803D"/>
            </a:solidFill>
            <a:prstDash val="solid"/>
          </a:ln>
        </p:spPr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FB93D137-D790-4CB6-B034-682A9C768A04}"/>
              </a:ext>
            </a:extLst>
          </p:cNvPr>
          <p:cNvSpPr>
            <a:spLocks noGrp="1"/>
          </p:cNvSpPr>
          <p:nvPr/>
        </p:nvSpPr>
        <p:spPr>
          <a:xfrm>
            <a:off x="6858000" y="5314950"/>
            <a:ext cx="57150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40" name="直線コネクタ 39">
            <a:extLst>
              <a:ext uri="{FF2B5EF4-FFF2-40B4-BE49-F238E27FC236}">
                <a16:creationId xmlns:a16="http://schemas.microsoft.com/office/drawing/2014/main" id="{41E577F3-263B-4FA3-BF91-B45016DE9C3C}"/>
              </a:ext>
            </a:extLst>
          </p:cNvPr>
          <p:cNvSpPr>
            <a:spLocks noGrp="1"/>
          </p:cNvSpPr>
          <p:nvPr/>
        </p:nvSpPr>
        <p:spPr>
          <a:xfrm>
            <a:off x="5715000" y="4953000"/>
            <a:ext cx="3238500" cy="0"/>
          </a:xfrm>
          <a:prstGeom prst="line">
            <a:avLst/>
          </a:prstGeom>
          <a:ln w="20955">
            <a:solidFill>
              <a:srgbClr val="7C3AED"/>
            </a:solidFill>
            <a:prstDash val="solid"/>
          </a:ln>
        </p:spPr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1B01234-764A-470E-A8D0-7775DF2F780F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2E053FC-5B25-4D8A-BA18-994C0B715B7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第5回と第6回の分担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E48578-AED7-4F52-9566-81FDF7E4A9B7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06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3493B6-F4A5-4375-B258-CFE29163CC17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33AB71-F17A-4BCA-85AB-6110405FBCEA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2回続きのハンズオンなので、今日は土台を作って引き継ぐ日、第6回は GitHub Actions で実アプリをデプロイして動作確認する日、と分けて考えます。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531E9BA-23B4-4A4E-98AA-6B9B93BFF1F6}"/>
              </a:ext>
            </a:extLst>
          </p:cNvPr>
          <p:cNvSpPr>
            <a:spLocks noGrp="1"/>
          </p:cNvSpPr>
          <p:nvPr/>
        </p:nvSpPr>
        <p:spPr>
          <a:xfrm>
            <a:off x="2667000" y="1714500"/>
            <a:ext cx="6858000" cy="2857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第5回は土台作り、第6回はデプロイ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A1C78C-87DB-478D-83D0-0F3F37DC887F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4333875" cy="2667000"/>
          </a:xfrm>
          <a:prstGeom prst="rect">
            <a:avLst/>
          </a:prstGeom>
          <a:ln w="14288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7EE4C77-38D8-4F26-9C13-7E8BCE7B61A8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4333875" cy="2667000"/>
          </a:xfrm>
          <a:prstGeom prst="rect">
            <a:avLst/>
          </a:prstGeom>
          <a:ln w="14288">
            <a:solidFill>
              <a:srgbClr val="15803D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C48B8E-66CE-46AB-BA98-BE35C651E5E7}"/>
              </a:ext>
            </a:extLst>
          </p:cNvPr>
          <p:cNvSpPr>
            <a:spLocks noGrp="1"/>
          </p:cNvSpPr>
          <p:nvPr/>
        </p:nvSpPr>
        <p:spPr>
          <a:xfrm>
            <a:off x="1571625" y="2457450"/>
            <a:ext cx="3571875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第5回で作る土台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88B71ED-3CC7-47D9-89D1-D10591CCF987}"/>
              </a:ext>
            </a:extLst>
          </p:cNvPr>
          <p:cNvSpPr>
            <a:spLocks noGrp="1"/>
          </p:cNvSpPr>
          <p:nvPr/>
        </p:nvSpPr>
        <p:spPr>
          <a:xfrm>
            <a:off x="7048500" y="2457450"/>
            <a:ext cx="3571875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第6回で完成させる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0D44BA-683C-4A7D-95D6-D11C92A38547}"/>
              </a:ext>
            </a:extLst>
          </p:cNvPr>
          <p:cNvSpPr>
            <a:spLocks noGrp="1"/>
          </p:cNvSpPr>
          <p:nvPr/>
        </p:nvSpPr>
        <p:spPr>
          <a:xfrm>
            <a:off x="1666875" y="2905125"/>
            <a:ext cx="1524000" cy="49530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FF0FAEE-1357-40DC-BD27-AEFC62D9A68D}"/>
              </a:ext>
            </a:extLst>
          </p:cNvPr>
          <p:cNvSpPr>
            <a:spLocks noGrp="1"/>
          </p:cNvSpPr>
          <p:nvPr/>
        </p:nvSpPr>
        <p:spPr>
          <a:xfrm>
            <a:off x="1800225" y="2990850"/>
            <a:ext cx="1257300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30F872A-C0BB-4ED3-90F0-27BCCF0D274D}"/>
              </a:ext>
            </a:extLst>
          </p:cNvPr>
          <p:cNvSpPr>
            <a:spLocks noGrp="1"/>
          </p:cNvSpPr>
          <p:nvPr/>
        </p:nvSpPr>
        <p:spPr>
          <a:xfrm>
            <a:off x="1800225" y="3228975"/>
            <a:ext cx="1257300" cy="1238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外枠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D4C61C-404C-41AB-8725-B0C9CF076079}"/>
              </a:ext>
            </a:extLst>
          </p:cNvPr>
          <p:cNvSpPr>
            <a:spLocks noGrp="1"/>
          </p:cNvSpPr>
          <p:nvPr/>
        </p:nvSpPr>
        <p:spPr>
          <a:xfrm>
            <a:off x="3667125" y="2905125"/>
            <a:ext cx="1524000" cy="495300"/>
          </a:xfrm>
          <a:prstGeom prst="rect">
            <a:avLst/>
          </a:prstGeom>
          <a:ln w="12383">
            <a:solidFill>
              <a:srgbClr val="0F766E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124EEF6-5FF9-4856-B100-E62E3771084B}"/>
              </a:ext>
            </a:extLst>
          </p:cNvPr>
          <p:cNvSpPr>
            <a:spLocks noGrp="1"/>
          </p:cNvSpPr>
          <p:nvPr/>
        </p:nvSpPr>
        <p:spPr>
          <a:xfrm>
            <a:off x="3800475" y="2990850"/>
            <a:ext cx="1257300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/ Subnets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83AB5DB-F516-442E-BEBA-5018E5DB9FB9}"/>
              </a:ext>
            </a:extLst>
          </p:cNvPr>
          <p:cNvSpPr>
            <a:spLocks noGrp="1"/>
          </p:cNvSpPr>
          <p:nvPr/>
        </p:nvSpPr>
        <p:spPr>
          <a:xfrm>
            <a:off x="3800475" y="3228975"/>
            <a:ext cx="1257300" cy="1238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接続の区画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CBE7405-EFB1-4E6B-A66C-FE93D01232EA}"/>
              </a:ext>
            </a:extLst>
          </p:cNvPr>
          <p:cNvSpPr>
            <a:spLocks noGrp="1"/>
          </p:cNvSpPr>
          <p:nvPr/>
        </p:nvSpPr>
        <p:spPr>
          <a:xfrm>
            <a:off x="1666875" y="3600450"/>
            <a:ext cx="1524000" cy="495300"/>
          </a:xfrm>
          <a:prstGeom prst="rect">
            <a:avLst/>
          </a:prstGeom>
          <a:ln w="12383">
            <a:solidFill>
              <a:srgbClr val="EA580C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BE0EE2E-B8B0-4AE1-8176-A510B15BA52C}"/>
              </a:ext>
            </a:extLst>
          </p:cNvPr>
          <p:cNvSpPr>
            <a:spLocks noGrp="1"/>
          </p:cNvSpPr>
          <p:nvPr/>
        </p:nvSpPr>
        <p:spPr>
          <a:xfrm>
            <a:off x="1800225" y="3686175"/>
            <a:ext cx="1257300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89A9E49-62FE-4877-98E6-F963314E9D83}"/>
              </a:ext>
            </a:extLst>
          </p:cNvPr>
          <p:cNvSpPr>
            <a:spLocks noGrp="1"/>
          </p:cNvSpPr>
          <p:nvPr/>
        </p:nvSpPr>
        <p:spPr>
          <a:xfrm>
            <a:off x="1800225" y="3924300"/>
            <a:ext cx="1257300" cy="1238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イメージ保管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8795C0-2D2D-4E7A-89ED-A45A387DD206}"/>
              </a:ext>
            </a:extLst>
          </p:cNvPr>
          <p:cNvSpPr>
            <a:spLocks noGrp="1"/>
          </p:cNvSpPr>
          <p:nvPr/>
        </p:nvSpPr>
        <p:spPr>
          <a:xfrm>
            <a:off x="3667125" y="3600450"/>
            <a:ext cx="1524000" cy="495300"/>
          </a:xfrm>
          <a:prstGeom prst="rect">
            <a:avLst/>
          </a:prstGeom>
          <a:ln w="12383">
            <a:solidFill>
              <a:srgbClr val="BE185D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0025011-D7BD-43FB-97DF-81CEAF09F437}"/>
              </a:ext>
            </a:extLst>
          </p:cNvPr>
          <p:cNvSpPr>
            <a:spLocks noGrp="1"/>
          </p:cNvSpPr>
          <p:nvPr/>
        </p:nvSpPr>
        <p:spPr>
          <a:xfrm>
            <a:off x="3800475" y="3686175"/>
            <a:ext cx="1257300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8076F6A-464A-4F6D-8A0E-581474641F3F}"/>
              </a:ext>
            </a:extLst>
          </p:cNvPr>
          <p:cNvSpPr>
            <a:spLocks noGrp="1"/>
          </p:cNvSpPr>
          <p:nvPr/>
        </p:nvSpPr>
        <p:spPr>
          <a:xfrm>
            <a:off x="3800475" y="3924300"/>
            <a:ext cx="1257300" cy="1238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DB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897B281-2007-4AFC-91EB-4423212D41C0}"/>
              </a:ext>
            </a:extLst>
          </p:cNvPr>
          <p:cNvSpPr>
            <a:spLocks noGrp="1"/>
          </p:cNvSpPr>
          <p:nvPr/>
        </p:nvSpPr>
        <p:spPr>
          <a:xfrm>
            <a:off x="1885950" y="4295775"/>
            <a:ext cx="2952750" cy="495300"/>
          </a:xfrm>
          <a:prstGeom prst="rect">
            <a:avLst/>
          </a:prstGeom>
          <a:ln w="12383">
            <a:solidFill>
              <a:srgbClr val="7C3AED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BA2DD12-8486-4B1B-A22F-2A2862936B1E}"/>
              </a:ext>
            </a:extLst>
          </p:cNvPr>
          <p:cNvSpPr>
            <a:spLocks noGrp="1"/>
          </p:cNvSpPr>
          <p:nvPr/>
        </p:nvSpPr>
        <p:spPr>
          <a:xfrm>
            <a:off x="2019300" y="4381500"/>
            <a:ext cx="2686050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/ Entra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E4BEDC6-70E6-42E7-86CA-15D6E10B0909}"/>
              </a:ext>
            </a:extLst>
          </p:cNvPr>
          <p:cNvSpPr>
            <a:spLocks noGrp="1"/>
          </p:cNvSpPr>
          <p:nvPr/>
        </p:nvSpPr>
        <p:spPr>
          <a:xfrm>
            <a:off x="2019300" y="4619625"/>
            <a:ext cx="2686050" cy="1238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認証と権限の入口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AEFAC68-1278-4A47-8AC6-A0DF828E8619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476375" cy="514350"/>
          </a:xfrm>
          <a:prstGeom prst="rect">
            <a:avLst/>
          </a:prstGeom>
          <a:ln w="12383">
            <a:solidFill>
              <a:srgbClr val="7C3AED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DDAA92F-E8EB-4071-8E11-88C470CE10E5}"/>
              </a:ext>
            </a:extLst>
          </p:cNvPr>
          <p:cNvSpPr>
            <a:spLocks noGrp="1"/>
          </p:cNvSpPr>
          <p:nvPr/>
        </p:nvSpPr>
        <p:spPr>
          <a:xfrm>
            <a:off x="7372350" y="3086100"/>
            <a:ext cx="120967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D982049-97D5-4D67-B6F3-F4BC33C59A0E}"/>
              </a:ext>
            </a:extLst>
          </p:cNvPr>
          <p:cNvSpPr>
            <a:spLocks noGrp="1"/>
          </p:cNvSpPr>
          <p:nvPr/>
        </p:nvSpPr>
        <p:spPr>
          <a:xfrm>
            <a:off x="7372350" y="3324225"/>
            <a:ext cx="1209675" cy="1428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ビルドと push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F5614B6-584D-4348-A756-C2248F2F6670}"/>
              </a:ext>
            </a:extLst>
          </p:cNvPr>
          <p:cNvSpPr>
            <a:spLocks noGrp="1"/>
          </p:cNvSpPr>
          <p:nvPr/>
        </p:nvSpPr>
        <p:spPr>
          <a:xfrm>
            <a:off x="9048750" y="3000375"/>
            <a:ext cx="1476375" cy="51435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5359251-BC5E-4D05-9896-41EEC6991DCE}"/>
              </a:ext>
            </a:extLst>
          </p:cNvPr>
          <p:cNvSpPr>
            <a:spLocks noGrp="1"/>
          </p:cNvSpPr>
          <p:nvPr/>
        </p:nvSpPr>
        <p:spPr>
          <a:xfrm>
            <a:off x="9182100" y="3086100"/>
            <a:ext cx="120967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/ API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F2B8320-4F37-4C70-B225-0D43B5BE0CEC}"/>
              </a:ext>
            </a:extLst>
          </p:cNvPr>
          <p:cNvSpPr>
            <a:spLocks noGrp="1"/>
          </p:cNvSpPr>
          <p:nvPr/>
        </p:nvSpPr>
        <p:spPr>
          <a:xfrm>
            <a:off x="9182100" y="3324225"/>
            <a:ext cx="1209675" cy="1428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実イメージへ更新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B40371B-E49F-483D-9F31-5FE107BC6F7E}"/>
              </a:ext>
            </a:extLst>
          </p:cNvPr>
          <p:cNvSpPr>
            <a:spLocks noGrp="1"/>
          </p:cNvSpPr>
          <p:nvPr/>
        </p:nvSpPr>
        <p:spPr>
          <a:xfrm>
            <a:off x="7239000" y="3800475"/>
            <a:ext cx="1476375" cy="514350"/>
          </a:xfrm>
          <a:prstGeom prst="rect">
            <a:avLst/>
          </a:prstGeom>
          <a:ln w="12383">
            <a:solidFill>
              <a:srgbClr val="0F766E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EA8FC59-D619-4FA4-AEE7-FADF13C410BE}"/>
              </a:ext>
            </a:extLst>
          </p:cNvPr>
          <p:cNvSpPr>
            <a:spLocks noGrp="1"/>
          </p:cNvSpPr>
          <p:nvPr/>
        </p:nvSpPr>
        <p:spPr>
          <a:xfrm>
            <a:off x="7372350" y="3886200"/>
            <a:ext cx="120967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アプリ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22266B1-572A-4659-9A93-56B1C19F691C}"/>
              </a:ext>
            </a:extLst>
          </p:cNvPr>
          <p:cNvSpPr>
            <a:spLocks noGrp="1"/>
          </p:cNvSpPr>
          <p:nvPr/>
        </p:nvSpPr>
        <p:spPr>
          <a:xfrm>
            <a:off x="7372350" y="4124325"/>
            <a:ext cx="1209675" cy="1428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作成・編集・削除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DB40A17-1253-4A01-9905-0138FD34044A}"/>
              </a:ext>
            </a:extLst>
          </p:cNvPr>
          <p:cNvSpPr>
            <a:spLocks noGrp="1"/>
          </p:cNvSpPr>
          <p:nvPr/>
        </p:nvSpPr>
        <p:spPr>
          <a:xfrm>
            <a:off x="9048750" y="3800475"/>
            <a:ext cx="1476375" cy="514350"/>
          </a:xfrm>
          <a:prstGeom prst="rect">
            <a:avLst/>
          </a:prstGeom>
          <a:ln w="12383">
            <a:solidFill>
              <a:srgbClr val="EA580C"/>
            </a:solidFill>
            <a:prstDash val="solid"/>
          </a:ln>
        </p:spPr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7D97499-1E6F-4A89-BF25-15809BB07695}"/>
              </a:ext>
            </a:extLst>
          </p:cNvPr>
          <p:cNvSpPr>
            <a:spLocks noGrp="1"/>
          </p:cNvSpPr>
          <p:nvPr/>
        </p:nvSpPr>
        <p:spPr>
          <a:xfrm>
            <a:off x="9182100" y="3886200"/>
            <a:ext cx="120967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 / 削除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0BBEC5A-EE83-4271-AF8E-C0F4548E36A7}"/>
              </a:ext>
            </a:extLst>
          </p:cNvPr>
          <p:cNvSpPr>
            <a:spLocks noGrp="1"/>
          </p:cNvSpPr>
          <p:nvPr/>
        </p:nvSpPr>
        <p:spPr>
          <a:xfrm>
            <a:off x="9182100" y="4124325"/>
            <a:ext cx="1209675" cy="1428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コスト管理</a:t>
            </a:r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57D18374-2CCC-45C1-8DB5-79A8E1EE599F}"/>
              </a:ext>
            </a:extLst>
          </p:cNvPr>
          <p:cNvSpPr>
            <a:spLocks noGrp="1"/>
          </p:cNvSpPr>
          <p:nvPr/>
        </p:nvSpPr>
        <p:spPr>
          <a:xfrm>
            <a:off x="5524500" y="3600450"/>
            <a:ext cx="1143000" cy="0"/>
          </a:xfrm>
          <a:prstGeom prst="line">
            <a:avLst/>
          </a:prstGeom>
          <a:ln w="20955">
            <a:solidFill>
              <a:srgbClr val="EA580C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2E6539B-D6CF-497C-B9B7-18F6EB51F34F}"/>
              </a:ext>
            </a:extLst>
          </p:cNvPr>
          <p:cNvSpPr>
            <a:spLocks noGrp="1"/>
          </p:cNvSpPr>
          <p:nvPr/>
        </p:nvSpPr>
        <p:spPr>
          <a:xfrm>
            <a:off x="5286375" y="3333750"/>
            <a:ext cx="1619250" cy="22860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名前 / URL / ID を引き継ぐ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1A125F0-37B1-4335-B8D1-83258E590517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8336924-3BFD-4195-B16D-689B119E682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Web/API/DB と Azure サービス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72A420-136C-47EA-AE7C-079CB37E53A9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07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A139B65-FFDA-4463-954C-EDE0B0BCD9E9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C16045-C7C7-4CB8-813D-BCC174F98B97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3層の役割を、今回の Azure サービスに対応付けます。第5回では主に配置先と接続先を作り、第6回で実アプリのイメージに更新します。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F40286-9AA1-4D6B-91DA-D51097A039F5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7684F1-8D30-43B8-B630-9EFCA45C21FE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役割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55E2A71-0F39-4191-AF1E-053E0F697CA4}"/>
              </a:ext>
            </a:extLst>
          </p:cNvPr>
          <p:cNvSpPr>
            <a:spLocks noGrp="1"/>
          </p:cNvSpPr>
          <p:nvPr/>
        </p:nvSpPr>
        <p:spPr>
          <a:xfrm>
            <a:off x="436562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9DE6E4-CAAD-46F0-A223-20FFAFA939B1}"/>
              </a:ext>
            </a:extLst>
          </p:cNvPr>
          <p:cNvSpPr>
            <a:spLocks noGrp="1"/>
          </p:cNvSpPr>
          <p:nvPr/>
        </p:nvSpPr>
        <p:spPr>
          <a:xfrm>
            <a:off x="446087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Azure サービス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CDE88C4-02DA-4AAD-93FC-1420F9AF6D07}"/>
              </a:ext>
            </a:extLst>
          </p:cNvPr>
          <p:cNvSpPr>
            <a:spLocks noGrp="1"/>
          </p:cNvSpPr>
          <p:nvPr/>
        </p:nvSpPr>
        <p:spPr>
          <a:xfrm>
            <a:off x="78263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13E31EC-19C4-48B5-8C34-390976084626}"/>
              </a:ext>
            </a:extLst>
          </p:cNvPr>
          <p:cNvSpPr>
            <a:spLocks noGrp="1"/>
          </p:cNvSpPr>
          <p:nvPr/>
        </p:nvSpPr>
        <p:spPr>
          <a:xfrm>
            <a:off x="79216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第5回での状態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0B94E76-DE04-43B5-A368-7A04331001D7}"/>
              </a:ext>
            </a:extLst>
          </p:cNvPr>
          <p:cNvSpPr>
            <a:spLocks noGrp="1"/>
          </p:cNvSpPr>
          <p:nvPr/>
        </p:nvSpPr>
        <p:spPr>
          <a:xfrm>
            <a:off x="9048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546397E-FB31-42FE-BECE-95B96B42BCB9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層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F46ED09-232C-4693-A8AB-677A59C5C97B}"/>
              </a:ext>
            </a:extLst>
          </p:cNvPr>
          <p:cNvSpPr>
            <a:spLocks noGrp="1"/>
          </p:cNvSpPr>
          <p:nvPr/>
        </p:nvSpPr>
        <p:spPr>
          <a:xfrm>
            <a:off x="436562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F99AE8A-4CEE-44A2-B573-D771923EA9B1}"/>
              </a:ext>
            </a:extLst>
          </p:cNvPr>
          <p:cNvSpPr>
            <a:spLocks noGrp="1"/>
          </p:cNvSpPr>
          <p:nvPr/>
        </p:nvSpPr>
        <p:spPr>
          <a:xfrm>
            <a:off x="446087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Apps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73BE3D8-10A2-4BB0-B772-C51B6EB9536A}"/>
              </a:ext>
            </a:extLst>
          </p:cNvPr>
          <p:cNvSpPr>
            <a:spLocks noGrp="1"/>
          </p:cNvSpPr>
          <p:nvPr/>
        </p:nvSpPr>
        <p:spPr>
          <a:xfrm>
            <a:off x="78263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E72E755-D3EF-4593-B6EA-9E5DC4B3CBDA}"/>
              </a:ext>
            </a:extLst>
          </p:cNvPr>
          <p:cNvSpPr>
            <a:spLocks noGrp="1"/>
          </p:cNvSpPr>
          <p:nvPr/>
        </p:nvSpPr>
        <p:spPr>
          <a:xfrm>
            <a:off x="79216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プレースホルダー作成、第6回で実イメージへ更新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3711F9E-59C4-4C07-9564-E52D1792DFD2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BC400B9-94FF-467A-90A6-CECA6FE7A1A0}"/>
              </a:ext>
            </a:extLst>
          </p:cNvPr>
          <p:cNvSpPr>
            <a:spLocks noGrp="1"/>
          </p:cNvSpPr>
          <p:nvPr/>
        </p:nvSpPr>
        <p:spPr>
          <a:xfrm>
            <a:off x="10001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層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3A91A3D-1FBC-4ABD-A32B-B26D532E2606}"/>
              </a:ext>
            </a:extLst>
          </p:cNvPr>
          <p:cNvSpPr>
            <a:spLocks noGrp="1"/>
          </p:cNvSpPr>
          <p:nvPr/>
        </p:nvSpPr>
        <p:spPr>
          <a:xfrm>
            <a:off x="436562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478024D-9E36-4D4C-922A-EE5DB02184BC}"/>
              </a:ext>
            </a:extLst>
          </p:cNvPr>
          <p:cNvSpPr>
            <a:spLocks noGrp="1"/>
          </p:cNvSpPr>
          <p:nvPr/>
        </p:nvSpPr>
        <p:spPr>
          <a:xfrm>
            <a:off x="446087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Apps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DAC8AF7-DE17-48B0-85AA-C5F402C71BD1}"/>
              </a:ext>
            </a:extLst>
          </p:cNvPr>
          <p:cNvSpPr>
            <a:spLocks noGrp="1"/>
          </p:cNvSpPr>
          <p:nvPr/>
        </p:nvSpPr>
        <p:spPr>
          <a:xfrm>
            <a:off x="78263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3C07DD-D621-4714-A547-679F14956434}"/>
              </a:ext>
            </a:extLst>
          </p:cNvPr>
          <p:cNvSpPr>
            <a:spLocks noGrp="1"/>
          </p:cNvSpPr>
          <p:nvPr/>
        </p:nvSpPr>
        <p:spPr>
          <a:xfrm>
            <a:off x="79216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プレースホルダー作成、第6回で実イメージへ更新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CE0452A-BF5C-4C9A-B822-FCE208FE8E10}"/>
              </a:ext>
            </a:extLst>
          </p:cNvPr>
          <p:cNvSpPr>
            <a:spLocks noGrp="1"/>
          </p:cNvSpPr>
          <p:nvPr/>
        </p:nvSpPr>
        <p:spPr>
          <a:xfrm>
            <a:off x="9048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E926948-71FA-40C4-AACF-6934A2A7D3C7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層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C758A4F-77DC-4092-BF77-C1F382967298}"/>
              </a:ext>
            </a:extLst>
          </p:cNvPr>
          <p:cNvSpPr>
            <a:spLocks noGrp="1"/>
          </p:cNvSpPr>
          <p:nvPr/>
        </p:nvSpPr>
        <p:spPr>
          <a:xfrm>
            <a:off x="436562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3F68450-0C43-48B9-8A19-397F54C4EA39}"/>
              </a:ext>
            </a:extLst>
          </p:cNvPr>
          <p:cNvSpPr>
            <a:spLocks noGrp="1"/>
          </p:cNvSpPr>
          <p:nvPr/>
        </p:nvSpPr>
        <p:spPr>
          <a:xfrm>
            <a:off x="446087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Database for PostgreSQL Flexible Server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901688-2B14-4FC9-AE78-1388291B9D42}"/>
              </a:ext>
            </a:extLst>
          </p:cNvPr>
          <p:cNvSpPr>
            <a:spLocks noGrp="1"/>
          </p:cNvSpPr>
          <p:nvPr/>
        </p:nvSpPr>
        <p:spPr>
          <a:xfrm>
            <a:off x="78263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CB8C4E9-601B-49B3-8667-85DE1784ED09}"/>
              </a:ext>
            </a:extLst>
          </p:cNvPr>
          <p:cNvSpPr>
            <a:spLocks noGrp="1"/>
          </p:cNvSpPr>
          <p:nvPr/>
        </p:nvSpPr>
        <p:spPr>
          <a:xfrm>
            <a:off x="79216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作成して、最後に停止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B488978-D6D8-47F2-B62F-C4D8EED15956}"/>
              </a:ext>
            </a:extLst>
          </p:cNvPr>
          <p:cNvSpPr>
            <a:spLocks noGrp="1"/>
          </p:cNvSpPr>
          <p:nvPr/>
        </p:nvSpPr>
        <p:spPr>
          <a:xfrm>
            <a:off x="90487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2E44467-1A68-440C-893E-D90BBF0B471C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イメージ保管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E5FAF6D-52DE-48F1-A5B6-51C204EE3D55}"/>
              </a:ext>
            </a:extLst>
          </p:cNvPr>
          <p:cNvSpPr>
            <a:spLocks noGrp="1"/>
          </p:cNvSpPr>
          <p:nvPr/>
        </p:nvSpPr>
        <p:spPr>
          <a:xfrm>
            <a:off x="436562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CD16034-21A9-455E-8BFE-F4B1AC948C62}"/>
              </a:ext>
            </a:extLst>
          </p:cNvPr>
          <p:cNvSpPr>
            <a:spLocks noGrp="1"/>
          </p:cNvSpPr>
          <p:nvPr/>
        </p:nvSpPr>
        <p:spPr>
          <a:xfrm>
            <a:off x="446087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Registry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9F86722-49C4-4004-877C-573BB31DD35C}"/>
              </a:ext>
            </a:extLst>
          </p:cNvPr>
          <p:cNvSpPr>
            <a:spLocks noGrp="1"/>
          </p:cNvSpPr>
          <p:nvPr/>
        </p:nvSpPr>
        <p:spPr>
          <a:xfrm>
            <a:off x="782637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0BF7383-60B5-4EDA-B5E6-61657468E328}"/>
              </a:ext>
            </a:extLst>
          </p:cNvPr>
          <p:cNvSpPr>
            <a:spLocks noGrp="1"/>
          </p:cNvSpPr>
          <p:nvPr/>
        </p:nvSpPr>
        <p:spPr>
          <a:xfrm>
            <a:off x="792162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受講者ごとに作成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DC25F4A-7863-45E3-A542-8D8DC60C91D6}"/>
              </a:ext>
            </a:extLst>
          </p:cNvPr>
          <p:cNvSpPr>
            <a:spLocks noGrp="1"/>
          </p:cNvSpPr>
          <p:nvPr/>
        </p:nvSpPr>
        <p:spPr>
          <a:xfrm>
            <a:off x="90487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223C13E-2B02-4C3D-B317-D4E7DB691375}"/>
              </a:ext>
            </a:extLst>
          </p:cNvPr>
          <p:cNvSpPr>
            <a:spLocks noGrp="1"/>
          </p:cNvSpPr>
          <p:nvPr/>
        </p:nvSpPr>
        <p:spPr>
          <a:xfrm>
            <a:off x="100012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認証/権限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901E4C8-0DFB-45DD-A986-213B38C826E5}"/>
              </a:ext>
            </a:extLst>
          </p:cNvPr>
          <p:cNvSpPr>
            <a:spLocks noGrp="1"/>
          </p:cNvSpPr>
          <p:nvPr/>
        </p:nvSpPr>
        <p:spPr>
          <a:xfrm>
            <a:off x="436562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C1AECE3-784A-49A5-AAA3-5F8810F17640}"/>
              </a:ext>
            </a:extLst>
          </p:cNvPr>
          <p:cNvSpPr>
            <a:spLocks noGrp="1"/>
          </p:cNvSpPr>
          <p:nvPr/>
        </p:nvSpPr>
        <p:spPr>
          <a:xfrm>
            <a:off x="446087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Identity、Entra ID アプリ登録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20550FD-706D-4CDE-B6AF-84AD985AAA63}"/>
              </a:ext>
            </a:extLst>
          </p:cNvPr>
          <p:cNvSpPr>
            <a:spLocks noGrp="1"/>
          </p:cNvSpPr>
          <p:nvPr/>
        </p:nvSpPr>
        <p:spPr>
          <a:xfrm>
            <a:off x="782637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C1304D7-3EB9-487E-AEC3-C50A88F043FC}"/>
              </a:ext>
            </a:extLst>
          </p:cNvPr>
          <p:cNvSpPr>
            <a:spLocks noGrp="1"/>
          </p:cNvSpPr>
          <p:nvPr/>
        </p:nvSpPr>
        <p:spPr>
          <a:xfrm>
            <a:off x="792162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アクセスとサインインの入口を準備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4897601-52AD-49B9-8B96-C7CD68D45915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0A09126-E122-4A85-B2EE-BDE08807C96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DBaaS とは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CD52B1-5813-4CC9-9B83-D6CD9457BDFF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08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33F3F9-C576-4971-B139-7F29FEC96F37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464F63-ECF1-4D20-BE4A-81702AE614FD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DBaaS は、データベースサーバーの基盤運用をクラウドサービスに任せ、利用者はデータ、接続、認証、コスト管理に集中する考え方です。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7FEED3-BCEC-4D77-AC95-57138A758729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E80082-9546-4429-B2FA-8E016B3A8704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F47452C-1C85-4DA4-9001-956CA9772692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Azure に任せる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5A14B93-E93F-47B5-B958-DE3499EB9444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基盤運用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B76F40-7E95-44E9-A007-0DF7E3C2BAC0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物理基盤、マネージド DB 基盤、バックアップ機能、パッチ適用機能などをサービスとして利用します。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207F395-BB52-4BA0-9E91-8A42EB30405F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3F6636A-4B15-4A1B-A2A6-E5DB2E4F6188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2635AA-FA30-480A-A65E-370FC4759BFB}"/>
              </a:ext>
            </a:extLst>
          </p:cNvPr>
          <p:cNvSpPr>
            <a:spLocks noGrp="1"/>
          </p:cNvSpPr>
          <p:nvPr/>
        </p:nvSpPr>
        <p:spPr>
          <a:xfrm>
            <a:off x="629602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利用者が決める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802D5B1-23DD-4C45-B817-6A599DDA6F60}"/>
              </a:ext>
            </a:extLst>
          </p:cNvPr>
          <p:cNvSpPr>
            <a:spLocks noGrp="1"/>
          </p:cNvSpPr>
          <p:nvPr/>
        </p:nvSpPr>
        <p:spPr>
          <a:xfrm>
            <a:off x="629602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使い方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099149-4B1B-4C9A-9E20-81E5DEEE5885}"/>
              </a:ext>
            </a:extLst>
          </p:cNvPr>
          <p:cNvSpPr>
            <a:spLocks noGrp="1"/>
          </p:cNvSpPr>
          <p:nvPr/>
        </p:nvSpPr>
        <p:spPr>
          <a:xfrm>
            <a:off x="629602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データモデル、接続元、認証方式、ネットワーク、権限、停止/削除の判断を行います。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358861F-AF23-4B29-BC20-06773B2BEDFF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02C006C-58E8-472C-BFB4-8D3BA178D87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の役割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A16B1B5-4DE7-4629-B691-B51885C6A382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09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812A00-A418-44D4-8F9B-A1CA2FDE7894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767C131-B119-4577-9EA9-530B1CAF6976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PostgreSQL は、API からの問い合わせに応じて Todo を表として保存し、検索、更新、削除できるリレーショナルデータベースです。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BB4DD0C-0946-4D7F-8CCF-264752489B3C}"/>
              </a:ext>
            </a:extLst>
          </p:cNvPr>
          <p:cNvSpPr>
            <a:spLocks noGrp="1"/>
          </p:cNvSpPr>
          <p:nvPr/>
        </p:nvSpPr>
        <p:spPr>
          <a:xfrm>
            <a:off x="1476375" y="2571750"/>
            <a:ext cx="2774950" cy="1238250"/>
          </a:xfrm>
          <a:prstGeom prst="rect">
            <a:avLst/>
          </a:prstGeom>
          <a:ln w="13335">
            <a:solidFill>
              <a:srgbClr val="2563EB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6AC0845-1B85-4504-8DA9-E58D7A25FB71}"/>
              </a:ext>
            </a:extLst>
          </p:cNvPr>
          <p:cNvSpPr>
            <a:spLocks noGrp="1"/>
          </p:cNvSpPr>
          <p:nvPr/>
        </p:nvSpPr>
        <p:spPr>
          <a:xfrm>
            <a:off x="1590675" y="2686050"/>
            <a:ext cx="285750" cy="285750"/>
          </a:xfrm>
          <a:prstGeom prst="rect">
            <a:avLst/>
          </a:prstGeom>
          <a:ln w="9525">
            <a:solidFill>
              <a:srgbClr val="2563E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C83FC9F-D00A-4A37-A9CC-30E13B4B8F63}"/>
              </a:ext>
            </a:extLst>
          </p:cNvPr>
          <p:cNvSpPr>
            <a:spLocks noGrp="1"/>
          </p:cNvSpPr>
          <p:nvPr/>
        </p:nvSpPr>
        <p:spPr>
          <a:xfrm>
            <a:off x="1952625" y="2743200"/>
            <a:ext cx="2184400" cy="971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から問い合わせ</a:t>
            </a:r>
          </a:p>
        </p:txBody>
      </p:sp>
      <p:sp>
        <p:nvSpPr>
          <p:cNvPr id="8" name="直線コネクタ 7">
            <a:extLst>
              <a:ext uri="{FF2B5EF4-FFF2-40B4-BE49-F238E27FC236}">
                <a16:creationId xmlns:a16="http://schemas.microsoft.com/office/drawing/2014/main" id="{23C85652-B537-40DB-BB75-726EAED02FFA}"/>
              </a:ext>
            </a:extLst>
          </p:cNvPr>
          <p:cNvSpPr>
            <a:spLocks noGrp="1"/>
          </p:cNvSpPr>
          <p:nvPr/>
        </p:nvSpPr>
        <p:spPr>
          <a:xfrm>
            <a:off x="4289425" y="3190875"/>
            <a:ext cx="171450" cy="0"/>
          </a:xfrm>
          <a:prstGeom prst="line">
            <a:avLst/>
          </a:prstGeom>
          <a:ln w="20955">
            <a:solidFill>
              <a:srgbClr val="0F766E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F268A07-D59A-447B-8339-B11A2050A79F}"/>
              </a:ext>
            </a:extLst>
          </p:cNvPr>
          <p:cNvSpPr>
            <a:spLocks noGrp="1"/>
          </p:cNvSpPr>
          <p:nvPr/>
        </p:nvSpPr>
        <p:spPr>
          <a:xfrm>
            <a:off x="4518025" y="2571750"/>
            <a:ext cx="2774950" cy="1238250"/>
          </a:xfrm>
          <a:prstGeom prst="rect">
            <a:avLst/>
          </a:prstGeom>
          <a:ln w="13335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8DEC88-D24A-42BA-8456-9198E68BFF9D}"/>
              </a:ext>
            </a:extLst>
          </p:cNvPr>
          <p:cNvSpPr>
            <a:spLocks noGrp="1"/>
          </p:cNvSpPr>
          <p:nvPr/>
        </p:nvSpPr>
        <p:spPr>
          <a:xfrm>
            <a:off x="4632325" y="2686050"/>
            <a:ext cx="285750" cy="285750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29FCE6D-E0BF-4FEE-BA36-B4F8CE8B5EB8}"/>
              </a:ext>
            </a:extLst>
          </p:cNvPr>
          <p:cNvSpPr>
            <a:spLocks noGrp="1"/>
          </p:cNvSpPr>
          <p:nvPr/>
        </p:nvSpPr>
        <p:spPr>
          <a:xfrm>
            <a:off x="4994275" y="2743200"/>
            <a:ext cx="2184400" cy="971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テーブルに保存</a:t>
            </a:r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C2F074D7-1EED-4250-81C3-536C07A752A3}"/>
              </a:ext>
            </a:extLst>
          </p:cNvPr>
          <p:cNvSpPr>
            <a:spLocks noGrp="1"/>
          </p:cNvSpPr>
          <p:nvPr/>
        </p:nvSpPr>
        <p:spPr>
          <a:xfrm>
            <a:off x="7331075" y="3190875"/>
            <a:ext cx="171450" cy="0"/>
          </a:xfrm>
          <a:prstGeom prst="line">
            <a:avLst/>
          </a:prstGeom>
          <a:ln w="20955">
            <a:solidFill>
              <a:srgbClr val="0F766E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C530A49-A664-4A56-B022-F54ECA652287}"/>
              </a:ext>
            </a:extLst>
          </p:cNvPr>
          <p:cNvSpPr>
            <a:spLocks noGrp="1"/>
          </p:cNvSpPr>
          <p:nvPr/>
        </p:nvSpPr>
        <p:spPr>
          <a:xfrm>
            <a:off x="7559675" y="2571750"/>
            <a:ext cx="2774950" cy="1238250"/>
          </a:xfrm>
          <a:prstGeom prst="rect">
            <a:avLst/>
          </a:prstGeom>
          <a:ln w="13335">
            <a:solidFill>
              <a:srgbClr val="EA580C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72E2524-7B1D-41B6-B205-39222C58A83D}"/>
              </a:ext>
            </a:extLst>
          </p:cNvPr>
          <p:cNvSpPr>
            <a:spLocks noGrp="1"/>
          </p:cNvSpPr>
          <p:nvPr/>
        </p:nvSpPr>
        <p:spPr>
          <a:xfrm>
            <a:off x="7673975" y="2686050"/>
            <a:ext cx="285750" cy="28575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104E08-DF8B-4524-8868-E8AD85A70197}"/>
              </a:ext>
            </a:extLst>
          </p:cNvPr>
          <p:cNvSpPr>
            <a:spLocks noGrp="1"/>
          </p:cNvSpPr>
          <p:nvPr/>
        </p:nvSpPr>
        <p:spPr>
          <a:xfrm>
            <a:off x="8035925" y="2743200"/>
            <a:ext cx="2184400" cy="971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結果を返す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476C416-8AF0-4B2D-A083-A0A58E1F54FF}"/>
              </a:ext>
            </a:extLst>
          </p:cNvPr>
          <p:cNvSpPr>
            <a:spLocks noGrp="1"/>
          </p:cNvSpPr>
          <p:nvPr/>
        </p:nvSpPr>
        <p:spPr>
          <a:xfrm>
            <a:off x="1428750" y="4286250"/>
            <a:ext cx="90487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は Todo の状態を表として保持し、作成・更新・削除の整合性を支えます。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53F4667-EFAC-4B08-ADAE-57E4C97B57C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8D3F989-493B-492E-917E-AED867670E7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Database for PostgreSQL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EB3808-0724-4014-B9EA-014BF94DE0FF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10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333FD05-ECCF-4FA2-9A21-34D92898EE98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113C9A-67E5-49AC-8286-3DDCD394E1E9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Database for PostgreSQL Flexible Server は、PostgreSQL エンジンを Azure のマネージドサービスとして使う選択肢です。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C14CE05-7C6C-42D7-B726-64129B61F5AE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2EDCC8-F058-4FCA-864C-94FE45BC2D65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45E578-9BA5-423F-9D9C-864DA0BEB0A9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Flexible Server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ECE460-53C4-475A-B550-3A368A5FF96B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構成を選ぶ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C5BBA1-1A4B-48A8-BD91-C2A28EF22F3F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リージョン、バージョン、コンピュート、ネットワーク、認証方式を選びます。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E204E9D-CBEB-4DB5-84BF-25589043D49A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FF09FEE-FE61-44CE-8A1F-9979BC130AF9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96EC2D6-9742-4DA2-857F-3623B946E890}"/>
              </a:ext>
            </a:extLst>
          </p:cNvPr>
          <p:cNvSpPr>
            <a:spLocks noGrp="1"/>
          </p:cNvSpPr>
          <p:nvPr/>
        </p:nvSpPr>
        <p:spPr>
          <a:xfrm>
            <a:off x="629602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Operations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E4EF658-AC7F-40D9-8F30-6DC8F29A1B90}"/>
              </a:ext>
            </a:extLst>
          </p:cNvPr>
          <p:cNvSpPr>
            <a:spLocks noGrp="1"/>
          </p:cNvSpPr>
          <p:nvPr/>
        </p:nvSpPr>
        <p:spPr>
          <a:xfrm>
            <a:off x="629602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運用を任せる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31E5CC5-E612-4DC4-83F8-FE3FD0E6B55F}"/>
              </a:ext>
            </a:extLst>
          </p:cNvPr>
          <p:cNvSpPr>
            <a:spLocks noGrp="1"/>
          </p:cNvSpPr>
          <p:nvPr/>
        </p:nvSpPr>
        <p:spPr>
          <a:xfrm>
            <a:off x="629602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バックアップ、パッチ適用、開始/停止などをサービス機能として扱います。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0C2E5ED-A638-4FCF-87CE-335F6EC52C8B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C44DB40-F33B-452A-8CF2-4B7AC2217450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49ED993-4066-4703-B29D-457F96D566A4}"/>
              </a:ext>
            </a:extLst>
          </p:cNvPr>
          <p:cNvSpPr>
            <a:spLocks noGrp="1"/>
          </p:cNvSpPr>
          <p:nvPr/>
        </p:nvSpPr>
        <p:spPr>
          <a:xfrm>
            <a:off x="1133475" y="4095750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Security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34BCF81-D27B-44DA-A2D0-63D7B0C13DF4}"/>
              </a:ext>
            </a:extLst>
          </p:cNvPr>
          <p:cNvSpPr>
            <a:spLocks noGrp="1"/>
          </p:cNvSpPr>
          <p:nvPr/>
        </p:nvSpPr>
        <p:spPr>
          <a:xfrm>
            <a:off x="1133475" y="4324350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接続を制御する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56A23E-D2E8-4E53-9D7F-17B3E3E5C28F}"/>
              </a:ext>
            </a:extLst>
          </p:cNvPr>
          <p:cNvSpPr>
            <a:spLocks noGrp="1"/>
          </p:cNvSpPr>
          <p:nvPr/>
        </p:nvSpPr>
        <p:spPr>
          <a:xfrm>
            <a:off x="1133475" y="4743450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認証方式、管理者、VNet、Private access を手順に合わせて設定します。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28FE23D-4724-4535-8EC5-A51779465608}"/>
              </a:ext>
            </a:extLst>
          </p:cNvPr>
          <p:cNvSpPr>
            <a:spLocks noGrp="1"/>
          </p:cNvSpPr>
          <p:nvPr/>
        </p:nvSpPr>
        <p:spPr>
          <a:xfrm>
            <a:off x="6067425" y="3924300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449D07B-95C9-4220-B10E-F5CA1416C555}"/>
              </a:ext>
            </a:extLst>
          </p:cNvPr>
          <p:cNvSpPr>
            <a:spLocks noGrp="1"/>
          </p:cNvSpPr>
          <p:nvPr/>
        </p:nvSpPr>
        <p:spPr>
          <a:xfrm>
            <a:off x="6067425" y="3924300"/>
            <a:ext cx="76200" cy="1762125"/>
          </a:xfrm>
          <a:prstGeom prst="rect">
            <a:avLst/>
          </a:prstGeom>
          <a:ln w="0">
            <a:solidFill>
              <a:srgbClr val="BE185D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0F49AEB-DF87-4BE9-BCE4-9BB580F391CB}"/>
              </a:ext>
            </a:extLst>
          </p:cNvPr>
          <p:cNvSpPr>
            <a:spLocks noGrp="1"/>
          </p:cNvSpPr>
          <p:nvPr/>
        </p:nvSpPr>
        <p:spPr>
          <a:xfrm>
            <a:off x="6296025" y="4095750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rPr>
              <a:t>Cost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C27B404-6A61-4B63-9BCB-0E31FB183B2A}"/>
              </a:ext>
            </a:extLst>
          </p:cNvPr>
          <p:cNvSpPr>
            <a:spLocks noGrp="1"/>
          </p:cNvSpPr>
          <p:nvPr/>
        </p:nvSpPr>
        <p:spPr>
          <a:xfrm>
            <a:off x="6296025" y="4324350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停止を使う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5BCD6A1-7E6A-49B6-B38C-F655379B0254}"/>
              </a:ext>
            </a:extLst>
          </p:cNvPr>
          <p:cNvSpPr>
            <a:spLocks noGrp="1"/>
          </p:cNvSpPr>
          <p:nvPr/>
        </p:nvSpPr>
        <p:spPr>
          <a:xfrm>
            <a:off x="6296025" y="4743450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第6回まで残すため、削除ではなく Stop してコストを抑えます。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8A8DED7-828F-4685-8C1C-2060A27BF705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51D6FCB-4C99-4D17-AA80-4A546A6837F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停止と削除の違い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CEEF936-7793-4DEF-B5A4-145B37DBBCA1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11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8AC888E-23EE-4BC8-8119-F383F359D2D4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F774FF-B2F1-48D9-B859-5C20C966FC41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第5回の最後はリソースグループを削除しません。第6回で使うため PostgreSQL は残し、コンピュートだけを停止します。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2F08AC-A3CE-423B-B9BE-9A35EAD1ED6E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C4B06F-29DA-45CE-AC19-27C1E4905EF0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25FF9E4-E149-4A9A-AB83-EDCE44A578BA}"/>
              </a:ext>
            </a:extLst>
          </p:cNvPr>
          <p:cNvSpPr>
            <a:spLocks noGrp="1"/>
          </p:cNvSpPr>
          <p:nvPr/>
        </p:nvSpPr>
        <p:spPr>
          <a:xfrm>
            <a:off x="436562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45EB6A7-D1BF-465F-93EC-25D10C6CB946}"/>
              </a:ext>
            </a:extLst>
          </p:cNvPr>
          <p:cNvSpPr>
            <a:spLocks noGrp="1"/>
          </p:cNvSpPr>
          <p:nvPr/>
        </p:nvSpPr>
        <p:spPr>
          <a:xfrm>
            <a:off x="446087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何が起きるか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BA1955F-0CB9-4BFA-BCC2-7E98CA601C46}"/>
              </a:ext>
            </a:extLst>
          </p:cNvPr>
          <p:cNvSpPr>
            <a:spLocks noGrp="1"/>
          </p:cNvSpPr>
          <p:nvPr/>
        </p:nvSpPr>
        <p:spPr>
          <a:xfrm>
            <a:off x="78263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19A9491-793F-4F39-B9F6-4EED1383AA3D}"/>
              </a:ext>
            </a:extLst>
          </p:cNvPr>
          <p:cNvSpPr>
            <a:spLocks noGrp="1"/>
          </p:cNvSpPr>
          <p:nvPr/>
        </p:nvSpPr>
        <p:spPr>
          <a:xfrm>
            <a:off x="79216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第5回での扱い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18C17D6-788E-41C5-B62E-22A37840D8F0}"/>
              </a:ext>
            </a:extLst>
          </p:cNvPr>
          <p:cNvSpPr>
            <a:spLocks noGrp="1"/>
          </p:cNvSpPr>
          <p:nvPr/>
        </p:nvSpPr>
        <p:spPr>
          <a:xfrm>
            <a:off x="9048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2AE6098-4A34-4D87-B4C9-4F382A733C04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Running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B36EC23-B0F9-4E3B-98C1-2AE30D9FFA2C}"/>
              </a:ext>
            </a:extLst>
          </p:cNvPr>
          <p:cNvSpPr>
            <a:spLocks noGrp="1"/>
          </p:cNvSpPr>
          <p:nvPr/>
        </p:nvSpPr>
        <p:spPr>
          <a:xfrm>
            <a:off x="436562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D31CB02-E5E2-4CA9-9E4B-F101C289ADA3}"/>
              </a:ext>
            </a:extLst>
          </p:cNvPr>
          <p:cNvSpPr>
            <a:spLocks noGrp="1"/>
          </p:cNvSpPr>
          <p:nvPr/>
        </p:nvSpPr>
        <p:spPr>
          <a:xfrm>
            <a:off x="446087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が利用可能でコンピュート課金が発生する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42AC45C-CC3F-4B10-9CE6-383AC23E69C2}"/>
              </a:ext>
            </a:extLst>
          </p:cNvPr>
          <p:cNvSpPr>
            <a:spLocks noGrp="1"/>
          </p:cNvSpPr>
          <p:nvPr/>
        </p:nvSpPr>
        <p:spPr>
          <a:xfrm>
            <a:off x="78263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9E3EDF0-98C1-4093-BA7E-DD36A39C65FC}"/>
              </a:ext>
            </a:extLst>
          </p:cNvPr>
          <p:cNvSpPr>
            <a:spLocks noGrp="1"/>
          </p:cNvSpPr>
          <p:nvPr/>
        </p:nvSpPr>
        <p:spPr>
          <a:xfrm>
            <a:off x="79216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ハンズオン中のみ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514E925-C970-4763-B125-B83D7D99E3DD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96F4185-8CCE-4E59-B824-A3E8AA229DBE}"/>
              </a:ext>
            </a:extLst>
          </p:cNvPr>
          <p:cNvSpPr>
            <a:spLocks noGrp="1"/>
          </p:cNvSpPr>
          <p:nvPr/>
        </p:nvSpPr>
        <p:spPr>
          <a:xfrm>
            <a:off x="10001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Stopped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D9CC5DE-1E43-4086-BD59-90A5D80C3322}"/>
              </a:ext>
            </a:extLst>
          </p:cNvPr>
          <p:cNvSpPr>
            <a:spLocks noGrp="1"/>
          </p:cNvSpPr>
          <p:nvPr/>
        </p:nvSpPr>
        <p:spPr>
          <a:xfrm>
            <a:off x="436562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F6D639C-F8BC-4F2D-BEF5-1AE63EB908A1}"/>
              </a:ext>
            </a:extLst>
          </p:cNvPr>
          <p:cNvSpPr>
            <a:spLocks noGrp="1"/>
          </p:cNvSpPr>
          <p:nvPr/>
        </p:nvSpPr>
        <p:spPr>
          <a:xfrm>
            <a:off x="446087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を再開可能な状態で止める。ストレージ課金は残る可能性がある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3492739-DB28-4F72-959D-7DB5BFAA6DEE}"/>
              </a:ext>
            </a:extLst>
          </p:cNvPr>
          <p:cNvSpPr>
            <a:spLocks noGrp="1"/>
          </p:cNvSpPr>
          <p:nvPr/>
        </p:nvSpPr>
        <p:spPr>
          <a:xfrm>
            <a:off x="78263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A5BC997-A7EF-4053-8820-F538AA0CDCC5}"/>
              </a:ext>
            </a:extLst>
          </p:cNvPr>
          <p:cNvSpPr>
            <a:spLocks noGrp="1"/>
          </p:cNvSpPr>
          <p:nvPr/>
        </p:nvSpPr>
        <p:spPr>
          <a:xfrm>
            <a:off x="79216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第5回終了時の状態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8C1EA8D-9411-4F41-AE06-3A3318923A2B}"/>
              </a:ext>
            </a:extLst>
          </p:cNvPr>
          <p:cNvSpPr>
            <a:spLocks noGrp="1"/>
          </p:cNvSpPr>
          <p:nvPr/>
        </p:nvSpPr>
        <p:spPr>
          <a:xfrm>
            <a:off x="9048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AE70968-C660-4BE2-997F-F65FB108ED9D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Deleted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6BA562D-4DBD-4DA1-A9C2-BA99B795EDD9}"/>
              </a:ext>
            </a:extLst>
          </p:cNvPr>
          <p:cNvSpPr>
            <a:spLocks noGrp="1"/>
          </p:cNvSpPr>
          <p:nvPr/>
        </p:nvSpPr>
        <p:spPr>
          <a:xfrm>
            <a:off x="436562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66132F5-4301-4A78-B76D-30EA2C825AA6}"/>
              </a:ext>
            </a:extLst>
          </p:cNvPr>
          <p:cNvSpPr>
            <a:spLocks noGrp="1"/>
          </p:cNvSpPr>
          <p:nvPr/>
        </p:nvSpPr>
        <p:spPr>
          <a:xfrm>
            <a:off x="446087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リソースとデータを削除する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7E03D2F-2F17-4937-99F9-81C6CA7324EC}"/>
              </a:ext>
            </a:extLst>
          </p:cNvPr>
          <p:cNvSpPr>
            <a:spLocks noGrp="1"/>
          </p:cNvSpPr>
          <p:nvPr/>
        </p:nvSpPr>
        <p:spPr>
          <a:xfrm>
            <a:off x="78263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080FD81-185C-40FF-B5CF-295712E7A102}"/>
              </a:ext>
            </a:extLst>
          </p:cNvPr>
          <p:cNvSpPr>
            <a:spLocks noGrp="1"/>
          </p:cNvSpPr>
          <p:nvPr/>
        </p:nvSpPr>
        <p:spPr>
          <a:xfrm>
            <a:off x="79216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第6回前には実行しない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3D8F6F3-9156-4B4A-9462-3A2FE51354A3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6B98EBC-83CA-4C75-A7F8-4863F384D44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Environment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EB4B5C-FC6F-4609-9C81-7D2DBD349E41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12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161C157-5ECF-4CA2-B607-3D1ED35B2AB6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1FACFD-42A8-4C70-9D52-BF262FCBDA45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Environment は、Web と API の Container App を動かす共通の環境です。第5回ではプレースホルダーを作り、第6回で実イメージへ更新します。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0CF065-7E86-473A-A158-9C73E2467294}"/>
              </a:ext>
            </a:extLst>
          </p:cNvPr>
          <p:cNvSpPr>
            <a:spLocks noGrp="1"/>
          </p:cNvSpPr>
          <p:nvPr/>
        </p:nvSpPr>
        <p:spPr>
          <a:xfrm>
            <a:off x="1905000" y="2333625"/>
            <a:ext cx="8382000" cy="2190750"/>
          </a:xfrm>
          <a:prstGeom prst="rect">
            <a:avLst/>
          </a:prstGeom>
          <a:ln w="14288">
            <a:solidFill>
              <a:srgbClr val="2563EB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7BB39E-A447-4857-997A-AF294F3E336B}"/>
              </a:ext>
            </a:extLst>
          </p:cNvPr>
          <p:cNvSpPr>
            <a:spLocks noGrp="1"/>
          </p:cNvSpPr>
          <p:nvPr/>
        </p:nvSpPr>
        <p:spPr>
          <a:xfrm>
            <a:off x="3524250" y="2552700"/>
            <a:ext cx="51435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Container Apps Environment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BD0AFD-2D6A-4493-BE2B-98CE2D8639D7}"/>
              </a:ext>
            </a:extLst>
          </p:cNvPr>
          <p:cNvSpPr>
            <a:spLocks noGrp="1"/>
          </p:cNvSpPr>
          <p:nvPr/>
        </p:nvSpPr>
        <p:spPr>
          <a:xfrm>
            <a:off x="2619375" y="3143250"/>
            <a:ext cx="3143250" cy="1104900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34B6B1-8BF9-447C-ADF4-96C027BD3319}"/>
              </a:ext>
            </a:extLst>
          </p:cNvPr>
          <p:cNvSpPr>
            <a:spLocks noGrp="1"/>
          </p:cNvSpPr>
          <p:nvPr/>
        </p:nvSpPr>
        <p:spPr>
          <a:xfrm>
            <a:off x="2619375" y="3143250"/>
            <a:ext cx="76200" cy="1104900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E721188-FECC-4051-9564-F7715D509132}"/>
              </a:ext>
            </a:extLst>
          </p:cNvPr>
          <p:cNvSpPr>
            <a:spLocks noGrp="1"/>
          </p:cNvSpPr>
          <p:nvPr/>
        </p:nvSpPr>
        <p:spPr>
          <a:xfrm>
            <a:off x="2847975" y="3314700"/>
            <a:ext cx="27622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API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FCF0D6-80BA-407C-A8C8-5588FBC64988}"/>
              </a:ext>
            </a:extLst>
          </p:cNvPr>
          <p:cNvSpPr>
            <a:spLocks noGrp="1"/>
          </p:cNvSpPr>
          <p:nvPr/>
        </p:nvSpPr>
        <p:spPr>
          <a:xfrm>
            <a:off x="2847975" y="3543300"/>
            <a:ext cx="27432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59F7C44-6061-4FEB-9627-1A14F4E8623A}"/>
              </a:ext>
            </a:extLst>
          </p:cNvPr>
          <p:cNvSpPr>
            <a:spLocks noGrp="1"/>
          </p:cNvSpPr>
          <p:nvPr/>
        </p:nvSpPr>
        <p:spPr>
          <a:xfrm>
            <a:off x="2847975" y="3962400"/>
            <a:ext cx="2743200" cy="1524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第5回ではプレースホルダーを作成し、第6回で実イメージへ更新します。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319D9C1-66C7-42DA-AF62-1DF6DC638AED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3143250" cy="1104900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B6F1B35-2E42-4FBF-828D-D663E4762AC8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76200" cy="1104900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D9D8C9F-D633-4383-B23E-77E95B7D77F5}"/>
              </a:ext>
            </a:extLst>
          </p:cNvPr>
          <p:cNvSpPr>
            <a:spLocks noGrp="1"/>
          </p:cNvSpPr>
          <p:nvPr/>
        </p:nvSpPr>
        <p:spPr>
          <a:xfrm>
            <a:off x="6657975" y="3314700"/>
            <a:ext cx="27622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Web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166A8B-91B8-4EB6-A1C7-6D92746333FA}"/>
              </a:ext>
            </a:extLst>
          </p:cNvPr>
          <p:cNvSpPr>
            <a:spLocks noGrp="1"/>
          </p:cNvSpPr>
          <p:nvPr/>
        </p:nvSpPr>
        <p:spPr>
          <a:xfrm>
            <a:off x="6657975" y="3543300"/>
            <a:ext cx="27432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9B0F584-9096-4D42-9BB9-FEA35A8B9627}"/>
              </a:ext>
            </a:extLst>
          </p:cNvPr>
          <p:cNvSpPr>
            <a:spLocks noGrp="1"/>
          </p:cNvSpPr>
          <p:nvPr/>
        </p:nvSpPr>
        <p:spPr>
          <a:xfrm>
            <a:off x="6657975" y="3962400"/>
            <a:ext cx="2743200" cy="1524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同じ Environment に配置し、Web URL を後続設定で使います。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21E66DE-2F6D-4F26-BB87-F1DD0DE171A2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B8B1A6C-14DD-45C0-AD95-ECFD4D89C89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の役割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5CD1C4-2845-479D-99E7-9D9A12239E15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13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C6F06A1-EA89-462C-AA38-10D88C160AB0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A5B401B-F1A3-42CD-A353-FFA83C04F692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第4回では講師共有の ACR からイメージを pull しました。第5回からは受講者ごとの ACR を作り、第6回で GitHub Actions から push 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C7E4799-CE56-460B-8C0B-BA7F187D801C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D2106E1-0272-4400-A5EE-2B15DE99ADF1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62E0C35-E989-4223-A0C8-53CF203AC0C4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第4回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394CE5-C925-4D76-A5A2-AB67362198C5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共有 ACR を参照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06492CD-C1F8-469B-A2F7-8A061FDBFB2B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受講者は講師が準備した NGINX イメージを使うだけでした。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A8E4325-47D0-468B-95F8-2221405D891A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48AE24-23BD-4CDB-9BC0-0005294AE7D4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4189079-C440-4F30-A14A-73C2B742362F}"/>
              </a:ext>
            </a:extLst>
          </p:cNvPr>
          <p:cNvSpPr>
            <a:spLocks noGrp="1"/>
          </p:cNvSpPr>
          <p:nvPr/>
        </p:nvSpPr>
        <p:spPr>
          <a:xfrm>
            <a:off x="629602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第5回から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ED759A8-E1CC-4CBC-B912-FB719C7EFE53}"/>
              </a:ext>
            </a:extLst>
          </p:cNvPr>
          <p:cNvSpPr>
            <a:spLocks noGrp="1"/>
          </p:cNvSpPr>
          <p:nvPr/>
        </p:nvSpPr>
        <p:spPr>
          <a:xfrm>
            <a:off x="629602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個別 ACR を作成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09DA337-024D-4C1D-90BF-C5500E6DCA2C}"/>
              </a:ext>
            </a:extLst>
          </p:cNvPr>
          <p:cNvSpPr>
            <a:spLocks noGrp="1"/>
          </p:cNvSpPr>
          <p:nvPr/>
        </p:nvSpPr>
        <p:spPr>
          <a:xfrm>
            <a:off x="629602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自分の Todo アプリの Web/API イメージを置く場所になります。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B6E6ADA-DEF0-49D8-BCF3-320A80B0EE16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4510E74-18EC-4BE5-A10A-1B9674A8E22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とサブネット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CD9664-DCC4-4A7C-8309-D17895B9DAE5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14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30A922-AAC5-4B58-8CD8-4F25E283577A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FC3E3A-3EAF-4E55-8447-D2761479D86F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アプリ実行環境と DB 接続を安全に整理するため、VNet の中に用途別のサブネットを用意します。詳細なネットワーク設計は第7回で扱います。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0765E3-6B2B-44C8-9EC1-113B8B101FF6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C5863CB-EB34-46CF-A0D3-5D8C3CAE8913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21290C2-0C48-411E-A1AC-4B3A0A312F9D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Container Apps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D994BD-E4CD-487B-B3E2-AFA9F0AC3A64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snet-container-apps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8F5666E-1571-4430-9676-071EF989DBF8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Environment で使う区画です。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5F12129-A830-4A75-9383-6D10A5592C35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726EE5-597D-4715-BC8F-063487660E3A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1DC0C4-5E20-44CB-B40B-78C648DDAEB7}"/>
              </a:ext>
            </a:extLst>
          </p:cNvPr>
          <p:cNvSpPr>
            <a:spLocks noGrp="1"/>
          </p:cNvSpPr>
          <p:nvPr/>
        </p:nvSpPr>
        <p:spPr>
          <a:xfrm>
            <a:off x="45751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Private Endpoint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9D0033D-E2E3-40C2-BAF2-6214F0AD0456}"/>
              </a:ext>
            </a:extLst>
          </p:cNvPr>
          <p:cNvSpPr>
            <a:spLocks noGrp="1"/>
          </p:cNvSpPr>
          <p:nvPr/>
        </p:nvSpPr>
        <p:spPr>
          <a:xfrm>
            <a:off x="45751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snet-private-endpoints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008F61-28D0-47B6-997C-1CD84953D7B1}"/>
              </a:ext>
            </a:extLst>
          </p:cNvPr>
          <p:cNvSpPr>
            <a:spLocks noGrp="1"/>
          </p:cNvSpPr>
          <p:nvPr/>
        </p:nvSpPr>
        <p:spPr>
          <a:xfrm>
            <a:off x="45751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プライベート接続用の区画として整理します。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193C1C8-38B7-4B10-A14B-32FDA2CE0E53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B2CBC82-1B6C-4B2F-9564-82D9255E4316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56C4F6F-02FA-40F8-A8A4-2ADB7D24C869}"/>
              </a:ext>
            </a:extLst>
          </p:cNvPr>
          <p:cNvSpPr>
            <a:spLocks noGrp="1"/>
          </p:cNvSpPr>
          <p:nvPr/>
        </p:nvSpPr>
        <p:spPr>
          <a:xfrm>
            <a:off x="80168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52C7E6-92D3-4094-BFC8-9081F78E875E}"/>
              </a:ext>
            </a:extLst>
          </p:cNvPr>
          <p:cNvSpPr>
            <a:spLocks noGrp="1"/>
          </p:cNvSpPr>
          <p:nvPr/>
        </p:nvSpPr>
        <p:spPr>
          <a:xfrm>
            <a:off x="80168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snet-postgresql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694FB8A-FA1F-4F42-A475-DDEEDC5F9D8A}"/>
              </a:ext>
            </a:extLst>
          </p:cNvPr>
          <p:cNvSpPr>
            <a:spLocks noGrp="1"/>
          </p:cNvSpPr>
          <p:nvPr/>
        </p:nvSpPr>
        <p:spPr>
          <a:xfrm>
            <a:off x="80168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Flexible Server の接続に使います。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38FF8CF-7F83-45F5-84D0-8FD3FD885C8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60B042E-5DC0-4D45-8C19-88763AEA0A5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6364DD-AD1D-4AD8-B1F2-22B114951961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15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BE3E8E5-347B-4FF4-8151-21E479FFE11C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4E4570A-157F-4D86-B551-460C7C47A29A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Managed Identity は、アプリや Azure リソースが秘密情報を直接持たずに Azure 上の権限を使うための ID 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CC312D-8C95-44AB-840B-41ECEE131A7E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DCF7820-2AD5-49BA-96B1-950F77681999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FC8E1D-AF06-4E34-9AB4-3669779267FD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User-assigned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413D2D7-D379-47FB-9690-FA86EB948E64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明示的に作る ID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663AA14-D1CB-4AF9-A863-53A51E40E8FB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本回では受講者ごとに作成し、第6回の DB 接続設定で使います。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ED487AE-1079-42BE-AC27-74E973B7B08F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2436BA-72A4-444D-A14F-E307B8E287F8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6B18A44-4157-42E8-8BF4-892B85158D2D}"/>
              </a:ext>
            </a:extLst>
          </p:cNvPr>
          <p:cNvSpPr>
            <a:spLocks noGrp="1"/>
          </p:cNvSpPr>
          <p:nvPr/>
        </p:nvSpPr>
        <p:spPr>
          <a:xfrm>
            <a:off x="629602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Secretless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1A9566F-6DE0-4B21-AECF-787067CF261A}"/>
              </a:ext>
            </a:extLst>
          </p:cNvPr>
          <p:cNvSpPr>
            <a:spLocks noGrp="1"/>
          </p:cNvSpPr>
          <p:nvPr/>
        </p:nvSpPr>
        <p:spPr>
          <a:xfrm>
            <a:off x="629602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秘密情報を減らす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A69109D-9B55-4EAE-87C9-BE4DABD9F36D}"/>
              </a:ext>
            </a:extLst>
          </p:cNvPr>
          <p:cNvSpPr>
            <a:spLocks noGrp="1"/>
          </p:cNvSpPr>
          <p:nvPr/>
        </p:nvSpPr>
        <p:spPr>
          <a:xfrm>
            <a:off x="629602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接続文字列やパスワードを直接持つ範囲を減らす考え方につながります。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6FD954-2FC7-461E-99DA-AAB86297FEDB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7FB8C4-8CD0-43B6-8148-980DC2FC453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C17EE2-A329-4C56-858A-AD914A7D12F1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16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A82661-847D-4C0E-977D-DC47A1733088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350137F-C66F-4AEF-A035-94A49AB6CCED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サインインでは、Microsoft Entra ID にアプリを登録し、Web Container App の URL を redirect URI として扱います。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5083A3-8C4F-47B2-85EB-F85AB43CC2B4}"/>
              </a:ext>
            </a:extLst>
          </p:cNvPr>
          <p:cNvSpPr>
            <a:spLocks noGrp="1"/>
          </p:cNvSpPr>
          <p:nvPr/>
        </p:nvSpPr>
        <p:spPr>
          <a:xfrm>
            <a:off x="1095375" y="2590800"/>
            <a:ext cx="2252663" cy="1162050"/>
          </a:xfrm>
          <a:prstGeom prst="rect">
            <a:avLst/>
          </a:prstGeom>
          <a:ln w="13335">
            <a:solidFill>
              <a:srgbClr val="2563EB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2134D8-59CF-4D06-AE02-0AE4BF9A6677}"/>
              </a:ext>
            </a:extLst>
          </p:cNvPr>
          <p:cNvSpPr>
            <a:spLocks noGrp="1"/>
          </p:cNvSpPr>
          <p:nvPr/>
        </p:nvSpPr>
        <p:spPr>
          <a:xfrm>
            <a:off x="1209675" y="2705100"/>
            <a:ext cx="285750" cy="285750"/>
          </a:xfrm>
          <a:prstGeom prst="rect">
            <a:avLst/>
          </a:prstGeom>
          <a:ln w="9525">
            <a:solidFill>
              <a:srgbClr val="2563E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298C6A1-0E45-4D1F-9A8E-8076360E307D}"/>
              </a:ext>
            </a:extLst>
          </p:cNvPr>
          <p:cNvSpPr>
            <a:spLocks noGrp="1"/>
          </p:cNvSpPr>
          <p:nvPr/>
        </p:nvSpPr>
        <p:spPr>
          <a:xfrm>
            <a:off x="1571625" y="2762250"/>
            <a:ext cx="1662113" cy="895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8" name="直線コネクタ 7">
            <a:extLst>
              <a:ext uri="{FF2B5EF4-FFF2-40B4-BE49-F238E27FC236}">
                <a16:creationId xmlns:a16="http://schemas.microsoft.com/office/drawing/2014/main" id="{83182AA6-1D7C-432D-828A-7C69E6796F09}"/>
              </a:ext>
            </a:extLst>
          </p:cNvPr>
          <p:cNvSpPr>
            <a:spLocks noGrp="1"/>
          </p:cNvSpPr>
          <p:nvPr/>
        </p:nvSpPr>
        <p:spPr>
          <a:xfrm>
            <a:off x="3386138" y="3171825"/>
            <a:ext cx="171450" cy="0"/>
          </a:xfrm>
          <a:prstGeom prst="line">
            <a:avLst/>
          </a:prstGeom>
          <a:ln w="20955">
            <a:solidFill>
              <a:srgbClr val="7C3AED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DC4CDC-1229-4B17-9D8B-E49C9D8860A5}"/>
              </a:ext>
            </a:extLst>
          </p:cNvPr>
          <p:cNvSpPr>
            <a:spLocks noGrp="1"/>
          </p:cNvSpPr>
          <p:nvPr/>
        </p:nvSpPr>
        <p:spPr>
          <a:xfrm>
            <a:off x="3614738" y="2590800"/>
            <a:ext cx="2252663" cy="1162050"/>
          </a:xfrm>
          <a:prstGeom prst="rect">
            <a:avLst/>
          </a:prstGeom>
          <a:ln w="13335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7B368CF-2748-4AA6-B8F9-2936B28118B5}"/>
              </a:ext>
            </a:extLst>
          </p:cNvPr>
          <p:cNvSpPr>
            <a:spLocks noGrp="1"/>
          </p:cNvSpPr>
          <p:nvPr/>
        </p:nvSpPr>
        <p:spPr>
          <a:xfrm>
            <a:off x="3729038" y="2705100"/>
            <a:ext cx="285750" cy="285750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969F507-2BAA-430E-B3EE-BF5D5511032D}"/>
              </a:ext>
            </a:extLst>
          </p:cNvPr>
          <p:cNvSpPr>
            <a:spLocks noGrp="1"/>
          </p:cNvSpPr>
          <p:nvPr/>
        </p:nvSpPr>
        <p:spPr>
          <a:xfrm>
            <a:off x="4090988" y="2762250"/>
            <a:ext cx="1662113" cy="895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</a:t>
            </a:r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A41F5B45-E5E7-44C8-AF31-7EA7873DD55D}"/>
              </a:ext>
            </a:extLst>
          </p:cNvPr>
          <p:cNvSpPr>
            <a:spLocks noGrp="1"/>
          </p:cNvSpPr>
          <p:nvPr/>
        </p:nvSpPr>
        <p:spPr>
          <a:xfrm>
            <a:off x="5905500" y="3171825"/>
            <a:ext cx="171450" cy="0"/>
          </a:xfrm>
          <a:prstGeom prst="line">
            <a:avLst/>
          </a:prstGeom>
          <a:ln w="20955">
            <a:solidFill>
              <a:srgbClr val="7C3AED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BD1307F-21B7-4682-9B6B-386BF5FF53E5}"/>
              </a:ext>
            </a:extLst>
          </p:cNvPr>
          <p:cNvSpPr>
            <a:spLocks noGrp="1"/>
          </p:cNvSpPr>
          <p:nvPr/>
        </p:nvSpPr>
        <p:spPr>
          <a:xfrm>
            <a:off x="6134100" y="2590800"/>
            <a:ext cx="2252663" cy="1162050"/>
          </a:xfrm>
          <a:prstGeom prst="rect">
            <a:avLst/>
          </a:prstGeom>
          <a:ln w="13335">
            <a:solidFill>
              <a:srgbClr val="EA580C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622B818-CBC1-4F89-A58B-3BD94EFFE9A2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85750" cy="28575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B34EE68-C6B6-4C6F-9EA0-6BC3E7DF6D1F}"/>
              </a:ext>
            </a:extLst>
          </p:cNvPr>
          <p:cNvSpPr>
            <a:spLocks noGrp="1"/>
          </p:cNvSpPr>
          <p:nvPr/>
        </p:nvSpPr>
        <p:spPr>
          <a:xfrm>
            <a:off x="6610350" y="2762250"/>
            <a:ext cx="1662113" cy="895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</a:t>
            </a:r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FD9F3A97-7611-4C4A-9811-69B2D0F01222}"/>
              </a:ext>
            </a:extLst>
          </p:cNvPr>
          <p:cNvSpPr>
            <a:spLocks noGrp="1"/>
          </p:cNvSpPr>
          <p:nvPr/>
        </p:nvSpPr>
        <p:spPr>
          <a:xfrm>
            <a:off x="8424863" y="3171825"/>
            <a:ext cx="171450" cy="0"/>
          </a:xfrm>
          <a:prstGeom prst="line">
            <a:avLst/>
          </a:prstGeom>
          <a:ln w="20955">
            <a:solidFill>
              <a:srgbClr val="7C3AED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9089DE-FDBE-44AE-8968-BA5C253348DB}"/>
              </a:ext>
            </a:extLst>
          </p:cNvPr>
          <p:cNvSpPr>
            <a:spLocks noGrp="1"/>
          </p:cNvSpPr>
          <p:nvPr/>
        </p:nvSpPr>
        <p:spPr>
          <a:xfrm>
            <a:off x="8653463" y="2590800"/>
            <a:ext cx="2252663" cy="1162050"/>
          </a:xfrm>
          <a:prstGeom prst="rect">
            <a:avLst/>
          </a:prstGeom>
          <a:ln w="13335">
            <a:solidFill>
              <a:srgbClr val="15803D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9B12C0C-AB0F-4561-958B-FA16DF920CD7}"/>
              </a:ext>
            </a:extLst>
          </p:cNvPr>
          <p:cNvSpPr>
            <a:spLocks noGrp="1"/>
          </p:cNvSpPr>
          <p:nvPr/>
        </p:nvSpPr>
        <p:spPr>
          <a:xfrm>
            <a:off x="8767763" y="2705100"/>
            <a:ext cx="285750" cy="285750"/>
          </a:xfrm>
          <a:prstGeom prst="rect">
            <a:avLst/>
          </a:prstGeom>
          <a:ln w="9525">
            <a:solidFill>
              <a:srgbClr val="1580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1563E2C-8810-4E35-B3B9-E9A3341BF031}"/>
              </a:ext>
            </a:extLst>
          </p:cNvPr>
          <p:cNvSpPr>
            <a:spLocks noGrp="1"/>
          </p:cNvSpPr>
          <p:nvPr/>
        </p:nvSpPr>
        <p:spPr>
          <a:xfrm>
            <a:off x="9129713" y="2762250"/>
            <a:ext cx="1662113" cy="895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Redirect URI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40547F3-7224-4D34-9202-7CD958211B2C}"/>
              </a:ext>
            </a:extLst>
          </p:cNvPr>
          <p:cNvSpPr>
            <a:spLocks noGrp="1"/>
          </p:cNvSpPr>
          <p:nvPr/>
        </p:nvSpPr>
        <p:spPr>
          <a:xfrm>
            <a:off x="1428750" y="4305300"/>
            <a:ext cx="9048750" cy="400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Application client ID と Tenant ID は第6回で使うため、Web URL とセットで記録します。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D239A2D-7D6F-4214-8DE5-DBA48EFC67B3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5E5F31D-C520-409C-BB46-7AE2F206DAE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秘密情報の扱い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53DEB3-7709-4481-8E0E-DCD2D031749D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17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7212BD-0E5F-4EF2-9CC2-D3F8985F75EF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9CA9C6-ADCE-4045-A822-88D017E07CEA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接続情報の一部は第6回で必要ですが、公開資料やスクリーンショットに残してよい情報とは限りません。記録する値と隠す値を分けます。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F60F15-7022-4300-947D-DEA6E14F8373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56518C-CE2C-46AC-A4EC-D5D73FDF8FA0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A8179A-063D-444F-8E21-432A5FD89822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記録する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0B06879-E26B-4F29-816A-06C6DD8D6DB8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リソース名と URL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A23D6C5-B654-4D43-82FA-4FC47C48A0F3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第6回の入力値として手元メモに整理します。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FDE308-43BD-41DA-B4F8-A91BB344B0C7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6D4227F-3A7A-4531-80A4-9DD43655668B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0428C02-9E34-4B4D-A140-D7D47F76ED21}"/>
              </a:ext>
            </a:extLst>
          </p:cNvPr>
          <p:cNvSpPr>
            <a:spLocks noGrp="1"/>
          </p:cNvSpPr>
          <p:nvPr/>
        </p:nvSpPr>
        <p:spPr>
          <a:xfrm>
            <a:off x="45751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公開時にマスク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6136A81-3041-4499-A3C2-AE39E4941D1A}"/>
              </a:ext>
            </a:extLst>
          </p:cNvPr>
          <p:cNvSpPr>
            <a:spLocks noGrp="1"/>
          </p:cNvSpPr>
          <p:nvPr/>
        </p:nvSpPr>
        <p:spPr>
          <a:xfrm>
            <a:off x="45751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 と FQDN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3F34B5D-88FC-433B-BD62-9EDEDE9335CF}"/>
              </a:ext>
            </a:extLst>
          </p:cNvPr>
          <p:cNvSpPr>
            <a:spLocks noGrp="1"/>
          </p:cNvSpPr>
          <p:nvPr/>
        </p:nvSpPr>
        <p:spPr>
          <a:xfrm>
            <a:off x="45751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Subscription ID、Tenant ID、Client ID、FQDN は公開資料では隠します。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721AD94-8E14-4936-9F6C-EBEB5A75D25B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19AAFB1-E98C-4A7F-9B38-4DF486EF5728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76200" cy="1762125"/>
          </a:xfrm>
          <a:prstGeom prst="rect">
            <a:avLst/>
          </a:prstGeom>
          <a:ln w="0">
            <a:solidFill>
              <a:srgbClr val="BE185D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F76A477-8BA2-4163-9B94-8AEE88ADFE46}"/>
              </a:ext>
            </a:extLst>
          </p:cNvPr>
          <p:cNvSpPr>
            <a:spLocks noGrp="1"/>
          </p:cNvSpPr>
          <p:nvPr/>
        </p:nvSpPr>
        <p:spPr>
          <a:xfrm>
            <a:off x="80168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rPr>
              <a:t>公開しない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5E39E32-2F3E-4437-A68B-3BD2300B2C89}"/>
              </a:ext>
            </a:extLst>
          </p:cNvPr>
          <p:cNvSpPr>
            <a:spLocks noGrp="1"/>
          </p:cNvSpPr>
          <p:nvPr/>
        </p:nvSpPr>
        <p:spPr>
          <a:xfrm>
            <a:off x="80168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Secret と接続文字列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41AD77B-FF6E-42C9-8CFB-151D1474C90C}"/>
              </a:ext>
            </a:extLst>
          </p:cNvPr>
          <p:cNvSpPr>
            <a:spLocks noGrp="1"/>
          </p:cNvSpPr>
          <p:nvPr/>
        </p:nvSpPr>
        <p:spPr>
          <a:xfrm>
            <a:off x="80168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認証情報、client secret、接続文字列は画面共有にも残しません。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34B4EBC-552D-4E9B-A708-EBAE43A97BB9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0F8DE53-2FD3-46EC-A607-1CD98EDA495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ハンズオンで使う値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51D1092-93B6-4939-8216-111981FDDAD0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18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119BC5-C224-4448-AB56-E66A803EF14B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EB3CB3-B877-4391-9F3A-094FA4B50F9A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名前をそろえると、講師が状況を確認しやすく、第6回で variables に入れる値も迷いにくくなります。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19D153-CEA2-454B-9850-36F0BBAD510B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2246A8B-3C5D-4552-9AF8-2ECFF4E41893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910D31C-677F-412A-80A6-5E5ACB95B1CB}"/>
              </a:ext>
            </a:extLst>
          </p:cNvPr>
          <p:cNvSpPr>
            <a:spLocks noGrp="1"/>
          </p:cNvSpPr>
          <p:nvPr/>
        </p:nvSpPr>
        <p:spPr>
          <a:xfrm>
            <a:off x="436562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830A09-EBB9-44B3-8698-C1A58F90FDB1}"/>
              </a:ext>
            </a:extLst>
          </p:cNvPr>
          <p:cNvSpPr>
            <a:spLocks noGrp="1"/>
          </p:cNvSpPr>
          <p:nvPr/>
        </p:nvSpPr>
        <p:spPr>
          <a:xfrm>
            <a:off x="446087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値の例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049C86-A491-45DB-922A-CA14E58F8B61}"/>
              </a:ext>
            </a:extLst>
          </p:cNvPr>
          <p:cNvSpPr>
            <a:spLocks noGrp="1"/>
          </p:cNvSpPr>
          <p:nvPr/>
        </p:nvSpPr>
        <p:spPr>
          <a:xfrm>
            <a:off x="78263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4735CF9-3F38-4208-9187-E7F8C1C8A162}"/>
              </a:ext>
            </a:extLst>
          </p:cNvPr>
          <p:cNvSpPr>
            <a:spLocks noGrp="1"/>
          </p:cNvSpPr>
          <p:nvPr/>
        </p:nvSpPr>
        <p:spPr>
          <a:xfrm>
            <a:off x="79216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注意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0BF78E-AB0A-4F6F-A76D-FE55FD839C21}"/>
              </a:ext>
            </a:extLst>
          </p:cNvPr>
          <p:cNvSpPr>
            <a:spLocks noGrp="1"/>
          </p:cNvSpPr>
          <p:nvPr/>
        </p:nvSpPr>
        <p:spPr>
          <a:xfrm>
            <a:off x="9048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0BA9F12-22D8-44B5-93DC-0A367A999393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1458B78-6F59-4E5E-8935-AA0E9EB66BC5}"/>
              </a:ext>
            </a:extLst>
          </p:cNvPr>
          <p:cNvSpPr>
            <a:spLocks noGrp="1"/>
          </p:cNvSpPr>
          <p:nvPr/>
        </p:nvSpPr>
        <p:spPr>
          <a:xfrm>
            <a:off x="436562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BACBCC3-9841-4E65-8F5A-99A7EA647AAD}"/>
              </a:ext>
            </a:extLst>
          </p:cNvPr>
          <p:cNvSpPr>
            <a:spLocks noGrp="1"/>
          </p:cNvSpPr>
          <p:nvPr/>
        </p:nvSpPr>
        <p:spPr>
          <a:xfrm>
            <a:off x="446087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rg-azbeg-l05-s01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D6C1176-9F6B-490A-9125-11C45694BB2F}"/>
              </a:ext>
            </a:extLst>
          </p:cNvPr>
          <p:cNvSpPr>
            <a:spLocks noGrp="1"/>
          </p:cNvSpPr>
          <p:nvPr/>
        </p:nvSpPr>
        <p:spPr>
          <a:xfrm>
            <a:off x="78263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19EA3BC-900D-4AAC-83CF-7860FA6BA462}"/>
              </a:ext>
            </a:extLst>
          </p:cNvPr>
          <p:cNvSpPr>
            <a:spLocks noGrp="1"/>
          </p:cNvSpPr>
          <p:nvPr/>
        </p:nvSpPr>
        <p:spPr>
          <a:xfrm>
            <a:off x="79216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第6回まで削除しない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C0CE71C-B69C-4FDF-860B-72E45A363188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72EA86D-96A6-4DC4-9C9C-09C83761444D}"/>
              </a:ext>
            </a:extLst>
          </p:cNvPr>
          <p:cNvSpPr>
            <a:spLocks noGrp="1"/>
          </p:cNvSpPr>
          <p:nvPr/>
        </p:nvSpPr>
        <p:spPr>
          <a:xfrm>
            <a:off x="10001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601C6D8-118A-4033-8FB6-B71465BC8C3E}"/>
              </a:ext>
            </a:extLst>
          </p:cNvPr>
          <p:cNvSpPr>
            <a:spLocks noGrp="1"/>
          </p:cNvSpPr>
          <p:nvPr/>
        </p:nvSpPr>
        <p:spPr>
          <a:xfrm>
            <a:off x="436562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3623968-361F-4D87-91CE-88A691C07C8F}"/>
              </a:ext>
            </a:extLst>
          </p:cNvPr>
          <p:cNvSpPr>
            <a:spLocks noGrp="1"/>
          </p:cNvSpPr>
          <p:nvPr/>
        </p:nvSpPr>
        <p:spPr>
          <a:xfrm>
            <a:off x="446087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acrazbegl05s01&lt;接尾辞&gt;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01354B1-EE51-47BC-B3E1-C792323BF69B}"/>
              </a:ext>
            </a:extLst>
          </p:cNvPr>
          <p:cNvSpPr>
            <a:spLocks noGrp="1"/>
          </p:cNvSpPr>
          <p:nvPr/>
        </p:nvSpPr>
        <p:spPr>
          <a:xfrm>
            <a:off x="78263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9455990-A4F4-4D74-B9DF-C20115CEC0A1}"/>
              </a:ext>
            </a:extLst>
          </p:cNvPr>
          <p:cNvSpPr>
            <a:spLocks noGrp="1"/>
          </p:cNvSpPr>
          <p:nvPr/>
        </p:nvSpPr>
        <p:spPr>
          <a:xfrm>
            <a:off x="79216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小文字英数字、グローバル一意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D8E99D8-C082-4079-97A2-A93EAAFC6E28}"/>
              </a:ext>
            </a:extLst>
          </p:cNvPr>
          <p:cNvSpPr>
            <a:spLocks noGrp="1"/>
          </p:cNvSpPr>
          <p:nvPr/>
        </p:nvSpPr>
        <p:spPr>
          <a:xfrm>
            <a:off x="9048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AF59ACF-5413-4F51-AA87-30512A81E5A1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API/Web App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AC2B3EB-4247-4657-873A-EB0F60AA6AD5}"/>
              </a:ext>
            </a:extLst>
          </p:cNvPr>
          <p:cNvSpPr>
            <a:spLocks noGrp="1"/>
          </p:cNvSpPr>
          <p:nvPr/>
        </p:nvSpPr>
        <p:spPr>
          <a:xfrm>
            <a:off x="436562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24ABE99-EC57-4722-8D29-673D4FC3DD90}"/>
              </a:ext>
            </a:extLst>
          </p:cNvPr>
          <p:cNvSpPr>
            <a:spLocks noGrp="1"/>
          </p:cNvSpPr>
          <p:nvPr/>
        </p:nvSpPr>
        <p:spPr>
          <a:xfrm>
            <a:off x="446087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app-todomanagement-api / web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4EA93BB-A360-43EC-994F-A4D147127B66}"/>
              </a:ext>
            </a:extLst>
          </p:cNvPr>
          <p:cNvSpPr>
            <a:spLocks noGrp="1"/>
          </p:cNvSpPr>
          <p:nvPr/>
        </p:nvSpPr>
        <p:spPr>
          <a:xfrm>
            <a:off x="78263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D890D1D-E87B-42B0-B5D5-D9C2654DCEF6}"/>
              </a:ext>
            </a:extLst>
          </p:cNvPr>
          <p:cNvSpPr>
            <a:spLocks noGrp="1"/>
          </p:cNvSpPr>
          <p:nvPr/>
        </p:nvSpPr>
        <p:spPr>
          <a:xfrm>
            <a:off x="79216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同じ Environment に作成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8487B21-1BDB-4BAD-AD2F-99EF18ABF99F}"/>
              </a:ext>
            </a:extLst>
          </p:cNvPr>
          <p:cNvSpPr>
            <a:spLocks noGrp="1"/>
          </p:cNvSpPr>
          <p:nvPr/>
        </p:nvSpPr>
        <p:spPr>
          <a:xfrm>
            <a:off x="90487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4A36826-CE3B-4FE2-BAA7-6C71314C2303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A08724F-6FAD-4DDF-A14D-3D667EE68127}"/>
              </a:ext>
            </a:extLst>
          </p:cNvPr>
          <p:cNvSpPr>
            <a:spLocks noGrp="1"/>
          </p:cNvSpPr>
          <p:nvPr/>
        </p:nvSpPr>
        <p:spPr>
          <a:xfrm>
            <a:off x="436562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C79371E-3C44-4C36-9502-4C934EDA6FD1}"/>
              </a:ext>
            </a:extLst>
          </p:cNvPr>
          <p:cNvSpPr>
            <a:spLocks noGrp="1"/>
          </p:cNvSpPr>
          <p:nvPr/>
        </p:nvSpPr>
        <p:spPr>
          <a:xfrm>
            <a:off x="446087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psql-azbeg-l05-s01-&lt;接尾辞&gt;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EC186D4-E5E8-4D84-B1FB-F9B0F8DBD23C}"/>
              </a:ext>
            </a:extLst>
          </p:cNvPr>
          <p:cNvSpPr>
            <a:spLocks noGrp="1"/>
          </p:cNvSpPr>
          <p:nvPr/>
        </p:nvSpPr>
        <p:spPr>
          <a:xfrm>
            <a:off x="782637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F90C6A8-04EB-4807-9BAA-AA665A7DBB5A}"/>
              </a:ext>
            </a:extLst>
          </p:cNvPr>
          <p:cNvSpPr>
            <a:spLocks noGrp="1"/>
          </p:cNvSpPr>
          <p:nvPr/>
        </p:nvSpPr>
        <p:spPr>
          <a:xfrm>
            <a:off x="792162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最後に Stop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6596268-7A1A-4019-82C5-809319F7171E}"/>
              </a:ext>
            </a:extLst>
          </p:cNvPr>
          <p:cNvSpPr>
            <a:spLocks noGrp="1"/>
          </p:cNvSpPr>
          <p:nvPr/>
        </p:nvSpPr>
        <p:spPr>
          <a:xfrm>
            <a:off x="90487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4AE0091-CB06-4520-8739-8DC3BD3A746A}"/>
              </a:ext>
            </a:extLst>
          </p:cNvPr>
          <p:cNvSpPr>
            <a:spLocks noGrp="1"/>
          </p:cNvSpPr>
          <p:nvPr/>
        </p:nvSpPr>
        <p:spPr>
          <a:xfrm>
            <a:off x="100012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Identity / Entra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D72FF6B-CEB9-48AE-8B34-026453B138AA}"/>
              </a:ext>
            </a:extLst>
          </p:cNvPr>
          <p:cNvSpPr>
            <a:spLocks noGrp="1"/>
          </p:cNvSpPr>
          <p:nvPr/>
        </p:nvSpPr>
        <p:spPr>
          <a:xfrm>
            <a:off x="436562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6784C5F-A970-4FFE-BEFC-A97DF238DFF3}"/>
              </a:ext>
            </a:extLst>
          </p:cNvPr>
          <p:cNvSpPr>
            <a:spLocks noGrp="1"/>
          </p:cNvSpPr>
          <p:nvPr/>
        </p:nvSpPr>
        <p:spPr>
          <a:xfrm>
            <a:off x="446087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id-azbeg-l05-s01 / app-azbeg-l05-s01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0C9579E-E96A-45EC-89F4-B972976FFFB8}"/>
              </a:ext>
            </a:extLst>
          </p:cNvPr>
          <p:cNvSpPr>
            <a:spLocks noGrp="1"/>
          </p:cNvSpPr>
          <p:nvPr/>
        </p:nvSpPr>
        <p:spPr>
          <a:xfrm>
            <a:off x="782637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FE4AF71-390F-4322-8EA6-DDE7DDA84F11}"/>
              </a:ext>
            </a:extLst>
          </p:cNvPr>
          <p:cNvSpPr>
            <a:spLocks noGrp="1"/>
          </p:cNvSpPr>
          <p:nvPr/>
        </p:nvSpPr>
        <p:spPr>
          <a:xfrm>
            <a:off x="792162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Client ID などを記録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DF37527-2B14-4858-BB58-BE2C688DE45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E61C565-F95A-4D84-B552-E03E84D54D8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ハンズオンの流れ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11DF62-2E25-447D-B935-D23748451B37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19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85DA1B7-C3EF-424F-B8C7-E1ADC6EA2A99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2B70EEF-5381-4A5A-8123-6D36E642C7A6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リソースを作成し、値を記録し、最後に PostgreSQL を停止します。作成操作が多いので、今どこを作っているかを図で確認しながら進めます。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69ED20-43DE-4737-A785-D7BFB20A5EDB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2466975" cy="1047750"/>
          </a:xfrm>
          <a:prstGeom prst="rect">
            <a:avLst/>
          </a:prstGeom>
          <a:ln w="13335">
            <a:solidFill>
              <a:srgbClr val="2563EB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F97C6D1-21DD-4500-AEBF-3E4AC5F0B491}"/>
              </a:ext>
            </a:extLst>
          </p:cNvPr>
          <p:cNvSpPr>
            <a:spLocks noGrp="1"/>
          </p:cNvSpPr>
          <p:nvPr/>
        </p:nvSpPr>
        <p:spPr>
          <a:xfrm>
            <a:off x="876300" y="2352675"/>
            <a:ext cx="285750" cy="285750"/>
          </a:xfrm>
          <a:prstGeom prst="rect">
            <a:avLst/>
          </a:prstGeom>
          <a:ln w="9525">
            <a:solidFill>
              <a:srgbClr val="2563E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C81FBA0-2292-4C06-8C48-22FF2C49F511}"/>
              </a:ext>
            </a:extLst>
          </p:cNvPr>
          <p:cNvSpPr>
            <a:spLocks noGrp="1"/>
          </p:cNvSpPr>
          <p:nvPr/>
        </p:nvSpPr>
        <p:spPr>
          <a:xfrm>
            <a:off x="1238250" y="2409825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8" name="直線コネクタ 7">
            <a:extLst>
              <a:ext uri="{FF2B5EF4-FFF2-40B4-BE49-F238E27FC236}">
                <a16:creationId xmlns:a16="http://schemas.microsoft.com/office/drawing/2014/main" id="{3A587079-7E64-4FC7-8459-69DC79E0AEED}"/>
              </a:ext>
            </a:extLst>
          </p:cNvPr>
          <p:cNvSpPr>
            <a:spLocks noGrp="1"/>
          </p:cNvSpPr>
          <p:nvPr/>
        </p:nvSpPr>
        <p:spPr>
          <a:xfrm>
            <a:off x="3267075" y="2762250"/>
            <a:ext cx="17145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54E19BE-F983-49FF-A442-3C1570CF71D0}"/>
              </a:ext>
            </a:extLst>
          </p:cNvPr>
          <p:cNvSpPr>
            <a:spLocks noGrp="1"/>
          </p:cNvSpPr>
          <p:nvPr/>
        </p:nvSpPr>
        <p:spPr>
          <a:xfrm>
            <a:off x="3495675" y="2238375"/>
            <a:ext cx="2466975" cy="1047750"/>
          </a:xfrm>
          <a:prstGeom prst="rect">
            <a:avLst/>
          </a:prstGeom>
          <a:ln w="13335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5613EF-DB99-4898-A6EA-844369338260}"/>
              </a:ext>
            </a:extLst>
          </p:cNvPr>
          <p:cNvSpPr>
            <a:spLocks noGrp="1"/>
          </p:cNvSpPr>
          <p:nvPr/>
        </p:nvSpPr>
        <p:spPr>
          <a:xfrm>
            <a:off x="3609975" y="2352675"/>
            <a:ext cx="285750" cy="285750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E16E89-80EA-4942-9561-93197DF4152E}"/>
              </a:ext>
            </a:extLst>
          </p:cNvPr>
          <p:cNvSpPr>
            <a:spLocks noGrp="1"/>
          </p:cNvSpPr>
          <p:nvPr/>
        </p:nvSpPr>
        <p:spPr>
          <a:xfrm>
            <a:off x="3971925" y="2409825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/ Subnets</a:t>
            </a:r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20FE0624-845D-4301-9011-39AA4F9A0D8D}"/>
              </a:ext>
            </a:extLst>
          </p:cNvPr>
          <p:cNvSpPr>
            <a:spLocks noGrp="1"/>
          </p:cNvSpPr>
          <p:nvPr/>
        </p:nvSpPr>
        <p:spPr>
          <a:xfrm>
            <a:off x="6000750" y="2762250"/>
            <a:ext cx="17145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32D9674-AD7B-4B08-9174-38C6A2A5C8ED}"/>
              </a:ext>
            </a:extLst>
          </p:cNvPr>
          <p:cNvSpPr>
            <a:spLocks noGrp="1"/>
          </p:cNvSpPr>
          <p:nvPr/>
        </p:nvSpPr>
        <p:spPr>
          <a:xfrm>
            <a:off x="6229350" y="2238375"/>
            <a:ext cx="2466975" cy="1047750"/>
          </a:xfrm>
          <a:prstGeom prst="rect">
            <a:avLst/>
          </a:prstGeom>
          <a:ln w="13335">
            <a:solidFill>
              <a:srgbClr val="EA580C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2EA0D80-4561-41A7-86F6-D8A82CED3E2F}"/>
              </a:ext>
            </a:extLst>
          </p:cNvPr>
          <p:cNvSpPr>
            <a:spLocks noGrp="1"/>
          </p:cNvSpPr>
          <p:nvPr/>
        </p:nvSpPr>
        <p:spPr>
          <a:xfrm>
            <a:off x="6343650" y="2352675"/>
            <a:ext cx="285750" cy="28575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7AA041D-2A16-47BD-A95C-E7F6198C4162}"/>
              </a:ext>
            </a:extLst>
          </p:cNvPr>
          <p:cNvSpPr>
            <a:spLocks noGrp="1"/>
          </p:cNvSpPr>
          <p:nvPr/>
        </p:nvSpPr>
        <p:spPr>
          <a:xfrm>
            <a:off x="6705600" y="2409825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6A598710-DE09-4C33-B005-646F241337C9}"/>
              </a:ext>
            </a:extLst>
          </p:cNvPr>
          <p:cNvSpPr>
            <a:spLocks noGrp="1"/>
          </p:cNvSpPr>
          <p:nvPr/>
        </p:nvSpPr>
        <p:spPr>
          <a:xfrm>
            <a:off x="8734425" y="2762250"/>
            <a:ext cx="171450" cy="0"/>
          </a:xfrm>
          <a:prstGeom prst="line">
            <a:avLst/>
          </a:prstGeom>
          <a:ln w="20955">
            <a:solidFill>
              <a:srgbClr val="2563EB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F3F5511-C56B-4462-A4AC-E76D69B7AFD8}"/>
              </a:ext>
            </a:extLst>
          </p:cNvPr>
          <p:cNvSpPr>
            <a:spLocks noGrp="1"/>
          </p:cNvSpPr>
          <p:nvPr/>
        </p:nvSpPr>
        <p:spPr>
          <a:xfrm>
            <a:off x="8963025" y="2238375"/>
            <a:ext cx="2466975" cy="1047750"/>
          </a:xfrm>
          <a:prstGeom prst="rect">
            <a:avLst/>
          </a:prstGeom>
          <a:ln w="13335">
            <a:solidFill>
              <a:srgbClr val="15803D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207D735-2848-40B7-A9F9-41BE0810BFB9}"/>
              </a:ext>
            </a:extLst>
          </p:cNvPr>
          <p:cNvSpPr>
            <a:spLocks noGrp="1"/>
          </p:cNvSpPr>
          <p:nvPr/>
        </p:nvSpPr>
        <p:spPr>
          <a:xfrm>
            <a:off x="9077325" y="2352675"/>
            <a:ext cx="285750" cy="285750"/>
          </a:xfrm>
          <a:prstGeom prst="rect">
            <a:avLst/>
          </a:prstGeom>
          <a:ln w="9525">
            <a:solidFill>
              <a:srgbClr val="1580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01C7678-C8A8-4DD5-9BC1-7DCC8B0A37B3}"/>
              </a:ext>
            </a:extLst>
          </p:cNvPr>
          <p:cNvSpPr>
            <a:spLocks noGrp="1"/>
          </p:cNvSpPr>
          <p:nvPr/>
        </p:nvSpPr>
        <p:spPr>
          <a:xfrm>
            <a:off x="9439275" y="2409825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/ Web Container App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340F892-39CE-440F-814A-11D35CB1BA26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2466975" cy="1047750"/>
          </a:xfrm>
          <a:prstGeom prst="rect">
            <a:avLst/>
          </a:prstGeom>
          <a:ln w="13335">
            <a:solidFill>
              <a:srgbClr val="2563EB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7E6E1EB-72EE-4014-A7CC-E5EBC1C542DE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285750" cy="285750"/>
          </a:xfrm>
          <a:prstGeom prst="rect">
            <a:avLst/>
          </a:prstGeom>
          <a:ln w="9525">
            <a:solidFill>
              <a:srgbClr val="2563E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2D15ED9-A667-48F1-841C-30402423F903}"/>
              </a:ext>
            </a:extLst>
          </p:cNvPr>
          <p:cNvSpPr>
            <a:spLocks noGrp="1"/>
          </p:cNvSpPr>
          <p:nvPr/>
        </p:nvSpPr>
        <p:spPr>
          <a:xfrm>
            <a:off x="1238250" y="4171950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9DEB9173-72C9-44A8-BF52-3B24D0AC8E0D}"/>
              </a:ext>
            </a:extLst>
          </p:cNvPr>
          <p:cNvSpPr>
            <a:spLocks noGrp="1"/>
          </p:cNvSpPr>
          <p:nvPr/>
        </p:nvSpPr>
        <p:spPr>
          <a:xfrm>
            <a:off x="3267075" y="4524375"/>
            <a:ext cx="171450" cy="0"/>
          </a:xfrm>
          <a:prstGeom prst="line">
            <a:avLst/>
          </a:prstGeom>
          <a:ln w="20955">
            <a:solidFill>
              <a:srgbClr val="15803D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325C60B-0F1A-4913-B632-EE13330B725B}"/>
              </a:ext>
            </a:extLst>
          </p:cNvPr>
          <p:cNvSpPr>
            <a:spLocks noGrp="1"/>
          </p:cNvSpPr>
          <p:nvPr/>
        </p:nvSpPr>
        <p:spPr>
          <a:xfrm>
            <a:off x="3495675" y="4000500"/>
            <a:ext cx="2466975" cy="1047750"/>
          </a:xfrm>
          <a:prstGeom prst="rect">
            <a:avLst/>
          </a:prstGeom>
          <a:ln w="13335">
            <a:solidFill>
              <a:srgbClr val="0F766E"/>
            </a:solidFill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D21AB1C-81BF-4CF0-ACB8-737026E084CF}"/>
              </a:ext>
            </a:extLst>
          </p:cNvPr>
          <p:cNvSpPr>
            <a:spLocks noGrp="1"/>
          </p:cNvSpPr>
          <p:nvPr/>
        </p:nvSpPr>
        <p:spPr>
          <a:xfrm>
            <a:off x="3609975" y="4114800"/>
            <a:ext cx="285750" cy="285750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EB36182-1DE6-458A-A39A-F79704E789BF}"/>
              </a:ext>
            </a:extLst>
          </p:cNvPr>
          <p:cNvSpPr>
            <a:spLocks noGrp="1"/>
          </p:cNvSpPr>
          <p:nvPr/>
        </p:nvSpPr>
        <p:spPr>
          <a:xfrm>
            <a:off x="3971925" y="4171950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/ Entra</a:t>
            </a:r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3BD13418-5E6D-4199-9A41-04B3AD3DB266}"/>
              </a:ext>
            </a:extLst>
          </p:cNvPr>
          <p:cNvSpPr>
            <a:spLocks noGrp="1"/>
          </p:cNvSpPr>
          <p:nvPr/>
        </p:nvSpPr>
        <p:spPr>
          <a:xfrm>
            <a:off x="6000750" y="4524375"/>
            <a:ext cx="171450" cy="0"/>
          </a:xfrm>
          <a:prstGeom prst="line">
            <a:avLst/>
          </a:prstGeom>
          <a:ln w="20955">
            <a:solidFill>
              <a:srgbClr val="15803D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52E305C-5657-45A7-9A86-85E8D12A1351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2466975" cy="1047750"/>
          </a:xfrm>
          <a:prstGeom prst="rect">
            <a:avLst/>
          </a:prstGeom>
          <a:ln w="13335">
            <a:solidFill>
              <a:srgbClr val="EA580C"/>
            </a:solidFill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3C7EBAA-C7F2-4290-A48D-0F560C2AF91F}"/>
              </a:ext>
            </a:extLst>
          </p:cNvPr>
          <p:cNvSpPr>
            <a:spLocks noGrp="1"/>
          </p:cNvSpPr>
          <p:nvPr/>
        </p:nvSpPr>
        <p:spPr>
          <a:xfrm>
            <a:off x="6343650" y="4114800"/>
            <a:ext cx="285750" cy="285750"/>
          </a:xfrm>
          <a:prstGeom prst="rect">
            <a:avLst/>
          </a:prstGeom>
          <a:ln w="9525">
            <a:solidFill>
              <a:srgbClr val="EA580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A8C6F25-F730-47EF-BADD-AA706F7ECE1F}"/>
              </a:ext>
            </a:extLst>
          </p:cNvPr>
          <p:cNvSpPr>
            <a:spLocks noGrp="1"/>
          </p:cNvSpPr>
          <p:nvPr/>
        </p:nvSpPr>
        <p:spPr>
          <a:xfrm>
            <a:off x="6705600" y="4171950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接続情報一覧</a:t>
            </a:r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4FAFBABF-7E74-4F2F-988A-F76096BB15F8}"/>
              </a:ext>
            </a:extLst>
          </p:cNvPr>
          <p:cNvSpPr>
            <a:spLocks noGrp="1"/>
          </p:cNvSpPr>
          <p:nvPr/>
        </p:nvSpPr>
        <p:spPr>
          <a:xfrm>
            <a:off x="8734425" y="4524375"/>
            <a:ext cx="171450" cy="0"/>
          </a:xfrm>
          <a:prstGeom prst="line">
            <a:avLst/>
          </a:prstGeom>
          <a:ln w="20955">
            <a:solidFill>
              <a:srgbClr val="15803D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E773904-55BB-4152-856F-08C371553FB3}"/>
              </a:ext>
            </a:extLst>
          </p:cNvPr>
          <p:cNvSpPr>
            <a:spLocks noGrp="1"/>
          </p:cNvSpPr>
          <p:nvPr/>
        </p:nvSpPr>
        <p:spPr>
          <a:xfrm>
            <a:off x="8963025" y="4000500"/>
            <a:ext cx="2466975" cy="1047750"/>
          </a:xfrm>
          <a:prstGeom prst="rect">
            <a:avLst/>
          </a:prstGeom>
          <a:ln w="13335">
            <a:solidFill>
              <a:srgbClr val="15803D"/>
            </a:solidFill>
            <a:prstDash val="solid"/>
          </a:ln>
        </p:spPr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CCBD006-2D70-44F4-99FA-AB906299A28E}"/>
              </a:ext>
            </a:extLst>
          </p:cNvPr>
          <p:cNvSpPr>
            <a:spLocks noGrp="1"/>
          </p:cNvSpPr>
          <p:nvPr/>
        </p:nvSpPr>
        <p:spPr>
          <a:xfrm>
            <a:off x="9077325" y="4114800"/>
            <a:ext cx="285750" cy="285750"/>
          </a:xfrm>
          <a:prstGeom prst="rect">
            <a:avLst/>
          </a:prstGeom>
          <a:ln w="9525">
            <a:solidFill>
              <a:srgbClr val="1580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501E845-8B03-481A-B5EE-AD9C189B46F8}"/>
              </a:ext>
            </a:extLst>
          </p:cNvPr>
          <p:cNvSpPr>
            <a:spLocks noGrp="1"/>
          </p:cNvSpPr>
          <p:nvPr/>
        </p:nvSpPr>
        <p:spPr>
          <a:xfrm>
            <a:off x="9439275" y="4171950"/>
            <a:ext cx="1876425" cy="7810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Stop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E8D6D59A-EEED-4809-BE33-101C93F42402}"/>
              </a:ext>
            </a:extLst>
          </p:cNvPr>
          <p:cNvSpPr>
            <a:spLocks noGrp="1"/>
          </p:cNvSpPr>
          <p:nvPr/>
        </p:nvSpPr>
        <p:spPr>
          <a:xfrm>
            <a:off x="6000750" y="3286125"/>
            <a:ext cx="0" cy="714375"/>
          </a:xfrm>
          <a:prstGeom prst="line">
            <a:avLst/>
          </a:prstGeom>
          <a:ln w="20955">
            <a:solidFill>
              <a:srgbClr val="EA580C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A61900B-B7F1-4334-9BD9-7F90AF555A4C}"/>
              </a:ext>
            </a:extLst>
          </p:cNvPr>
          <p:cNvSpPr>
            <a:spLocks noGrp="1"/>
          </p:cNvSpPr>
          <p:nvPr/>
        </p:nvSpPr>
        <p:spPr>
          <a:xfrm>
            <a:off x="1809750" y="1676400"/>
            <a:ext cx="8572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作成する → 値を記録する → DB を停止して第6回へ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700B334-7634-439A-87D7-29B6FD7AF649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014629F-BB52-4CA0-9797-EE7D31D875A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Portal にサインイン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04EF67-658D-416A-91C0-B61FA326781A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20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4E3070A-42B2-4CDC-AC9A-FEA75A3FFE1F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3642A2-366D-4F65-AB78-00C0FEF4BA75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講師が案内したアカウントで Azure Portal に入り、作業対象のサブスクリプションが見えることを確認します。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DB1929-FE8E-41B3-8BBD-5564D1AB3854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76E9CE1-B514-454B-B55A-E850596D1216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対象サブスクリプションを確認する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C5243D2-7B05-4EF6-A989-7770D3DB3C8C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9CC39EF-6C11-49D7-98FE-BA3C45FFE791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EF459D-98A7-4764-99CA-4A59C15326D0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C6FBC0A-EF99-475C-B53E-DD66BFF00082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サブスクリプション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7704B7C-1CA1-4F95-80F3-9CE1C9DCD986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作業対象のサブスクリプションを確認します。以降のリソースは同じ範囲に作成します。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F139B4-37D8-4F5E-B487-742CCB90ACE0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5C41784-0478-495D-9E2B-3B2C924BF3D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リソースグループを作成する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51D3E3-AFC7-48A3-946D-F9CC9E294129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21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6653C-E516-44D6-B167-D20AFD2C38DC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CF8FA4-7D2C-4D0D-9A2E-4F0C07566537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第5回と第6回で使う Azure リソースは、受講者ごとの同じリソースグループにまとめます。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6136E1-742F-4AB1-B00E-73F2EBC8D61F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9245" y="1828800"/>
            <a:ext cx="5699760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E8C8809-842C-4F9E-B246-D4600299D185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Resource groups から Create を選ぶ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349B1AB-01B1-4EB5-A25B-543F58D877E3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695B7D-55C8-4517-8D32-B3394A1A2826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5545D6-AF2E-433F-A54E-13FEB2F4444E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8E61AE7-F56A-405F-9374-EF16EF6A9A1E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8DFCDDF-C842-4910-9ABC-4328A8271D63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第5回と第6回のリソースを同じグループへまとめます。第5回終了時には削除しません。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D02C647-C99D-44AC-96C5-3F8CE884DCF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D8D6BEC-4B12-4B33-B8A3-A0144FF5449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リソースグループ作成を確認する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6B8ED4-A659-426A-A8A6-1B174AF332A2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22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8101B06-1F86-432A-BF5C-1029202C0B93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FA0E41-C5A0-4ED2-95CC-A823EDAB9EA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作成したリソースグループの Overview を開き、名前、リージョン、これから作るリソースの配置先を確認します。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A03E097-B248-41A7-9DA7-920103F51958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8A5687B-F7D9-42E5-95E1-7478F21639C7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第6回まで削除しない外枠を確認する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0A88AB-48FB-47BD-98A2-FECB75FACA6F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146D396-5D83-42F6-8D0A-0394401177CB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600BE23-B7D0-4C2E-BB00-B03C3AE3C3A7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128BDDE-5931-4C9B-B896-C24CF4AB473C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外枠の確認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D83BCD0-EBDD-4FF0-A0AA-F18AB1689201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Overview で名前と場所を確認し、以降の作成先をそろえます。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42E289C-8BBE-46CE-B5C2-745062874D32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D5096E0-824B-423A-B678-0AD175B02B8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439BD64-F2CC-4D26-818C-E455598C8074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23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C43DFC2-EF2B-473D-89E8-B4E734BC4E60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E683FEC-F24D-437D-A7D3-3A09DFF21EA4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と PostgreSQL の接続を考える土台として、受講者ごとの VNet を作成します。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A7283FF-F4AD-40C4-9333-A02BC452EB9F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9245" y="1828800"/>
            <a:ext cx="5699760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9A1C07A-FF43-4572-86DE-59EBC14F31BB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VNet 名とリージョンを指定する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9E45A4E-61BE-4B4A-89C0-731DD496964D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6013826-CDF7-49DE-9D08-CA343887CA9B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0BCC2DF-D0F6-4F0A-813A-4156C493D922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9667965-F75B-4A05-AD37-06C24DC997E5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6D3ECC5-B351-45B7-9EB9-801BEEDAD107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と PostgreSQL の接続を整理する土台です。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8ADE932-AF49-4838-8F0D-EC1AE24D3B6E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8607D6B-6AD6-4C39-ADD9-4BC9A25D099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サブネットを作成する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79CFBD8-F77D-42F7-9A44-D69067ACE54C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24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2FB74C-559F-4FC9-BBD0-4C30DE92BD41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FF79B1-76C3-4087-B463-5FA7A2B4D42E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Apps、Private Endpoint、PostgreSQL の用途を分けて、後続手順で参照するサブネット名をそろえます。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10DA25-8ACD-4A21-BD00-7C9F99EAC630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957B26B-5246-4197-8246-AEDD1485B672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用途別のサブネットを確認する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2E24AC-3D14-4E25-B39E-7989580B56C7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8AD767C-DE88-4F26-B9FB-93BEC47E0980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7CA0A31-E30A-45D8-AF32-B7E0CA99D40D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B93D02E-92C5-4D67-8733-DC568F885058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Subnet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1912E9-F48B-46AA-A9AA-6BCDE64C2378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用途別サブネット名をそろえ、第7回のネットワーク理解にもつなげます。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9E95BDE-7E06-4961-97E6-5188080403B1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3B69253-A425-4C38-A8C2-35549D15119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774EA8-9A9B-4336-88D0-3AF61B250469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25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DF034B4-6539-45C3-8D00-1366BE5FEB65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7A6F238-D043-4521-9F4A-AACFB704A611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第6回で Web/API のコンテナイメージを push するため、受講者ごとの Azure Container Registry を作成します。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3988162-7DE3-42AB-AE1C-9AD082C34AC1}"/>
              </a:ext>
            </a:extLst>
          </p:cNvPr>
          <p:cNvSpPr>
            <a:spLocks noGrp="1"/>
          </p:cNvSpPr>
          <p:nvPr/>
        </p:nvSpPr>
        <p:spPr>
          <a:xfrm>
            <a:off x="904875" y="1866900"/>
            <a:ext cx="4972050" cy="342900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" y="1981200"/>
            <a:ext cx="4693920" cy="29337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672AC5A-DB50-44BA-B7C4-349EA181A9A4}"/>
              </a:ext>
            </a:extLst>
          </p:cNvPr>
          <p:cNvSpPr>
            <a:spLocks noGrp="1"/>
          </p:cNvSpPr>
          <p:nvPr/>
        </p:nvSpPr>
        <p:spPr>
          <a:xfrm>
            <a:off x="1057275" y="4972050"/>
            <a:ext cx="4667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基本設定を入力する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E489358-981C-48D5-B550-E16EB656F418}"/>
              </a:ext>
            </a:extLst>
          </p:cNvPr>
          <p:cNvSpPr>
            <a:spLocks noGrp="1"/>
          </p:cNvSpPr>
          <p:nvPr/>
        </p:nvSpPr>
        <p:spPr>
          <a:xfrm>
            <a:off x="6334125" y="1866900"/>
            <a:ext cx="4972050" cy="342900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9" name="図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3190" y="1981200"/>
            <a:ext cx="4693920" cy="29337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231A904-6FE1-4047-B1C0-9D1B9360CAB8}"/>
              </a:ext>
            </a:extLst>
          </p:cNvPr>
          <p:cNvSpPr>
            <a:spLocks noGrp="1"/>
          </p:cNvSpPr>
          <p:nvPr/>
        </p:nvSpPr>
        <p:spPr>
          <a:xfrm>
            <a:off x="6486525" y="4972050"/>
            <a:ext cx="4667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ネットワーク設定を確認する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E11238E-F9B4-4518-82B2-AE39FBD438BC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D637FA4-2BD0-41CC-8362-597459D7FCA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の Overview を確認する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4F11A5C-DFCD-43E2-9C6A-B029B6519419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26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78F2290-0FFD-4514-A919-F683A584C324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AB3CF18-06C5-4C47-B1AF-EED114A2EEDB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第6回の GitHub Actions 設定では ACR 名と login server を参照します。画面で確認し、接続情報一覧に記録します。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456376-02EA-421A-98D3-4068BC10EDDB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9245" y="1828800"/>
            <a:ext cx="5699760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7B9316-0D27-476C-9A18-0C6E686DFBA0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 名と login server 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FBFE30-9EBB-4FE7-9400-4E61E07BDC1D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A1EF03-153C-476B-9E79-A30E38ED5946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1D1F55-30CB-42DD-AC7C-B477A6BBD520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FDF0EE7-A654-4FDE-B2D2-AE41CD1FAEF2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の値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0814BC3-D38D-4DAE-942F-7054A82D93E8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Registry name と login server は第6回の GitHub Actions 設定で使います。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5BB399-E74B-423B-983F-A3BD15ECB4CE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3619500" cy="762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BE2E2D5-F685-4EC4-993B-5140D7B5CB5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DD94518-5A0E-4C5B-806A-23A66F13DAE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 と Environment 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647B5F-7A87-4D67-9FF3-EF2B05D56254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27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EB841B3-F5A1-4C23-99A7-F7BC8D871035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996D9CA-31BB-4412-9CE3-6C5DDC8BC603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まず API 側のプレースホルダー Container App を作成し、この操作の中で Container Apps Environment も用意します。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5EC23C-44F4-4850-87D7-77A9D78492BC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3244" y="1828800"/>
            <a:ext cx="2671763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53842B7-ABFC-474D-AEE7-A3FF61E80B39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と実行環境を作成する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0CF6FD-A2D1-4BF9-B38E-C4510675F634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03C5B04-202A-4E35-AA7D-EE363A47A0DD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DAFA13-7489-4CBA-A6E4-519770D9E2E0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1577B3-DA07-414A-9646-6EFE643A9208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と環境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A88BAD-679E-4736-8C31-19589B0F96FE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 作成時に Container Apps Environment も用意します。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02FFC13-D5F9-4DE3-A478-95BE81FA92D5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4791C44-9E8D-487B-959D-A6046F3CF5D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 の URL を記録する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BE85BA-07B1-4AD8-B37A-EF4F3670A33B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28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E3926E1-BBBE-4B59-AD47-4C3E6F6A6458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22AF9BC-9431-41A9-9695-5FE2FABEB7E3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の Application URL は、第6回で Web から API を呼び出す設定に使います。Web URL と取り違えないようにします。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17920B-51A9-44B6-A799-6E05DD371972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5935CF0-4191-402C-A655-D47EA3D08947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Application URL を記録する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E2381A3-1B62-454A-B5B9-478BC071D24D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C78F0D-4A5B-4ACC-8BC2-651668DF7243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D68FB27-3403-4D41-8900-E627BCF3863F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46CDCAD-BF36-46B5-9466-3C54729D6B60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URL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B90B850-EC32-46D0-97D6-F45F48E1E4FF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URL と取り違えないよう、API の Application URL として記録します。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8D32E3A-CF35-4E43-B073-BC8204319AEB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3619500" cy="762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33CFC77-FFA9-4F48-AA76-94C087E246BD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5E2D583-FA2F-497D-A76B-E91AD060CEB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 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3220F5-490B-4181-94B7-4BA32C142B66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29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FC09A83-F3E4-4430-B79C-79F5DC248F48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16AFD1A-2806-4620-9B70-341C9266B76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同じ Container Apps Environment に、Web 側のプレースホルダー Container App を作成します。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760B5E-1033-4492-A51E-5EFDBC7F91F2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3244" y="1828800"/>
            <a:ext cx="2671763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508B37-7B0D-4093-AE48-BBAF85AD353D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Container App を既存 Environment に配置する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323C50-6E11-4E23-A68B-B463278D8399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F51B38E-12BD-47F9-B799-FED390FB46DB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55FF9B-B083-496D-B24F-F2AD456EE332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5D59DDA-BC86-407E-A9E7-FAFA2DCC79D8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App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210B1A4-2CE3-4DE1-9634-758CFCF36606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同じ Environment を選び、Web 側のプレースホルダーを作成します。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FBA458B-3949-408E-B4F2-CBD34A6F16A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C03C899-D115-4CBF-B737-BE8C5E56D61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 の URL を記録する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0DE607-121F-46E0-B501-EB1A533F77E1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30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D40ABB-5B5A-4A9F-9D1C-E8AB8A597F6F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892895-00A6-4C73-B3D9-B128974FF107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URL は利用者がアクセスする入口であり、Entra ID アプリ登録の redirect URI と第6回の variables に使います。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F7E2D7B-F967-4E5F-AA25-EE14360A4DF8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96BB5E-0AAB-4830-BC89-310BDE6DB2E8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Application URL を記録する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06254CA-A2F1-4AD4-9D1B-780E401241D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165D994-3F64-4E2E-83AE-CA8C92E00614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703A85C-8FDF-4F83-984A-6D99802568F6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CCF3153-8943-493A-9CD4-A9EDC441F6A8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URL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A44B3AA-AEA0-40E5-9604-C07034759BCE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利用者入口であり、redirect URI と第6回の variables に使います。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05C4F54-D86A-45DE-866B-1701AA37A3C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3619500" cy="762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1CF322D-C195-4908-88A5-8102FE9E22D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6414905-35FD-4197-988A-B1463CF8338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Flexible Server 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1F26FB-96AA-4171-9C59-DA3B515ED3D5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31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8D6DE3-923C-40FF-9744-43C6ACF170EC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5461D8-5211-4699-B05F-0856B733AE3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データを保存する DB 層として、Azure Database for PostgreSQL Flexible Server を作成します。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BF2F9B-F8F9-417D-9CF7-FB2C0F1AF9D0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9245" y="1828800"/>
            <a:ext cx="5699760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E6C1BD-CB10-4F58-96EA-8372D3106595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サーバー名、リージョン、バージョン、SKU 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ADEC09-29A2-49A6-87AD-1AC71CB06684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5FE0CDF-C231-41FB-B3D2-933FA6219096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19FCA25-288F-4F5E-837E-8FBD8F73C825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DEE3CB-042A-4997-BE77-DC6CC235CE3F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層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95C31D-1288-40F8-8D12-3979B118C4FA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データを保存する PostgreSQL Flexible Server を作成します。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EDCAE4D-2AF9-47B5-9EB0-0FBC3C9AE57D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212532C-3816-49FB-9D08-55D5B41BE9EB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の認証を設定する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244442E-5CA6-4192-80D2-BAB8B6CC8BA6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32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4A59E4C-914E-4D28-BAE8-90BC2860F0E1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F59C07-8BB6-463B-AAAE-F0C78A28EDED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元ガイドに合わせ、Microsoft Entra authentication only など講師検証済みの認証設定を選びます。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AF526AE-4F40-4ABB-8003-68641D30A689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9245" y="1828800"/>
            <a:ext cx="5699760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BA47208-D829-45CB-8E09-B33B9E0ACCE6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認証方式と管理者を確認する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6F55AB1-D337-40DA-BA63-A3193F39409E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5BA359A-E365-4066-8853-852BFC1F69E1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7C3AED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66F187-A8DD-4C7B-A383-7A45A7E57B4F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9760F46-7753-4405-87A6-A4D1BAABECE0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8FFA60F-646F-4AD4-8CF2-2BEA5704B92E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講師検証済みの Entra authentication only 設定を確認します。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67DD060-37D7-4394-A2B3-3837BC675D7C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A81BE58-6F7C-4A6B-B689-0B8B01563DD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のネットワークを設定する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9409760-ED36-4C4A-80DE-4CFC12CFF2FA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33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9DA3BA-06DA-49D5-AC7F-FF4E50E65281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741BFE-4536-48E6-9EB8-99B84517BBCE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から PostgreSQL に接続できるよう、Private access、VNet、Private DNS などの設定を手順に合わせます。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D7B4F7-8CCE-47FA-9D06-D059F7350809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3244" y="1828800"/>
            <a:ext cx="2671763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EB48278-FF24-4E25-BC80-0E4CEE7A98B7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接続方式とサブネットを確認する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7A5A913-B74A-436C-82CB-E74176CB6CFB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DF1F51F-F703-4E7C-92B4-5A51663F56B7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141C58F-EC7A-4F34-89E4-9F8EA54BE615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10EB33-D3B1-43A9-9A81-9991A807D94C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ネットワーク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A8CFF20-C183-4260-924B-9E4F54ADD312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Private access、VNet、Private DNS の選択を手順と照合します。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037EFB2-1634-4530-96CE-EA740974BD6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827A5F8-4AA7-4C07-8100-8727A25D072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の作成内容を確認する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C42527D-6D99-4E91-8382-A1F8309A100E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34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443CC3E-D788-42FE-AEA7-3C6EBD4B6D60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8864C3-A01B-44A9-8D83-CFACF0FD482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作成前に、リージョン、SKU、認証、ネットワークが講師の案内と一致しているか確認します。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EB7276-F651-4BAA-AB3D-3EFC60F51ED0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3244" y="1828800"/>
            <a:ext cx="2671763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5935D90-FE23-40AC-9A68-00AA9E507776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Review + create で検証結果を見る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A0C6394-DFC3-4379-BB56-5564E6358011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D03676-1F2A-4815-9376-C18E68003CA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1286F8-15E8-4472-A333-414211F54A18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7518160-CC91-4F24-B299-29644B8D8F75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Review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C6887F5-B10F-4245-8C02-181FA1CE67F3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作成前にリージョン、SKU、認証、ネットワークを確認します。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379E232-94FD-4FD1-BDB9-BA82316BC9DF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4827DA-A388-4671-A4FE-41CA1E020CB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 Overview を確認する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5EC8C3-82B6-430F-93FC-21CAC0AE6EDA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35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D9CAC88-FA17-4402-A9DD-0167047E6A9E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DB60FC-9551-4306-99B2-1CA5CBF7ED11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作成後にサーバー名、状態、接続に必要な値を確認し、第6回の接続情報一覧に反映します。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89F7A0-8365-42DD-B396-6FE3ED5DB44D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A1F3FD-E0C9-4698-B4B1-E02545624EC4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Status とサーバー情報を確認する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FD27717-2CC4-41D1-9CA0-C6E2EB06A8A5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938BDC4-22AD-4651-A9E7-245235F95E7F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C683669-0351-4D8D-9FF1-ECE29925A624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0CB5E66-D1DE-4453-B646-B8CECB79CE09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情報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B88396F-819F-4690-B23D-F3120EABF3B0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サーバー名、FQDN、Status を第6回用メモに反映します。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B62E41E-9557-4E4A-96F4-E6A2CDA8697F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D23C933-F0D4-4A2E-BE94-2CA2396252A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515CDE4-2347-4FEC-8309-4EEDE817A170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36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8254F6-B8A1-4447-9BFC-8226138A98D1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230BD8-5744-4968-8C65-891776854981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への権限付与と第6回の設定に使う User-assigned Managed Identity を作成します。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CD308C-4556-4E0B-9617-F17527648471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2C790DD-4981-4BD1-BEBE-41B853AF6B2B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User-assigned Managed Identity を作る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BFD858B-E848-4D84-8EE3-53FCB18621DE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E3F0B31-E219-41C2-BB64-B20DF306C48B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7C3AED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7B815B9-7A5E-4131-98CC-80473DE8B284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4B30DF7-1044-4795-A30B-80968698747B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A475F8-3787-4A19-AE5E-1B1E95132C21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権限付与と第6回設定に使う User-assigned identity を作成します。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1B7CC60-D75F-40FC-90F2-67C9D2B86B87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B39992E-8EB9-4126-B03D-72E4925C3BE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の値を記録する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E12DD16-3162-4E6F-9600-C647CE2878C6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37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455DFC-C9C6-41A4-AEA4-64723152B196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65AE1E-DA43-493A-B6DB-D451CBDD0959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Client ID や Resource ID は第6回で variables に使います。公開資料ではマスクしつつ、手元メモには正しく記録します。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0E7297C-028C-4807-B1A9-38391D10C64D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FEED1A2-D98E-426E-8D06-A7A381A73535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Client ID と Resource ID 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132AAF-3ACB-4050-987B-C6C9D28CD888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953669-9C2B-4EB2-A699-0A176E4B76D1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7C3AED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785B986-DC49-4592-8F0A-B37F52C3F502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7F1255-B641-4713-9840-70C799EC8245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Identity の値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EB5E216-AA3F-4AD6-8C59-B0329CC0CCE2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Client ID と Resource ID は手元メモへ。公開資料ではマスクします。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0FB074-5E63-4A9D-B09E-359C237BAC89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3619500" cy="762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579EB93-E1B4-4D28-B090-430A2F6F0246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9BD21C5-66D4-4D64-941C-74DB6B09954B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データベースを作成し権限を付与する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8737320-1F83-4174-AD98-6D7293A8B2F5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38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82E951-37CE-4EDA-927F-62F317ED4516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09F728C-FC61-4D4F-AFDC-54E9FFAB9EFB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アプリ用の DB を作成し、Managed Identity が DB にアクセスできるように権限を付与します。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845913-34E8-4823-BB01-2D8CF87B5132}"/>
              </a:ext>
            </a:extLst>
          </p:cNvPr>
          <p:cNvSpPr>
            <a:spLocks noGrp="1"/>
          </p:cNvSpPr>
          <p:nvPr/>
        </p:nvSpPr>
        <p:spPr>
          <a:xfrm>
            <a:off x="904875" y="1866900"/>
            <a:ext cx="4972050" cy="342900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90763" y="1981200"/>
            <a:ext cx="2200275" cy="29337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7B3F07-68C8-4309-B5CB-1A909B3C015B}"/>
              </a:ext>
            </a:extLst>
          </p:cNvPr>
          <p:cNvSpPr>
            <a:spLocks noGrp="1"/>
          </p:cNvSpPr>
          <p:nvPr/>
        </p:nvSpPr>
        <p:spPr>
          <a:xfrm>
            <a:off x="1057275" y="4972050"/>
            <a:ext cx="4667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用 DB を作成する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94D6882-7390-4B35-B19B-E1895AB65183}"/>
              </a:ext>
            </a:extLst>
          </p:cNvPr>
          <p:cNvSpPr>
            <a:spLocks noGrp="1"/>
          </p:cNvSpPr>
          <p:nvPr/>
        </p:nvSpPr>
        <p:spPr>
          <a:xfrm>
            <a:off x="6334125" y="1866900"/>
            <a:ext cx="4972050" cy="342900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9" name="図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720013" y="1981200"/>
            <a:ext cx="2200275" cy="29337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366236E-C1F5-468D-B3DE-B2644B354C79}"/>
              </a:ext>
            </a:extLst>
          </p:cNvPr>
          <p:cNvSpPr>
            <a:spLocks noGrp="1"/>
          </p:cNvSpPr>
          <p:nvPr/>
        </p:nvSpPr>
        <p:spPr>
          <a:xfrm>
            <a:off x="6486525" y="4972050"/>
            <a:ext cx="4667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Managed Identity に権限を付与する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5B08C7-9D19-4D8A-AFA9-E0E8BA59E7C1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3A71889-04F3-48C5-8CD7-ABB3CB2560E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アプリ登録を作成する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9C9FB3-30C4-48F4-BE0F-B6ACC32B55E3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39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C6D101E-BE6D-400B-BF2C-BAB401F9766A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CA2735-5C44-4D3F-A6AA-792C08F2D75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サインイン用のアプリ登録を作成し、Web Container App URL を SPA redirect URI として設定します。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E36A23-6E49-429D-92A8-92522E507885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9245" y="1828800"/>
            <a:ext cx="5699760" cy="35623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53FEBF2-8159-4574-B284-BCD5E65C07CA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App registration を新規作成する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E8AFC3-629D-49D3-86D7-096642806217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0DF2EDB-F519-4051-9EC4-3AF814E2F397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98C701-41C8-48C1-A840-84A2997AF0E1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6D2F42-8369-426F-A5CF-C14232C2E136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アプリ登録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5F11042-7047-4104-9DF8-7C1302322B92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サインイン用の App registration を作り、Web URL を redirect URI にします。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AFFD8A-FBC3-41A8-8631-57906E26BDFE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9C6E4B-73AC-4F2F-92FE-5CD09CB1B5C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アプリ登録の ID を記録する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9BD29B-D297-480F-A770-30E196C38BAC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40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EC4DBA1-B4AF-4316-B200-00346EA00713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C9A3680-0AF5-416D-9991-8D109AF6C56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Application client ID と Tenant ID は第6回の Web サインイン設定で使います。GitHub Actions 用 Service Principal の ID とは別物です。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3B6BBAC-513A-4096-BF8F-686FB248E8FE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452775-FCD1-405D-A76D-5BA78F518E7B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Client ID と Tenant ID を記録する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42D6E59-56A4-4C2F-B4ED-E618B73E6DF1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07A07A-FDF8-4DE2-9DEE-EA26A74451DD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66407E8-8EC2-495A-80B1-372769A68DC0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F8A0C41-6B87-48DE-A20A-D7822AE2010F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Client ID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EE1B3A-C122-48AE-B7C4-8A4E59352EAE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Application client ID と Tenant ID は GitHub Actions 用 SP の ID とは別物です。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72740F-16CD-427F-AB9F-A35CC60E34D0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3619500" cy="762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3F9F9B7-28D3-4255-B987-53EA793B53C5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0D18725-F4A6-4E94-8D3C-ACC343C7929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接続情報一覧に記録する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2CA6168-AB10-42D8-8D0E-6954B3D2B023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41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CB3834-2ACC-49EA-A768-D027215B6BEA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2A5835-8D78-46A4-AB3A-597FA8D47F03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元ガイドのサマリー項目を見ながら、Resource group、ACR、Web/API URL、PostgreSQL、Identity、Entra ID の値をそろえます。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E1F4F91-F74D-4B03-A65E-B440EEAF4AAD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2EA36-A60C-4CBF-A29A-3C527D574762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第6回に必要な値の一覧を確認する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B727FE-C736-460A-BB4C-EB3EDD9B5CC2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8CBACF-315E-42D6-AF31-2DDF79697BB7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7C7C45-738E-4CCF-B22B-469E38A8B4C1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DD57F82-5838-4D1E-8CFF-02D99D124573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接続情報一覧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68F92BD-83E5-4EEC-A2B0-B7E4E13C0A66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group、ACR、Web/API URL、PostgreSQL、Identity、Entra ID をそろえます。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C172464-7427-4FF4-A673-F866F2E66547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3619500" cy="7620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EDB7960-5725-4F4E-9535-4EB00E8DB40E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1BEEDB1-F893-4061-8818-EE48C99A366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記録すべき値と隠す値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7FFBCBF-A184-4FEF-AE54-4EB0235F4DA5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42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5CFB5D-6D1F-47EE-8573-7BFCB8D4B1A1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E38A96A-41AB-4DF8-87FF-EE42E8E437D5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値を記録することと、公開資料に残すことは別です。第6回で使う値ほど、公開時のマスク対象にもなりやすい点に注意します。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C81AC8-7FDC-42D3-8DC8-34563541F018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D8A057C-E26A-4AF1-B84D-09C2FFCE6376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分類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4DE349E-732E-41B9-919A-DF867EC464F1}"/>
              </a:ext>
            </a:extLst>
          </p:cNvPr>
          <p:cNvSpPr>
            <a:spLocks noGrp="1"/>
          </p:cNvSpPr>
          <p:nvPr/>
        </p:nvSpPr>
        <p:spPr>
          <a:xfrm>
            <a:off x="436562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EBB8A3E-64A3-40BA-8805-525E252DDF72}"/>
              </a:ext>
            </a:extLst>
          </p:cNvPr>
          <p:cNvSpPr>
            <a:spLocks noGrp="1"/>
          </p:cNvSpPr>
          <p:nvPr/>
        </p:nvSpPr>
        <p:spPr>
          <a:xfrm>
            <a:off x="446087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AD1961-4175-4D01-B8F0-0D214597EB2E}"/>
              </a:ext>
            </a:extLst>
          </p:cNvPr>
          <p:cNvSpPr>
            <a:spLocks noGrp="1"/>
          </p:cNvSpPr>
          <p:nvPr/>
        </p:nvSpPr>
        <p:spPr>
          <a:xfrm>
            <a:off x="78263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7262765-92B0-4B29-B4FF-9110612DA225}"/>
              </a:ext>
            </a:extLst>
          </p:cNvPr>
          <p:cNvSpPr>
            <a:spLocks noGrp="1"/>
          </p:cNvSpPr>
          <p:nvPr/>
        </p:nvSpPr>
        <p:spPr>
          <a:xfrm>
            <a:off x="79216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扱い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34B1A33-0AFF-442A-822E-0AFE2166B86C}"/>
              </a:ext>
            </a:extLst>
          </p:cNvPr>
          <p:cNvSpPr>
            <a:spLocks noGrp="1"/>
          </p:cNvSpPr>
          <p:nvPr/>
        </p:nvSpPr>
        <p:spPr>
          <a:xfrm>
            <a:off x="9048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7C12A7A-17D5-4E3C-A1A8-347F64B3D8A5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記録する値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FEEA6D2-7A22-4E3E-B27E-564246B3B1DF}"/>
              </a:ext>
            </a:extLst>
          </p:cNvPr>
          <p:cNvSpPr>
            <a:spLocks noGrp="1"/>
          </p:cNvSpPr>
          <p:nvPr/>
        </p:nvSpPr>
        <p:spPr>
          <a:xfrm>
            <a:off x="436562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6B2E2B-745B-4AAE-9326-643374397ABE}"/>
              </a:ext>
            </a:extLst>
          </p:cNvPr>
          <p:cNvSpPr>
            <a:spLocks noGrp="1"/>
          </p:cNvSpPr>
          <p:nvPr/>
        </p:nvSpPr>
        <p:spPr>
          <a:xfrm>
            <a:off x="446087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group、ACR 名、DB 名、Container Apps Environment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9C93A37-16DD-4A9D-B340-68BDAA8335DF}"/>
              </a:ext>
            </a:extLst>
          </p:cNvPr>
          <p:cNvSpPr>
            <a:spLocks noGrp="1"/>
          </p:cNvSpPr>
          <p:nvPr/>
        </p:nvSpPr>
        <p:spPr>
          <a:xfrm>
            <a:off x="78263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C9B2036-C16C-49C8-AF52-4D3F3946988D}"/>
              </a:ext>
            </a:extLst>
          </p:cNvPr>
          <p:cNvSpPr>
            <a:spLocks noGrp="1"/>
          </p:cNvSpPr>
          <p:nvPr/>
        </p:nvSpPr>
        <p:spPr>
          <a:xfrm>
            <a:off x="79216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第6回用メモに記録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DB6F46E-2C68-40E4-89B5-A8F87F6B8115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E917C67-ADAF-4326-9EE0-39CB70D862FC}"/>
              </a:ext>
            </a:extLst>
          </p:cNvPr>
          <p:cNvSpPr>
            <a:spLocks noGrp="1"/>
          </p:cNvSpPr>
          <p:nvPr/>
        </p:nvSpPr>
        <p:spPr>
          <a:xfrm>
            <a:off x="10001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公開時にマスク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443BF2B-42C0-4048-A9A7-E569DCD337ED}"/>
              </a:ext>
            </a:extLst>
          </p:cNvPr>
          <p:cNvSpPr>
            <a:spLocks noGrp="1"/>
          </p:cNvSpPr>
          <p:nvPr/>
        </p:nvSpPr>
        <p:spPr>
          <a:xfrm>
            <a:off x="436562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D365668-4049-4390-9B6B-4DE4ABFA1DD6}"/>
              </a:ext>
            </a:extLst>
          </p:cNvPr>
          <p:cNvSpPr>
            <a:spLocks noGrp="1"/>
          </p:cNvSpPr>
          <p:nvPr/>
        </p:nvSpPr>
        <p:spPr>
          <a:xfrm>
            <a:off x="446087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Subscription ID、Tenant ID、Client ID、FQDN、URL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3EE189-615A-4F8F-AED1-983EA5B49997}"/>
              </a:ext>
            </a:extLst>
          </p:cNvPr>
          <p:cNvSpPr>
            <a:spLocks noGrp="1"/>
          </p:cNvSpPr>
          <p:nvPr/>
        </p:nvSpPr>
        <p:spPr>
          <a:xfrm>
            <a:off x="78263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23BA3E2-0321-48E0-989C-FD491E801619}"/>
              </a:ext>
            </a:extLst>
          </p:cNvPr>
          <p:cNvSpPr>
            <a:spLocks noGrp="1"/>
          </p:cNvSpPr>
          <p:nvPr/>
        </p:nvSpPr>
        <p:spPr>
          <a:xfrm>
            <a:off x="79216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スクリーンショットでは隠す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D8F1F1B-FAF3-4DBF-9AF7-7A8A71392C13}"/>
              </a:ext>
            </a:extLst>
          </p:cNvPr>
          <p:cNvSpPr>
            <a:spLocks noGrp="1"/>
          </p:cNvSpPr>
          <p:nvPr/>
        </p:nvSpPr>
        <p:spPr>
          <a:xfrm>
            <a:off x="9048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FE4CEA0-23EA-4D93-AFC2-717900BCB5BE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公開しない値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F590864-6CCC-45BE-A0AF-631CF06DD0DC}"/>
              </a:ext>
            </a:extLst>
          </p:cNvPr>
          <p:cNvSpPr>
            <a:spLocks noGrp="1"/>
          </p:cNvSpPr>
          <p:nvPr/>
        </p:nvSpPr>
        <p:spPr>
          <a:xfrm>
            <a:off x="436562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8F301FF-E3E9-4B39-BA21-8BAC401C3CBA}"/>
              </a:ext>
            </a:extLst>
          </p:cNvPr>
          <p:cNvSpPr>
            <a:spLocks noGrp="1"/>
          </p:cNvSpPr>
          <p:nvPr/>
        </p:nvSpPr>
        <p:spPr>
          <a:xfrm>
            <a:off x="446087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接続文字列、認証情報、Service Principal の secret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C052946-7527-4234-9611-89505EF2ABD5}"/>
              </a:ext>
            </a:extLst>
          </p:cNvPr>
          <p:cNvSpPr>
            <a:spLocks noGrp="1"/>
          </p:cNvSpPr>
          <p:nvPr/>
        </p:nvSpPr>
        <p:spPr>
          <a:xfrm>
            <a:off x="78263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C2FA86E-3398-48F0-B90F-C99FEF74BB4D}"/>
              </a:ext>
            </a:extLst>
          </p:cNvPr>
          <p:cNvSpPr>
            <a:spLocks noGrp="1"/>
          </p:cNvSpPr>
          <p:nvPr/>
        </p:nvSpPr>
        <p:spPr>
          <a:xfrm>
            <a:off x="79216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画面共有にも残さない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E9E98E1-95E8-42D9-B2E1-CE02D58217A5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4FB2341-45F1-4E26-AEBC-31D87B193AC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作成済みリソースを確認する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811B592-8BFC-4C75-8E52-07D6CE511ED9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43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18EDB6-CC53-4328-8142-62E02E32BBAD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AC864B7-960B-472D-B448-B811036B249C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リソースグループ内に、VNet、ACR、API/Web Container App、Container Apps Environment、PostgreSQL、Managed Identity がそろっているか確認します。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4A2D63-AABA-4698-B153-6B0B5E58FAEE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0957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0086DE4-6544-435C-93B0-26DFC3364BE8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第5回で作成したリソースを一覧で見る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51778E-0E4D-454A-9D8B-837CC90CF4A8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19526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2EC1A50-7154-4CF2-A8B7-42D532F33103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76200" cy="19526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81C7CB-3F7C-42A9-85FE-A0776D1B2699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75B521-9DD2-4561-9CB9-103544CFFFCB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作成済み確認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4C890B1-8CFF-4477-B537-585E2B91C8A8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必要なリソースが同じ Resource group にそろっているか確認します。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2D7C155-44C7-4CAA-A914-B2FD477BCB6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97892FC-F5E8-471A-808D-769C30CA167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第5回終了時点のアーキテクチャ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A1B7D4-5465-4B2B-A827-613C51CBF98D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44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76EBE05-1613-4004-9028-78435DC67E73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732448-5A7B-42A4-A8D9-FD8B7973B1A2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まだ実アプリのコンテナイメージは動いていませんが、デプロイ先、DB、認証、権限、記録すべき値がそろいました。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8A6C4E-3239-4422-BA13-B1FEE7DF2B31}"/>
              </a:ext>
            </a:extLst>
          </p:cNvPr>
          <p:cNvSpPr>
            <a:spLocks noGrp="1"/>
          </p:cNvSpPr>
          <p:nvPr/>
        </p:nvSpPr>
        <p:spPr>
          <a:xfrm>
            <a:off x="2238375" y="1619250"/>
            <a:ext cx="771525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第5回の完了条件は「土台作成」と「値の記録」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1305ED-FC42-4A7E-ACAF-AC7F133ACDC9}"/>
              </a:ext>
            </a:extLst>
          </p:cNvPr>
          <p:cNvSpPr>
            <a:spLocks noGrp="1"/>
          </p:cNvSpPr>
          <p:nvPr/>
        </p:nvSpPr>
        <p:spPr>
          <a:xfrm>
            <a:off x="1190625" y="2238375"/>
            <a:ext cx="6381750" cy="2809875"/>
          </a:xfrm>
          <a:prstGeom prst="rect">
            <a:avLst/>
          </a:prstGeom>
          <a:ln w="14288">
            <a:solidFill>
              <a:srgbClr val="15803D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6C5DA52-1635-4ABC-A83E-769927E259C1}"/>
              </a:ext>
            </a:extLst>
          </p:cNvPr>
          <p:cNvSpPr>
            <a:spLocks noGrp="1"/>
          </p:cNvSpPr>
          <p:nvPr/>
        </p:nvSpPr>
        <p:spPr>
          <a:xfrm>
            <a:off x="7905750" y="2238375"/>
            <a:ext cx="3095625" cy="2809875"/>
          </a:xfrm>
          <a:prstGeom prst="rect">
            <a:avLst/>
          </a:prstGeom>
          <a:ln w="14288">
            <a:solidFill>
              <a:srgbClr val="EA580C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598B7E0-4B49-45F5-B31F-349F6462589F}"/>
              </a:ext>
            </a:extLst>
          </p:cNvPr>
          <p:cNvSpPr>
            <a:spLocks noGrp="1"/>
          </p:cNvSpPr>
          <p:nvPr/>
        </p:nvSpPr>
        <p:spPr>
          <a:xfrm>
            <a:off x="1524000" y="2428875"/>
            <a:ext cx="2857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第5回で作成済み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AA22BE5-021F-4731-97F4-1CE62675EA99}"/>
              </a:ext>
            </a:extLst>
          </p:cNvPr>
          <p:cNvSpPr>
            <a:spLocks noGrp="1"/>
          </p:cNvSpPr>
          <p:nvPr/>
        </p:nvSpPr>
        <p:spPr>
          <a:xfrm>
            <a:off x="8239125" y="24288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第6回で更新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4DF715-19B1-4B7B-86B0-734680E047C4}"/>
              </a:ext>
            </a:extLst>
          </p:cNvPr>
          <p:cNvSpPr>
            <a:spLocks noGrp="1"/>
          </p:cNvSpPr>
          <p:nvPr/>
        </p:nvSpPr>
        <p:spPr>
          <a:xfrm>
            <a:off x="1666875" y="2857500"/>
            <a:ext cx="2143125" cy="47625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F412620-4CE3-40AC-9C36-86A78E86BC6F}"/>
              </a:ext>
            </a:extLst>
          </p:cNvPr>
          <p:cNvSpPr>
            <a:spLocks noGrp="1"/>
          </p:cNvSpPr>
          <p:nvPr/>
        </p:nvSpPr>
        <p:spPr>
          <a:xfrm>
            <a:off x="1800225" y="2943225"/>
            <a:ext cx="187642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5BBE7A5-69C4-48EA-8BFE-F2D6B85A8D8E}"/>
              </a:ext>
            </a:extLst>
          </p:cNvPr>
          <p:cNvSpPr>
            <a:spLocks noGrp="1"/>
          </p:cNvSpPr>
          <p:nvPr/>
        </p:nvSpPr>
        <p:spPr>
          <a:xfrm>
            <a:off x="1800225" y="3181350"/>
            <a:ext cx="1876425" cy="1047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残す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3F3763A-DADC-4BA0-AB75-26B79D940DAC}"/>
              </a:ext>
            </a:extLst>
          </p:cNvPr>
          <p:cNvSpPr>
            <a:spLocks noGrp="1"/>
          </p:cNvSpPr>
          <p:nvPr/>
        </p:nvSpPr>
        <p:spPr>
          <a:xfrm>
            <a:off x="4524375" y="2857500"/>
            <a:ext cx="2143125" cy="476250"/>
          </a:xfrm>
          <a:prstGeom prst="rect">
            <a:avLst/>
          </a:prstGeom>
          <a:ln w="12383">
            <a:solidFill>
              <a:srgbClr val="0F766E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A4B4D5-64EA-4442-89B8-6374B086CB5D}"/>
              </a:ext>
            </a:extLst>
          </p:cNvPr>
          <p:cNvSpPr>
            <a:spLocks noGrp="1"/>
          </p:cNvSpPr>
          <p:nvPr/>
        </p:nvSpPr>
        <p:spPr>
          <a:xfrm>
            <a:off x="4657725" y="2943225"/>
            <a:ext cx="187642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/ Subnets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7BAFB2F-48AA-4D3C-9A0B-D4A53DDE97F7}"/>
              </a:ext>
            </a:extLst>
          </p:cNvPr>
          <p:cNvSpPr>
            <a:spLocks noGrp="1"/>
          </p:cNvSpPr>
          <p:nvPr/>
        </p:nvSpPr>
        <p:spPr>
          <a:xfrm>
            <a:off x="4657725" y="3181350"/>
            <a:ext cx="1876425" cy="1047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接続先として参照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84E7A55-47EA-4A49-9D41-F345CF376328}"/>
              </a:ext>
            </a:extLst>
          </p:cNvPr>
          <p:cNvSpPr>
            <a:spLocks noGrp="1"/>
          </p:cNvSpPr>
          <p:nvPr/>
        </p:nvSpPr>
        <p:spPr>
          <a:xfrm>
            <a:off x="1666875" y="3495675"/>
            <a:ext cx="2143125" cy="476250"/>
          </a:xfrm>
          <a:prstGeom prst="rect">
            <a:avLst/>
          </a:prstGeom>
          <a:ln w="12383">
            <a:solidFill>
              <a:srgbClr val="EA580C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9AD06CA-1D65-41AA-98BC-2EFD3153F23A}"/>
              </a:ext>
            </a:extLst>
          </p:cNvPr>
          <p:cNvSpPr>
            <a:spLocks noGrp="1"/>
          </p:cNvSpPr>
          <p:nvPr/>
        </p:nvSpPr>
        <p:spPr>
          <a:xfrm>
            <a:off x="1800225" y="3581400"/>
            <a:ext cx="187642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5228EA2-5662-453B-A7E9-6FD323A3ED82}"/>
              </a:ext>
            </a:extLst>
          </p:cNvPr>
          <p:cNvSpPr>
            <a:spLocks noGrp="1"/>
          </p:cNvSpPr>
          <p:nvPr/>
        </p:nvSpPr>
        <p:spPr>
          <a:xfrm>
            <a:off x="1800225" y="3819525"/>
            <a:ext cx="1876425" cy="1047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push 先として利用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B161C7C-71B1-4850-860E-E2A7B1639E4A}"/>
              </a:ext>
            </a:extLst>
          </p:cNvPr>
          <p:cNvSpPr>
            <a:spLocks noGrp="1"/>
          </p:cNvSpPr>
          <p:nvPr/>
        </p:nvSpPr>
        <p:spPr>
          <a:xfrm>
            <a:off x="4524375" y="3495675"/>
            <a:ext cx="2143125" cy="476250"/>
          </a:xfrm>
          <a:prstGeom prst="rect">
            <a:avLst/>
          </a:prstGeom>
          <a:ln w="12383">
            <a:solidFill>
              <a:srgbClr val="BE185D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CD70FBD-93C5-4AE8-A720-42E2F0591BD0}"/>
              </a:ext>
            </a:extLst>
          </p:cNvPr>
          <p:cNvSpPr>
            <a:spLocks noGrp="1"/>
          </p:cNvSpPr>
          <p:nvPr/>
        </p:nvSpPr>
        <p:spPr>
          <a:xfrm>
            <a:off x="4657725" y="3581400"/>
            <a:ext cx="187642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64C577-B226-4B1A-8B10-4D59B8C7D1CE}"/>
              </a:ext>
            </a:extLst>
          </p:cNvPr>
          <p:cNvSpPr>
            <a:spLocks noGrp="1"/>
          </p:cNvSpPr>
          <p:nvPr/>
        </p:nvSpPr>
        <p:spPr>
          <a:xfrm>
            <a:off x="4657725" y="3819525"/>
            <a:ext cx="1876425" cy="1047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 して引き継ぐ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52ECB3B-5599-4E3A-A287-FB45148FFFDB}"/>
              </a:ext>
            </a:extLst>
          </p:cNvPr>
          <p:cNvSpPr>
            <a:spLocks noGrp="1"/>
          </p:cNvSpPr>
          <p:nvPr/>
        </p:nvSpPr>
        <p:spPr>
          <a:xfrm>
            <a:off x="1666875" y="4133850"/>
            <a:ext cx="2143125" cy="476250"/>
          </a:xfrm>
          <a:prstGeom prst="rect">
            <a:avLst/>
          </a:prstGeom>
          <a:ln w="12383">
            <a:solidFill>
              <a:srgbClr val="7C3AED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6651E2D-3064-403C-B863-77072178A406}"/>
              </a:ext>
            </a:extLst>
          </p:cNvPr>
          <p:cNvSpPr>
            <a:spLocks noGrp="1"/>
          </p:cNvSpPr>
          <p:nvPr/>
        </p:nvSpPr>
        <p:spPr>
          <a:xfrm>
            <a:off x="1800225" y="4219575"/>
            <a:ext cx="187642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/ Entra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96D9673-6AD9-482B-80D3-B08E29E46EFB}"/>
              </a:ext>
            </a:extLst>
          </p:cNvPr>
          <p:cNvSpPr>
            <a:spLocks noGrp="1"/>
          </p:cNvSpPr>
          <p:nvPr/>
        </p:nvSpPr>
        <p:spPr>
          <a:xfrm>
            <a:off x="1800225" y="4457700"/>
            <a:ext cx="1876425" cy="1047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 を記録済み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C4568F9-914C-4852-894A-CFBDAA87BA6A}"/>
              </a:ext>
            </a:extLst>
          </p:cNvPr>
          <p:cNvSpPr>
            <a:spLocks noGrp="1"/>
          </p:cNvSpPr>
          <p:nvPr/>
        </p:nvSpPr>
        <p:spPr>
          <a:xfrm>
            <a:off x="4524375" y="4133850"/>
            <a:ext cx="2143125" cy="476250"/>
          </a:xfrm>
          <a:prstGeom prst="rect">
            <a:avLst/>
          </a:prstGeom>
          <a:ln w="12383">
            <a:solidFill>
              <a:srgbClr val="15803D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47FC6ED-6259-40CE-A030-B1A4616B1368}"/>
              </a:ext>
            </a:extLst>
          </p:cNvPr>
          <p:cNvSpPr>
            <a:spLocks noGrp="1"/>
          </p:cNvSpPr>
          <p:nvPr/>
        </p:nvSpPr>
        <p:spPr>
          <a:xfrm>
            <a:off x="4657725" y="4219575"/>
            <a:ext cx="1876425" cy="2095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/ Web Container App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52B57A1-9A04-4EC5-9E30-A48A4D0EA8A5}"/>
              </a:ext>
            </a:extLst>
          </p:cNvPr>
          <p:cNvSpPr>
            <a:spLocks noGrp="1"/>
          </p:cNvSpPr>
          <p:nvPr/>
        </p:nvSpPr>
        <p:spPr>
          <a:xfrm>
            <a:off x="4657725" y="4457700"/>
            <a:ext cx="1876425" cy="1047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プレースホルダー作成済み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AA11107-AFB1-4471-B718-05F4C7C95C66}"/>
              </a:ext>
            </a:extLst>
          </p:cNvPr>
          <p:cNvSpPr>
            <a:spLocks noGrp="1"/>
          </p:cNvSpPr>
          <p:nvPr/>
        </p:nvSpPr>
        <p:spPr>
          <a:xfrm>
            <a:off x="8477250" y="3000375"/>
            <a:ext cx="1952625" cy="628650"/>
          </a:xfrm>
          <a:prstGeom prst="rect">
            <a:avLst/>
          </a:prstGeom>
          <a:ln w="12383">
            <a:solidFill>
              <a:srgbClr val="7C3AED"/>
            </a:solidFill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44C000C-F69A-4F02-9CCD-058BE47B5219}"/>
              </a:ext>
            </a:extLst>
          </p:cNvPr>
          <p:cNvSpPr>
            <a:spLocks noGrp="1"/>
          </p:cNvSpPr>
          <p:nvPr/>
        </p:nvSpPr>
        <p:spPr>
          <a:xfrm>
            <a:off x="8610600" y="3124200"/>
            <a:ext cx="1685925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A60401E-A6B0-40BF-A5AB-E1538DFFC7E4}"/>
              </a:ext>
            </a:extLst>
          </p:cNvPr>
          <p:cNvSpPr>
            <a:spLocks noGrp="1"/>
          </p:cNvSpPr>
          <p:nvPr/>
        </p:nvSpPr>
        <p:spPr>
          <a:xfrm>
            <a:off x="8610600" y="3438525"/>
            <a:ext cx="1685925" cy="1428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build / push / deploy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0DA70A4-DB5C-4C4B-B2F9-AB8524B9EB4A}"/>
              </a:ext>
            </a:extLst>
          </p:cNvPr>
          <p:cNvSpPr>
            <a:spLocks noGrp="1"/>
          </p:cNvSpPr>
          <p:nvPr/>
        </p:nvSpPr>
        <p:spPr>
          <a:xfrm>
            <a:off x="8477250" y="4000500"/>
            <a:ext cx="1952625" cy="628650"/>
          </a:xfrm>
          <a:prstGeom prst="rect">
            <a:avLst/>
          </a:prstGeom>
          <a:ln w="12383">
            <a:solidFill>
              <a:srgbClr val="2563EB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FE4D282-EE09-4CB0-8AA6-333F74D79AA0}"/>
              </a:ext>
            </a:extLst>
          </p:cNvPr>
          <p:cNvSpPr>
            <a:spLocks noGrp="1"/>
          </p:cNvSpPr>
          <p:nvPr/>
        </p:nvSpPr>
        <p:spPr>
          <a:xfrm>
            <a:off x="8610600" y="4124325"/>
            <a:ext cx="1685925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/ API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7A64A52-4FF2-46E5-93E8-DE1E47CF6BB9}"/>
              </a:ext>
            </a:extLst>
          </p:cNvPr>
          <p:cNvSpPr>
            <a:spLocks noGrp="1"/>
          </p:cNvSpPr>
          <p:nvPr/>
        </p:nvSpPr>
        <p:spPr>
          <a:xfrm>
            <a:off x="8610600" y="4438650"/>
            <a:ext cx="1685925" cy="1428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実イメージへ更新</a:t>
            </a:r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72B50F52-9A61-448C-9E92-DCDF354E7DD4}"/>
              </a:ext>
            </a:extLst>
          </p:cNvPr>
          <p:cNvSpPr>
            <a:spLocks noGrp="1"/>
          </p:cNvSpPr>
          <p:nvPr/>
        </p:nvSpPr>
        <p:spPr>
          <a:xfrm>
            <a:off x="7572375" y="3638550"/>
            <a:ext cx="904875" cy="0"/>
          </a:xfrm>
          <a:prstGeom prst="line">
            <a:avLst/>
          </a:prstGeom>
          <a:ln w="20955">
            <a:solidFill>
              <a:srgbClr val="EA580C"/>
            </a:solidFill>
            <a:prstDash val="solid"/>
          </a:ln>
        </p:spPr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A10D3BD3-E59A-4D25-BA98-028E1F237624}"/>
              </a:ext>
            </a:extLst>
          </p:cNvPr>
          <p:cNvSpPr>
            <a:spLocks noGrp="1"/>
          </p:cNvSpPr>
          <p:nvPr/>
        </p:nvSpPr>
        <p:spPr>
          <a:xfrm>
            <a:off x="7572375" y="4210050"/>
            <a:ext cx="904875" cy="95250"/>
          </a:xfrm>
          <a:prstGeom prst="line">
            <a:avLst/>
          </a:prstGeom>
          <a:ln w="20955">
            <a:solidFill>
              <a:srgbClr val="EA580C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D2944FA-ADC1-4FB7-98E4-C7F1CD389527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9657BBF-5351-4ACE-8FFE-4BAA38CEB07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を停止する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09A786-5B97-430F-8A1C-7535ACEA059B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45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CEDBC55-0E4D-4FE1-AEAE-23A68F5EBE2D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BF2443-CC52-4B3D-BE87-35436F33DFFC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28700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第6回までリソースは残しますが、DB のコンピュート課金を抑えるため PostgreSQL Flexible Server を Stop 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43BB82-6EEE-4C91-BB23-7BE1BDB7C1C5}"/>
              </a:ext>
            </a:extLst>
          </p:cNvPr>
          <p:cNvSpPr>
            <a:spLocks noGrp="1"/>
          </p:cNvSpPr>
          <p:nvPr/>
        </p:nvSpPr>
        <p:spPr>
          <a:xfrm>
            <a:off x="904875" y="1866900"/>
            <a:ext cx="4972050" cy="342900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" y="1981200"/>
            <a:ext cx="4693920" cy="29337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A8DB2A-B9A5-404B-BB16-93737F2D507F}"/>
              </a:ext>
            </a:extLst>
          </p:cNvPr>
          <p:cNvSpPr>
            <a:spLocks noGrp="1"/>
          </p:cNvSpPr>
          <p:nvPr/>
        </p:nvSpPr>
        <p:spPr>
          <a:xfrm>
            <a:off x="1057275" y="4972050"/>
            <a:ext cx="4667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 操作を実行する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AF59771-3DD5-46F4-81A0-8A1BB7D28FEF}"/>
              </a:ext>
            </a:extLst>
          </p:cNvPr>
          <p:cNvSpPr>
            <a:spLocks noGrp="1"/>
          </p:cNvSpPr>
          <p:nvPr/>
        </p:nvSpPr>
        <p:spPr>
          <a:xfrm>
            <a:off x="6334125" y="1866900"/>
            <a:ext cx="4972050" cy="342900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</p:sp>
      <p:pic>
        <p:nvPicPr>
          <p:cNvPr id="9" name="図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3190" y="1981200"/>
            <a:ext cx="4693920" cy="29337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F8AFE41-1939-4E73-BCCE-84A1EB12F4FB}"/>
              </a:ext>
            </a:extLst>
          </p:cNvPr>
          <p:cNvSpPr>
            <a:spLocks noGrp="1"/>
          </p:cNvSpPr>
          <p:nvPr/>
        </p:nvSpPr>
        <p:spPr>
          <a:xfrm>
            <a:off x="6486525" y="4972050"/>
            <a:ext cx="466725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Stopped 状態を確認する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07A7F1E-6870-452F-8F69-6DDF1DB9A9BF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1A8200E-B252-4DB3-9D6A-BBFA6D376E5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停止後の課金注意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D35792-ABB9-4DE7-943E-D1FA33F2ACB0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46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34302C-771D-4038-80CB-94DE25248B88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89C2612-7A81-4F1A-BDE7-6E205F350560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 は削除ではありません。コンピュート課金を抑える目的で使いますが、ストレージなどの課金が残る可能性はあります。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A49866-8365-41AB-89D5-AF0B2E9D6B5B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03506A-BCAF-4638-B00D-11C53A9D1D58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CB6FA0-CB98-45D2-86A0-98561E0F0078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Running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35D8EF-022B-4D39-A3E6-C6283A935706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ハンズオン中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E031B9A-4525-4CEF-8A0E-42C8B6599729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利用可能な状態で、コンピュート課金が発生します。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AB834BD-5A03-4D59-A8CC-FC5CC67EBEC2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5C47E9F-4456-456F-BF65-D2D7BD018AA9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76200" cy="17621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42288F-11C6-4D97-B8A8-2B29E91EC700}"/>
              </a:ext>
            </a:extLst>
          </p:cNvPr>
          <p:cNvSpPr>
            <a:spLocks noGrp="1"/>
          </p:cNvSpPr>
          <p:nvPr/>
        </p:nvSpPr>
        <p:spPr>
          <a:xfrm>
            <a:off x="45751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Stopped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9E1568-5482-4EAB-AE8D-0D031DB435F9}"/>
              </a:ext>
            </a:extLst>
          </p:cNvPr>
          <p:cNvSpPr>
            <a:spLocks noGrp="1"/>
          </p:cNvSpPr>
          <p:nvPr/>
        </p:nvSpPr>
        <p:spPr>
          <a:xfrm>
            <a:off x="45751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第6回まで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AAD8722-0538-4647-BA44-F82DA2FFEE67}"/>
              </a:ext>
            </a:extLst>
          </p:cNvPr>
          <p:cNvSpPr>
            <a:spLocks noGrp="1"/>
          </p:cNvSpPr>
          <p:nvPr/>
        </p:nvSpPr>
        <p:spPr>
          <a:xfrm>
            <a:off x="45751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再開可能な状態で止め、コンピュート課金を抑えます。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10E74C1-091D-42F1-BC10-7B419967C611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F1BFCE-92E5-4B40-BDAF-54F374DD3B84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76200" cy="1762125"/>
          </a:xfrm>
          <a:prstGeom prst="rect">
            <a:avLst/>
          </a:prstGeom>
          <a:ln w="0">
            <a:solidFill>
              <a:srgbClr val="BE185D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E651FB1-5468-4BCE-91A7-33B8D561F4FA}"/>
              </a:ext>
            </a:extLst>
          </p:cNvPr>
          <p:cNvSpPr>
            <a:spLocks noGrp="1"/>
          </p:cNvSpPr>
          <p:nvPr/>
        </p:nvSpPr>
        <p:spPr>
          <a:xfrm>
            <a:off x="80168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rPr>
              <a:t>Deleted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50DFDE6-97D3-4F39-9776-E420378CBF25}"/>
              </a:ext>
            </a:extLst>
          </p:cNvPr>
          <p:cNvSpPr>
            <a:spLocks noGrp="1"/>
          </p:cNvSpPr>
          <p:nvPr/>
        </p:nvSpPr>
        <p:spPr>
          <a:xfrm>
            <a:off x="80168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第6回後に判断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8080818-DA69-4F14-ACB8-D9E29526BA3E}"/>
              </a:ext>
            </a:extLst>
          </p:cNvPr>
          <p:cNvSpPr>
            <a:spLocks noGrp="1"/>
          </p:cNvSpPr>
          <p:nvPr/>
        </p:nvSpPr>
        <p:spPr>
          <a:xfrm>
            <a:off x="80168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不要ならリソースグループや外部資格情報も整理します。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4461557-A96A-4C93-81A3-F1E668FF1712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89B3015-75B2-4785-B1BE-332E4914FE3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よくある失敗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4C71A3C-2DD1-4E0F-A6C8-06A12AFC6084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47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C0B4457-304C-4608-8E1C-147FB06D4127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BE66981-A161-4F55-B942-ACFBAFE72D95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操作量が多い回なので、名前、権限、ネットワーク、接続情報、停止忘れを短時間で確認できるようにします。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7A87CE-D057-4E5F-A9A8-5462B158EA39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B2DEB51-B646-4930-A5FF-C6BFA1E4144E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失敗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D0F6B3-B43A-4AAF-BBDC-F78747DEE213}"/>
              </a:ext>
            </a:extLst>
          </p:cNvPr>
          <p:cNvSpPr>
            <a:spLocks noGrp="1"/>
          </p:cNvSpPr>
          <p:nvPr/>
        </p:nvSpPr>
        <p:spPr>
          <a:xfrm>
            <a:off x="436562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555FBBC-2476-4443-94B9-908CB12DD1E7}"/>
              </a:ext>
            </a:extLst>
          </p:cNvPr>
          <p:cNvSpPr>
            <a:spLocks noGrp="1"/>
          </p:cNvSpPr>
          <p:nvPr/>
        </p:nvSpPr>
        <p:spPr>
          <a:xfrm>
            <a:off x="446087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症状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62E65C-4A02-4226-A0F3-9C190AB0FCEC}"/>
              </a:ext>
            </a:extLst>
          </p:cNvPr>
          <p:cNvSpPr>
            <a:spLocks noGrp="1"/>
          </p:cNvSpPr>
          <p:nvPr/>
        </p:nvSpPr>
        <p:spPr>
          <a:xfrm>
            <a:off x="7826375" y="1809750"/>
            <a:ext cx="3460750" cy="609600"/>
          </a:xfrm>
          <a:prstGeom prst="rect">
            <a:avLst/>
          </a:prstGeom>
          <a:ln w="9525">
            <a:solidFill>
              <a:srgbClr val="C8D7EF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3B98866-76D8-4886-A9DD-0BA6BF01671A}"/>
              </a:ext>
            </a:extLst>
          </p:cNvPr>
          <p:cNvSpPr>
            <a:spLocks noGrp="1"/>
          </p:cNvSpPr>
          <p:nvPr/>
        </p:nvSpPr>
        <p:spPr>
          <a:xfrm>
            <a:off x="7921625" y="1924050"/>
            <a:ext cx="3270250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確認箇所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DE6E89F-3D42-4782-BD61-A3ED44B9E808}"/>
              </a:ext>
            </a:extLst>
          </p:cNvPr>
          <p:cNvSpPr>
            <a:spLocks noGrp="1"/>
          </p:cNvSpPr>
          <p:nvPr/>
        </p:nvSpPr>
        <p:spPr>
          <a:xfrm>
            <a:off x="9048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BA72802-0423-485A-9601-21F08E4F015F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名前重複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2887004-8F8D-42C1-9E38-24750C2793D5}"/>
              </a:ext>
            </a:extLst>
          </p:cNvPr>
          <p:cNvSpPr>
            <a:spLocks noGrp="1"/>
          </p:cNvSpPr>
          <p:nvPr/>
        </p:nvSpPr>
        <p:spPr>
          <a:xfrm>
            <a:off x="436562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FA25396-9667-4A84-80BE-3E8C20F15C76}"/>
              </a:ext>
            </a:extLst>
          </p:cNvPr>
          <p:cNvSpPr>
            <a:spLocks noGrp="1"/>
          </p:cNvSpPr>
          <p:nvPr/>
        </p:nvSpPr>
        <p:spPr>
          <a:xfrm>
            <a:off x="446087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や PostgreSQL 作成に失敗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FBF4231-767E-422C-AD73-BC958F467F6E}"/>
              </a:ext>
            </a:extLst>
          </p:cNvPr>
          <p:cNvSpPr>
            <a:spLocks noGrp="1"/>
          </p:cNvSpPr>
          <p:nvPr/>
        </p:nvSpPr>
        <p:spPr>
          <a:xfrm>
            <a:off x="7826375" y="24193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DCF53FE-B0CF-41D9-99FF-BB8F04593BE9}"/>
              </a:ext>
            </a:extLst>
          </p:cNvPr>
          <p:cNvSpPr>
            <a:spLocks noGrp="1"/>
          </p:cNvSpPr>
          <p:nvPr/>
        </p:nvSpPr>
        <p:spPr>
          <a:xfrm>
            <a:off x="7921625" y="24955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接尾辞、命名制約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FF849FB-BEFB-4805-8077-342AEF75D300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8E233AB-1684-45DD-A2A3-8B99B915C5E7}"/>
              </a:ext>
            </a:extLst>
          </p:cNvPr>
          <p:cNvSpPr>
            <a:spLocks noGrp="1"/>
          </p:cNvSpPr>
          <p:nvPr/>
        </p:nvSpPr>
        <p:spPr>
          <a:xfrm>
            <a:off x="10001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権限不足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3A95DD1-4085-42C5-9471-67D2C7641477}"/>
              </a:ext>
            </a:extLst>
          </p:cNvPr>
          <p:cNvSpPr>
            <a:spLocks noGrp="1"/>
          </p:cNvSpPr>
          <p:nvPr/>
        </p:nvSpPr>
        <p:spPr>
          <a:xfrm>
            <a:off x="436562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D0AF0FE-F1DF-404F-A9F0-6E8745FA736B}"/>
              </a:ext>
            </a:extLst>
          </p:cNvPr>
          <p:cNvSpPr>
            <a:spLocks noGrp="1"/>
          </p:cNvSpPr>
          <p:nvPr/>
        </p:nvSpPr>
        <p:spPr>
          <a:xfrm>
            <a:off x="446087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作成やアプリ登録に失敗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1479605-1C2F-4CA1-8909-B379B68C3AFD}"/>
              </a:ext>
            </a:extLst>
          </p:cNvPr>
          <p:cNvSpPr>
            <a:spLocks noGrp="1"/>
          </p:cNvSpPr>
          <p:nvPr/>
        </p:nvSpPr>
        <p:spPr>
          <a:xfrm>
            <a:off x="7826375" y="30289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533B849-6A5A-48DC-9E22-5CEE99AE0D2C}"/>
              </a:ext>
            </a:extLst>
          </p:cNvPr>
          <p:cNvSpPr>
            <a:spLocks noGrp="1"/>
          </p:cNvSpPr>
          <p:nvPr/>
        </p:nvSpPr>
        <p:spPr>
          <a:xfrm>
            <a:off x="7921625" y="31051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RBAC、Entra ID 設定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549A1C8-4F45-4915-BDD2-555DCA03A5BD}"/>
              </a:ext>
            </a:extLst>
          </p:cNvPr>
          <p:cNvSpPr>
            <a:spLocks noGrp="1"/>
          </p:cNvSpPr>
          <p:nvPr/>
        </p:nvSpPr>
        <p:spPr>
          <a:xfrm>
            <a:off x="9048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349DA93-5251-4C02-8A80-D60197BE23C9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権限漏れ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686D24D-1D3F-4357-B872-EA19C45C51A4}"/>
              </a:ext>
            </a:extLst>
          </p:cNvPr>
          <p:cNvSpPr>
            <a:spLocks noGrp="1"/>
          </p:cNvSpPr>
          <p:nvPr/>
        </p:nvSpPr>
        <p:spPr>
          <a:xfrm>
            <a:off x="436562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A02E7E8-CD4F-47F8-A725-C20DC5AA68C9}"/>
              </a:ext>
            </a:extLst>
          </p:cNvPr>
          <p:cNvSpPr>
            <a:spLocks noGrp="1"/>
          </p:cNvSpPr>
          <p:nvPr/>
        </p:nvSpPr>
        <p:spPr>
          <a:xfrm>
            <a:off x="446087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 API から DB 接続に失敗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18D0D6C-5517-4662-9065-F2AF7CFA216D}"/>
              </a:ext>
            </a:extLst>
          </p:cNvPr>
          <p:cNvSpPr>
            <a:spLocks noGrp="1"/>
          </p:cNvSpPr>
          <p:nvPr/>
        </p:nvSpPr>
        <p:spPr>
          <a:xfrm>
            <a:off x="7826375" y="36385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BD8493B-0D5E-4475-984C-BB360D4553CF}"/>
              </a:ext>
            </a:extLst>
          </p:cNvPr>
          <p:cNvSpPr>
            <a:spLocks noGrp="1"/>
          </p:cNvSpPr>
          <p:nvPr/>
        </p:nvSpPr>
        <p:spPr>
          <a:xfrm>
            <a:off x="7921625" y="37147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への DB パーミッション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923A5EC-C62E-4E41-BC5B-0C8BAF55B396}"/>
              </a:ext>
            </a:extLst>
          </p:cNvPr>
          <p:cNvSpPr>
            <a:spLocks noGrp="1"/>
          </p:cNvSpPr>
          <p:nvPr/>
        </p:nvSpPr>
        <p:spPr>
          <a:xfrm>
            <a:off x="90487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39E0BDB-1B95-44BC-B8CA-23C1E1A975AA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記録漏れ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B2B2984-28FA-44A6-AACC-818E07B9FA49}"/>
              </a:ext>
            </a:extLst>
          </p:cNvPr>
          <p:cNvSpPr>
            <a:spLocks noGrp="1"/>
          </p:cNvSpPr>
          <p:nvPr/>
        </p:nvSpPr>
        <p:spPr>
          <a:xfrm>
            <a:off x="436562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1F2B190-F4D5-4838-946D-39106EAAFFD8}"/>
              </a:ext>
            </a:extLst>
          </p:cNvPr>
          <p:cNvSpPr>
            <a:spLocks noGrp="1"/>
          </p:cNvSpPr>
          <p:nvPr/>
        </p:nvSpPr>
        <p:spPr>
          <a:xfrm>
            <a:off x="446087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第6回で値が分からない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6015914-470E-41F2-A531-413D6402CDDD}"/>
              </a:ext>
            </a:extLst>
          </p:cNvPr>
          <p:cNvSpPr>
            <a:spLocks noGrp="1"/>
          </p:cNvSpPr>
          <p:nvPr/>
        </p:nvSpPr>
        <p:spPr>
          <a:xfrm>
            <a:off x="7826375" y="42481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260A27E-92E1-4514-9C61-8A94B865A6E3}"/>
              </a:ext>
            </a:extLst>
          </p:cNvPr>
          <p:cNvSpPr>
            <a:spLocks noGrp="1"/>
          </p:cNvSpPr>
          <p:nvPr/>
        </p:nvSpPr>
        <p:spPr>
          <a:xfrm>
            <a:off x="7921625" y="43243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接続情報テンプレート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F59913D-B324-417B-BACD-5364C335062F}"/>
              </a:ext>
            </a:extLst>
          </p:cNvPr>
          <p:cNvSpPr>
            <a:spLocks noGrp="1"/>
          </p:cNvSpPr>
          <p:nvPr/>
        </p:nvSpPr>
        <p:spPr>
          <a:xfrm>
            <a:off x="90487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794D2F7-A2B3-4058-878F-2CCFB8CBD19A}"/>
              </a:ext>
            </a:extLst>
          </p:cNvPr>
          <p:cNvSpPr>
            <a:spLocks noGrp="1"/>
          </p:cNvSpPr>
          <p:nvPr/>
        </p:nvSpPr>
        <p:spPr>
          <a:xfrm>
            <a:off x="100012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停止忘れ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92A1D4B-5EA9-4334-80C1-D3F42658DB75}"/>
              </a:ext>
            </a:extLst>
          </p:cNvPr>
          <p:cNvSpPr>
            <a:spLocks noGrp="1"/>
          </p:cNvSpPr>
          <p:nvPr/>
        </p:nvSpPr>
        <p:spPr>
          <a:xfrm>
            <a:off x="436562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6CB38DE-CC7D-4C96-9974-33902097C5C2}"/>
              </a:ext>
            </a:extLst>
          </p:cNvPr>
          <p:cNvSpPr>
            <a:spLocks noGrp="1"/>
          </p:cNvSpPr>
          <p:nvPr/>
        </p:nvSpPr>
        <p:spPr>
          <a:xfrm>
            <a:off x="446087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が Running のまま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EB97BA2-EB38-4034-B01F-FF7D04E89D9D}"/>
              </a:ext>
            </a:extLst>
          </p:cNvPr>
          <p:cNvSpPr>
            <a:spLocks noGrp="1"/>
          </p:cNvSpPr>
          <p:nvPr/>
        </p:nvSpPr>
        <p:spPr>
          <a:xfrm>
            <a:off x="7826375" y="4857750"/>
            <a:ext cx="3460750" cy="609600"/>
          </a:xfrm>
          <a:prstGeom prst="rect">
            <a:avLst/>
          </a:prstGeom>
          <a:ln w="9525">
            <a:solidFill>
              <a:srgbClr val="DDE5EF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3139AF5-C699-424F-AFE0-5C5A910F418B}"/>
              </a:ext>
            </a:extLst>
          </p:cNvPr>
          <p:cNvSpPr>
            <a:spLocks noGrp="1"/>
          </p:cNvSpPr>
          <p:nvPr/>
        </p:nvSpPr>
        <p:spPr>
          <a:xfrm>
            <a:off x="7921625" y="4933950"/>
            <a:ext cx="3270250" cy="4762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Overview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E1236EC-A182-47FE-A4BC-830FFC253A81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795829B-7764-429E-969A-93140E0FE0F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復旧できない場合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506E01D-045D-4C19-8B68-A8261F82A062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48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621AC47-F5DA-4C59-BC07-A187EDBD962C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AF4CD4-CA2B-4CA6-A811-87D1BA0A9DAA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時間内にリソース作成を完了できない場合でも、どの値が何に使われるかを理解して第6回へつなげます。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3E0BA9-C2BD-4B7E-A166-BF61D69434A3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4CE83D-C591-491B-A2DC-5F88D8E8BDD7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C6ECEA-B231-4A9B-AB90-7674C7C8107F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権限不足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C8B45A-E25A-47DA-9BAB-E30EB4D8D5AA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サンプル値に切り替え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93B097A-10F3-4DB7-B671-1E23BBB6022C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講師が事前準備した値やデモ環境で説明を続けます。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67A6C36-7176-44F9-BB98-1907A94E74E7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2AC980-DE27-4304-A00F-391B93312A20}"/>
              </a:ext>
            </a:extLst>
          </p:cNvPr>
          <p:cNvSpPr>
            <a:spLocks noGrp="1"/>
          </p:cNvSpPr>
          <p:nvPr/>
        </p:nvSpPr>
        <p:spPr>
          <a:xfrm>
            <a:off x="606742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E7DAFC5-2E46-45E9-BA10-5EE72C3D7516}"/>
              </a:ext>
            </a:extLst>
          </p:cNvPr>
          <p:cNvSpPr>
            <a:spLocks noGrp="1"/>
          </p:cNvSpPr>
          <p:nvPr/>
        </p:nvSpPr>
        <p:spPr>
          <a:xfrm>
            <a:off x="6296025" y="2124075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作成失敗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5CFA211-867E-4EB7-ACCE-AFC0822637BF}"/>
              </a:ext>
            </a:extLst>
          </p:cNvPr>
          <p:cNvSpPr>
            <a:spLocks noGrp="1"/>
          </p:cNvSpPr>
          <p:nvPr/>
        </p:nvSpPr>
        <p:spPr>
          <a:xfrm>
            <a:off x="6296025" y="2352675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役割を確認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F42504C-6960-410A-891B-47E65FC291A1}"/>
              </a:ext>
            </a:extLst>
          </p:cNvPr>
          <p:cNvSpPr>
            <a:spLocks noGrp="1"/>
          </p:cNvSpPr>
          <p:nvPr/>
        </p:nvSpPr>
        <p:spPr>
          <a:xfrm>
            <a:off x="6296025" y="2771775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作れなかったリソースがアーキテクチャ上で何を担当するか確認します。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AEAB8D8-1AD7-4F79-8345-2DFB8ED8F6C8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B26546D-8A15-4819-BB0F-7E703DD5D682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743FB6-F8AB-44CE-978B-D72500CB71D9}"/>
              </a:ext>
            </a:extLst>
          </p:cNvPr>
          <p:cNvSpPr>
            <a:spLocks noGrp="1"/>
          </p:cNvSpPr>
          <p:nvPr/>
        </p:nvSpPr>
        <p:spPr>
          <a:xfrm>
            <a:off x="1133475" y="4095750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時間不足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D673A5B-8273-425B-9A04-16ED35C43169}"/>
              </a:ext>
            </a:extLst>
          </p:cNvPr>
          <p:cNvSpPr>
            <a:spLocks noGrp="1"/>
          </p:cNvSpPr>
          <p:nvPr/>
        </p:nvSpPr>
        <p:spPr>
          <a:xfrm>
            <a:off x="1133475" y="4324350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第6回の入力値を優先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260E63E-0D3B-4E3A-9E95-2CD5039AE973}"/>
              </a:ext>
            </a:extLst>
          </p:cNvPr>
          <p:cNvSpPr>
            <a:spLocks noGrp="1"/>
          </p:cNvSpPr>
          <p:nvPr/>
        </p:nvSpPr>
        <p:spPr>
          <a:xfrm>
            <a:off x="1133475" y="4743450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URL、ID、ACR、DB、Identity の意味を表で確認します。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161A1E2-8CB1-4276-B1A8-8A1A1A412809}"/>
              </a:ext>
            </a:extLst>
          </p:cNvPr>
          <p:cNvSpPr>
            <a:spLocks noGrp="1"/>
          </p:cNvSpPr>
          <p:nvPr/>
        </p:nvSpPr>
        <p:spPr>
          <a:xfrm>
            <a:off x="6067425" y="3924300"/>
            <a:ext cx="493395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13F2221-D6E7-4E49-A02C-375773F3726C}"/>
              </a:ext>
            </a:extLst>
          </p:cNvPr>
          <p:cNvSpPr>
            <a:spLocks noGrp="1"/>
          </p:cNvSpPr>
          <p:nvPr/>
        </p:nvSpPr>
        <p:spPr>
          <a:xfrm>
            <a:off x="6067425" y="3924300"/>
            <a:ext cx="76200" cy="17621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6CCAE4C-58E2-45BF-B465-07738A68504A}"/>
              </a:ext>
            </a:extLst>
          </p:cNvPr>
          <p:cNvSpPr>
            <a:spLocks noGrp="1"/>
          </p:cNvSpPr>
          <p:nvPr/>
        </p:nvSpPr>
        <p:spPr>
          <a:xfrm>
            <a:off x="6296025" y="4095750"/>
            <a:ext cx="45529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DB 作成済み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85896C0-FD26-401C-9CC7-377D5B3125EB}"/>
              </a:ext>
            </a:extLst>
          </p:cNvPr>
          <p:cNvSpPr>
            <a:spLocks noGrp="1"/>
          </p:cNvSpPr>
          <p:nvPr/>
        </p:nvSpPr>
        <p:spPr>
          <a:xfrm>
            <a:off x="6296025" y="4324350"/>
            <a:ext cx="45339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停止だけは完了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08E83CE-F1FE-4362-B704-5AEC7BAE1AA0}"/>
              </a:ext>
            </a:extLst>
          </p:cNvPr>
          <p:cNvSpPr>
            <a:spLocks noGrp="1"/>
          </p:cNvSpPr>
          <p:nvPr/>
        </p:nvSpPr>
        <p:spPr>
          <a:xfrm>
            <a:off x="6296025" y="4743450"/>
            <a:ext cx="453390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が Running の場合は最後に Stop を確認します。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B01272C-9AD9-49B9-8C73-9739E5CE333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7507E5C-28E7-4B9D-B64B-5698B23E320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今日のまとめ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DCD8D1-EBDB-4EA6-8EFB-3FE50BB23B83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49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6B48DA-5E67-415D-8B2E-D61364B063A6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21FB758-3B35-4A10-B2E1-2118B506CE08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アプリの完成には、アプリ実行、イメージ保管、DB、認証、ネットワーク、デプロイ設定がそろう必要があります。第5回では、その土台を作りました。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ECEC94-0597-4606-BA28-65D879E251B5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A4C438B-6D14-431E-AFE3-B314A99E73F6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228AE69-F1D8-4C2C-9EC7-2E989B7CB9F5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8F0B9B7-7136-494A-956A-63D23271A72C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複数サービスで構成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BB8F49-6EA6-40DE-9973-CF5623A8B294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Web/API/DB を Azure サービスに対応付けました。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881A2A2-47E4-4013-8FF0-614A9DC5D570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5FFCAA3-7D74-486B-BE43-708C3CADCB12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76200" cy="1762125"/>
          </a:xfrm>
          <a:prstGeom prst="rect">
            <a:avLst/>
          </a:prstGeom>
          <a:ln w="0">
            <a:solidFill>
              <a:srgbClr val="EA580C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F4C1539-AB9B-4DA2-A5DD-240C090534B9}"/>
              </a:ext>
            </a:extLst>
          </p:cNvPr>
          <p:cNvSpPr>
            <a:spLocks noGrp="1"/>
          </p:cNvSpPr>
          <p:nvPr/>
        </p:nvSpPr>
        <p:spPr>
          <a:xfrm>
            <a:off x="45751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B948400-5CEB-4E62-BF4E-851221CFF469}"/>
              </a:ext>
            </a:extLst>
          </p:cNvPr>
          <p:cNvSpPr>
            <a:spLocks noGrp="1"/>
          </p:cNvSpPr>
          <p:nvPr/>
        </p:nvSpPr>
        <p:spPr>
          <a:xfrm>
            <a:off x="45751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値を引き継ぐ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0C97D14-840B-4EB7-93E2-C74D98770084}"/>
              </a:ext>
            </a:extLst>
          </p:cNvPr>
          <p:cNvSpPr>
            <a:spLocks noGrp="1"/>
          </p:cNvSpPr>
          <p:nvPr/>
        </p:nvSpPr>
        <p:spPr>
          <a:xfrm>
            <a:off x="45751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第6回の GitHub Actions 設定に使う値を整理しました。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31A68C-32F0-4D0E-BE20-FA575892174A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586BF17-2913-4147-B434-269A9BFD87B4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76200" cy="1762125"/>
          </a:xfrm>
          <a:prstGeom prst="rect">
            <a:avLst/>
          </a:prstGeom>
          <a:ln w="0">
            <a:solidFill>
              <a:srgbClr val="15803D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06EFD91-B925-4AD9-84CA-26FA5262C73E}"/>
              </a:ext>
            </a:extLst>
          </p:cNvPr>
          <p:cNvSpPr>
            <a:spLocks noGrp="1"/>
          </p:cNvSpPr>
          <p:nvPr/>
        </p:nvSpPr>
        <p:spPr>
          <a:xfrm>
            <a:off x="80168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4094337-659E-4D91-AF64-F68E8ED289E7}"/>
              </a:ext>
            </a:extLst>
          </p:cNvPr>
          <p:cNvSpPr>
            <a:spLocks noGrp="1"/>
          </p:cNvSpPr>
          <p:nvPr/>
        </p:nvSpPr>
        <p:spPr>
          <a:xfrm>
            <a:off x="80168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削除ではなく停止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A4D0F34-126A-424A-B6A9-28A1E0A9383A}"/>
              </a:ext>
            </a:extLst>
          </p:cNvPr>
          <p:cNvSpPr>
            <a:spLocks noGrp="1"/>
          </p:cNvSpPr>
          <p:nvPr/>
        </p:nvSpPr>
        <p:spPr>
          <a:xfrm>
            <a:off x="80168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を Stop し、第6回で再開できる状態にします。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5876D14-7B58-4E64-B923-F4BFA8D093D1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E8E74CB-ABCE-4FD5-9ABC-45B658B367A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78105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QA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5EF325-BEF7-43F6-BD9D-47BEF340EC9F}"/>
              </a:ext>
            </a:extLst>
          </p:cNvPr>
          <p:cNvSpPr>
            <a:spLocks noGrp="1"/>
          </p:cNvSpPr>
          <p:nvPr/>
        </p:nvSpPr>
        <p:spPr>
          <a:xfrm>
            <a:off x="9334500" y="485775"/>
            <a:ext cx="20955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50 / 50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33A00D-CB86-453B-A3CF-80AB0E2B73B2}"/>
              </a:ext>
            </a:extLst>
          </p:cNvPr>
          <p:cNvSpPr>
            <a:spLocks noGrp="1"/>
          </p:cNvSpPr>
          <p:nvPr/>
        </p:nvSpPr>
        <p:spPr>
          <a:xfrm>
            <a:off x="666750" y="981075"/>
            <a:ext cx="10096500" cy="19050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608FE4-F3A6-47B5-BD5A-CE73E5240F60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096500" cy="552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作成したリソース、接続情報一覧、PostgreSQL の停止状態を確認し、第6回のデプロイに向けて不明点を解消します。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A46574-8AEB-4855-BEE8-577CC227989E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A1A8FB9-D8B5-4B86-992C-497BB6E065CD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98C5802-5F85-4028-88BD-A75F712722ED}"/>
              </a:ext>
            </a:extLst>
          </p:cNvPr>
          <p:cNvSpPr>
            <a:spLocks noGrp="1"/>
          </p:cNvSpPr>
          <p:nvPr/>
        </p:nvSpPr>
        <p:spPr>
          <a:xfrm>
            <a:off x="11334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 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D49976-9870-4D9A-A79D-9F3AA56BEF08}"/>
              </a:ext>
            </a:extLst>
          </p:cNvPr>
          <p:cNvSpPr>
            <a:spLocks noGrp="1"/>
          </p:cNvSpPr>
          <p:nvPr/>
        </p:nvSpPr>
        <p:spPr>
          <a:xfrm>
            <a:off x="11334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確認 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BE6462C-5353-46A1-898A-46AC3C093C5F}"/>
              </a:ext>
            </a:extLst>
          </p:cNvPr>
          <p:cNvSpPr>
            <a:spLocks noGrp="1"/>
          </p:cNvSpPr>
          <p:nvPr/>
        </p:nvSpPr>
        <p:spPr>
          <a:xfrm>
            <a:off x="11334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Web、API、DB はそれぞれどの Azure サービスに対応しますか。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05EB33B-D977-4A44-8498-36C9F91F1C90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898D557-D7D0-47E9-A495-4845AD3E23ED}"/>
              </a:ext>
            </a:extLst>
          </p:cNvPr>
          <p:cNvSpPr>
            <a:spLocks noGrp="1"/>
          </p:cNvSpPr>
          <p:nvPr/>
        </p:nvSpPr>
        <p:spPr>
          <a:xfrm>
            <a:off x="4346575" y="1952625"/>
            <a:ext cx="76200" cy="1762125"/>
          </a:xfrm>
          <a:prstGeom prst="rect">
            <a:avLst/>
          </a:prstGeom>
          <a:ln w="0">
            <a:solidFill>
              <a:srgbClr val="0F766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51E1F24-33B2-41CC-8AAB-B274AF58E543}"/>
              </a:ext>
            </a:extLst>
          </p:cNvPr>
          <p:cNvSpPr>
            <a:spLocks noGrp="1"/>
          </p:cNvSpPr>
          <p:nvPr/>
        </p:nvSpPr>
        <p:spPr>
          <a:xfrm>
            <a:off x="45751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 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9A043D4-B1D6-481F-A61E-F125C149E3C0}"/>
              </a:ext>
            </a:extLst>
          </p:cNvPr>
          <p:cNvSpPr>
            <a:spLocks noGrp="1"/>
          </p:cNvSpPr>
          <p:nvPr/>
        </p:nvSpPr>
        <p:spPr>
          <a:xfrm>
            <a:off x="45751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確認 2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4CAC86B-DB78-4A65-B881-E8367FD896CD}"/>
              </a:ext>
            </a:extLst>
          </p:cNvPr>
          <p:cNvSpPr>
            <a:spLocks noGrp="1"/>
          </p:cNvSpPr>
          <p:nvPr/>
        </p:nvSpPr>
        <p:spPr>
          <a:xfrm>
            <a:off x="45751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第6回で使う値は、どの画面から再確認できますか。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D3C1EF5-6D79-4093-BE61-CB2F4361E077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3213100" cy="1762125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9DFA977-FBAE-4319-841A-4616741EE133}"/>
              </a:ext>
            </a:extLst>
          </p:cNvPr>
          <p:cNvSpPr>
            <a:spLocks noGrp="1"/>
          </p:cNvSpPr>
          <p:nvPr/>
        </p:nvSpPr>
        <p:spPr>
          <a:xfrm>
            <a:off x="7788275" y="1952625"/>
            <a:ext cx="76200" cy="1762125"/>
          </a:xfrm>
          <a:prstGeom prst="rect">
            <a:avLst/>
          </a:prstGeom>
          <a:ln w="0">
            <a:solidFill>
              <a:srgbClr val="2563EB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94AE42-D3CB-4873-9236-AE7B5216047F}"/>
              </a:ext>
            </a:extLst>
          </p:cNvPr>
          <p:cNvSpPr>
            <a:spLocks noGrp="1"/>
          </p:cNvSpPr>
          <p:nvPr/>
        </p:nvSpPr>
        <p:spPr>
          <a:xfrm>
            <a:off x="8016875" y="2124075"/>
            <a:ext cx="283210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 3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0871E2E-8FEE-4192-83E1-FD805ECE87B5}"/>
              </a:ext>
            </a:extLst>
          </p:cNvPr>
          <p:cNvSpPr>
            <a:spLocks noGrp="1"/>
          </p:cNvSpPr>
          <p:nvPr/>
        </p:nvSpPr>
        <p:spPr>
          <a:xfrm>
            <a:off x="8016875" y="2352675"/>
            <a:ext cx="281305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確認 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34895AE-10E8-4117-B0BD-58E78AFED91B}"/>
              </a:ext>
            </a:extLst>
          </p:cNvPr>
          <p:cNvSpPr>
            <a:spLocks noGrp="1"/>
          </p:cNvSpPr>
          <p:nvPr/>
        </p:nvSpPr>
        <p:spPr>
          <a:xfrm>
            <a:off x="8016875" y="2771775"/>
            <a:ext cx="2813050" cy="809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を Stop することと Resource group を削除することは何が違いますか。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5F3396B-FF0E-44EE-80FE-7A9B28770AD0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68580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4698</Words>
  <Application>Microsoft Macintosh PowerPoint</Application>
  <DocSecurity>0</DocSecurity>
  <PresentationFormat>ワイド画面</PresentationFormat>
  <Paragraphs>751</Paragraphs>
  <Slides>50</Slides>
  <Notes>50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50</vt:i4>
      </vt:variant>
    </vt:vector>
  </HeadingPairs>
  <TitlesOfParts>
    <vt:vector size="54" baseType="lpstr">
      <vt:lpstr>Yu Gothic UI</vt:lpstr>
      <vt:lpstr>Yu Gothic</vt:lpstr>
      <vt:lpstr>Yu Gothic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Hironari Yamada</cp:lastModifiedBy>
  <cp:revision>1</cp:revision>
  <dcterms:created xsi:type="dcterms:W3CDTF">2026-05-27T02:01:33Z</dcterms:created>
  <dcterms:modified xsi:type="dcterms:W3CDTF">2026-05-27T02:04:17Z</dcterms:modified>
</cp:coreProperties>
</file>