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95af8553d4dd8" /><Relationship Type="http://schemas.openxmlformats.org/officeDocument/2006/relationships/extended-properties" Target="/docProps/app.xml" Id="Rd2f2d9923e8a4d84" /><Relationship Type="http://schemas.openxmlformats.org/officeDocument/2006/relationships/officeDocument" Target="/ppt/presentation.xml" Id="R0555ddfa332b41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decf8f2dd4a48"/>
  </p:sldMasterIdLst>
  <p:notesMasterIdLst>
    <p:notesMasterId xmlns:r="http://schemas.openxmlformats.org/officeDocument/2006/relationships" r:id="R696fd3853d7d4186"/>
  </p:notesMasterIdLst>
  <p:sldIdLst>
    <p:sldId xmlns:r="http://schemas.openxmlformats.org/officeDocument/2006/relationships" id="256" r:id="Ra11638d765994600"/>
    <p:sldId xmlns:r="http://schemas.openxmlformats.org/officeDocument/2006/relationships" id="257" r:id="R111a18b387f546dd"/>
    <p:sldId xmlns:r="http://schemas.openxmlformats.org/officeDocument/2006/relationships" id="258" r:id="R90a5c21848c343dd"/>
    <p:sldId xmlns:r="http://schemas.openxmlformats.org/officeDocument/2006/relationships" id="259" r:id="R2b5af1ad49164ede"/>
    <p:sldId xmlns:r="http://schemas.openxmlformats.org/officeDocument/2006/relationships" id="260" r:id="R3002ff00b73c4467"/>
    <p:sldId xmlns:r="http://schemas.openxmlformats.org/officeDocument/2006/relationships" id="261" r:id="R85853f703cc34039"/>
    <p:sldId xmlns:r="http://schemas.openxmlformats.org/officeDocument/2006/relationships" id="262" r:id="Rcd8e2cdf852d4e64"/>
    <p:sldId xmlns:r="http://schemas.openxmlformats.org/officeDocument/2006/relationships" id="263" r:id="R3e718f4a0b2e4616"/>
    <p:sldId xmlns:r="http://schemas.openxmlformats.org/officeDocument/2006/relationships" id="264" r:id="R07586eec8d23420e"/>
    <p:sldId xmlns:r="http://schemas.openxmlformats.org/officeDocument/2006/relationships" id="265" r:id="R154390d7b1cb4ba9"/>
    <p:sldId xmlns:r="http://schemas.openxmlformats.org/officeDocument/2006/relationships" id="266" r:id="Ra5f3da1ff3714640"/>
    <p:sldId xmlns:r="http://schemas.openxmlformats.org/officeDocument/2006/relationships" id="267" r:id="Rbdea129856ad4196"/>
    <p:sldId xmlns:r="http://schemas.openxmlformats.org/officeDocument/2006/relationships" id="268" r:id="R92d1e8c0e0c14e91"/>
    <p:sldId xmlns:r="http://schemas.openxmlformats.org/officeDocument/2006/relationships" id="269" r:id="Re9b9df85693c480a"/>
    <p:sldId xmlns:r="http://schemas.openxmlformats.org/officeDocument/2006/relationships" id="270" r:id="R8823b5c6aac44141"/>
    <p:sldId xmlns:r="http://schemas.openxmlformats.org/officeDocument/2006/relationships" id="271" r:id="R26b52ebbfbc24cc6"/>
    <p:sldId xmlns:r="http://schemas.openxmlformats.org/officeDocument/2006/relationships" id="272" r:id="Rd75a1118f4a74d51"/>
    <p:sldId xmlns:r="http://schemas.openxmlformats.org/officeDocument/2006/relationships" id="273" r:id="R77363574533046e8"/>
    <p:sldId xmlns:r="http://schemas.openxmlformats.org/officeDocument/2006/relationships" id="274" r:id="Refe82abf30454c73"/>
    <p:sldId xmlns:r="http://schemas.openxmlformats.org/officeDocument/2006/relationships" id="275" r:id="Ra81c5c64f1434fab"/>
    <p:sldId xmlns:r="http://schemas.openxmlformats.org/officeDocument/2006/relationships" id="276" r:id="Re382dfcb538d4663"/>
    <p:sldId xmlns:r="http://schemas.openxmlformats.org/officeDocument/2006/relationships" id="277" r:id="R436171bdfa354424"/>
    <p:sldId xmlns:r="http://schemas.openxmlformats.org/officeDocument/2006/relationships" id="278" r:id="R740bcc40bd514a56"/>
    <p:sldId xmlns:r="http://schemas.openxmlformats.org/officeDocument/2006/relationships" id="279" r:id="R3135e5cb20264a8f"/>
    <p:sldId xmlns:r="http://schemas.openxmlformats.org/officeDocument/2006/relationships" id="280" r:id="R8896d80a84be4205"/>
    <p:sldId xmlns:r="http://schemas.openxmlformats.org/officeDocument/2006/relationships" id="281" r:id="Rbafa04ab78154f07"/>
    <p:sldId xmlns:r="http://schemas.openxmlformats.org/officeDocument/2006/relationships" id="282" r:id="R04d478d4e3d14975"/>
    <p:sldId xmlns:r="http://schemas.openxmlformats.org/officeDocument/2006/relationships" id="283" r:id="R4ce5f8a8075e4221"/>
    <p:sldId xmlns:r="http://schemas.openxmlformats.org/officeDocument/2006/relationships" id="284" r:id="R6e11aded408d40da"/>
    <p:sldId xmlns:r="http://schemas.openxmlformats.org/officeDocument/2006/relationships" id="285" r:id="R37e85a7d0fe74e84"/>
    <p:sldId xmlns:r="http://schemas.openxmlformats.org/officeDocument/2006/relationships" id="286" r:id="R1a23954501744ece"/>
    <p:sldId xmlns:r="http://schemas.openxmlformats.org/officeDocument/2006/relationships" id="287" r:id="Rb53ba1a790264e61"/>
    <p:sldId xmlns:r="http://schemas.openxmlformats.org/officeDocument/2006/relationships" id="288" r:id="R4814d14c0fa34eaf"/>
    <p:sldId xmlns:r="http://schemas.openxmlformats.org/officeDocument/2006/relationships" id="289" r:id="R8351381403884e42"/>
    <p:sldId xmlns:r="http://schemas.openxmlformats.org/officeDocument/2006/relationships" id="290" r:id="R9cc6b1040a9c4b3d"/>
    <p:sldId xmlns:r="http://schemas.openxmlformats.org/officeDocument/2006/relationships" id="291" r:id="Rf66eefe675fc4940"/>
    <p:sldId xmlns:r="http://schemas.openxmlformats.org/officeDocument/2006/relationships" id="292" r:id="Rea2b73c120c14105"/>
    <p:sldId xmlns:r="http://schemas.openxmlformats.org/officeDocument/2006/relationships" id="293" r:id="R638cad7241f948a1"/>
    <p:sldId xmlns:r="http://schemas.openxmlformats.org/officeDocument/2006/relationships" id="294" r:id="R4678d09997c647c1"/>
    <p:sldId xmlns:r="http://schemas.openxmlformats.org/officeDocument/2006/relationships" id="295" r:id="R26ce71e1d97f45ba"/>
    <p:sldId xmlns:r="http://schemas.openxmlformats.org/officeDocument/2006/relationships" id="296" r:id="Rd3243c8b3509435d"/>
    <p:sldId xmlns:r="http://schemas.openxmlformats.org/officeDocument/2006/relationships" id="297" r:id="R9ae46ee3fd9c4d84"/>
    <p:sldId xmlns:r="http://schemas.openxmlformats.org/officeDocument/2006/relationships" id="298" r:id="R1812ea6fb34545cf"/>
    <p:sldId xmlns:r="http://schemas.openxmlformats.org/officeDocument/2006/relationships" id="299" r:id="R4e0fd31336984eff"/>
    <p:sldId xmlns:r="http://schemas.openxmlformats.org/officeDocument/2006/relationships" id="300" r:id="R665993c697cc4de2"/>
    <p:sldId xmlns:r="http://schemas.openxmlformats.org/officeDocument/2006/relationships" id="301" r:id="Rc95c045b0461486f"/>
    <p:sldId xmlns:r="http://schemas.openxmlformats.org/officeDocument/2006/relationships" id="302" r:id="R3b18acc685aa413a"/>
    <p:sldId xmlns:r="http://schemas.openxmlformats.org/officeDocument/2006/relationships" id="303" r:id="Re58a09fed1e14e98"/>
    <p:sldId xmlns:r="http://schemas.openxmlformats.org/officeDocument/2006/relationships" id="304" r:id="Rf9b1bc43aaa94c3c"/>
    <p:sldId xmlns:r="http://schemas.openxmlformats.org/officeDocument/2006/relationships" id="305" r:id="Rcae9d17c5e874e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decf8f2dd4a48" /><Relationship Type="http://schemas.openxmlformats.org/officeDocument/2006/relationships/theme" Target="/ppt/theme/theme1.xml" Id="R7e1dee0a3d0e485d" /><Relationship Type="http://schemas.openxmlformats.org/officeDocument/2006/relationships/notesMaster" Target="/ppt/notesMasters/notesMaster1.xml" Id="R696fd3853d7d4186" /><Relationship Type="http://schemas.openxmlformats.org/officeDocument/2006/relationships/presProps" Target="/ppt/presProps.xml" Id="Rcffb628407a54245" /><Relationship Type="http://schemas.openxmlformats.org/officeDocument/2006/relationships/viewProps" Target="/ppt/viewProps.xml" Id="R1c78212b96574c28" /><Relationship Type="http://schemas.openxmlformats.org/officeDocument/2006/relationships/tableStyles" Target="/ppt/tableStyles.xml" Id="R323e49459fe144ff" /><Relationship Type="http://schemas.openxmlformats.org/officeDocument/2006/relationships/slide" Target="/ppt/slides/slide1.xml" Id="Ra11638d765994600" /><Relationship Type="http://schemas.openxmlformats.org/officeDocument/2006/relationships/slide" Target="/ppt/slides/slide2.xml" Id="R111a18b387f546dd" /><Relationship Type="http://schemas.openxmlformats.org/officeDocument/2006/relationships/slide" Target="/ppt/slides/slide3.xml" Id="R90a5c21848c343dd" /><Relationship Type="http://schemas.openxmlformats.org/officeDocument/2006/relationships/slide" Target="/ppt/slides/slide4.xml" Id="R2b5af1ad49164ede" /><Relationship Type="http://schemas.openxmlformats.org/officeDocument/2006/relationships/slide" Target="/ppt/slides/slide5.xml" Id="R3002ff00b73c4467" /><Relationship Type="http://schemas.openxmlformats.org/officeDocument/2006/relationships/slide" Target="/ppt/slides/slide6.xml" Id="R85853f703cc34039" /><Relationship Type="http://schemas.openxmlformats.org/officeDocument/2006/relationships/slide" Target="/ppt/slides/slide7.xml" Id="Rcd8e2cdf852d4e64" /><Relationship Type="http://schemas.openxmlformats.org/officeDocument/2006/relationships/slide" Target="/ppt/slides/slide8.xml" Id="R3e718f4a0b2e4616" /><Relationship Type="http://schemas.openxmlformats.org/officeDocument/2006/relationships/slide" Target="/ppt/slides/slide9.xml" Id="R07586eec8d23420e" /><Relationship Type="http://schemas.openxmlformats.org/officeDocument/2006/relationships/slide" Target="/ppt/slides/slide10.xml" Id="R154390d7b1cb4ba9" /><Relationship Type="http://schemas.openxmlformats.org/officeDocument/2006/relationships/slide" Target="/ppt/slides/slide11.xml" Id="Ra5f3da1ff3714640" /><Relationship Type="http://schemas.openxmlformats.org/officeDocument/2006/relationships/slide" Target="/ppt/slides/slide12.xml" Id="Rbdea129856ad4196" /><Relationship Type="http://schemas.openxmlformats.org/officeDocument/2006/relationships/slide" Target="/ppt/slides/slide13.xml" Id="R92d1e8c0e0c14e91" /><Relationship Type="http://schemas.openxmlformats.org/officeDocument/2006/relationships/slide" Target="/ppt/slides/slide14.xml" Id="Re9b9df85693c480a" /><Relationship Type="http://schemas.openxmlformats.org/officeDocument/2006/relationships/slide" Target="/ppt/slides/slide15.xml" Id="R8823b5c6aac44141" /><Relationship Type="http://schemas.openxmlformats.org/officeDocument/2006/relationships/slide" Target="/ppt/slides/slide16.xml" Id="R26b52ebbfbc24cc6" /><Relationship Type="http://schemas.openxmlformats.org/officeDocument/2006/relationships/slide" Target="/ppt/slides/slide17.xml" Id="Rd75a1118f4a74d51" /><Relationship Type="http://schemas.openxmlformats.org/officeDocument/2006/relationships/slide" Target="/ppt/slides/slide18.xml" Id="R77363574533046e8" /><Relationship Type="http://schemas.openxmlformats.org/officeDocument/2006/relationships/slide" Target="/ppt/slides/slide19.xml" Id="Refe82abf30454c73" /><Relationship Type="http://schemas.openxmlformats.org/officeDocument/2006/relationships/slide" Target="/ppt/slides/slide20.xml" Id="Ra81c5c64f1434fab" /><Relationship Type="http://schemas.openxmlformats.org/officeDocument/2006/relationships/slide" Target="/ppt/slides/slide21.xml" Id="Re382dfcb538d4663" /><Relationship Type="http://schemas.openxmlformats.org/officeDocument/2006/relationships/slide" Target="/ppt/slides/slide22.xml" Id="R436171bdfa354424" /><Relationship Type="http://schemas.openxmlformats.org/officeDocument/2006/relationships/slide" Target="/ppt/slides/slide23.xml" Id="R740bcc40bd514a56" /><Relationship Type="http://schemas.openxmlformats.org/officeDocument/2006/relationships/slide" Target="/ppt/slides/slide24.xml" Id="R3135e5cb20264a8f" /><Relationship Type="http://schemas.openxmlformats.org/officeDocument/2006/relationships/slide" Target="/ppt/slides/slide25.xml" Id="R8896d80a84be4205" /><Relationship Type="http://schemas.openxmlformats.org/officeDocument/2006/relationships/slide" Target="/ppt/slides/slide26.xml" Id="Rbafa04ab78154f07" /><Relationship Type="http://schemas.openxmlformats.org/officeDocument/2006/relationships/slide" Target="/ppt/slides/slide27.xml" Id="R04d478d4e3d14975" /><Relationship Type="http://schemas.openxmlformats.org/officeDocument/2006/relationships/slide" Target="/ppt/slides/slide28.xml" Id="R4ce5f8a8075e4221" /><Relationship Type="http://schemas.openxmlformats.org/officeDocument/2006/relationships/slide" Target="/ppt/slides/slide29.xml" Id="R6e11aded408d40da" /><Relationship Type="http://schemas.openxmlformats.org/officeDocument/2006/relationships/slide" Target="/ppt/slides/slide30.xml" Id="R37e85a7d0fe74e84" /><Relationship Type="http://schemas.openxmlformats.org/officeDocument/2006/relationships/slide" Target="/ppt/slides/slide31.xml" Id="R1a23954501744ece" /><Relationship Type="http://schemas.openxmlformats.org/officeDocument/2006/relationships/slide" Target="/ppt/slides/slide32.xml" Id="Rb53ba1a790264e61" /><Relationship Type="http://schemas.openxmlformats.org/officeDocument/2006/relationships/slide" Target="/ppt/slides/slide33.xml" Id="R4814d14c0fa34eaf" /><Relationship Type="http://schemas.openxmlformats.org/officeDocument/2006/relationships/slide" Target="/ppt/slides/slide34.xml" Id="R8351381403884e42" /><Relationship Type="http://schemas.openxmlformats.org/officeDocument/2006/relationships/slide" Target="/ppt/slides/slide35.xml" Id="R9cc6b1040a9c4b3d" /><Relationship Type="http://schemas.openxmlformats.org/officeDocument/2006/relationships/slide" Target="/ppt/slides/slide36.xml" Id="Rf66eefe675fc4940" /><Relationship Type="http://schemas.openxmlformats.org/officeDocument/2006/relationships/slide" Target="/ppt/slides/slide37.xml" Id="Rea2b73c120c14105" /><Relationship Type="http://schemas.openxmlformats.org/officeDocument/2006/relationships/slide" Target="/ppt/slides/slide38.xml" Id="R638cad7241f948a1" /><Relationship Type="http://schemas.openxmlformats.org/officeDocument/2006/relationships/slide" Target="/ppt/slides/slide39.xml" Id="R4678d09997c647c1" /><Relationship Type="http://schemas.openxmlformats.org/officeDocument/2006/relationships/slide" Target="/ppt/slides/slide40.xml" Id="R26ce71e1d97f45ba" /><Relationship Type="http://schemas.openxmlformats.org/officeDocument/2006/relationships/slide" Target="/ppt/slides/slide41.xml" Id="Rd3243c8b3509435d" /><Relationship Type="http://schemas.openxmlformats.org/officeDocument/2006/relationships/slide" Target="/ppt/slides/slide42.xml" Id="R9ae46ee3fd9c4d84" /><Relationship Type="http://schemas.openxmlformats.org/officeDocument/2006/relationships/slide" Target="/ppt/slides/slide43.xml" Id="R1812ea6fb34545cf" /><Relationship Type="http://schemas.openxmlformats.org/officeDocument/2006/relationships/slide" Target="/ppt/slides/slide44.xml" Id="R4e0fd31336984eff" /><Relationship Type="http://schemas.openxmlformats.org/officeDocument/2006/relationships/slide" Target="/ppt/slides/slide45.xml" Id="R665993c697cc4de2" /><Relationship Type="http://schemas.openxmlformats.org/officeDocument/2006/relationships/slide" Target="/ppt/slides/slide46.xml" Id="Rc95c045b0461486f" /><Relationship Type="http://schemas.openxmlformats.org/officeDocument/2006/relationships/slide" Target="/ppt/slides/slide47.xml" Id="R3b18acc685aa413a" /><Relationship Type="http://schemas.openxmlformats.org/officeDocument/2006/relationships/slide" Target="/ppt/slides/slide48.xml" Id="Re58a09fed1e14e98" /><Relationship Type="http://schemas.openxmlformats.org/officeDocument/2006/relationships/slide" Target="/ppt/slides/slide49.xml" Id="Rf9b1bc43aaa94c3c" /><Relationship Type="http://schemas.openxmlformats.org/officeDocument/2006/relationships/slide" Target="/ppt/slides/slide50.xml" Id="Rcae9d17c5e874e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0fdafd7cf3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0fb41899ea456a" /><Relationship Type="http://schemas.openxmlformats.org/officeDocument/2006/relationships/notesMaster" Target="/ppt/notesMasters/notesMaster1.xml" Id="Rbbcd9fde16bf41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577b1f5e534a71" /><Relationship Type="http://schemas.openxmlformats.org/officeDocument/2006/relationships/notesMaster" Target="/ppt/notesMasters/notesMaster1.xml" Id="R5424749d454640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c41097660d477c" /><Relationship Type="http://schemas.openxmlformats.org/officeDocument/2006/relationships/notesMaster" Target="/ppt/notesMasters/notesMaster1.xml" Id="Rd64aba6d361845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b1252caf91484d" /><Relationship Type="http://schemas.openxmlformats.org/officeDocument/2006/relationships/notesMaster" Target="/ppt/notesMasters/notesMaster1.xml" Id="Ra86dd170c4e6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82cc9a37a348c3" /><Relationship Type="http://schemas.openxmlformats.org/officeDocument/2006/relationships/notesMaster" Target="/ppt/notesMasters/notesMaster1.xml" Id="Rc65b534296d546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6eff1544364126" /><Relationship Type="http://schemas.openxmlformats.org/officeDocument/2006/relationships/notesMaster" Target="/ppt/notesMasters/notesMaster1.xml" Id="R72822bcfc1ee44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9b238b59354f2f" /><Relationship Type="http://schemas.openxmlformats.org/officeDocument/2006/relationships/notesMaster" Target="/ppt/notesMasters/notesMaster1.xml" Id="R300a9470b16d4b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db52c173454bfb" /><Relationship Type="http://schemas.openxmlformats.org/officeDocument/2006/relationships/notesMaster" Target="/ppt/notesMasters/notesMaster1.xml" Id="R06f8435e4b634d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6c2bc958684e03" /><Relationship Type="http://schemas.openxmlformats.org/officeDocument/2006/relationships/notesMaster" Target="/ppt/notesMasters/notesMaster1.xml" Id="Rd6bc9457efe74a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2e5d1575d046ca" /><Relationship Type="http://schemas.openxmlformats.org/officeDocument/2006/relationships/notesMaster" Target="/ppt/notesMasters/notesMaster1.xml" Id="Rd3946c30570c47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310dbcc28e4ea6" /><Relationship Type="http://schemas.openxmlformats.org/officeDocument/2006/relationships/notesMaster" Target="/ppt/notesMasters/notesMaster1.xml" Id="R7d3d7d9db2464a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c743fde87a4ccc" /><Relationship Type="http://schemas.openxmlformats.org/officeDocument/2006/relationships/notesMaster" Target="/ppt/notesMasters/notesMaster1.xml" Id="Rc76f466281a14a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0a7ac1666e45cb" /><Relationship Type="http://schemas.openxmlformats.org/officeDocument/2006/relationships/notesMaster" Target="/ppt/notesMasters/notesMaster1.xml" Id="R49a2bd119b2e41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4607dbc01f4b9a" /><Relationship Type="http://schemas.openxmlformats.org/officeDocument/2006/relationships/notesMaster" Target="/ppt/notesMasters/notesMaster1.xml" Id="R841851bdb49545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7959faa2b242e7" /><Relationship Type="http://schemas.openxmlformats.org/officeDocument/2006/relationships/notesMaster" Target="/ppt/notesMasters/notesMaster1.xml" Id="R5229176301fe48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965b456fbf4de0" /><Relationship Type="http://schemas.openxmlformats.org/officeDocument/2006/relationships/notesMaster" Target="/ppt/notesMasters/notesMaster1.xml" Id="R912e222f997646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47471d9e4b4cea" /><Relationship Type="http://schemas.openxmlformats.org/officeDocument/2006/relationships/notesMaster" Target="/ppt/notesMasters/notesMaster1.xml" Id="R8f711f216b6143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a34a1b707045d8" /><Relationship Type="http://schemas.openxmlformats.org/officeDocument/2006/relationships/notesMaster" Target="/ppt/notesMasters/notesMaster1.xml" Id="R4f25edd1851947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1e728e5bf2404e" /><Relationship Type="http://schemas.openxmlformats.org/officeDocument/2006/relationships/notesMaster" Target="/ppt/notesMasters/notesMaster1.xml" Id="R8eb1fc96743243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d3bd4f169f466b" /><Relationship Type="http://schemas.openxmlformats.org/officeDocument/2006/relationships/notesMaster" Target="/ppt/notesMasters/notesMaster1.xml" Id="R5f179531777a4b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2bd51588d74881" /><Relationship Type="http://schemas.openxmlformats.org/officeDocument/2006/relationships/notesMaster" Target="/ppt/notesMasters/notesMaster1.xml" Id="R02eec0e55b9d4e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dff872adb9475b" /><Relationship Type="http://schemas.openxmlformats.org/officeDocument/2006/relationships/notesMaster" Target="/ppt/notesMasters/notesMaster1.xml" Id="Rec3101da57514b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2d8d1acb2384603" /><Relationship Type="http://schemas.openxmlformats.org/officeDocument/2006/relationships/notesMaster" Target="/ppt/notesMasters/notesMaster1.xml" Id="Rdbcdb25bf7724e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83ed1b0faa472d" /><Relationship Type="http://schemas.openxmlformats.org/officeDocument/2006/relationships/notesMaster" Target="/ppt/notesMasters/notesMaster1.xml" Id="R49d2920ef2cc4d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1a0797520f4c0d" /><Relationship Type="http://schemas.openxmlformats.org/officeDocument/2006/relationships/notesMaster" Target="/ppt/notesMasters/notesMaster1.xml" Id="R2d8813c0a5094f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d613c2821b48e2" /><Relationship Type="http://schemas.openxmlformats.org/officeDocument/2006/relationships/notesMaster" Target="/ppt/notesMasters/notesMaster1.xml" Id="R0c9b801c8bae40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677d20165434264" /><Relationship Type="http://schemas.openxmlformats.org/officeDocument/2006/relationships/notesMaster" Target="/ppt/notesMasters/notesMaster1.xml" Id="Re7af03e658954c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c18ab6ebd34153" /><Relationship Type="http://schemas.openxmlformats.org/officeDocument/2006/relationships/notesMaster" Target="/ppt/notesMasters/notesMaster1.xml" Id="R050a32ec93b943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4500272c3949fb" /><Relationship Type="http://schemas.openxmlformats.org/officeDocument/2006/relationships/notesMaster" Target="/ppt/notesMasters/notesMaster1.xml" Id="R98568d092d0341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9a4bc364554454e" /><Relationship Type="http://schemas.openxmlformats.org/officeDocument/2006/relationships/notesMaster" Target="/ppt/notesMasters/notesMaster1.xml" Id="Rff2b9175473a4de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a1d05cadbf4b5f" /><Relationship Type="http://schemas.openxmlformats.org/officeDocument/2006/relationships/notesMaster" Target="/ppt/notesMasters/notesMaster1.xml" Id="R1a2c2ba5ac354c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7490f8659ae41f7" /><Relationship Type="http://schemas.openxmlformats.org/officeDocument/2006/relationships/notesMaster" Target="/ppt/notesMasters/notesMaster1.xml" Id="R9adcb0c301574ec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59475989ce40c6" /><Relationship Type="http://schemas.openxmlformats.org/officeDocument/2006/relationships/notesMaster" Target="/ppt/notesMasters/notesMaster1.xml" Id="R7e28d0acae18439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7eae97702e41d4" /><Relationship Type="http://schemas.openxmlformats.org/officeDocument/2006/relationships/notesMaster" Target="/ppt/notesMasters/notesMaster1.xml" Id="R921722438320456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7dc0bcc63634d5c" /><Relationship Type="http://schemas.openxmlformats.org/officeDocument/2006/relationships/notesMaster" Target="/ppt/notesMasters/notesMaster1.xml" Id="R91825e131e2b4e8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b2add279a8244e1" /><Relationship Type="http://schemas.openxmlformats.org/officeDocument/2006/relationships/notesMaster" Target="/ppt/notesMasters/notesMaster1.xml" Id="R74a8cfc8fdbd423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3a05edc87994abc" /><Relationship Type="http://schemas.openxmlformats.org/officeDocument/2006/relationships/notesMaster" Target="/ppt/notesMasters/notesMaster1.xml" Id="R56167a9faa224fa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0642a5f0aef4451" /><Relationship Type="http://schemas.openxmlformats.org/officeDocument/2006/relationships/notesMaster" Target="/ppt/notesMasters/notesMaster1.xml" Id="R9bfe8a111a83475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e6d6d6c2459499a" /><Relationship Type="http://schemas.openxmlformats.org/officeDocument/2006/relationships/notesMaster" Target="/ppt/notesMasters/notesMaster1.xml" Id="R5e09cda48a834e9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2b8691d0b84269" /><Relationship Type="http://schemas.openxmlformats.org/officeDocument/2006/relationships/notesMaster" Target="/ppt/notesMasters/notesMaster1.xml" Id="R649fbbb5c2ea4d3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c2ac250fac241f1" /><Relationship Type="http://schemas.openxmlformats.org/officeDocument/2006/relationships/notesMaster" Target="/ppt/notesMasters/notesMaster1.xml" Id="Rab61a879193e4b2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c78a59f1a374cfb" /><Relationship Type="http://schemas.openxmlformats.org/officeDocument/2006/relationships/notesMaster" Target="/ppt/notesMasters/notesMaster1.xml" Id="R0f827a0b604c400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2cba1bb6ef54eb7" /><Relationship Type="http://schemas.openxmlformats.org/officeDocument/2006/relationships/notesMaster" Target="/ppt/notesMasters/notesMaster1.xml" Id="Re45b646e59814e1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8b0dde8897e44d7" /><Relationship Type="http://schemas.openxmlformats.org/officeDocument/2006/relationships/notesMaster" Target="/ppt/notesMasters/notesMaster1.xml" Id="R791b7c818c3a414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370531eb41645e8" /><Relationship Type="http://schemas.openxmlformats.org/officeDocument/2006/relationships/notesMaster" Target="/ppt/notesMasters/notesMaster1.xml" Id="R6ec3204df2d740c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47fea981be94156" /><Relationship Type="http://schemas.openxmlformats.org/officeDocument/2006/relationships/notesMaster" Target="/ppt/notesMasters/notesMaster1.xml" Id="R2cd4d31b156d409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747203af99a4fba" /><Relationship Type="http://schemas.openxmlformats.org/officeDocument/2006/relationships/notesMaster" Target="/ppt/notesMasters/notesMaster1.xml" Id="Rb28cd4b8f8c94c1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1ce73667eab4d79" /><Relationship Type="http://schemas.openxmlformats.org/officeDocument/2006/relationships/notesMaster" Target="/ppt/notesMasters/notesMaster1.xml" Id="R19f776ffaa1247d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54e919796a6485e" /><Relationship Type="http://schemas.openxmlformats.org/officeDocument/2006/relationships/notesMaster" Target="/ppt/notesMasters/notesMaster1.xml" Id="R67e619bb3168446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8e00c8f6fe04f9f" /><Relationship Type="http://schemas.openxmlformats.org/officeDocument/2006/relationships/notesMaster" Target="/ppt/notesMasters/notesMaster1.xml" Id="Re285d87fcab145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1: Todo アプリの構築 1</a:t>
            </a:r>
          </a:p>
          <a:p xmlns:a="http://schemas.openxmlformats.org/drawingml/2006/main">
            <a:r>
              <a:t>この回では、Azure Container Apps と Azure Database for PostgreSQL を使う Todo アプリの土台を作り、第6回でデプロイするための値を整理します。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2: 今日のゴール</a:t>
            </a:r>
          </a:p>
          <a:p xmlns:a="http://schemas.openxmlformats.org/drawingml/2006/main">
            <a:r>
              <a:t>今日はアプリを完成させる日ではありません。完成に必要な Azure リソースを作り、名前、URL、ID、DB の状態を第6回へ引き継げるようにします。</a:t>
            </a:r>
          </a:p>
          <a:p xmlns:a="http://schemas.openxmlformats.org/drawingml/2006/main"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3: 第3回から第4回の振り返り</a:t>
            </a:r>
          </a:p>
          <a:p xmlns:a="http://schemas.openxmlformats.org/drawingml/2006/main">
            <a:r>
              <a:t>これまでは Web サーバ単体を VM と ACI で動かしました。今回は Web だけでなく、API と DB を含む複合アプリへ進みます。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4: 単体 Web サーバから複合アプリへ</a:t>
            </a:r>
          </a:p>
          <a:p xmlns:a="http://schemas.openxmlformats.org/drawingml/2006/main">
            <a:r>
              <a:t>Todo アプリでは画面を表示するだけでなく、Todo の保存、更新、削除、サインイン、デプロイの自動化まで複数サービスが連携します。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5: Todo アプリの完成形</a:t>
            </a:r>
          </a:p>
          <a:p xmlns:a="http://schemas.openxmlformats.org/drawingml/2006/main">
            <a:r>
              <a:t>完成形では Web と API が Azure Container Apps で動き、コンテナイメージは ACR に置かれ、Todo データは Azure Database for PostgreSQL に保存されます。</a:t>
            </a:r>
          </a:p>
          <a:p xmlns:a="http://schemas.openxmlformats.org/drawingml/2006/main"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6: 第5回と第6回の分担</a:t>
            </a:r>
          </a:p>
          <a:p xmlns:a="http://schemas.openxmlformats.org/drawingml/2006/main">
            <a:r>
              <a:t>2回続きのハンズオンなので、今日は土台を作って引き継ぐ日、第6回は GitHub Actions で実アプリをデプロイして動作確認する日、と分けて考えます。</a:t>
            </a:r>
          </a:p>
          <a:p xmlns:a="http://schemas.openxmlformats.org/drawingml/2006/main"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7: Web/API/DB と Azure サービス</a:t>
            </a:r>
          </a:p>
          <a:p xmlns:a="http://schemas.openxmlformats.org/drawingml/2006/main">
            <a:r>
              <a:t>Web 3層の役割を、今回の Azure サービスに対応付けます。第5回では主に配置先と接続先を作り、第6回で実アプリのイメージに更新します。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8: DBaaS とは</a:t>
            </a:r>
          </a:p>
          <a:p xmlns:a="http://schemas.openxmlformats.org/drawingml/2006/main">
            <a:r>
              <a:t>DBaaS は、データベースサーバーの基盤運用をクラウドサービスに任せ、利用者はデータ、接続、認証、コスト管理に集中する考え方です。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9: PostgreSQL の役割</a:t>
            </a:r>
          </a:p>
          <a:p xmlns:a="http://schemas.openxmlformats.org/drawingml/2006/main">
            <a:r>
              <a:t>PostgreSQL は、API からの問い合わせに応じて Todo を表として保存し、検索、更新、削除できるリレーショナルデータベースです。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10: Azure Database for PostgreSQL</a:t>
            </a:r>
          </a:p>
          <a:p xmlns:a="http://schemas.openxmlformats.org/drawingml/2006/main">
            <a:r>
              <a:t>Azure Database for PostgreSQL Flexible Server は、PostgreSQL エンジンを Azure のマネージドサービスとして使う選択肢です。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11: 停止と削除の違い</a:t>
            </a:r>
          </a:p>
          <a:p xmlns:a="http://schemas.openxmlformats.org/drawingml/2006/main">
            <a:r>
              <a:t>第5回の最後はリソースグループを削除しません。第6回で使うため PostgreSQL は残し、コンピュートだけを停止します。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12: Container Apps Environment</a:t>
            </a:r>
          </a:p>
          <a:p xmlns:a="http://schemas.openxmlformats.org/drawingml/2006/main">
            <a:r>
              <a:t>Container Apps Environment は、Web と API の Container App を動かす共通の環境です。第5回ではプレースホルダーを作り、第6回で実イメージへ更新します。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13: ACR の役割</a:t>
            </a:r>
          </a:p>
          <a:p xmlns:a="http://schemas.openxmlformats.org/drawingml/2006/main">
            <a:r>
              <a:t>第4回では講師共有の ACR からイメージを pull しました。第5回からは受講者ごとの ACR を作り、第6回で GitHub Actions から push 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14: VNet とサブネット</a:t>
            </a:r>
          </a:p>
          <a:p xmlns:a="http://schemas.openxmlformats.org/drawingml/2006/main">
            <a:r>
              <a:t>アプリ実行環境と DB 接続を安全に整理するため、VNet の中に用途別のサブネットを用意します。詳細なネットワーク設計は第7回で扱います。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15: Managed Identity</a:t>
            </a:r>
          </a:p>
          <a:p xmlns:a="http://schemas.openxmlformats.org/drawingml/2006/main">
            <a:r>
              <a:t>Managed Identity は、アプリや Azure リソースが秘密情報を直接持たずに Azure 上の権限を使うための ID です。</a:t>
            </a:r>
          </a:p>
          <a:p xmlns:a="http://schemas.openxmlformats.org/drawingml/2006/main"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16: Entra ID アプリ登録</a:t>
            </a:r>
          </a:p>
          <a:p xmlns:a="http://schemas.openxmlformats.org/drawingml/2006/main">
            <a:r>
              <a:t>Web サインインでは、Microsoft Entra ID にアプリを登録し、Web Container App の URL を redirect URI として扱います。</a:t>
            </a:r>
          </a:p>
          <a:p xmlns:a="http://schemas.openxmlformats.org/drawingml/2006/main">
            <a:r>
              <a:t>補足: Entra ID アプリ登録の Client ID/Tenant ID と GitHub Actions 用 Service Principal は別の値として混同を避ける。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17: 秘密情報の扱い</a:t>
            </a:r>
          </a:p>
          <a:p xmlns:a="http://schemas.openxmlformats.org/drawingml/2006/main">
            <a:r>
              <a:t>接続情報の一部は第6回で必要ですが、公開資料やスクリーンショットに残してよい情報とは限りません。記録する値と隠す値を分けます。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18: ハンズオンで使う値</a:t>
            </a:r>
          </a:p>
          <a:p xmlns:a="http://schemas.openxmlformats.org/drawingml/2006/main">
            <a:r>
              <a:t>名前をそろえると、講師が状況を確認しやすく、第6回で variables に入れる値も迷いにくくなります。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19: ハンズオンの流れ</a:t>
            </a:r>
          </a:p>
          <a:p xmlns:a="http://schemas.openxmlformats.org/drawingml/2006/main">
            <a:r>
              <a:t>リソースを作成し、値を記録し、最後に PostgreSQL を停止します。作成操作が多いので、今どこを作っているかを図で確認しながら進めます。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20: Azure Portal にサインイン</a:t>
            </a:r>
          </a:p>
          <a:p xmlns:a="http://schemas.openxmlformats.org/drawingml/2006/main">
            <a:r>
              <a:t>講師が案内したアカウントで Azure Portal に入り、作業対象のサブスクリプションが見えることを確認します。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21: リソースグループを作成する</a:t>
            </a:r>
          </a:p>
          <a:p xmlns:a="http://schemas.openxmlformats.org/drawingml/2006/main">
            <a:r>
              <a:t>第5回と第6回で使う Azure リソースは、受講者ごとの同じリソースグループにまとめます。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22: リソースグループ作成を確認する</a:t>
            </a:r>
          </a:p>
          <a:p xmlns:a="http://schemas.openxmlformats.org/drawingml/2006/main">
            <a:r>
              <a:t>作成したリソースグループの Overview を開き、名前、リージョン、これから作るリソースの配置先を確認します。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23: VNet を作成する</a:t>
            </a:r>
          </a:p>
          <a:p xmlns:a="http://schemas.openxmlformats.org/drawingml/2006/main">
            <a:r>
              <a:t>Container Apps と PostgreSQL の接続を考える土台として、受講者ごとの VNet を作成します。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24: サブネットを作成する</a:t>
            </a:r>
          </a:p>
          <a:p xmlns:a="http://schemas.openxmlformats.org/drawingml/2006/main">
            <a:r>
              <a:t>Container Apps、Private Endpoint、PostgreSQL の用途を分けて、後続手順で参照するサブネット名をそろえます。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25: ACR を作成する</a:t>
            </a:r>
          </a:p>
          <a:p xmlns:a="http://schemas.openxmlformats.org/drawingml/2006/main">
            <a:r>
              <a:t>第6回で Web/API のコンテナイメージを push するため、受講者ごとの Azure Container Registry を作成します。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26: ACR の Overview を確認する</a:t>
            </a:r>
          </a:p>
          <a:p xmlns:a="http://schemas.openxmlformats.org/drawingml/2006/main">
            <a:r>
              <a:t>第6回の GitHub Actions 設定では ACR 名と login server を参照します。画面で確認し、接続情報一覧に記録します。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27: API Container App と Environment を作成する</a:t>
            </a:r>
          </a:p>
          <a:p xmlns:a="http://schemas.openxmlformats.org/drawingml/2006/main">
            <a:r>
              <a:t>まず API 側のプレースホルダー Container App を作成し、この操作の中で Container Apps Environment も用意します。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28: API Container App の URL を記録する</a:t>
            </a:r>
          </a:p>
          <a:p xmlns:a="http://schemas.openxmlformats.org/drawingml/2006/main">
            <a:r>
              <a:t>API の Application URL は、第6回で Web から API を呼び出す設定に使います。Web URL と取り違えないようにします。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29: Web Container App を作成する</a:t>
            </a:r>
          </a:p>
          <a:p xmlns:a="http://schemas.openxmlformats.org/drawingml/2006/main">
            <a:r>
              <a:t>同じ Container Apps Environment に、Web 側のプレースホルダー Container App を作成します。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30: Web Container App の URL を記録する</a:t>
            </a:r>
          </a:p>
          <a:p xmlns:a="http://schemas.openxmlformats.org/drawingml/2006/main">
            <a:r>
              <a:t>Web URL は利用者がアクセスする入口であり、Entra ID アプリ登録の redirect URI と第6回の variables に使います。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31: PostgreSQL Flexible Server を作成する</a:t>
            </a:r>
          </a:p>
          <a:p xmlns:a="http://schemas.openxmlformats.org/drawingml/2006/main">
            <a:r>
              <a:t>Todo データを保存する DB 層として、Azure Database for PostgreSQL Flexible Server を作成します。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32: PostgreSQL の認証を設定する</a:t>
            </a:r>
          </a:p>
          <a:p xmlns:a="http://schemas.openxmlformats.org/drawingml/2006/main">
            <a:r>
              <a:t>元ガイドに合わせ、Microsoft Entra authentication only など講師検証済みの認証設定を選びます。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33: PostgreSQL のネットワークを設定する</a:t>
            </a:r>
          </a:p>
          <a:p xmlns:a="http://schemas.openxmlformats.org/drawingml/2006/main">
            <a:r>
              <a:t>Container Apps から PostgreSQL に接続できるよう、Private access、VNet、Private DNS などの設定を手順に合わせます。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34: PostgreSQL の作成内容を確認する</a:t>
            </a:r>
          </a:p>
          <a:p xmlns:a="http://schemas.openxmlformats.org/drawingml/2006/main">
            <a:r>
              <a:t>作成前に、リージョン、SKU、認証、ネットワークが講師の案内と一致しているか確認します。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35: PostgreSQL の Overview を確認する</a:t>
            </a:r>
          </a:p>
          <a:p xmlns:a="http://schemas.openxmlformats.org/drawingml/2006/main">
            <a:r>
              <a:t>作成後にサーバー名、状態、接続に必要な値を確認し、第6回の接続情報一覧に反映します。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36: Managed Identity を作成する</a:t>
            </a:r>
          </a:p>
          <a:p xmlns:a="http://schemas.openxmlformats.org/drawingml/2006/main">
            <a:r>
              <a:t>DB への権限付与と第6回の設定に使う User-assigned Managed Identity を作成します。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37: Managed Identity の値を記録する</a:t>
            </a:r>
          </a:p>
          <a:p xmlns:a="http://schemas.openxmlformats.org/drawingml/2006/main">
            <a:r>
              <a:t>Client ID や Resource ID は第6回で variables に使います。公開資料ではマスクしつつ、手元メモには正しく記録します。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  <a:p xmlns:a="http://schemas.openxmlformats.org/drawingml/2006/main"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38: データベースを作成し権限を付与する</a:t>
            </a:r>
          </a:p>
          <a:p xmlns:a="http://schemas.openxmlformats.org/drawingml/2006/main">
            <a:r>
              <a:t>Todo アプリ用の DB を作成し、Managed Identity が DB にアクセスできるように権限を付与します。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補足: Managed Identity は秘密情報を直接持たずに Azure 上の権限を使うための ID として説明する。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39: Entra ID アプリ登録を作成する</a:t>
            </a:r>
          </a:p>
          <a:p xmlns:a="http://schemas.openxmlformats.org/drawingml/2006/main">
            <a:r>
              <a:t>Web サインイン用のアプリ登録を作成し、Web Container App URL を SPA redirect URI として設定します。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補足: Entra ID アプリ登録の Client ID/Tenant ID と GitHub Actions 用 Service Principal は別の値として混同を避ける。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40: アプリ登録の ID を記録する</a:t>
            </a:r>
          </a:p>
          <a:p xmlns:a="http://schemas.openxmlformats.org/drawingml/2006/main">
            <a:r>
              <a:t>Application client ID と Tenant ID は第6回の Web サインイン設定で使います。GitHub Actions 用 Service Principal の ID とは別物です。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  <a:p xmlns:a="http://schemas.openxmlformats.org/drawingml/2006/main">
            <a:r>
              <a:t>補足: Entra ID アプリ登録の Client ID/Tenant ID と GitHub Actions 用 Service Principal は別の値として混同を避ける。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41: 接続情報一覧に記録する</a:t>
            </a:r>
          </a:p>
          <a:p xmlns:a="http://schemas.openxmlformats.org/drawingml/2006/main">
            <a:r>
              <a:t>元ガイドのサマリー項目を見ながら、Resource group、ACR、Web/API URL、PostgreSQL、Identity、Entra ID の値をそろえます。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42: 記録すべき値と隠す値</a:t>
            </a:r>
          </a:p>
          <a:p xmlns:a="http://schemas.openxmlformats.org/drawingml/2006/main">
            <a:r>
              <a:t>値を記録することと、公開資料に残すことは別です。第6回で使う値ほど、公開時のマスク対象にもなりやすい点に注意します。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確認: 第6回で使う URL、ID、名前は手元メモに記録する。Secret、接続文字列、認証情報は公開資料に残さない。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43: 作成済みリソースを確認する</a:t>
            </a:r>
          </a:p>
          <a:p xmlns:a="http://schemas.openxmlformats.org/drawingml/2006/main">
            <a:r>
              <a:t>リソースグループ内に、VNet、ACR、API/Web Container App、Container Apps Environment、PostgreSQL、Managed Identity がそろっているか確認します。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44: 第5回終了時点のアーキテクチャ</a:t>
            </a:r>
          </a:p>
          <a:p xmlns:a="http://schemas.openxmlformats.org/drawingml/2006/main">
            <a:r>
              <a:t>まだ実アプリのコンテナイメージは動いていませんが、デプロイ先、DB、認証、権限、記録すべき値がそろいました。</a:t>
            </a:r>
          </a:p>
          <a:p xmlns:a="http://schemas.openxmlformats.org/drawingml/2006/main">
            <a:r>
              <a:t>講師メモ: 第5回は完成アプリのデプロイ日ではなく、第6回へ引き継ぐリソースと値を作る回であることを強調する。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45: PostgreSQL を停止する</a:t>
            </a:r>
          </a:p>
          <a:p xmlns:a="http://schemas.openxmlformats.org/drawingml/2006/main">
            <a:r>
              <a:t>第6回までリソースは残しますが、DB のコンピュート課金を抑えるため PostgreSQL Flexible Server を Stop します。</a:t>
            </a:r>
          </a:p>
          <a:p xmlns:a="http://schemas.openxmlformats.org/drawingml/2006/main">
            <a:r>
              <a:t>講師メモ: スクリーンショットは Portal 操作の証跡として扱い、マスク済み情報を復元・推測しない。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46: 停止後の課金注意</a:t>
            </a:r>
          </a:p>
          <a:p xmlns:a="http://schemas.openxmlformats.org/drawingml/2006/main">
            <a:r>
              <a:t>Stop は削除ではありません。コンピュート課金を抑える目的で使いますが、ストレージなどの課金が残る可能性はあります。</a:t>
            </a:r>
          </a:p>
          <a:p xmlns:a="http://schemas.openxmlformats.org/drawingml/2006/main">
            <a:r>
              <a:t>注意: PostgreSQL は第6回に引き継ぐため削除しない。最後は Stop し、停止後もストレージ課金が残る可能性を説明する。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47: よくある失敗</a:t>
            </a:r>
          </a:p>
          <a:p xmlns:a="http://schemas.openxmlformats.org/drawingml/2006/main">
            <a:r>
              <a:t>操作量が多い回なので、名前、権限、ネットワーク、接続情報、停止忘れを短時間で確認できるようにします。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48: 復旧できない場合</a:t>
            </a:r>
          </a:p>
          <a:p xmlns:a="http://schemas.openxmlformats.org/drawingml/2006/main">
            <a:r>
              <a:t>時間内にリソース作成を完了できない場合でも、どの値が何に使われるかを理解して第6回へつなげます。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49: 今日のまとめ</a:t>
            </a:r>
          </a:p>
          <a:p xmlns:a="http://schemas.openxmlformats.org/drawingml/2006/main">
            <a:r>
              <a:t>Todo アプリの完成には、アプリ実行、イメージ保管、DB、認証、ネットワーク、デプロイ設定がそろう必要があります。第5回では、その土台を作りました。</a:t>
            </a:r>
          </a:p>
          <a:p xmlns:a="http://schemas.openxmlformats.org/drawingml/2006/main">
            <a:r>
              <a:t>講師メモ: 第5回は完成アプリのデプロイ日ではなく、第6回へ引き継ぐリソースと値を作る回であることを強調する。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50: QA</a:t>
            </a:r>
          </a:p>
          <a:p xmlns:a="http://schemas.openxmlformats.org/drawingml/2006/main">
            <a:r>
              <a:t>作成したリソース、接続情報一覧、PostgreSQL の停止状態を確認し、第6回のデプロイに向けて不明点を解消します。</a:t>
            </a:r>
          </a:p>
          <a:p xmlns:a="http://schemas.openxmlformats.org/drawingml/2006/main">
            <a:r>
              <a:t>QA 意図: Web/API/DB の対応、第6回へ持ち越す値、Stop と Delete の違いを口頭で確認する。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c9d14a02346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ba9091eba46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3a646343340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b4f78316f40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9014d223f42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1c8129ef14269" /></Relationships>
</file>

<file path=ppt/slideLayouts/slideLayout2.xml><?xml version="1.0" encoding="utf-8"?>
<p:sldLayout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5492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 xmlns:a="http://schemas.openxmlformats.org/drawingml/2006/main"/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162974"/>
            <a:ext cx="10515600" cy="49076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610600" y="6356348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38200" y="6356349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スライド表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/>
            </a:lvl1pPr>
          </a:lstStyle>
          <a:p xmlns:a="http://schemas.openxmlformats.org/drawingml/2006/main"/>
        </p:txBody>
      </p:sp>
      <p:sp>
        <p:nvSpPr>
          <p:cNvPr id="4" name="字幕 2">
            <a:extLst xmlns:a="http://schemas.openxmlformats.org/drawingml/2006/main"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8633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テキスト 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/>
          <p:nvPr>
            <p:ph type="body" idx="10"/>
          </p:nvPr>
        </p:nvSpPr>
        <p:spPr>
          <a:xfrm xmlns:a="http://schemas.openxmlformats.org/drawingml/2006/main">
            <a:off x="577356" y="5155452"/>
            <a:ext cx="5184775" cy="1221390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400"/>
              </a:spcBef>
              <a:buNone/>
              <a:defRPr sz="2400"/>
            </a:lvl1pPr>
          </a:lstStyle>
          <a:p xmlns:a="http://schemas.openxmlformats.org/drawingml/2006/main"/>
        </p:txBody>
      </p:sp>
      <p:sp>
        <p:nvSpPr>
          <p:cNvPr id="12" name="テキスト 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/>
          <p:nvPr>
            <p:ph type="body" idx="11"/>
          </p:nvPr>
        </p:nvSpPr>
        <p:spPr>
          <a:xfrm xmlns:a="http://schemas.openxmlformats.org/drawingml/2006/main">
            <a:off x="9282113" y="5919642"/>
            <a:ext cx="2572430" cy="457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r">
              <a:buNone/>
              <a:defRPr sz="2400"/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5492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 xmlns:a="http://schemas.openxmlformats.org/drawingml/2006/main"/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162974"/>
            <a:ext cx="10515600" cy="11738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610600" y="6356348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38200" y="6356349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エンドクレジット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テキスト 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838200" y="2716213"/>
            <a:ext cx="10374313" cy="226218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リード文な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5492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610600" y="6356348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38200" y="6356349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00c45370f844af" /><Relationship Type="http://schemas.openxmlformats.org/officeDocument/2006/relationships/slideLayout" Target="/ppt/slideLayouts/slideLayout2.xml" Id="Rd6eacc25fecc4f4e" /><Relationship Type="http://schemas.openxmlformats.org/officeDocument/2006/relationships/slideLayout" Target="/ppt/slideLayouts/slideLayout3.xml" Id="R2daa895064154916" /><Relationship Type="http://schemas.openxmlformats.org/officeDocument/2006/relationships/slideLayout" Target="/ppt/slideLayouts/slideLayout4.xml" Id="Re0cb1958da7a4fdd" /><Relationship Type="http://schemas.openxmlformats.org/officeDocument/2006/relationships/slideLayout" Target="/ppt/slideLayouts/slideLayout5.xml" Id="R9384fcfdeb084a06" /><Relationship Type="http://schemas.openxmlformats.org/officeDocument/2006/relationships/slideLayout" Target="/ppt/slideLayouts/slideLayout6.xml" Id="R8640deecb9a84b2d" /><Relationship Type="http://schemas.openxmlformats.org/officeDocument/2006/relationships/slideLayout" Target="/ppt/slideLayouts/slideLayout7.xml" Id="R595b0e7c3e05406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C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acc25fecc4f4e"/>
    <p:sldLayoutId xmlns:r="http://schemas.openxmlformats.org/officeDocument/2006/relationships" id="2147483650" r:id="R2daa895064154916"/>
    <p:sldLayoutId xmlns:r="http://schemas.openxmlformats.org/officeDocument/2006/relationships" id="2147483651" r:id="Re0cb1958da7a4fdd"/>
    <p:sldLayoutId xmlns:r="http://schemas.openxmlformats.org/officeDocument/2006/relationships" id="2147483652" r:id="R9384fcfdeb084a06"/>
    <p:sldLayoutId xmlns:r="http://schemas.openxmlformats.org/officeDocument/2006/relationships" id="2147483653" r:id="R8640deecb9a84b2d"/>
    <p:sldLayoutId xmlns:r="http://schemas.openxmlformats.org/officeDocument/2006/relationships" id="2147483654" r:id="R595b0e7c3e05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5a00c10fac456b" /><Relationship Type="http://schemas.openxmlformats.org/officeDocument/2006/relationships/notesSlide" Target="/ppt/notesSlides/notesSlide1.xml" Id="R6929cc42a29d48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bf989ed9ec84e03" /><Relationship Type="http://schemas.openxmlformats.org/officeDocument/2006/relationships/notesSlide" Target="/ppt/notesSlides/notesSlide2.xml" Id="Re7e3b84df7b04a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87a4af9bd664771" /><Relationship Type="http://schemas.openxmlformats.org/officeDocument/2006/relationships/notesSlide" Target="/ppt/notesSlides/notesSlide3.xml" Id="Rfa1cad070e92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0ff92feaea04629" /><Relationship Type="http://schemas.openxmlformats.org/officeDocument/2006/relationships/notesSlide" Target="/ppt/notesSlides/notesSlide4.xml" Id="R1c15e0693ac949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d1fa3895e9341d0" /><Relationship Type="http://schemas.openxmlformats.org/officeDocument/2006/relationships/notesSlide" Target="/ppt/notesSlides/notesSlide5.xml" Id="Rc9d466184a244c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b83cf77d8844cd6" /><Relationship Type="http://schemas.openxmlformats.org/officeDocument/2006/relationships/notesSlide" Target="/ppt/notesSlides/notesSlide6.xml" Id="R206cb95ab5a549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fe01b674f04a0d" /><Relationship Type="http://schemas.openxmlformats.org/officeDocument/2006/relationships/notesSlide" Target="/ppt/notesSlides/notesSlide7.xml" Id="R2f77d9104896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0c13cb0f6744ae3" /><Relationship Type="http://schemas.openxmlformats.org/officeDocument/2006/relationships/notesSlide" Target="/ppt/notesSlides/notesSlide8.xml" Id="Rb0023ebadcb145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4f758b8c97b491b" /><Relationship Type="http://schemas.openxmlformats.org/officeDocument/2006/relationships/notesSlide" Target="/ppt/notesSlides/notesSlide9.xml" Id="R5cc80c6e3cd348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c3992d9305b4746" /><Relationship Type="http://schemas.openxmlformats.org/officeDocument/2006/relationships/notesSlide" Target="/ppt/notesSlides/notesSlide10.xml" Id="R27063eaa3fb044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a460b4e5c7a4824" /><Relationship Type="http://schemas.openxmlformats.org/officeDocument/2006/relationships/notesSlide" Target="/ppt/notesSlides/notesSlide11.xml" Id="R4fb479a3e6354c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01cf426ee504ba7" /><Relationship Type="http://schemas.openxmlformats.org/officeDocument/2006/relationships/notesSlide" Target="/ppt/notesSlides/notesSlide12.xml" Id="R4a4345f10cb64a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470a7de503b468c" /><Relationship Type="http://schemas.openxmlformats.org/officeDocument/2006/relationships/notesSlide" Target="/ppt/notesSlides/notesSlide13.xml" Id="R716236f03ed34b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7bedb2f498742f1" /><Relationship Type="http://schemas.openxmlformats.org/officeDocument/2006/relationships/notesSlide" Target="/ppt/notesSlides/notesSlide14.xml" Id="R6d7bac1775b44c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42af13abc145ff" /><Relationship Type="http://schemas.openxmlformats.org/officeDocument/2006/relationships/notesSlide" Target="/ppt/notesSlides/notesSlide15.xml" Id="R9ec326d6de544c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724cbe4ce644b68" /><Relationship Type="http://schemas.openxmlformats.org/officeDocument/2006/relationships/notesSlide" Target="/ppt/notesSlides/notesSlide16.xml" Id="Rc411bc94191e45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bbbbc6c6db64025" /><Relationship Type="http://schemas.openxmlformats.org/officeDocument/2006/relationships/notesSlide" Target="/ppt/notesSlides/notesSlide17.xml" Id="R011a1af3941048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38bba6a1284b9c" /><Relationship Type="http://schemas.openxmlformats.org/officeDocument/2006/relationships/notesSlide" Target="/ppt/notesSlides/notesSlide18.xml" Id="R8c3d7833831c40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34a94bd689f4ab1" /><Relationship Type="http://schemas.openxmlformats.org/officeDocument/2006/relationships/notesSlide" Target="/ppt/notesSlides/notesSlide19.xml" Id="R54a84393048345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7d11c38c84947eb" /><Relationship Type="http://schemas.openxmlformats.org/officeDocument/2006/relationships/image" Target="/ppt/media/image.png" Id="R85f0cc96240e43b7" /><Relationship Type="http://schemas.openxmlformats.org/officeDocument/2006/relationships/notesSlide" Target="/ppt/notesSlides/notesSlide20.xml" Id="Rde5cf701907746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a2ab5ecb70f4537" /><Relationship Type="http://schemas.openxmlformats.org/officeDocument/2006/relationships/image" Target="/ppt/media/image2.png" Id="R87b4beeba1cf4650" /><Relationship Type="http://schemas.openxmlformats.org/officeDocument/2006/relationships/notesSlide" Target="/ppt/notesSlides/notesSlide21.xml" Id="Re8c1ddc09a954d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61d52617bec462a" /><Relationship Type="http://schemas.openxmlformats.org/officeDocument/2006/relationships/image" Target="/ppt/media/image3.png" Id="Recf1591b646944a5" /><Relationship Type="http://schemas.openxmlformats.org/officeDocument/2006/relationships/notesSlide" Target="/ppt/notesSlides/notesSlide22.xml" Id="Rccda40be59a249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edbcf5671a44ba" /><Relationship Type="http://schemas.openxmlformats.org/officeDocument/2006/relationships/image" Target="/ppt/media/image4.png" Id="R8b3324d6c3584559" /><Relationship Type="http://schemas.openxmlformats.org/officeDocument/2006/relationships/notesSlide" Target="/ppt/notesSlides/notesSlide23.xml" Id="R72a073105f0d45f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cc2d82b84d549f5" /><Relationship Type="http://schemas.openxmlformats.org/officeDocument/2006/relationships/image" Target="/ppt/media/image5.png" Id="Rae167a7e32e74f8a" /><Relationship Type="http://schemas.openxmlformats.org/officeDocument/2006/relationships/notesSlide" Target="/ppt/notesSlides/notesSlide24.xml" Id="R33ee0c53ba044f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49fbf553aec4ba9" /><Relationship Type="http://schemas.openxmlformats.org/officeDocument/2006/relationships/image" Target="/ppt/media/image6.png" Id="R81b2b18889054418" /><Relationship Type="http://schemas.openxmlformats.org/officeDocument/2006/relationships/image" Target="/ppt/media/image7.png" Id="Ref52f28cd34e4708" /><Relationship Type="http://schemas.openxmlformats.org/officeDocument/2006/relationships/notesSlide" Target="/ppt/notesSlides/notesSlide25.xml" Id="Rc6c53b9afc1943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62c839deac4dda" /><Relationship Type="http://schemas.openxmlformats.org/officeDocument/2006/relationships/image" Target="/ppt/media/image8.png" Id="R4c8f3cd30a434a36" /><Relationship Type="http://schemas.openxmlformats.org/officeDocument/2006/relationships/notesSlide" Target="/ppt/notesSlides/notesSlide26.xml" Id="R0e9f4e3dc07b4a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989eb1757be4467" /><Relationship Type="http://schemas.openxmlformats.org/officeDocument/2006/relationships/image" Target="/ppt/media/image9.png" Id="R884fd261a43b4550" /><Relationship Type="http://schemas.openxmlformats.org/officeDocument/2006/relationships/notesSlide" Target="/ppt/notesSlides/notesSlide27.xml" Id="R3f6f2a73db80445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5abebc210394e41" /><Relationship Type="http://schemas.openxmlformats.org/officeDocument/2006/relationships/image" Target="/ppt/media/image10.png" Id="R55634a342c2c41b8" /><Relationship Type="http://schemas.openxmlformats.org/officeDocument/2006/relationships/notesSlide" Target="/ppt/notesSlides/notesSlide28.xml" Id="R7950abd5330b43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66443636849433b" /><Relationship Type="http://schemas.openxmlformats.org/officeDocument/2006/relationships/image" Target="/ppt/media/image11.png" Id="Re315b60f11144f8c" /><Relationship Type="http://schemas.openxmlformats.org/officeDocument/2006/relationships/notesSlide" Target="/ppt/notesSlides/notesSlide29.xml" Id="Rb12064f8ab8541b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fa89723a0f14bdc" /><Relationship Type="http://schemas.openxmlformats.org/officeDocument/2006/relationships/image" Target="/ppt/media/image12.png" Id="R331a78d343a04132" /><Relationship Type="http://schemas.openxmlformats.org/officeDocument/2006/relationships/notesSlide" Target="/ppt/notesSlides/notesSlide30.xml" Id="Rafd854f9ae5041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9bb3d4d64fb4652" /><Relationship Type="http://schemas.openxmlformats.org/officeDocument/2006/relationships/image" Target="/ppt/media/image13.png" Id="Ra34ea66b30314983" /><Relationship Type="http://schemas.openxmlformats.org/officeDocument/2006/relationships/notesSlide" Target="/ppt/notesSlides/notesSlide31.xml" Id="Rc15779cc1086458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10484a1956a43cb" /><Relationship Type="http://schemas.openxmlformats.org/officeDocument/2006/relationships/image" Target="/ppt/media/image14.png" Id="R738e3d79048f47e2" /><Relationship Type="http://schemas.openxmlformats.org/officeDocument/2006/relationships/notesSlide" Target="/ppt/notesSlides/notesSlide32.xml" Id="R584edd04ad9c46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90f5845e1714d9b" /><Relationship Type="http://schemas.openxmlformats.org/officeDocument/2006/relationships/image" Target="/ppt/media/image15.png" Id="R6e4c11cb800b417f" /><Relationship Type="http://schemas.openxmlformats.org/officeDocument/2006/relationships/notesSlide" Target="/ppt/notesSlides/notesSlide33.xml" Id="R56bc40e9828b4da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1a38f10c9a64ee6" /><Relationship Type="http://schemas.openxmlformats.org/officeDocument/2006/relationships/image" Target="/ppt/media/image16.png" Id="Re3197794f91c4349" /><Relationship Type="http://schemas.openxmlformats.org/officeDocument/2006/relationships/notesSlide" Target="/ppt/notesSlides/notesSlide34.xml" Id="Re319aafbc6d2434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ebb682c0b774bae" /><Relationship Type="http://schemas.openxmlformats.org/officeDocument/2006/relationships/image" Target="/ppt/media/image17.png" Id="R822aefcade4e4a65" /><Relationship Type="http://schemas.openxmlformats.org/officeDocument/2006/relationships/notesSlide" Target="/ppt/notesSlides/notesSlide35.xml" Id="R8ef03f31516a4b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1e3c494e6ec4648" /><Relationship Type="http://schemas.openxmlformats.org/officeDocument/2006/relationships/image" Target="/ppt/media/image18.png" Id="R03b5823e26fa4ae2" /><Relationship Type="http://schemas.openxmlformats.org/officeDocument/2006/relationships/notesSlide" Target="/ppt/notesSlides/notesSlide36.xml" Id="R621f35069e2c407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04fdab0c4344529" /><Relationship Type="http://schemas.openxmlformats.org/officeDocument/2006/relationships/image" Target="/ppt/media/image19.png" Id="R274e887879a34a4c" /><Relationship Type="http://schemas.openxmlformats.org/officeDocument/2006/relationships/notesSlide" Target="/ppt/notesSlides/notesSlide37.xml" Id="R65f4f0f8e0ad4e9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ae2d4b7d1c7429a" /><Relationship Type="http://schemas.openxmlformats.org/officeDocument/2006/relationships/image" Target="/ppt/media/image20.png" Id="R4743f991dd5640d2" /><Relationship Type="http://schemas.openxmlformats.org/officeDocument/2006/relationships/image" Target="/ppt/media/image21.png" Id="R8f3bf9c8f2bc43cc" /><Relationship Type="http://schemas.openxmlformats.org/officeDocument/2006/relationships/notesSlide" Target="/ppt/notesSlides/notesSlide38.xml" Id="Rdd1145027a1e46f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c8b8c51b494de2" /><Relationship Type="http://schemas.openxmlformats.org/officeDocument/2006/relationships/image" Target="/ppt/media/image22.png" Id="R3659292673674579" /><Relationship Type="http://schemas.openxmlformats.org/officeDocument/2006/relationships/notesSlide" Target="/ppt/notesSlides/notesSlide39.xml" Id="Re8ab289d12694fc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851bb14cbe4b40" /><Relationship Type="http://schemas.openxmlformats.org/officeDocument/2006/relationships/image" Target="/ppt/media/image23.png" Id="R73e13c22b5624b65" /><Relationship Type="http://schemas.openxmlformats.org/officeDocument/2006/relationships/notesSlide" Target="/ppt/notesSlides/notesSlide40.xml" Id="Rdb241952a8ff423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571e45c8e44dbe" /><Relationship Type="http://schemas.openxmlformats.org/officeDocument/2006/relationships/image" Target="/ppt/media/image24.png" Id="R3c0f2bf562a0420f" /><Relationship Type="http://schemas.openxmlformats.org/officeDocument/2006/relationships/notesSlide" Target="/ppt/notesSlides/notesSlide41.xml" Id="R2d39810154244c6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a3f59d5706c4b2d" /><Relationship Type="http://schemas.openxmlformats.org/officeDocument/2006/relationships/notesSlide" Target="/ppt/notesSlides/notesSlide42.xml" Id="R478ae995366645a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2e3bb29c5a4c1c" /><Relationship Type="http://schemas.openxmlformats.org/officeDocument/2006/relationships/image" Target="/ppt/media/image25.png" Id="R6f7da75abc88443f" /><Relationship Type="http://schemas.openxmlformats.org/officeDocument/2006/relationships/notesSlide" Target="/ppt/notesSlides/notesSlide43.xml" Id="R799ba5ca963840d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44bcc9cda14c22" /><Relationship Type="http://schemas.openxmlformats.org/officeDocument/2006/relationships/notesSlide" Target="/ppt/notesSlides/notesSlide44.xml" Id="R4a79cb648f4f493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3239b7aedf4149" /><Relationship Type="http://schemas.openxmlformats.org/officeDocument/2006/relationships/image" Target="/ppt/media/image26.png" Id="R93e97ce0bd384e69" /><Relationship Type="http://schemas.openxmlformats.org/officeDocument/2006/relationships/image" Target="/ppt/media/image27.png" Id="R1b09c9bad9b845ed" /><Relationship Type="http://schemas.openxmlformats.org/officeDocument/2006/relationships/notesSlide" Target="/ppt/notesSlides/notesSlide45.xml" Id="R19a2c8acba544f1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666a73fc73049c3" /><Relationship Type="http://schemas.openxmlformats.org/officeDocument/2006/relationships/notesSlide" Target="/ppt/notesSlides/notesSlide46.xml" Id="R05f4de26030e427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0acd30231284ab0" /><Relationship Type="http://schemas.openxmlformats.org/officeDocument/2006/relationships/notesSlide" Target="/ppt/notesSlides/notesSlide47.xml" Id="Ra102f1c4f2c0474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5688996c9534145" /><Relationship Type="http://schemas.openxmlformats.org/officeDocument/2006/relationships/notesSlide" Target="/ppt/notesSlides/notesSlide48.xml" Id="Rd1604cd790cd42d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1750ab5badb4f41" /><Relationship Type="http://schemas.openxmlformats.org/officeDocument/2006/relationships/notesSlide" Target="/ppt/notesSlides/notesSlide49.xml" Id="Ref4c4a1ba362431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c35992c6a35417e" /><Relationship Type="http://schemas.openxmlformats.org/officeDocument/2006/relationships/notesSlide" Target="/ppt/notesSlides/notesSlide50.xml" Id="Rdf56f5c031dd41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258E3-ADEE-446E-91DD-EA512031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A6027-461B-4A82-AD12-91E6ABD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63895-720B-4B21-9392-EF05796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152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B12E1-07F4-4BCB-9A0C-AC63A297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14400"/>
            <a:ext cx="72390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7981E-69F9-4EAC-BCAC-7D708FF8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04950"/>
            <a:ext cx="72390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アプリの構築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9D1C7-CCAB-496B-8FE1-C4E1FEC1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24125"/>
            <a:ext cx="8001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この回では、Azure Container Apps と Azure Database for PostgreSQL を使う Todo アプリの土台を作り、第6回でデプロイするための値を整理します。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270DD-B695-4871-8850-3F24B9DE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19500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49AE2-F413-410C-8A09-365EFB8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9144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EAF70-918F-4391-BF10-70DAA48F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1950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1231C-0CC5-428A-BAC6-E17B6553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21526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オンライン座学 + ハンズオン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D6DAF-77F7-4B51-94FA-B93DA0A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676400" cy="3238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2DB7B-A5AF-4ABA-9734-3BA46EBD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86175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50分 + 10分 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4608F-7170-4A23-8678-75565C8A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1638300" cy="3238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4973D-2366-4F0E-B9ED-9AA6E631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86175"/>
            <a:ext cx="14097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2026年7月16日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0A1AA-445E-4182-8F7A-E94F7714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19700"/>
            <a:ext cx="79057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第6回に渡すリソースと値を作り、PostgreSQL は停止して引き継ぎます。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D2E28-D83A-4C11-AA9C-8C56F9B9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8DC59-5419-45C7-8B58-A8F5A82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今日のゴール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39AEC-7F96-4878-BD39-2D637176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02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F3FF4-7B05-40EC-946C-D6FCDE7A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20B5-7EBA-4A00-96DF-3C577F9B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今日はアプリを完成させる日ではありません。完成に必要な Azure リソースを作り、名前、URL、ID、DB の状態を第6回へ引き継げるようにします。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F21B7-BBB6-4514-916C-B3AB187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A92D1-161C-4E9F-A2E1-E789C93C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18FF3-AAC0-4EC4-AE9E-D542272C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Goal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A0964-B858-4A56-A8B7-4A31146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全体像を持つ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F94C9-E78A-4821-99CD-C7939A0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Web、API、DB が Azure のどのサービスに対応するか説明できる。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5403E-A7AC-45A3-ACE6-64542ED8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AAE62-DD6D-4EB9-95A3-A0766D93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BCCBC-6FA0-4788-A5CE-99DC3BDA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Goal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2D815-0E93-45AB-ACDF-64235F97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土台を作る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813D9-7C14-4D62-B1C8-7FBFDF2D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ACR、Container Apps、PostgreSQL、VNet、Identity を作成する。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E0501-F837-4CB7-93B4-FFF2A016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17F62-5D26-4205-81B9-31435D9D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8F613-607C-477F-8233-BC76C806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95750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Goal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71C9C-B94F-4D64-B17E-2EE2D192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24350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値を記録する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56FD7-6623-46CF-AF5B-6CA15125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 GitHub Actions に設定する値を一覧に整理する。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CBBC6-FB2B-48E3-BC9F-3AC3190B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4300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7B7A4-72A0-4D65-88E0-AD88497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4300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3DA76-EDD1-4B24-8F23-7C8B66B8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Goal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866D2-CCC1-437A-88A3-1A6B90A0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24350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を停止する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B3B76-D207-4A5D-A16C-0FA75BD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43450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リソースは残しつつ PostgreSQL のコンピュート課金を抑える。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58517-A7D7-42A7-BC87-C3F6766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BB5A87-2880-40F1-ABC0-B6871EE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第3回から第4回の振り返り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E1976-79E8-45DD-A214-130B4B99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03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45D80-4F1E-4C34-82B0-FE749051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C0240-03D4-40BB-B2E8-1E4C8F2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これまでは Web サーバ単体を VM と ACI で動かしました。今回は Web だけでなく、API と DB を含む複合アプリへ進みます。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CBBBC-03AD-49D3-87C5-22F1B44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3187700" cy="1428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6ED68-1E4E-4495-866E-4F37137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431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99876-7CD0-463C-9E0D-B8C2DA1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0325"/>
            <a:ext cx="2597150" cy="1162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第3回</a:t>
            </a:r>
          </a:p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VM + 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20F96-30D2-418D-AC34-6D4220D6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3143250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8072D-5304-434F-AC21-190AAE4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2428875"/>
            <a:ext cx="3187700" cy="1428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A8CD6-8A1C-4E11-AFA9-4D66FBA4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575" y="25431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18B9C-AFC3-41DB-B674-C665306D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25" y="2600325"/>
            <a:ext cx="2597150" cy="1162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第4回</a:t>
            </a:r>
          </a:p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ACI + NGINX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418B-48D0-4428-9371-EF70DF5B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75" y="3143250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D8393-9564-4772-A2DD-BBD9CF8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675" y="2428875"/>
            <a:ext cx="3187700" cy="1428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448DA-BA9B-42F8-A33B-6D9A050E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75" y="25431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4B755-0DE6-460D-B80C-4DA550A7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00325"/>
            <a:ext cx="2597150" cy="1162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第5-6回</a:t>
            </a:r>
          </a:p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Web/API/DB Todo アプリ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6615A-347A-4CDD-BF28-0F7AA543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8953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単体 Web サーバの体験を、複数サービスが連携するアプリ構成へ拡張します。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3CE0C-B468-4609-87C3-2067DB22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43581-84FC-4D79-B89D-F983457C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単体 Web サーバから複合アプリへ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316DA-E8EB-4875-8CB8-0A24EF3A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04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5C21E-A33A-4642-A118-36501DD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22CA9-1A15-456B-B29B-582F663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アプリでは画面を表示するだけでなく、Todo の保存、更新、削除、サインイン、デプロイの自動化まで複数サービスが連携します。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20DC8-93BE-42F9-A8FC-3689190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8AB39-0B3D-4B76-9622-7A9BF6D5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AE820-0177-4642-BC5C-A3F24CB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180FA-C612-40F2-97E0-64323C2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画面と入口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B1719-777F-4460-9BFC-AC80E3AB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利用者がアクセスする画面を提供します。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70288-2972-4A5F-A677-AFED299F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84C19-80AB-4627-AEBF-5A26EA07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8863A-DFD7-4E51-BB32-4B05BB8C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A307B-DC94-4D31-A052-F304129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業務処理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8DC53-BAC4-4148-98E0-562290B6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の作成、更新、削除を処理します。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93BF9-AB94-4392-B987-6CDD16C5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A5E79-9AE6-445C-9C29-1D9FBE6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F20E6-D836-4598-9435-C4632B9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A0E03-23AD-4A3A-9858-5FF5D5A6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データ保持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CB344-9C37-43AB-832C-A9E367F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の状態を PostgreSQL に保存します。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2266D-2FF5-4C84-96FD-2133CE2A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4687C-D9AC-425A-B167-5C4DBF89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アプリの完成形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78A94-A9DA-444A-B789-2197BCB4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05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D32E9-D307-4150-8CFE-ABD0BFFA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2117E-47CD-4AEE-9CD5-DC72835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完成形では Web と API が Azure Container Apps で動き、コンテナイメージは ACR に置かれ、Todo データは Azure Database for PostgreSQL に保存されます。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6209-D6C7-4396-BEDF-753B1A5F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38300"/>
            <a:ext cx="8191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完成形: Web / API / DB とデプロイ・認証の関係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AFC0-5B8F-4BCE-ABD9-F515847A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5810250" cy="259080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769AF-9B55-4FD8-883F-7A8EAA6E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38375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Virtual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288A7-AF1A-471D-8233-3B6C8A6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4762500" cy="1524000"/>
          </a:xfrm>
          <a:prstGeom xmlns:a="http://schemas.openxmlformats.org/drawingml/2006/main" prst="rect">
            <a:avLst/>
          </a:prstGeom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F282D-18AE-411D-B27A-973BD80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4095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Apps 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90B23-DCFA-49E2-9B0D-E423B10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1809750" cy="7810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35FDC-95FB-49BB-9587-03058F0B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15430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B1469-4E03-4C34-A85E-C9CBCD07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3775"/>
            <a:ext cx="1543050" cy="2952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画面と入口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92985-A203-4574-9DA0-4E782BF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7810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1D641-00C9-4545-A1B1-156BB2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19450"/>
            <a:ext cx="15430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CE8EF-53F8-40F8-95BE-B18E0BE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33775"/>
            <a:ext cx="1543050" cy="2952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操作を処理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F0CBA-2199-46EA-A6C7-900DE011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1381125" cy="72390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AD198-5F9B-4C55-B123-9A9013D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19450"/>
            <a:ext cx="11144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利用者ブラウザー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9DA47-B10D-4AEF-8421-F5A5352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533775"/>
            <a:ext cx="1114425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アクセス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B34F3-791F-4230-A4D2-5A5719E3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2381250" cy="8191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EA58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CC70D-C3DD-461A-A022-FEB07BF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21145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Database for 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59F72-C9BE-4BD1-95A0-2E80B58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62325"/>
            <a:ext cx="211455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データを保存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CC01C-20EB-4DE7-9356-BDF52A2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381250" cy="7429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CB0DF-E805-40AC-A903-50107489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4325"/>
            <a:ext cx="2114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Registry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1578-C2BB-473D-BE87-440984F4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211455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Web/API イメージ保管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D20F5-19AE-484E-AD6E-750E8504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476500" cy="7048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1580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BB508-83C9-4A62-B991-31522E47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22098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31389-2A19-4246-B207-E5A54129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91150"/>
            <a:ext cx="22098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第6回で build / push / 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95B03-9AC7-427A-8B88-9641434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53000"/>
            <a:ext cx="2476500" cy="7048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BE18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ADF39-326D-4752-8DDE-0CF32B0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76825"/>
            <a:ext cx="22098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1AD66-A026-454E-B2AF-4B2C4EF6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91150"/>
            <a:ext cx="22098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から DB へ権限付与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4B08E-4B0E-4ED9-8CFB-7672AB7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2476500" cy="7048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91855-3B22-409C-A56C-366D104C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76825"/>
            <a:ext cx="22098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B1FC85-3221-410B-87E0-F986D4A3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391150"/>
            <a:ext cx="22098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サインインの入口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FBF6E0-6079-47E5-A431-ECD80A09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D5359-6ED3-48FB-BB0B-D65BC3E3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EC1A12-AABC-4D66-99E5-7D23D26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428750" cy="-25717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CFA0B-1D56-46C8-B109-3ABE773C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53000"/>
            <a:ext cx="0" cy="-106680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BE185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232D0E-6627-462E-9B10-FEE133A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1580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93D137-D790-4CB6-B034-682A9C76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577F3-263B-4FA3-BF91-B45016DE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53000"/>
            <a:ext cx="3238500" cy="-57150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7C3A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B01234-764A-470E-A8D0-7775DF2F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053FC-5B25-4D8A-BA18-994C0B7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第5回と第6回の分担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48578-AED7-4F52-9566-81FDF7E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06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493B6-F4A5-4375-B258-CFE29163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3AB71-F17A-4BCA-85AB-6110405F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2回続きのハンズオンなので、今日は土台を作って引き継ぐ日、第6回は GitHub Actions で実アプリをデプロイして動作確認する日、と分けて考えます。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E9BA-23B4-4A4E-98AA-6B9B93BF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685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第5回は土台作り、第6回はデプロイ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1C78C-87DB-478D-83D0-0F3F37D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4333875" cy="266700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E4C77-38D8-4F26-9C13-7E8BCE7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333875" cy="266700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48B8E-66CE-46AB-BA98-BE35C65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3571875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第5回で作る土台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B71ED-3CC7-47D9-89D1-D10591CC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3571875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第6回で完成させる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D44BA-683C-4A7D-95D6-D11C92A3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1524000" cy="49530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0FAEE-1357-40DC-BD27-AEFC62D9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90850"/>
            <a:ext cx="1257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F872A-C0BB-4ED3-90F0-27BCCF0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28975"/>
            <a:ext cx="125730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外枠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4C61C-404C-41AB-8725-B0C9CF0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1524000" cy="49530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4EEF6-5FF9-4856-B100-E62E3771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990850"/>
            <a:ext cx="1257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/ Subnets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AB5DB-F516-442E-BEBA-5018E5DB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228975"/>
            <a:ext cx="125730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接続の区画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E7405-EFB1-4E6B-A66C-FE93D012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00450"/>
            <a:ext cx="1524000" cy="49530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0EE2E-B8B0-4AE1-8176-A510B15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86175"/>
            <a:ext cx="1257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A9E49-62FE-4877-98E6-F963314E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24300"/>
            <a:ext cx="125730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イメージ保管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795C0-2D2D-4E7A-89ED-A45A387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00450"/>
            <a:ext cx="1524000" cy="49530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BE1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25011-D7BD-43FB-97DF-81CEAF09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86175"/>
            <a:ext cx="12573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76F6A-464A-4F6D-8A0E-58147464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24300"/>
            <a:ext cx="125730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7B281-2007-4AFC-91EB-4423212D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95775"/>
            <a:ext cx="2952750" cy="49530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2DD12-8486-4B1B-A22F-2A28629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81500"/>
            <a:ext cx="26860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/ Entra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BEDC6-70E6-42E7-86CA-15D6E10B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19625"/>
            <a:ext cx="26860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認証と権限の入口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FAC68-1278-4A47-8AC6-A0DF828E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476375" cy="5143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AA92F-E8EB-4071-8E11-88C470CE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86100"/>
            <a:ext cx="120967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82049-97D5-4D67-B6F3-F4BC33C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24225"/>
            <a:ext cx="120967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ビルドと push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614B6-584D-4348-A756-C2248F2F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76375" cy="5143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59251-BC5E-4D05-9896-41EEC69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86100"/>
            <a:ext cx="120967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/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2B8320-4F37-4C70-B225-0D43B5BE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24225"/>
            <a:ext cx="120967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実イメージへ更新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0371B-E49F-483D-9F31-5FE107BC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1476375" cy="5143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8FC59-D619-4FA4-AEE7-FADF13C4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120967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アプリ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266B1-572A-4659-9A93-56B1C19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24325"/>
            <a:ext cx="120967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作成・編集・削除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B40A17-1253-4A01-9905-0138FD34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00475"/>
            <a:ext cx="1476375" cy="5143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EA580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D97499-1E6F-4A89-BF25-15809BB0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120967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 / 削除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BBEC5A-EE83-4271-AF8E-C0F4548E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24325"/>
            <a:ext cx="120967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コスト管理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D18374-2CCC-45C1-8DB5-79A8E1E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E6539B-D6CF-497C-B9B7-18F6EB51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16192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名前 / URL / ID を引き継ぐ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A125F0-37B1-4335-B8D1-83258E59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336924-3BFD-4195-B16D-689B119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Web/API/DB と Azure サービス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2A420-136C-47EA-AE7C-079CB37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07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39B65-FFDA-4463-954C-EDE0B0B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16045-C7C7-4CB8-813D-BCC174F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3層の役割を、今回の Azure サービスに対応付けます。第5回では主に配置先と接続先を作り、第6回で実アプリのイメージに更新します。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40286-9AA1-4D6B-91DA-D51097A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684F1-8D30-43B8-B630-9EFCA45C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役割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E2A71-0F39-4191-AF1E-053E0F69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DE6E4-CAAD-46F0-A223-20FFAFA9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Azure サービス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E88C4-02DA-4AAD-93FC-1420F9AF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E31EC-19C4-48B5-8C34-3909760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第5回での状態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94E76-DE04-43B5-A368-7A04331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6397E-FB31-42FE-BECE-95B96B42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6ED09-232C-4693-A8AB-677A59C5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9AE8A-4CEE-44A2-B573-D771923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Apps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BE3D8-10A2-4BB0-B772-C51B6EB9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2E755-D3EF-4593-B6EA-9E5DC4B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プレースホルダー作成、第6回で実イメージへ更新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11F9E-59C4-4C07-9564-E52D179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400B9-94FF-467A-90A6-CECA6FE7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91A3D-1FBC-4ABD-A32B-B26D532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8024D-9E36-4D4C-922A-EE5DB02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Apps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C8AF7-DE17-48B0-85AA-C5F402C7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C07DD-D621-4714-A547-679F149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プレースホルダー作成、第6回で実イメージへ更新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0452A-BF5C-4C9A-B822-FCE208F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26948-71FA-40C4-AACF-6934A2A7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58A4F-77DC-4092-BF77-C1F38296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68450-0C43-48B9-8A19-397F54C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Database for PostgreSQL Flexible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01688-2B14-4FC9-AE78-1388291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8C4E9-601B-49B3-8667-85DE178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作成して、最後に停止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88978-D6D8-47F2-B62F-C4D8EED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E44467-1A68-440C-893E-D90BBF0B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イメージ保管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FAF6D-52DE-48F1-A5B6-51C204EE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16034-21A9-455E-8BFE-F4B1AC94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Container Registry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86722-49C4-4004-877C-573BB31D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F7383-60B5-4EDA-B5E6-6165746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受講者ごとに作成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C25F4A-7863-45E3-A542-8D8DC60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23C13E-2B02-4C3D-B317-D4E7DB69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認証/権限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01E4C8-0DFB-45DD-A986-213B38C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1AECE3-784A-49A5-AAA3-5F8810F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Identity、Entra ID アプリ登録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0550FD-706D-4CDE-B6AF-84AD985A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1304D7-3EB9-487E-AEC3-C50A88F0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アクセスとサインインの入口を準備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897601-52AD-49B9-8B96-C7CD68D4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09126-E122-4A85-B2EE-BDE08807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DBaaS とは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D52B1-5813-4CC9-9B83-D6CD9457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08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3F3F9-C576-4971-B139-7F29FEC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64F63-ECF1-4D20-BE4A-81702AE6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DBaaS は、データベースサーバーの基盤運用をクラウドサービスに任せ、利用者はデータ、接続、認証、コスト管理に集中する考え方です。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FEED3-BCEC-4D77-AC95-57138A75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80082-9546-4429-B2FA-8E016B3A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7452C-1C85-4DA4-9001-956CA97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Azure に任せる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14B93-E93F-47B5-B958-DE3499E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基盤運用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6F40-7E95-44E9-A007-0DF7E3C2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物理基盤、マネージド DB 基盤、バックアップ機能、パッチ適用機能などをサービスとして利用します。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7F395-BB52-4BA0-9E91-8A42EB3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6636A-4B15-4A1B-A2A6-E5DB2E4F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635AA-FA30-480A-A65E-370FC475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利用者が決める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2D5B1-23DD-4C45-B817-6A599DD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使い方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99149-4B1B-4C9A-9E20-81E5DEEE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データモデル、接続元、認証方式、ネットワーク、権限、停止/削除の判断を行います。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8861F-AF23-4B29-BC20-06773B2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C006C-58E8-472C-BFB4-8D3BA17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6B1B5-4DE7-4629-B691-B51885C6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09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12A00-A418-44D4-8F9B-A1CA2FD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7C131-B119-4577-9EA9-530B1CAF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PostgreSQL は、API からの問い合わせに応じて Todo を表として保存し、検索、更新、削除できるリレーショナルデータベースです。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4DD0C-0946-4D7F-8CCF-26475248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774950" cy="12382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C0845-1B85-4504-8DA9-E58D7A2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3FC9F-D00A-4A37-A9CC-30E13B4B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43200"/>
            <a:ext cx="21844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から問い合わせ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85652-B537-40DB-BB75-726EAED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425" y="319087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68A07-D59A-447B-8339-B11A2050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2571750"/>
            <a:ext cx="2774950" cy="12382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DEC88-D24A-42BA-8456-9198E68B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325" y="26860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FCE6D-E0BF-4FEE-BA36-B4F8CE8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75" y="2743200"/>
            <a:ext cx="21844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テーブルに保存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074D7-1EED-4250-81C3-536C07A7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075" y="319087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30A49-A664-4A56-B022-F54ECA65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675" y="2571750"/>
            <a:ext cx="2774950" cy="12382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E2524-7B1D-41B6-B205-39222C5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975" y="268605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04E08-DF8B-4524-8868-E8AD85A7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925" y="2743200"/>
            <a:ext cx="21844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結果を返す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6C416-8AF0-4B2D-A083-A0A58E1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0487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は Todo の状態を表として保持し、作成・更新・削除の整合性を支えます。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F4667-EFAC-4B08-ADAE-57E4C97B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3F989-493B-492E-917E-AED86767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Database for PostgreSQL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B3808-0724-4014-B9EA-014BF94D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10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3FD05-ECCF-4FA2-9A21-34D92898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3C9A-67E5-49AC-8286-3DDCD39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Database for PostgreSQL Flexible Server は、PostgreSQL エンジンを Azure のマネージドサービスとして使う選択肢です。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4CE05-7C6C-42D7-B726-64129B61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EDCC8-F058-4FCA-864C-94FE45BC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5E578-9BA5-423F-9D9C-864DA0BE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Flexible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CE460-53C4-475A-B550-3A368A5F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構成を選ぶ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5BBA1-1A4B-48A8-BD91-C2A28EF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リージョン、バージョン、コンピュート、ネットワーク、認証方式を選びます。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04E9D-CBEB-4DB5-84BF-25589043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09FEE-FE61-44CE-8A1F-9979BC1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EC2D6-9742-4DA2-857F-3623B946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EF658-AC7F-40D9-8F30-6DC8F29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運用を任せる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5CC5-E612-4DC4-83F8-FE3FD0E6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バックアップ、パッチ適用、開始/停止などをサービス機能として扱います。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2E5ED-A638-4FCF-87CE-335F6EC5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4DB40-F33B-452A-8CF2-4B7AC22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ED993-4066-4703-B29D-457F96D5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95750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BCF81-D27B-44DA-A2D0-63D7B0C1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24350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接続を制御する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6A23E-D2E8-4E53-9D7F-17B3E3E5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認証方式、管理者、VNet、Private access を手順に合わせて設定します。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FE23D-4724-4535-8EC5-A5177946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4300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9D07B-95C9-4220-B10E-F5CA1416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4300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BE18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49AEB-DF87-4BE9-BCE4-9BB580F3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rPr>
              <a:t>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7B404-6A61-4B63-9BCB-0E31FB18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24350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停止を使う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CD6A1-7E6A-49B6-B38C-F655379B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43450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第6回まで残すため、削除ではなく Stop してコストを抑えます。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8DED7-828F-4685-8C1C-2060A27B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D6FCB-4C99-4D17-AA80-4A546A68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停止と削除の違い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EF936-7793-4DEF-B5A4-145B37D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11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C888E-23EE-4BC8-8119-F383F359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774FF-B2F1-48D9-B859-5C20C966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第5回の最後はリソースグループを削除しません。第6回で使うため PostgreSQL は残し、コンピュートだけを停止します。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F08AC-A3CE-423B-B9BE-9A35EAD1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4B06F-29DA-45CE-AC19-27C1E49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FF9E4-E149-4A9A-AB83-EDCE44A5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EB6A7-D1BF-465F-93EC-25D10C6C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何が起きるか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1955F-0CB9-4BFA-BCC2-7E98CA6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A9491-793F-4F39-B9F6-4EED1383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第5回での扱い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C17D6-788E-41C5-B62E-22A37840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E6098-4A34-4D87-B4C9-4F382A7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Running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6EC23-B0F9-4E3B-98C1-2AE30D9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1CB02-E5E2-4CA9-9E4B-F101C289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が利用可能でコンピュート課金が発生する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AC45C-CC3F-4B10-9CE6-383AC23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3EDF0-98C1-4093-BA7E-DD36A39C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ハンズオン中のみ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4E925-C970-4763-B125-B83D7D99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F4185-8CCE-4E59-B824-A3E8AA2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Stopped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CC5DE-1E43-4086-BD59-90A5D80C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D639C-F8BC-4F2D-BEF5-1AE63EB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を再開可能な状態で止める。ストレージ課金は残る可能性がある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92739-DB28-4F72-959D-7DB5BFAA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BC997-A7EF-4053-8820-F538AA0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第5回終了時の状態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1EA8D-9411-4F41-AE06-3A33189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70968-C660-4BE2-997F-F65FB108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Deleted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A562D-4DBD-4DA1-A9C2-BA99B795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132F5-4301-4A78-B76D-30EA2C8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リソースとデータを削除する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03D2F-2F17-4937-99F9-81C6CA7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0FD81-185C-40FF-B5CF-295712E7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第6回前には実行しない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8F6F3-9156-4B4A-9462-3A2FE51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B98EBC-83CA-4C75-A7F8-4863F38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B4B5C-FC6F-4609-9C81-7D2DBD3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12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1C157-5ECF-4CA2-B607-3D1ED35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FACFD-42A8-4C70-9D52-BF262FCB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Environment は、Web と API の Container App を動かす共通の環境です。第5回ではプレースホルダーを作り、第6回で実イメージへ更新します。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CF065-7E86-473A-A158-9C73E246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33625"/>
            <a:ext cx="8382000" cy="2190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BB39E-A447-4857-997A-AF294F3E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51435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Container Apps 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D0AFD-2D6A-4493-BE2B-98CE2D8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43250"/>
            <a:ext cx="3143250" cy="1104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4B6B1-8BF9-447C-ADF4-96C027B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43250"/>
            <a:ext cx="762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21188-FECC-4051-9564-F7715D50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14700"/>
            <a:ext cx="2762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CF0D6-80BA-407C-A8C8-5588FBC6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43300"/>
            <a:ext cx="27432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F7C44-6061-4FEB-9627-1A14F4E8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962400"/>
            <a:ext cx="27432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第5回ではプレースホルダーを作成し、第6回で実イメージへ更新します。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9D9C1-66C7-42DA-AF62-1DF6DC63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3143250" cy="1104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F1B35-2E42-4FBF-828D-D663E476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762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D8C9F-D633-4383-B23E-77E95B7D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14700"/>
            <a:ext cx="2762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66A8B-91B8-4EB6-A1C7-6D92746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43300"/>
            <a:ext cx="27432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0F584-9096-4D42-9BB9-FEA35A8B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62400"/>
            <a:ext cx="27432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同じ Environment に配置し、Web URL を後続設定で使います。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E66DE-2F6D-4F26-BB87-F1DD0DE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B1A6C-14DD-45C0-AD95-ECFD4D8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CD1C4-2845-479D-99E7-9D9A122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13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F06A1-EA89-462C-AA38-10D88C1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B401B-F1A3-42CD-A353-FFA83C04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第4回では講師共有の ACR からイメージを pull しました。第5回からは受講者ごとの ACR を作り、第6回で GitHub Actions から push 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E4799-CE56-460B-8C0B-BA7F187D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106E1-0272-4400-A5EE-2B15DE9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E0C35-E989-4223-A0C8-53CF203A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第4回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94CE5-C925-4D76-A5A2-AB673621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共有 ACR を参照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492CD-C1F8-469B-A2F7-8A061FD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受講者は講師が準備した NGINX イメージを使うだけでした。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E4325-47D0-468B-95F8-2221405D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8AE24-23BD-4CDB-9BC0-0005294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89079-C440-4F30-A14A-73C2B742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第5回から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759A8-E1CC-4CBC-B912-FB719C7E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個別 ACR を作成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A337-024D-4C1D-90BF-C5500E6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自分の Todo アプリの Web/API イメージを置く場所になります。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E6ADA-DEF0-49D8-BCF3-320A80B0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10E74-18EC-4BE5-A10A-1B9674A8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とサブネット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D9664-DCC4-4A7C-8309-D17895B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14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0A922-AAC5-4B58-8CD8-4F25E283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C3E3A-3EAF-4E55-8447-D2761479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アプリ実行環境と DB 接続を安全に整理するため、VNet の中に用途別のサブネットを用意します。詳細なネットワーク設計は第7回で扱います。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765E3-6B2B-44C8-9EC1-113B8B10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863CB-EB34-46CF-A0D3-5D8C3CAE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290C2-0C48-411E-A1AC-4B3A0A3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Container Apps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994BD-E4CD-487B-B3E2-AFA9F0AC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snet-container-apps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5666E-1571-4430-9676-071EF989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Environment で使う区画です。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12129-A830-4A75-9383-6D10A559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26EE5-597D-4715-BC8F-0634876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DC0C4-5E20-44CB-B40B-78C648D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Private 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0033D-E2E3-40C2-BAF2-6214F0A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snet-private-endpoints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08F61-28D0-47B6-997C-1CD84953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プライベート接続用の区画として整理します。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3C1C8-38B7-4B10-A14B-32FDA2CE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CBC82-1B6C-4B2F-9564-82D9255E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C4F6F-02FA-40F8-A8A4-2ADB7D24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2C7E6-92D3-4094-BFC8-9081F78E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snet-postgresql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4FB8A-FA1F-4F42-A475-DDEEDC5F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Flexible Server の接続に使います。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FF8CF-7F83-45F5-84D0-8FD3FD8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B042E-5DC0-4D45-8C19-88763AE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364DD-AD1D-4AD8-B1F2-22B1149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15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3E8E5-347B-4FF4-8151-21E479FF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4570A-157F-4D86-B551-460C7C47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Managed Identity は、アプリや Azure リソースが秘密情報を直接持たずに Azure 上の権限を使うための ID 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C312D-8C95-44AB-840B-41ECEE13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F7820-2AD5-49BA-96B1-950F7768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C8E1D-AF06-4E34-9AB4-36697792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User-assigned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3D2D7-D379-47FB-9690-FA86EB94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明示的に作る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3AA14-D1CB-4AF9-A863-53A51E40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本回では受講者ごとに作成し、第6回の DB 接続設定で使います。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487AE-1079-42BE-AC27-74E973B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436BA-72A4-444D-A14F-E307B8E2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18A44-4157-42E8-8BF4-892B8515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Secretless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9566F-6DE0-4B21-AECF-787067C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秘密情報を減らす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9109D-9B55-4EAE-87C9-BE4DABD9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接続文字列やパスワードを直接持つ範囲を減らす考え方につながります。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FD954-2FC7-461E-99DA-AAB8629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FB8C4-8CD0-43B6-8148-980DC2FC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17EE2-A329-4C56-858A-AD914A7D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16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82661-847D-4C0E-977D-DC47A17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0137F-C66F-4AEF-A035-94A49AB6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サインインでは、Microsoft Entra ID にアプリを登録し、Web Container App の URL を redirect URI として扱います。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083A3-8C4F-47B2-85EB-F85AB43C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2252663" cy="11620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134D8-59CF-4D06-AE02-0AE4BF9A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051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C6A1-0E45-4D1F-9A8E-8076360E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1662113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82AA6-1D7C-432D-828A-7C69E679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17182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C4CDC-1229-4B17-9D8B-E49C9D88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90800"/>
            <a:ext cx="2252663" cy="11620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368CF-2748-4AA6-B8F9-2936B281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7051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9F507-2BAA-430E-B3EE-BF5D5511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762250"/>
            <a:ext cx="1662113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F5B45-E5E7-44C8-AF31-7EA7873D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1307F-21B7-4682-9B6B-386BF5FF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2252663" cy="11620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2B818-CBC1-4F89-A58B-3BD94EF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4EE68-C6B6-4C6F-9EA0-6BC3E7D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62250"/>
            <a:ext cx="1662113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F3A97-7611-4C4A-9811-69B2D0F0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317182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089DE-FDBE-44AE-8968-BA5C2533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590800"/>
            <a:ext cx="2252663" cy="11620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12C0C-AB0F-4561-958B-FA16DF92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7051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63E2C-8810-4E35-B3B9-E9A3341B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762250"/>
            <a:ext cx="1662113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Redirect URI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547F3-7224-4D34-9202-7CD95821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048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Application client ID と Tenant ID は第6回で使うため、Web URL とセットで記録します。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39A2D-7D6F-4214-8DE5-DBA48EF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E5F31D-C520-409C-BB46-7AE2F206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秘密情報の扱い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3DEB3-7709-4481-8E0E-DCD2D0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17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212BD-0E5F-4EF2-9CC2-D3F8985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CA9C6-ADCE-4045-A822-88D017E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接続情報の一部は第6回で必要ですが、公開資料やスクリーンショットに残してよい情報とは限りません。記録する値と隠す値を分けます。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0F15-7022-4300-947D-DEA6E14F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6518C-CE2C-46AC-A4EC-D5D73FDF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8179A-063D-444F-8E21-432A5FD8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06879-E26B-4F29-816A-06C6DD8D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リソース名と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3D6C5-B654-4D43-82FA-4FC47C4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第6回の入力値として手元メモに整理します。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DE308-43BD-41DA-B4F8-A91BB34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4227F-3A7A-4531-80A4-9DD4365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28C02-9E34-4B4D-A140-D7D47F76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公開時にマスク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36A81-3041-4499-A3C2-AE39E494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 と FQDN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34B5D-88FC-433B-BD62-9EDEDE9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Subscription ID、Tenant ID、Client ID、FQDN は公開資料では隠します。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1AD94-8E14-4936-9F6C-EBEB5A75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AAFB1-E98C-4A7F-9B38-4DF486E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BE1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6A477-8BA2-4163-9B94-8AEE88A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rPr>
              <a:t>公開しない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39E32-2F3E-4437-A68B-3BD2300B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Secret と接続文字列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AD77B-FF6E-42C9-8CFB-151D147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認証情報、client secret、接続文字列は画面共有にも残しません。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B4EBC-552D-4E9B-A708-EBAE43A9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8DE53-2FD3-46EC-A607-1CD98ED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ハンズオンで使う値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D1092-93B6-4939-8216-111981FD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18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19BC5-C224-4448-AB56-E66A803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3CB3-B877-4391-9F3A-094FA4B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名前をそろえると、講師が状況を確認しやすく、第6回で variables に入れる値も迷いにくくなります。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9D153-CEA2-454B-9850-36F0BBA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46A8B-3C5D-4552-9AF8-2ECFF4E4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0D31C-677F-412A-80A6-5E5ACB9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0A09-EBB9-44B3-8698-C1A58F90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値の例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49C86-A491-45DB-922A-CA14E58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35CF9-3F38-4208-9187-E7F8C1C8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BF78E-AB0A-4F6F-A76D-FE55FD8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A9F12-22D8-44B5-93DC-0A367A99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58B78-6F59-4E5E-8935-AA0E9EB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CBCC3-9841-4E65-8F5A-99A7EA64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rg-azbeg-l05-s01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C1176-9F6B-490A-9125-11C4569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EA3BC-900D-4AAC-83CF-7860FA6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第6回まで削除しない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CE71C-B69C-4FDF-860B-72E45A3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EA86D-96A6-4DC4-9C9C-09C8376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1C6D8-118A-4033-8FB6-B71465B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23968-361F-4D87-91CE-88A691C0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acrazbegl05s01&lt;接尾辞&gt;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354B1-EE51-47BC-B3E1-C792323B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55990-A4F4-4D74-B9DF-C20115C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小文字英数字、グローバル一意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E99D8-C082-4079-97A2-A93EAAF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59ACF-5413-4F51-AA87-30512A81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API/Web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2B3EB-4247-4657-873A-EB0F60A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ABE99-EC57-4722-8D29-673D4FC3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app-todomanagement-api / web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A93BB-A360-43EC-994F-A4D1471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890D1D-E87B-42B0-B5D5-D9C2654D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同じ Environment に作成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87B21-1BDB-4BAD-AD2F-99EF18AB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36826-CE3B-4FE2-BAA7-6C71314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8724F-6FAD-4DDF-A14D-3D667EE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9371E-3C44-4C36-9502-4C934ED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psql-azbeg-l05-s01-&lt;接尾辞&gt;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C186D4-E5E8-4D84-B1FB-F9B0F8DB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0C6A8-04EB-4807-9BAA-AA665A7D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最後に 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596268-7A1A-4019-82C5-809319F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E0091-CB06-4520-8739-8DC3BD3A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Identity / Entra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2FF6B-CEB9-48AE-8B34-026453B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784C5F-A970-4FFE-BEFC-A97DF23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id-azbeg-l05-s01 / app-azbeg-l05-s01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C9579E-E96A-45EC-89F4-B972976F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E4AF71-390F-4322-8EA6-DDE7DDA8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Client ID などを記録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37527-2B14-4858-BB58-BE2C688D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1C565-F95A-4D84-B552-E03E84D5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1DF62-2E25-447D-B935-D2374845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19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DA1B7-C3EF-424F-B8C7-E1ADC6EA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70EEF-5381-4A5A-8123-6D36E642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リソースを作成し、値を記録し、最後に PostgreSQL を停止します。作成操作が多いので、今どこを作っているかを図で確認しながら進めます。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9ED20-43DE-4737-A785-D7BFB20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7C6D1-21DD-4500-AEBF-3E4AC5F0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1FBA0-2292-4C06-8C48-22FF2C4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9825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87079-7E64-4FC7-8459-69DC79E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62250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E19BE-F983-49FF-A442-3C1570C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613EF-DB99-4898-A6EA-8443693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526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16E89-80EA-4942-9561-93197DF4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/ Subnets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E0624-845D-4301-9011-39AA4F9A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D9674-AD7B-4B08-9174-38C6A2A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A0D80-4561-41A7-86F6-D8A82CED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A041D-2A16-47BD-A95C-E7F6198C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98710-DE09-4C33-B005-646F2413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62250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F5511-C56B-4462-A4AC-E76D69B7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38375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7D735-2848-40B7-A9F9-41BE0810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52675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C7678-C8A8-4DD5-9BC1-7DCC8B0A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09825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/ Web Container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0F892-39CE-440F-814A-11D35CB1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6E1EB-72EE-4014-A7CC-E5EBC1C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15ED9-A667-48F1-841C-30402423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B9173-72C9-44A8-BF52-3B24D0A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2437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158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5C60B-0F1A-4913-B632-EE13330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00500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1AB1C-81BF-4CF0-ACB8-737026E0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148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36182-1DE6-458A-A39A-F79704E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71950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/ Entra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13418-5E6D-4199-9A41-04B3AD3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1580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E305C-5657-45A7-9A86-85E8D12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EA580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7EBAA-C7F2-4290-A48D-0F560C2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C6F25-F730-47EF-BADD-AA706F7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接続情報一覧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AFBABF-7E74-4F2F-988A-F76096B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2437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1580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773904-55BB-4152-856F-08C37155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00500"/>
            <a:ext cx="2466975" cy="1047750"/>
          </a:xfrm>
          <a:prstGeom xmlns:a="http://schemas.openxmlformats.org/drawingml/2006/main" prst="rect">
            <a:avLst/>
          </a:prstGeom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BD006-2D70-44F4-99FA-AB90629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14800"/>
            <a:ext cx="285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1E845-8B03-481A-B5EE-AD9C189B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171950"/>
            <a:ext cx="1876425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D6D59A-EEED-4809-BE33-101C93F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61900B-B7F1-4334-9BD9-7F90AF5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8572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作成する → 値を記録する → DB を停止して第6回へ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00B334-7634-439A-87D7-29B6FD7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4629F-BB52-4CA0-9797-EE7D31D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Portal にサインイン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4EF67-658D-416A-91C0-B61FA32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20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3070A-42B2-4CDC-AC9A-FEA75A3F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642A2-366D-4F65-AB78-00C0FEF4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講師が案内したアカウントで Azure Portal に入り、作業対象のサブスクリプションが見えることを確認します。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B1929-FE8E-41B3-8BBD-5564D1AB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0cc96240e43b7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E9CE1-B514-454B-B55A-E850596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対象サブスクリプションを確認する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243D2-7B05-4EF6-A989-7770D3DB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39EF-6C11-49D7-98FE-BA3C45FF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F459D-98A7-4764-99CA-4A59C153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FBC0A-EF99-475C-B53E-DD66BFF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サブスクリプション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04B7C-1CA1-4F95-80F3-9CE1C9DC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作業対象のサブスクリプションを確認します。以降のリソースは同じ範囲に作成します。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139B4-37D8-4F5E-B487-742CCB90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41784-0478-495D-9E2B-3B2C924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リソースグループを作成する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1D3E3-AFC7-48A3-946D-F9CC9E29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21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6653C-E516-44D6-B167-D20AFD2C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F8FA4-7D2C-4D0D-9A2E-4F0C0756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第5回と第6回で使う Azure リソースは、受講者ごとの同じリソースグループにまとめます。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136E1-742F-4AB1-B00E-73F2EBC8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4beeba1cf4650"/>
          <a:stretch xmlns:a="http://schemas.openxmlformats.org/drawingml/2006/main"/>
        </p:blipFill>
        <p:spPr>
          <a:xfrm xmlns:a="http://schemas.openxmlformats.org/drawingml/2006/main">
            <a:off x="5389245" y="1828800"/>
            <a:ext cx="569976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C8809-842C-4F9E-B246-D460029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Resource groups から Create を選ぶ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9B1AB-01B1-4EB5-A25B-543F58D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95B7D-55C8-4517-8D32-B3394A1A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545D6-AF2E-433F-A54E-13FEB2F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61AE7-F56A-405F-9374-EF16EF6A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FCDDF-C842-4910-9ABC-4328A82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第5回と第6回のリソースを同じグループへまとめます。第5回終了時には削除しません。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2C647-C99D-44AC-96C5-3F8CE88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D6BEC-4B12-4B33-B8A3-A0144FF5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リソースグループ作成を確認する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B8ED4-A659-426A-A8A6-1B174AF3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22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1B06-1F86-432A-BF5C-1029202C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A0E41-C5A0-4ED2-95CC-A823EDA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作成したリソースグループの Overview を開き、名前、リージョン、これから作るリソースの配置先を確認します。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E097-B248-41A7-9DA7-920103F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1591b646944a5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5687B-F7D9-42E5-95E1-7478F216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第6回まで削除しない外枠を確認する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A88AB-48FB-47BD-98A2-FECB75F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6D396-5D83-42F6-8D0A-0394401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0BE23-B7D0-4C2E-BB00-B03C3AE3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8BDDE-5931-4C9B-B896-C24CF4AB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外枠の確認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3BCD0-EBDD-4FF0-A0AA-F18AB16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Overview で名前と場所を確認し、以降の作成先をそろえます。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E289C-8BBE-46CE-B5C2-74506287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096E0-824B-423A-B678-0AD175B0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9BD64-F2CC-4D26-818C-E455598C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23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3DFC2-EF2B-473D-89E8-B4E734B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83FEC-F24D-437D-A7D3-3A09DFF2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と PostgreSQL の接続を考える土台として、受講者ごとの VNet を作成します。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283FF-F4AD-40C4-9333-A02BC45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324d6c3584559"/>
          <a:stretch xmlns:a="http://schemas.openxmlformats.org/drawingml/2006/main"/>
        </p:blipFill>
        <p:spPr>
          <a:xfrm xmlns:a="http://schemas.openxmlformats.org/drawingml/2006/main">
            <a:off x="5389245" y="1828800"/>
            <a:ext cx="569976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1C07A-FF43-4572-86DE-59EBC14F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VNet 名とリージョンを指定する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45A4E-61BE-4B4A-89C0-731DD49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13826-CDF7-49DE-9D08-CA343887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CC2DF-D0F6-4F0A-813A-4156C493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67965-F75B-4A05-AD37-06C24DC9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3ECC5-B351-45B7-9EB9-801BEEDA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と PostgreSQL の接続を整理する土台です。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DE932-AF49-4838-8F0D-EC1AE24D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07D6B-6AD6-4C39-ADD9-4BC9A25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サブネットを作成する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CFBD8-F77D-42F7-9A44-D69067A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24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FB74C-559F-4FC9-BBD0-4C30DE9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F79B1-76C3-4087-B463-5FA7A2B4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Apps、Private Endpoint、PostgreSQL の用途を分けて、後続手順で参照するサブネット名をそろえます。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0DA25-8ACD-4A21-BD00-7C9F99EA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67a7e32e74f8a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B26B-5246-4197-8246-AEDD1485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用途別のサブネットを確認する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E24AC-3D14-4E25-B39E-7989580B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D767C-DE88-4F26-B9FB-93BEC47E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A0A31-E30A-45D8-AF32-B7E0CA99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3D02E-92C5-4D67-8733-DC568F8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Subnet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912E9-F48B-46AA-A9AA-6BCDE64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用途別サブネット名をそろえ、第7回のネットワーク理解にもつなげます。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95BDE-7E06-4961-97E6-51880804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69253-A425-4C38-A8C2-35549D1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74EA8-9A9B-4336-88D0-3AF61B2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25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034B4-6539-45C3-8D00-1366BE5F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6F238-D043-4521-9F4A-AACFB70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第6回で Web/API のコンテナイメージを push するため、受講者ごとの Azure Container Registry を作成します。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88162-7DE3-42AB-AE1C-9AD082C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4972050" cy="3429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2b18889054418"/>
          <a:stretch xmlns:a="http://schemas.openxmlformats.org/drawingml/2006/main"/>
        </p:blipFill>
        <p:spPr>
          <a:xfrm xmlns:a="http://schemas.openxmlformats.org/drawingml/2006/main">
            <a:off x="1043940" y="198120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2AC5A-DB50-44BA-B7C4-349EA181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72050"/>
            <a:ext cx="4667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基本設定を入力する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89358-981C-48D5-B550-E16EB656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66900"/>
            <a:ext cx="4972050" cy="3429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2f28cd34e4708"/>
          <a:stretch xmlns:a="http://schemas.openxmlformats.org/drawingml/2006/main"/>
        </p:blipFill>
        <p:spPr>
          <a:xfrm xmlns:a="http://schemas.openxmlformats.org/drawingml/2006/main">
            <a:off x="6473190" y="198120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1A904-6FE1-4047-B1C0-9D1B936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72050"/>
            <a:ext cx="4667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ネットワーク設定を確認する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1238E-F9B4-4518-82B2-AE39FBD4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637FA4-2BD0-41CC-8362-597459D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の Overview 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11A5C-DFCD-43E2-9C6A-B029B651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26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F2290-0FFD-4514-A919-F683A58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3CF18-06C5-4C47-B1AF-EED114A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第6回の GitHub Actions 設定では ACR 名と login server を参照します。画面で確認し、接続情報一覧に記録します。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56376-02EA-421A-98D3-4068BC1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f3cd30a434a36"/>
          <a:stretch xmlns:a="http://schemas.openxmlformats.org/drawingml/2006/main"/>
        </p:blipFill>
        <p:spPr>
          <a:xfrm xmlns:a="http://schemas.openxmlformats.org/drawingml/2006/main">
            <a:off x="5389245" y="1828800"/>
            <a:ext cx="569976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B9316-0D27-476C-9A18-0C6E686D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 名と login server 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BFE30-9EBB-4FE7-9400-4E61E07B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1EF03-153C-476B-9E79-A30E38ED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D1F55-30CB-42DD-AC7C-B477A6BB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F0EE7-A654-4FDE-B2D2-AE41CD1F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の値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14BC3-D38D-4DAE-942F-7054A82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Registry name と login server は第6回の GitHub Actions 設定で使います。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BB399-E74B-423B-983F-A3BD15EC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619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2E2D5-F685-4EC4-993B-5140D7B5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94518-5A0E-4C5B-806A-23A66F13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 と Environment 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47B5F-7A87-4D67-9FF3-EF2B05D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27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841B3-F5A1-4C23-99A7-F7BC8D87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6D9CA-31BB-4412-9CE3-6C5DDC8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まず API 側のプレースホルダー Container App を作成し、この操作の中で Container Apps Environment も用意します。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EC23C-44F4-4850-87D7-77A9D784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fd261a43b4550"/>
          <a:stretch xmlns:a="http://schemas.openxmlformats.org/drawingml/2006/main"/>
        </p:blipFill>
        <p:spPr>
          <a:xfrm xmlns:a="http://schemas.openxmlformats.org/drawingml/2006/main">
            <a:off x="6903244" y="1828800"/>
            <a:ext cx="2671763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842B7-ABFC-474D-AEE7-A3FF61E8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と実行環境を作成する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CF6FD-A2D1-4BF9-B38E-C4510675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C5B04-202A-4E35-AA7D-EE363A4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AFA13-7489-4CBA-A6E4-519770D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577B3-DA07-414A-9646-6EFE643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と環境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88BAD-679E-4736-8C31-19589B0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 作成時に Container Apps Environment も用意します。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FFC13-D5F9-4DE3-A478-95BE81FA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91C44-9E8D-487B-959D-A6046F3C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Container App の URL を記録する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E85BA-07B1-4AD8-B37A-EF4F367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28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926E1-BBBE-4B59-AD47-4C3E6F6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AF9BC-9431-41A9-9695-5FE2FABE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の Application URL は、第6回で Web から API を呼び出す設定に使います。Web URL と取り違えないようにします。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7920B-51A9-44B6-A799-6E05DD37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34a342c2c41b8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35CF0-4191-402C-A655-D47EA3D0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Application URL を記録する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381A3-1B62-454A-B5B9-478BC071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78F0D-4A5B-4ACC-8BC2-651668DF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8FB27-3403-4D41-8900-E627BCF3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CDCAD-BF36-46B5-9466-3C54729D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0B850-EC32-46D0-97D6-F45F48E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URL と取り違えないよう、API の Application URL として記録します。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32E3A-CF35-4E43-B073-BC820431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619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CFC77-FFA9-4F48-AA76-94C087E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2D583-FA2F-497D-A76B-E91AD06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 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220F5-490B-4181-94B7-4BA32C1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29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09A83-F3E4-4430-B79C-79F5DC24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AFD1A-2806-4620-9B70-341C9266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同じ Container Apps Environment に、Web 側のプレースホルダー Container App を作成します。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60B5E-1033-4492-A51E-5EFDBC7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5b60f11144f8c"/>
          <a:stretch xmlns:a="http://schemas.openxmlformats.org/drawingml/2006/main"/>
        </p:blipFill>
        <p:spPr>
          <a:xfrm xmlns:a="http://schemas.openxmlformats.org/drawingml/2006/main">
            <a:off x="6903244" y="1828800"/>
            <a:ext cx="2671763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08B37-7B0D-4093-AE48-BBAF85A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Container App を既存 Environment に配置する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23C50-6E11-4E23-A68B-B463278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1B38E-12BD-47F9-B799-FED390FB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5FF9B-B083-496D-B24F-F2AD456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59DDA-BC86-407E-A9E7-FAFA2DCC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B1A4-2CE3-4DE1-9634-758CFCF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同じ Environment を選び、Web 側のプレースホルダーを作成します。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A458B-3949-408E-B4F2-CBD34A6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3C899-D115-4CBF-B737-BE8C5E5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Container App の URL を記録する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E607-121F-46E0-B501-EB1A533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30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0ABB-5B5A-4A9F-9D1C-E8AB8A59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92895-00A6-4C73-B3D9-B128974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URL は利用者がアクセスする入口であり、Entra ID アプリ登録の redirect URI と第6回の variables に使います。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E2D7B-F967-4E5F-AA25-EE14360A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a78d343a04132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6BB5E-0AAB-4830-BC89-310BDE6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Application URL を記録する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54CA-A2F1-4AD4-9D1B-780E401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5D994-3F64-4E2E-83AE-CA8C92E0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3A85C-8FDF-4F83-984A-6D998025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F3153-8943-493A-9CD4-A9EDC441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4B3AA-AEA0-40E5-9604-C070347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利用者入口であり、redirect URI と第6回の variables に使います。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C4F54-D86A-45DE-866B-1701AA3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619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F322D-C195-4908-88A5-8102FE9E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14905-35FD-4197-988A-B1463CF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Flexible Server 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F26FB-96AA-4171-9C59-DA3B515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31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D6DE3-923C-40FF-9744-43C6ACF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461D8-5211-4699-B05F-0856B733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データを保存する DB 層として、Azure Database for PostgreSQL Flexible Server を作成します。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F2F9B-F8F9-417D-9CF7-FB2C0F1A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ea66b30314983"/>
          <a:stretch xmlns:a="http://schemas.openxmlformats.org/drawingml/2006/main"/>
        </p:blipFill>
        <p:spPr>
          <a:xfrm xmlns:a="http://schemas.openxmlformats.org/drawingml/2006/main">
            <a:off x="5389245" y="1828800"/>
            <a:ext cx="569976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6C1BD-CB10-4F58-96EA-8372D310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サーバー名、リージョン、バージョン、SKU 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DEC09-29A2-49A6-87AD-1AC71CB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E0CDF-C231-41FB-B3D2-933FA621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FCA25-288F-4F5E-837E-8FBD8F73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EE3CB-042A-4997-BE77-DC6CC235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5C31D-1288-40F8-8D12-3979B118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データを保存する PostgreSQL Flexible Server を作成します。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CAE4D-2AF9-47B5-9EB0-0FBC3C9A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2532C-3816-49FB-9D08-55D5B41B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の認証を設定する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442E-5CA6-4192-80D2-BAB8B6C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32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59E4C-914E-4D28-BAE8-90BC2860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59C07-8BB6-463B-AAAE-F0C78A28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元ガイドに合わせ、Microsoft Entra authentication only など講師検証済みの認証設定を選びます。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526AE-4F40-4ABB-8003-68641D30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e3d79048f47e2"/>
          <a:stretch xmlns:a="http://schemas.openxmlformats.org/drawingml/2006/main"/>
        </p:blipFill>
        <p:spPr>
          <a:xfrm xmlns:a="http://schemas.openxmlformats.org/drawingml/2006/main">
            <a:off x="5389245" y="1828800"/>
            <a:ext cx="569976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47208-D829-45CB-8E09-B33B9E0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認証方式と管理者を確認する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55AB1-D337-40DA-BA63-A3193F39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A359A-E365-4066-8853-852BFC1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6F187-A8DD-4C7B-A383-7A45A7E5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0F46-7753-4405-87A6-A4D1BAA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認証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A60F-646F-4AD4-8CF2-2BEA5704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講師検証済みの Entra authentication only 設定を確認します。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DD060-37D7-4394-A2B3-3837BC6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1BE58-6F7C-4A6B-B689-0B8B0156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のネットワークを設定する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09760-ED36-4C4A-80DE-4CFC12C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33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DA3BA-06DA-49D5-AC7F-FF4E50E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41BFE-4536-48E6-9EB8-99B84517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から PostgreSQL に接続できるよう、Private access、VNet、Private DNS などの設定を手順に合わせます。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7B4F7-8CCE-47FA-9D06-D059F735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c11cb800b417f"/>
          <a:stretch xmlns:a="http://schemas.openxmlformats.org/drawingml/2006/main"/>
        </p:blipFill>
        <p:spPr>
          <a:xfrm xmlns:a="http://schemas.openxmlformats.org/drawingml/2006/main">
            <a:off x="6903244" y="1828800"/>
            <a:ext cx="2671763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48278-FF24-4E25-BC80-0E4CEE7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接続方式とサブネットを確認する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5A913-B74A-436C-82CB-E74176C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1F51F-F703-4E7C-92B4-5A51663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1C58F-EC7A-4F34-89E4-9F8EA54B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0EB33-D3B1-43A9-9A81-9991A807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ネットワーク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CFF20-C183-4260-924B-9E4F54A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Private access、VNet、Private DNS の選択を手順と照合します。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7EFB2-1634-4530-96CE-EA74097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7A5F8-4AA7-4C07-8100-8727A25D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の作成内容を確認する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2527D-6D99-4E91-8382-A1F8309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34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3CC3E-D788-42FE-AEA7-3C6EBD4B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864C3-A01B-44A9-8D83-CFACF0FD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作成前に、リージョン、SKU、認証、ネットワークが講師の案内と一致しているか確認します。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B7276-F651-4BAA-AB3D-3EFC60F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97794f91c4349"/>
          <a:stretch xmlns:a="http://schemas.openxmlformats.org/drawingml/2006/main"/>
        </p:blipFill>
        <p:spPr>
          <a:xfrm xmlns:a="http://schemas.openxmlformats.org/drawingml/2006/main">
            <a:off x="6903244" y="1828800"/>
            <a:ext cx="2671763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35D90-FE23-40AC-9A68-00AA9E50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Review + create で検証結果を見る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C6394-DFC3-4379-BB56-5564E635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03676-1F2A-4815-9376-C18E6800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286F8-15E8-4472-A333-414211F5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18160-CC91-4F24-B299-29644B8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887F5-B10F-4245-8C02-181FA1C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作成前にリージョン、SKU、認証、ネットワークを確認します。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9E232-94FD-4FD1-BDB9-BA82316B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827DA-A388-4671-A4FE-41CA1E02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の Overview 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EC8C3-82B6-430F-93FC-21CAC0A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35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CAC88-FA17-4402-A9DD-0167047E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60FC-9551-4306-99B2-1CA5CBF7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作成後にサーバー名、状態、接続に必要な値を確認し、第6回の接続情報一覧に反映します。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9F7A0-8365-42DD-B396-6FE3ED5D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aefcade4e4a65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1F3FD-E0C9-4698-B4B1-E0254562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Status とサーバー情報を確認する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27717-2CC4-41D1-9CA0-C6E2EB06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8BDC4-22AD-4651-A9E7-245235F9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83669-0351-4D8D-9FF1-ECE2992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B5E66-D1DE-4453-B646-B8CECB7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情報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8396F-819F-4690-B23D-F3120EAB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サーバー名、FQDN、Status を第6回用メモに反映します。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2E41E-9557-4E4A-96F4-E6A2CDA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3C933-F0D4-4A2E-BE94-2CA2396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5CDE4-2347-4FEC-8309-4EEDE81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36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254F6-B8A1-4447-9BFC-8226138A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30BD8-5744-4968-8C65-89177685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への権限付与と第6回の設定に使う User-assigned Managed Identity を作成します。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308C-4556-4E0B-9617-F1752764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5823e26fa4ae2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790DD-4981-4BD1-BEBE-41B853AF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User-assigned Managed Identity を作る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D858B-E848-4D84-8EE3-53FCB186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F0B31-E219-41C2-BB64-B20DF306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815B9-7A5E-4131-98CC-80473DE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30DF7-1044-4795-A30B-80968698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475F8-3787-4A19-AE5E-1B1E9513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権限付与と第6回設定に使う User-assigned identity を作成します。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7CC60-D75F-40FC-90F2-67C9D2B8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39992E-8EB9-4126-B03D-72E4925C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の値を記録する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DD16-3162-4E6F-9600-C647CE2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37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55DFC-C9C6-41A4-AEA4-6472315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5AE1E-DA43-493A-B6DB-D451CBD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Client ID や Resource ID は第6回で variables に使います。公開資料ではマスクしつつ、手元メモには正しく記録します。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7297C-028C-4807-B1A9-38391D1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e887879a34a4c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ED1A2-D98E-426E-8D06-A7A381A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Client ID と Resource ID 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32AAF-3ACB-4050-987B-C6C9D28C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53669-9C2B-4EB2-A699-0A176E4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5B986-DC49-4592-8F0A-B37F52C3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7C3AE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F1255-B641-4713-9840-70C799E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Identity の値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5E216-AA3F-4AD6-8C59-B0329CC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Client ID と Resource ID は手元メモへ。公開資料ではマスクします。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FB074-5E63-4A9D-B09E-359C237B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619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9EB93-E1B4-4D28-B090-430A2F6F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D21C5-66D4-4D64-941C-74DB6B09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データベースを作成し権限を付与する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37320-1F83-4174-AD98-6D7293A8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38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E951-37CE-4EDA-927F-62F317E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F728C-FC61-4D4F-AFDC-54E9FFAB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アプリ用の DB を作成し、Managed Identity が DB にアクセスできるように権限を付与します。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45913-34E8-4823-BB01-2D8CF87B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4972050" cy="3429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3f991dd5640d2"/>
          <a:stretch xmlns:a="http://schemas.openxmlformats.org/drawingml/2006/main"/>
        </p:blipFill>
        <p:spPr>
          <a:xfrm xmlns:a="http://schemas.openxmlformats.org/drawingml/2006/main">
            <a:off x="2290763" y="1981200"/>
            <a:ext cx="2200275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B3F07-68C8-4309-B5CB-1A909B3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72050"/>
            <a:ext cx="4667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用 DB を作成する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D6882-7390-4B35-B19B-E1895AB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66900"/>
            <a:ext cx="4972050" cy="3429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bf9c8f2bc43cc"/>
          <a:stretch xmlns:a="http://schemas.openxmlformats.org/drawingml/2006/main"/>
        </p:blipFill>
        <p:spPr>
          <a:xfrm xmlns:a="http://schemas.openxmlformats.org/drawingml/2006/main">
            <a:off x="7720013" y="1981200"/>
            <a:ext cx="2200275" cy="2933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6236E-C1F5-468D-B3DE-B2644B35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72050"/>
            <a:ext cx="4667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Managed Identity に権限を付与する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B08C7-9D19-4D8A-AFA9-E0E8BA59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71889-04F3-48C5-8CD7-ABB3CB25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アプリ登録を作成する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C9FB3-30C4-48F4-BE0F-B6ACC32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39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D101E-BE6D-400B-BF2C-BAB401F9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A2735-5C44-4D3F-A6AA-792C08F2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サインイン用のアプリ登録を作成し、Web Container App URL を SPA redirect URI として設定します。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36A23-6E49-429D-92A8-92522E50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292673674579"/>
          <a:stretch xmlns:a="http://schemas.openxmlformats.org/drawingml/2006/main"/>
        </p:blipFill>
        <p:spPr>
          <a:xfrm xmlns:a="http://schemas.openxmlformats.org/drawingml/2006/main">
            <a:off x="5389245" y="1828800"/>
            <a:ext cx="569976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FEBF2-8159-4574-B284-BCD5E65C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App registration を新規作成する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8AFC3-629D-49D3-86D7-09664280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F2EDB-F519-4051-9EC4-3AF814E2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8C701-41C8-48C1-A840-84A2997A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D2F42-8369-426F-A5CF-C14232C2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アプリ登録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11042-7047-4104-9DF8-7C13023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サインイン用の App registration を作り、Web URL を redirect URI にします。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FFD8A-FBC3-41A8-8631-57906E26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C6E4B-73AC-4F2F-92FE-5CD09CB1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アプリ登録の ID を記録する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BD29B-D297-480F-A770-30E196C3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40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4DBA1-B4AF-4316-B200-00346EA0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3680-0AF5-416D-9991-8D109AF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Application client ID と Tenant ID は第6回の Web サインイン設定で使います。GitHub Actions 用 Service Principal の ID とは別物です。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BBAC-513A-4096-BF8F-686FB248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13c22b5624b65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52775-FCD1-405D-A76D-5BA78F5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Client ID と Tenant ID を記録する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D6E59-56A4-4C2F-B4ED-E618B73E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A07A-FDF8-4DE2-9DEE-EA26A744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407E8-8EC2-495A-80B1-372769A6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A0C41-6B87-48DE-A20A-D7822AE2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Client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E1B3A-C122-48AE-B7C4-8A4E5935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Application client ID と Tenant ID は GitHub Actions 用 SP の ID とは別物です。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2740F-16CD-427F-AB9F-A35CC60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619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9F9B7-28D3-4255-B987-53EA793B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D18725-F4A6-4E94-8D3C-ACC343C7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接続情報一覧に記録する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A6168-AB10-42D8-8D0E-6954B3D2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41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B3834-2ACC-49EA-A768-D027215B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A5835-8D78-46A4-AB3A-597FA8D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元ガイドのサマリー項目を見ながら、Resource group、ACR、Web/API URL、PostgreSQL、Identity、Entra ID の値をそろえます。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F4F91-F74D-4B03-A65E-B440EEA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f2bf562a0420f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2EA36-A60C-4CBF-A29A-3C527D57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第6回に必要な値の一覧を確認する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727FE-C736-460A-BB4C-EB3EDD9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CBACF-315E-42D6-AF31-2DDF796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C7C45-738E-4CCF-B22B-469E38A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57F82-5838-4D1E-8CFF-02D99D12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接続情報一覧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F92BD-83E5-4EEC-A2B0-B7E4E13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group、ACR、Web/API URL、PostgreSQL、Identity、Entra ID をそろえます。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2464-7427-4FF4-A673-F866F2E6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619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ID、URL、FQDN は公開資料では隠し、手元メモでは正確に残します。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B7960-5725-4F4E-9535-4EB00E8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EEDB1-F893-4061-8818-EE48C99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記録すべき値と隠す値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FBCBF-A184-4FEF-AE54-4EB0235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42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CFB5D-6D1F-47EE-8573-7BFCB8D4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8A96A-41AB-4DF8-87FF-EE42E8E4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値を記録することと、公開資料に残すことは別です。第6回で使う値ほど、公開時のマスク対象にもなりやすい点に注意します。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81AC8-7FDC-42D3-8DC8-34563541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A057C-E26A-4AF1-B84D-09C2FFC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分類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E349E-732E-41B9-919A-DF867EC4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B8A3E-64A3-40BA-8805-525E252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D1961-4175-4D01-B8F0-0D214597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62765-92B0-4B29-B4FF-9110612D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扱い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B1A33-0AFF-442A-822E-0AFE2166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12A7A-17D5-4E3C-A1A8-347F64B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記録する値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EA6D2-7A22-4E3E-B27E-564246B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B2E2B-745B-4AAE-9326-64337439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group、ACR 名、DB 名、Container Apps Environment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93A37-16DD-4A9D-B340-68BDAA8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B2036-C16C-49C8-AF52-4D3F3946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第6回用メモに記録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6F46E-2C68-40E4-89B5-A8F87F6B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17C67-ADAF-4326-9EE0-39CB70D8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公開時にマスク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3BF2B-42C0-4048-A9A7-E569DCD3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65668-4049-4390-9B6B-4DE4ABF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Subscription ID、Tenant ID、Client ID、FQDN、URL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EE189-615A-4F8F-AED1-983EA5B4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BA3E2-0321-48E0-989C-FD491E80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スクリーンショットでは隠す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F1F1B-FAF3-4DBF-9AF7-7A8A713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4CEA0-23EA-4D93-AFC2-717900BC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公開しない値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90864-6CCC-45BE-A0AF-631CF06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301FF-E3E9-4B39-BA21-8BAC401C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接続文字列、認証情報、Service Principal の secret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52946-7527-4234-9611-89505EF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FA86E-3398-48F0-B90F-C99FEF7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画面共有にも残さない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E98E1-95E8-42D9-B2E1-CE02D58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B2341-45F1-4E26-AEBC-31D87B1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作成済みリソースを確認する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1B592-8BFC-4C75-8E52-07D6CE5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43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8EDB6-CC53-4328-8142-62E02E3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864B7-960B-472D-B448-B811036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リソースグループ内に、VNet、ACR、API/Web Container App、Container Apps Environment、PostgreSQL、Managed Identity がそろっているか確認します。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A2D63-AABA-4698-B153-6B0B5E5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628650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da75abc88443f"/>
          <a:stretch xmlns:a="http://schemas.openxmlformats.org/drawingml/2006/main"/>
        </p:blipFill>
        <p:spPr>
          <a:xfrm xmlns:a="http://schemas.openxmlformats.org/drawingml/2006/main">
            <a:off x="5238750" y="1922264"/>
            <a:ext cx="6000750" cy="33754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86DE4-6544-435C-93B0-26DFC336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29250"/>
            <a:ext cx="590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第5回で作成したリソースを一覧で見る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1778E-0E4D-454A-9D8B-837CC90C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1952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C1A50-7154-4CF2-A8B7-42D532F3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76200" cy="1952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1C7CB-3F7C-42A9-85FE-A0776D1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333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5B521-9DD2-4561-9CB9-103544CF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95550"/>
            <a:ext cx="33147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作成済み確認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890B1-8CFF-4477-B537-585E2B91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3314700" cy="1000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必要なリソースが同じ Resource group にそろっているか確認します。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7C155-44C7-4CAA-A914-B2FD477B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892FC-F5E8-471A-808D-769C30CA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第5回終了時点のアーキテクチャ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1B7D4-5465-4B2B-A827-613C51C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44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EBE05-1613-4004-9028-78435DC6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32448-5A7B-42A4-A8D9-FD8B797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まだ実アプリのコンテナイメージは動いていませんが、デプロイ先、DB、認証、権限、記録すべき値がそろいました。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A6C4E-3239-4422-BA13-B1FEE7D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7715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第5回の完了条件は「土台作成」と「値の記録」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305ED-FC42-4A7E-ACAF-AC7F133A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6381750" cy="2809875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5DA52-1635-4ABC-A83E-769927E2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095625" cy="2809875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EA58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8B7E0-4B49-45F5-B31F-349F6462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2857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第5回で作成済み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22BE5-021F-4731-97F4-1CE62675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第6回で更新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DF715-19B1-4B7B-86B0-734680E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2143125" cy="4762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12620-4CE3-40AC-9C36-86A78E8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43225"/>
            <a:ext cx="18764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Resource 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BE7A5-69C4-48EA-8BFE-F2D6B85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81350"/>
            <a:ext cx="1876425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残す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3763A-DADC-4BA0-AB75-26B79D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143125" cy="4762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4B4D5-64EA-4442-89B8-6374B086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43225"/>
            <a:ext cx="18764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 / Subnets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AFB2F-48AA-4D3C-9A0B-D4A53DDE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81350"/>
            <a:ext cx="1876425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接続先として参照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E7A55-47EA-4A49-9D41-F345CF3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95675"/>
            <a:ext cx="2143125" cy="4762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D06CA-1D65-41AA-98BC-2EFD315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581400"/>
            <a:ext cx="18764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28EA2-5662-453B-A7E9-6FD323A3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819525"/>
            <a:ext cx="1876425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push 先として利用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61C7C-71B1-4850-860E-E2A7B163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2143125" cy="4762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BE1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70FBD-93C5-4AE8-A720-42E2F059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81400"/>
            <a:ext cx="18764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4C577-B226-4B1A-8B10-4D59B8C7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19525"/>
            <a:ext cx="1876425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 して引き継ぐ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CB3B-5599-4E3A-A287-FB45148F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33850"/>
            <a:ext cx="2143125" cy="4762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51E2D-3064-403C-B863-7707217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219575"/>
            <a:ext cx="18764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/ Entra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D9673-6AD9-482B-80D3-B08E29E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57700"/>
            <a:ext cx="1876425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 を記録済み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568F9-914C-4852-894A-CFBDAA87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33850"/>
            <a:ext cx="2143125" cy="4762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1580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FC6ED-6259-40CE-A030-B1A4616B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19575"/>
            <a:ext cx="18764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13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/ Web Container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B57A1-9A04-4EC5-9E30-A48A4D0E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57700"/>
            <a:ext cx="1876425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713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プレースホルダー作成済み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11107-AFB1-4471-B718-05F4C7C9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1952625" cy="6286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C000C-F69A-4F02-9CCD-058BE47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16859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60401E-A6B0-40BF-A5AB-E1538DFF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38525"/>
            <a:ext cx="168592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build / push / deploy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A70A4-DB5C-4C4B-B2F9-AB8524B9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1952625" cy="628650"/>
          </a:xfrm>
          <a:prstGeom xmlns:a="http://schemas.openxmlformats.org/drawingml/2006/main" prst="rect">
            <a:avLst/>
          </a:prstGeom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E4D282-EE09-4CB0-8AA6-333F74D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16859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/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64A52-4FF2-46E5-93E8-DE1E47CF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38650"/>
            <a:ext cx="168592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実イメージへ更新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B50F52-9A61-448C-9E92-DCDF354E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38550"/>
            <a:ext cx="904875" cy="-32385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0D3BD3-E59A-4D25-BA98-028E1F23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10050"/>
            <a:ext cx="904875" cy="95250"/>
          </a:xfrm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944FA-ADC1-4FB7-98E4-C7F1CD38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57BBF-5351-4ACE-8FFE-4BAA38CE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を停止する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9A786-5B97-430F-8A1C-7535ACEA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45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DBC55-0E4D-4FE1-AEAE-23A68F5E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F2443-CC52-4B3D-BE87-35436F3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28700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第6回までリソースは残しますが、DB のコンピュート課金を抑えるため PostgreSQL Flexible Server を Stop 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3BB82-6EEE-4C91-BB23-7BE1BDB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4972050" cy="3429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97ce0bd384e69"/>
          <a:stretch xmlns:a="http://schemas.openxmlformats.org/drawingml/2006/main"/>
        </p:blipFill>
        <p:spPr>
          <a:xfrm xmlns:a="http://schemas.openxmlformats.org/drawingml/2006/main">
            <a:off x="1043940" y="198120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8DB2A-B9A5-404B-BB16-93737F2D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72050"/>
            <a:ext cx="4667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 操作を実行する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59771-3DD5-46F4-81A0-8A1BB7D2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66900"/>
            <a:ext cx="4972050" cy="3429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AD5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9c9bad9b845ed"/>
          <a:stretch xmlns:a="http://schemas.openxmlformats.org/drawingml/2006/main"/>
        </p:blipFill>
        <p:spPr>
          <a:xfrm xmlns:a="http://schemas.openxmlformats.org/drawingml/2006/main">
            <a:off x="6473190" y="198120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AFE41-1939-4E73-BCCE-84A1EB1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72050"/>
            <a:ext cx="4667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38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Stopped 状態を確認する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A7F1E-6870-452F-8F69-6DDF1DB9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8200E-B252-4DB3-9D6A-BBFA6D3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停止後の課金注意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35792-ABB9-4DE7-943E-D1FA33F2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46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4302C-771D-4038-80CB-94DE252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C2612-7A81-4F1A-BDE7-6E205F35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Stop は削除ではありません。コンピュート課金を抑える目的で使いますが、ストレージなどの課金が残る可能性はあります。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49866-8365-41AB-89D5-AF0B2E9D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3506A-BCAF-4638-B00D-11C53A9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B6FA0-CB98-45D2-86A0-98561E0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5D8EF-022B-4D39-A3E6-C6283A93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ハンズオン中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31B9A-4525-4CEF-8A0E-42C8B659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利用可能な状態で、コンピュート課金が発生します。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834BD-5A03-4D59-A8CC-FC5CC67E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47E9F-4456-456F-BF65-D2D7BD01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2288F-11C6-4D97-B8A8-2B29E91E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Stopped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E1568-5482-4EAB-AE8D-0D031DB4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第6回まで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D8722-0538-4647-BA44-F82DA2F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再開可能な状態で止め、コンピュート課金を抑えます。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E74C1-091D-42F1-BC10-7B419967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1BFCE-92E5-4B40-BDAF-54F374D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BE1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51FB1-5468-4BCE-91A7-33B8D56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rPr>
              <a:t>Deleted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DFDE6-97D3-4F39-9776-E420378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第6回後に判断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80818-DA69-4F14-ACB8-D9E2952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不要ならリソースグループや外部資格情報も整理します。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61557-A96A-4C93-81A3-F1E668F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B3015-75B2-4785-B1BE-332E4914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よくある失敗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71A3C-2DD1-4E0F-A6C8-06A12AF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47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B4457-304C-4608-8E1C-147FB06D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66981-A161-4F55-B942-ACFBAFE7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操作量が多い回なので、名前、権限、ネットワーク、接続情報、停止忘れを短時間で確認できるようにします。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87CE-D057-4E5F-A9A8-5462B158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DEB51-B646-4930-A5FF-C6BFA1E4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失敗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0F6B3-B43A-4AAF-BBDC-F78747DE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5FBBC-2476-4443-94B9-908CB12D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症状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2E65C-4A02-4226-A0F3-9C190AB0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1809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8D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98866-76D8-4886-A9DD-0BA6BF01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924050"/>
            <a:ext cx="327025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確認箇所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6E89F-3D42-4782-BD61-A3ED44B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72802-0423-485A-9601-21F08E4F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名前重複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87004-8F8D-42C1-9E38-24750C2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25396-9667-4A84-80BE-3E8C20F1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や PostgreSQL 作成に失敗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F4231-767E-422C-AD73-BC958F4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24193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F53FE-B0CF-41D9-99FF-BB8F0459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4955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接尾辞、命名制約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849FB-BEFB-4805-8077-342AEF7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233AB-1684-45DD-A2A3-8B99B915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権限不足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95DD1-4085-42C5-9471-67D2C764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AF0FE-F1DF-404F-A9F0-6E8745FA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作成やアプリ登録に失敗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79605-1C2F-4CA1-8909-B379B68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0289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3B849-6A5A-48DC-9E22-5CEE99A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1051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RBAC、Entra ID 設定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9A1C8-4F45-4915-BDD2-555DCA03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9DA93-5251-4C02-8A80-D60197B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権限漏れ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6D24D-1D3F-4357-B872-EA19C45C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2E7E8-CD4F-47F8-A725-C20DC5AA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 API から DB 接続に失敗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D0D6C-5517-4662-9065-F2AF7CF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36385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8493B-0D5E-4475-984C-BB360D4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7147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Managed Identity への DB パーミッション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23A5EC-C62E-4E41-BC5B-0C8BAF55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E0BDB-1B95-44BC-B8CA-23C1E1A9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記録漏れ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B2984-28FA-44A6-AACC-818E07B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2B190-F4D5-4838-946D-39106EA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第6回で値が分からない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15914-470E-41F2-A531-413D6402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2481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60A27E-92E1-4514-9C61-8A94B865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43243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接続情報テンプレート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59913D-B324-417B-BACD-5364C33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4D2F7-A2B3-4058-878F-2CCFB8C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停止忘れ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A1D4B-5EA9-4334-80C1-D3F42658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2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B38DE-CC7D-4C96-9974-3390209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が Running のまま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97BA2-EB38-4034-B01F-FF7D04E8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857750"/>
            <a:ext cx="3460750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39AF5-C699-424F-AFE0-5C5A910F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4933950"/>
            <a:ext cx="32702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Overview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1236EC-A182-47FE-A4BC-830FFC25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5829B-7764-429E-969A-93140E0F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復旧できない場合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6E01D-045D-4C19-8B68-A8261F8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48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1AC47-F5DA-4C59-BC07-A187EDB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F4CD4-CA2B-4CA6-A811-87D1BA0A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時間内にリソース作成を完了できない場合でも、どの値が何に使われるかを理解して第6回へつなげます。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E0BA9-C2BD-4B7E-A166-BF61D694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CE83D-C591-491B-A2DC-5F88D8E8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ECEA-B231-4A9B-AB90-7674C7C8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権限不足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8B45A-E25A-47DA-9BAB-E30EB4D8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サンプル値に切り替え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B097A-10F3-4DB7-B671-1E23BBB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講師が事前準備した値やデモ環境で説明を続けます。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A6C36-7176-44F9-BB98-1907A94E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AC980-DE27-4304-A00F-391B9331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DAFC5-2E46-45E9-BA10-5EE72C3D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24075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作成失敗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FA211-867E-4EB7-ACCE-AFC08226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52675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役割を確認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2504C-6960-410A-891B-47E65FC2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作れなかったリソースがアーキテクチャ上で何を担当するか確認します。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AB8D8-1AD7-4F79-8345-2DFB8ED8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6546D-8A15-4819-BB0F-7E703DD5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43FB6-F8AB-44CE-978B-D72500C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95750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時間不足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73A5B-8273-425B-9A04-16ED35C4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24350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第6回の入力値を優先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0E63E-0D3B-4E3A-9E95-2CD5039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URL、ID、ACR、DB、Identity の意味を表で確認します。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1A1E2-8CB1-4276-B1A8-8A1A1A4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4300"/>
            <a:ext cx="493395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F2221-D6E7-4E49-A02C-375773F3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4300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CAE4C-58E2-45BF-B465-07738A6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552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DB 作成済み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896C0-FD26-401C-9CC7-377D5B31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24350"/>
            <a:ext cx="45339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停止だけは完了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E83CE-F1FE-4362-B704-5AEC7BAE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43450"/>
            <a:ext cx="453390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が Running の場合は最後に Stop を確認します。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1272C-9AD9-49B9-8C73-9739E5C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07E5C-28E7-4B9D-B64B-5698B23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今日のまとめ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CD8D1-EBDB-4EA6-8EFB-3FE50BB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49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B48DA-5E67-415D-8B2E-D61364B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FB758-3B35-4A10-B2E1-2118B50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アプリの完成には、アプリ実行、イメージ保管、DB、認証、ネットワーク、デプロイ設定がそろう必要があります。第5回では、その土台を作りました。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CEC94-0597-4606-BA28-65D879E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C438B-6D14-431E-AFE3-B314A99E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8AE69-F1D8-4C2C-9EC7-2E989B7C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0B9B7-7136-494A-956A-63D23271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複数サービスで構成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B8F49-6EA6-40DE-9973-CF5623A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Web/API/DB を Azure サービスに対応付けました。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1A2A2-47E4-4013-8FF0-614A9DC5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FCAA3-7D74-486B-BE43-708C3CAD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C1539-AB9B-4DA2-A5DD-240C0905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48400-5CEB-4E62-BF4E-851221CF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値を引き継ぐ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97D14-840B-4EB7-93E2-C74D9877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第6回の GitHub Actions 設定に使う値を整理しました。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1A68C-32F0-4D0E-BE20-FA575892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6BF17-2913-4147-B434-269A9BF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EFD91-B925-4AD9-84CA-26FA526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94337-659E-4D91-AF64-F68E8ED2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削除ではなく停止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D0F34-126A-424A-B6A9-28A1E0A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を Stop し、第6回で再開できる状態にします。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76D14-7B58-4E64-B923-F4BFA8D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E74CB-ABCE-4FD5-9ABC-45B658B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EF325-BEF7-43F6-BD9D-47BEF34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Lesson 05  |  50 / 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3A00D-CB86-453B-A3CF-80AB0E2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09650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08FE4-F3A6-47B5-BD5A-CE73E524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0965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作成したリソース、接続情報一覧、PostgreSQL の停止状態を確認し、第6回のデプロイに向けて不明点を解消します。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46574-8AEB-4855-BEE8-577CC227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8FB9-D8B5-4B86-992C-497BB6E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C5802-5F85-4028-88BD-A75F7127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49976-9870-4D9A-A79D-9F3AA56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確認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6462C-5353-46A1-898A-46AC3C09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Web、API、DB はそれぞれどの Azure サービスに対応しますか。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EB33B-D977-4A44-8498-36C9F91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8D557-D7D0-47E9-A495-4845AD3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E1F24-33B2-41CC-8AAB-B274AF5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rPr>
              <a:t>確認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043D4-B1D6-481F-A61E-F125C149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確認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AC86B-DB78-4A65-B881-E8367FD8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第6回で使う値は、どの画面から再確認できますか。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C1EF5-6D79-4093-BE61-CB2F436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3213100" cy="17621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FA977-FBAE-4319-841A-4616741E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1952625"/>
            <a:ext cx="76200" cy="1762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4AE42-D3CB-4873-9236-AE7B5216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124075"/>
            <a:ext cx="2832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確認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71E2E-8FEE-4192-83E1-FD805EC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352675"/>
            <a:ext cx="281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確認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895AE-10E8-4117-B0BD-58E78AFE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875" y="2771775"/>
            <a:ext cx="2813050" cy="809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を Stop することと Resource group を削除することは何が違いますか。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3396B-FF0E-44EE-80FE-7A9B2877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94A3B8"/>
                </a:solidFill>
                <a:latin typeface="Yu Gothic"/>
                <a:ea typeface="Yu Gothic"/>
                <a:cs typeface="Yu Gothic"/>
              </a:rPr>
              <a:t>Azure Workshop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2026-05-27T02:01:33.1370000Z</dcterms:created>
  <dcterms:modified xsi:type="dcterms:W3CDTF">2026-05-27T02:01:33.1370000Z</dcterms:modified>
</coreProperties>
</file>